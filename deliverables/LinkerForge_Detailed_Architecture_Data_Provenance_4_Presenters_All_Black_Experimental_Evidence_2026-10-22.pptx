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c74a18667ff4d92" /><Relationship Type="http://schemas.openxmlformats.org/officeDocument/2006/relationships/extended-properties" Target="/docProps/app.xml" Id="Rfcc0ca9080044681" /><Relationship Type="http://schemas.openxmlformats.org/officeDocument/2006/relationships/officeDocument" Target="/ppt/presentation.xml" Id="Rb340d282a7584209" /></Relationships>
</file>

<file path=ppt/presentation.xml><?xml version="1.0" encoding="utf-8"?>
<p:presentation xmlns:p="http://schemas.openxmlformats.org/presentationml/2006/main">
  <p:sldMasterIdLst>
    <p:sldMasterId xmlns:r="http://schemas.openxmlformats.org/officeDocument/2006/relationships" id="2147483648" r:id="Rc81d39f9fef94b5a"/>
  </p:sldMasterIdLst>
  <p:notesMasterIdLst>
    <p:notesMasterId xmlns:r="http://schemas.openxmlformats.org/officeDocument/2006/relationships" r:id="R7621016b78df4842"/>
  </p:notesMasterIdLst>
  <p:sldIdLst>
    <p:sldId xmlns:r="http://schemas.openxmlformats.org/officeDocument/2006/relationships" id="256" r:id="R1d46b51147a847b4"/>
    <p:sldId xmlns:r="http://schemas.openxmlformats.org/officeDocument/2006/relationships" id="257" r:id="R1f3e3a0e39c04f53"/>
    <p:sldId xmlns:r="http://schemas.openxmlformats.org/officeDocument/2006/relationships" id="258" r:id="R9f796736b5484caa"/>
    <p:sldId xmlns:r="http://schemas.openxmlformats.org/officeDocument/2006/relationships" id="259" r:id="R9f38edde42b44f40"/>
    <p:sldId xmlns:r="http://schemas.openxmlformats.org/officeDocument/2006/relationships" id="260" r:id="R3b349afabb624a5d"/>
    <p:sldId xmlns:r="http://schemas.openxmlformats.org/officeDocument/2006/relationships" id="261" r:id="Rdd2b25cbad0249f4"/>
    <p:sldId xmlns:r="http://schemas.openxmlformats.org/officeDocument/2006/relationships" id="262" r:id="R0766ce90b5e5403f"/>
    <p:sldId xmlns:r="http://schemas.openxmlformats.org/officeDocument/2006/relationships" id="263" r:id="R76597e206d9c4a76"/>
    <p:sldId xmlns:r="http://schemas.openxmlformats.org/officeDocument/2006/relationships" id="264" r:id="R4777712c2bda40c2"/>
    <p:sldId xmlns:r="http://schemas.openxmlformats.org/officeDocument/2006/relationships" id="265" r:id="Re85f39ce15414c67"/>
    <p:sldId xmlns:r="http://schemas.openxmlformats.org/officeDocument/2006/relationships" id="266" r:id="R933c50815caf4c57"/>
    <p:sldId xmlns:r="http://schemas.openxmlformats.org/officeDocument/2006/relationships" id="267" r:id="Rfaad7ceb32ee40ae"/>
    <p:sldId xmlns:r="http://schemas.openxmlformats.org/officeDocument/2006/relationships" id="268" r:id="Raf58202d1aab474a"/>
    <p:sldId xmlns:r="http://schemas.openxmlformats.org/officeDocument/2006/relationships" id="269" r:id="Rd89630a993bd41ab"/>
    <p:sldId xmlns:r="http://schemas.openxmlformats.org/officeDocument/2006/relationships" id="270" r:id="R9866a86f7e4347bf"/>
    <p:sldId xmlns:r="http://schemas.openxmlformats.org/officeDocument/2006/relationships" id="271" r:id="R2c56b284b4a748d9"/>
    <p:sldId xmlns:r="http://schemas.openxmlformats.org/officeDocument/2006/relationships" id="272" r:id="R3e2e7757de12443f"/>
    <p:sldId xmlns:r="http://schemas.openxmlformats.org/officeDocument/2006/relationships" id="273" r:id="R8763d4389889434e"/>
    <p:sldId xmlns:r="http://schemas.openxmlformats.org/officeDocument/2006/relationships" id="274" r:id="R832175d526244b5a"/>
    <p:sldId xmlns:r="http://schemas.openxmlformats.org/officeDocument/2006/relationships" id="275" r:id="Rb6b6cf53fe4a4f7b"/>
    <p:sldId xmlns:r="http://schemas.openxmlformats.org/officeDocument/2006/relationships" id="276" r:id="R3c39fee300bc462f"/>
    <p:sldId xmlns:r="http://schemas.openxmlformats.org/officeDocument/2006/relationships" id="277" r:id="R6b466424d70443f0"/>
    <p:sldId xmlns:r="http://schemas.openxmlformats.org/officeDocument/2006/relationships" id="278" r:id="R54c0b506e68b4515"/>
    <p:sldId xmlns:r="http://schemas.openxmlformats.org/officeDocument/2006/relationships" id="279" r:id="Rd2c97bd08d314088"/>
    <p:sldId xmlns:r="http://schemas.openxmlformats.org/officeDocument/2006/relationships" id="280" r:id="R875f6c966bf8438a"/>
    <p:sldId xmlns:r="http://schemas.openxmlformats.org/officeDocument/2006/relationships" id="281" r:id="R290c243fd2ea4953"/>
    <p:sldId xmlns:r="http://schemas.openxmlformats.org/officeDocument/2006/relationships" id="282" r:id="Rdd755628b1524b7c"/>
    <p:sldId xmlns:r="http://schemas.openxmlformats.org/officeDocument/2006/relationships" id="283" r:id="R270b21ebabeb4a6c"/>
    <p:sldId xmlns:r="http://schemas.openxmlformats.org/officeDocument/2006/relationships" id="284" r:id="R93ce9ddd6bc94696"/>
    <p:sldId xmlns:r="http://schemas.openxmlformats.org/officeDocument/2006/relationships" id="285" r:id="Re88dc565e0264589"/>
    <p:sldId xmlns:r="http://schemas.openxmlformats.org/officeDocument/2006/relationships" id="286" r:id="R661b514201e94eb8"/>
    <p:sldId xmlns:r="http://schemas.openxmlformats.org/officeDocument/2006/relationships" id="287" r:id="R4a6a9678ac234485"/>
    <p:sldId xmlns:r="http://schemas.openxmlformats.org/officeDocument/2006/relationships" id="288" r:id="R2677f475885240bd"/>
    <p:sldId xmlns:r="http://schemas.openxmlformats.org/officeDocument/2006/relationships" id="289" r:id="Re7313adb12b947a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4f1e124d5fb4e86" /><Relationship Type="http://schemas.openxmlformats.org/officeDocument/2006/relationships/slideMaster" Target="/ppt/slideMasters/slideMaster1.xml" Id="Rc81d39f9fef94b5a" /><Relationship Type="http://schemas.openxmlformats.org/officeDocument/2006/relationships/notesMaster" Target="/ppt/notesMasters/notesMaster1.xml" Id="R7621016b78df4842" /><Relationship Type="http://schemas.openxmlformats.org/officeDocument/2006/relationships/presProps" Target="/ppt/presProps.xml" Id="R318887616bd844de" /><Relationship Type="http://schemas.openxmlformats.org/officeDocument/2006/relationships/viewProps" Target="/ppt/viewProps.xml" Id="R3369bc553af54373" /><Relationship Type="http://schemas.openxmlformats.org/officeDocument/2006/relationships/tableStyles" Target="/ppt/tableStyles.xml" Id="R0a2c5bf568b14102" /><Relationship Type="http://schemas.openxmlformats.org/officeDocument/2006/relationships/slide" Target="/ppt/slides/slide1.xml" Id="R1d46b51147a847b4" /><Relationship Type="http://schemas.openxmlformats.org/officeDocument/2006/relationships/slide" Target="/ppt/slides/slide2.xml" Id="R1f3e3a0e39c04f53" /><Relationship Type="http://schemas.openxmlformats.org/officeDocument/2006/relationships/slide" Target="/ppt/slides/slide3.xml" Id="R9f796736b5484caa" /><Relationship Type="http://schemas.openxmlformats.org/officeDocument/2006/relationships/slide" Target="/ppt/slides/slide4.xml" Id="R9f38edde42b44f40" /><Relationship Type="http://schemas.openxmlformats.org/officeDocument/2006/relationships/slide" Target="/ppt/slides/slide5.xml" Id="R3b349afabb624a5d" /><Relationship Type="http://schemas.openxmlformats.org/officeDocument/2006/relationships/slide" Target="/ppt/slides/slide6.xml" Id="Rdd2b25cbad0249f4" /><Relationship Type="http://schemas.openxmlformats.org/officeDocument/2006/relationships/slide" Target="/ppt/slides/slide7.xml" Id="R0766ce90b5e5403f" /><Relationship Type="http://schemas.openxmlformats.org/officeDocument/2006/relationships/slide" Target="/ppt/slides/slide8.xml" Id="R76597e206d9c4a76" /><Relationship Type="http://schemas.openxmlformats.org/officeDocument/2006/relationships/slide" Target="/ppt/slides/slide9.xml" Id="R4777712c2bda40c2" /><Relationship Type="http://schemas.openxmlformats.org/officeDocument/2006/relationships/slide" Target="/ppt/slides/slide10.xml" Id="Re85f39ce15414c67" /><Relationship Type="http://schemas.openxmlformats.org/officeDocument/2006/relationships/slide" Target="/ppt/slides/slide11.xml" Id="R933c50815caf4c57" /><Relationship Type="http://schemas.openxmlformats.org/officeDocument/2006/relationships/slide" Target="/ppt/slides/slide12.xml" Id="Rfaad7ceb32ee40ae" /><Relationship Type="http://schemas.openxmlformats.org/officeDocument/2006/relationships/slide" Target="/ppt/slides/slide13.xml" Id="Raf58202d1aab474a" /><Relationship Type="http://schemas.openxmlformats.org/officeDocument/2006/relationships/slide" Target="/ppt/slides/slide14.xml" Id="Rd89630a993bd41ab" /><Relationship Type="http://schemas.openxmlformats.org/officeDocument/2006/relationships/slide" Target="/ppt/slides/slide15.xml" Id="R9866a86f7e4347bf" /><Relationship Type="http://schemas.openxmlformats.org/officeDocument/2006/relationships/slide" Target="/ppt/slides/slide16.xml" Id="R2c56b284b4a748d9" /><Relationship Type="http://schemas.openxmlformats.org/officeDocument/2006/relationships/slide" Target="/ppt/slides/slide17.xml" Id="R3e2e7757de12443f" /><Relationship Type="http://schemas.openxmlformats.org/officeDocument/2006/relationships/slide" Target="/ppt/slides/slide18.xml" Id="R8763d4389889434e" /><Relationship Type="http://schemas.openxmlformats.org/officeDocument/2006/relationships/slide" Target="/ppt/slides/slide19.xml" Id="R832175d526244b5a" /><Relationship Type="http://schemas.openxmlformats.org/officeDocument/2006/relationships/slide" Target="/ppt/slides/slide20.xml" Id="Rb6b6cf53fe4a4f7b" /><Relationship Type="http://schemas.openxmlformats.org/officeDocument/2006/relationships/slide" Target="/ppt/slides/slide21.xml" Id="R3c39fee300bc462f" /><Relationship Type="http://schemas.openxmlformats.org/officeDocument/2006/relationships/slide" Target="/ppt/slides/slide22.xml" Id="R6b466424d70443f0" /><Relationship Type="http://schemas.openxmlformats.org/officeDocument/2006/relationships/slide" Target="/ppt/slides/slide23.xml" Id="R54c0b506e68b4515" /><Relationship Type="http://schemas.openxmlformats.org/officeDocument/2006/relationships/slide" Target="/ppt/slides/slide24.xml" Id="Rd2c97bd08d314088" /><Relationship Type="http://schemas.openxmlformats.org/officeDocument/2006/relationships/slide" Target="/ppt/slides/slide25.xml" Id="R875f6c966bf8438a" /><Relationship Type="http://schemas.openxmlformats.org/officeDocument/2006/relationships/slide" Target="/ppt/slides/slide26.xml" Id="R290c243fd2ea4953" /><Relationship Type="http://schemas.openxmlformats.org/officeDocument/2006/relationships/slide" Target="/ppt/slides/slide27.xml" Id="Rdd755628b1524b7c" /><Relationship Type="http://schemas.openxmlformats.org/officeDocument/2006/relationships/slide" Target="/ppt/slides/slide28.xml" Id="R270b21ebabeb4a6c" /><Relationship Type="http://schemas.openxmlformats.org/officeDocument/2006/relationships/slide" Target="/ppt/slides/slide29.xml" Id="R93ce9ddd6bc94696" /><Relationship Type="http://schemas.openxmlformats.org/officeDocument/2006/relationships/slide" Target="/ppt/slides/slide30.xml" Id="Re88dc565e0264589" /><Relationship Type="http://schemas.openxmlformats.org/officeDocument/2006/relationships/slide" Target="/ppt/slides/slide31.xml" Id="R661b514201e94eb8" /><Relationship Type="http://schemas.openxmlformats.org/officeDocument/2006/relationships/slide" Target="/ppt/slides/slide32.xml" Id="R4a6a9678ac234485" /><Relationship Type="http://schemas.openxmlformats.org/officeDocument/2006/relationships/slide" Target="/ppt/slides/slide33.xml" Id="R2677f475885240bd" /><Relationship Type="http://schemas.openxmlformats.org/officeDocument/2006/relationships/slide" Target="/ppt/slides/slide34.xml" Id="Re7313adb12b947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1e34fc719643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c980b13d0495e" /><Relationship Type="http://schemas.openxmlformats.org/officeDocument/2006/relationships/notesMaster" Target="/ppt/notesMasters/notesMaster1.xml" Id="R687d280b39744a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cc8d78ee7340ef" /><Relationship Type="http://schemas.openxmlformats.org/officeDocument/2006/relationships/notesMaster" Target="/ppt/notesMasters/notesMaster1.xml" Id="Rd95cf090cb5248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46846df1584c43" /><Relationship Type="http://schemas.openxmlformats.org/officeDocument/2006/relationships/notesMaster" Target="/ppt/notesMasters/notesMaster1.xml" Id="R6a1bbfcb0b8844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0a932206b2408c" /><Relationship Type="http://schemas.openxmlformats.org/officeDocument/2006/relationships/notesMaster" Target="/ppt/notesMasters/notesMaster1.xml" Id="R9dbb876fb5994a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72076441ae433b" /><Relationship Type="http://schemas.openxmlformats.org/officeDocument/2006/relationships/notesMaster" Target="/ppt/notesMasters/notesMaster1.xml" Id="R9564a432df434b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d09951476a4936" /><Relationship Type="http://schemas.openxmlformats.org/officeDocument/2006/relationships/notesMaster" Target="/ppt/notesMasters/notesMaster1.xml" Id="R430de4f559d442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1ed88e83ed4aa0" /><Relationship Type="http://schemas.openxmlformats.org/officeDocument/2006/relationships/notesMaster" Target="/ppt/notesMasters/notesMaster1.xml" Id="Ra73b962142fe49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2f3c801e09401f" /><Relationship Type="http://schemas.openxmlformats.org/officeDocument/2006/relationships/notesMaster" Target="/ppt/notesMasters/notesMaster1.xml" Id="R5211ef4d235148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cecf8f35b24bdf" /><Relationship Type="http://schemas.openxmlformats.org/officeDocument/2006/relationships/notesMaster" Target="/ppt/notesMasters/notesMaster1.xml" Id="R5987cf1b6c304c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260cd1014640f4" /><Relationship Type="http://schemas.openxmlformats.org/officeDocument/2006/relationships/notesMaster" Target="/ppt/notesMasters/notesMaster1.xml" Id="R6d743ccef8a140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3b0f6eafff4194" /><Relationship Type="http://schemas.openxmlformats.org/officeDocument/2006/relationships/notesMaster" Target="/ppt/notesMasters/notesMaster1.xml" Id="Re501ab7476fc4f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d7a821b0bd4739" /><Relationship Type="http://schemas.openxmlformats.org/officeDocument/2006/relationships/notesMaster" Target="/ppt/notesMasters/notesMaster1.xml" Id="R01d45b0979c84d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a38b718a5746d7" /><Relationship Type="http://schemas.openxmlformats.org/officeDocument/2006/relationships/notesMaster" Target="/ppt/notesMasters/notesMaster1.xml" Id="Rff4ed315e86a42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36c9e5e0c747fd" /><Relationship Type="http://schemas.openxmlformats.org/officeDocument/2006/relationships/notesMaster" Target="/ppt/notesMasters/notesMaster1.xml" Id="R179628bd79bd4a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c3b3c3d05d4fb6" /><Relationship Type="http://schemas.openxmlformats.org/officeDocument/2006/relationships/notesMaster" Target="/ppt/notesMasters/notesMaster1.xml" Id="R1977231e3ad64c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5b16c669ff4015" /><Relationship Type="http://schemas.openxmlformats.org/officeDocument/2006/relationships/notesMaster" Target="/ppt/notesMasters/notesMaster1.xml" Id="Rb5d7a1bfc85843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a4c8f4902a4e9e" /><Relationship Type="http://schemas.openxmlformats.org/officeDocument/2006/relationships/notesMaster" Target="/ppt/notesMasters/notesMaster1.xml" Id="R74db5cdfed224c2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1c899e2d0347b2" /><Relationship Type="http://schemas.openxmlformats.org/officeDocument/2006/relationships/notesMaster" Target="/ppt/notesMasters/notesMaster1.xml" Id="Rc2b2977ec4854a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0c99376e0540ce" /><Relationship Type="http://schemas.openxmlformats.org/officeDocument/2006/relationships/notesMaster" Target="/ppt/notesMasters/notesMaster1.xml" Id="R9ea2822868ec49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6896e1178d45e8" /><Relationship Type="http://schemas.openxmlformats.org/officeDocument/2006/relationships/notesMaster" Target="/ppt/notesMasters/notesMaster1.xml" Id="R6885ca834af141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8057efad814512" /><Relationship Type="http://schemas.openxmlformats.org/officeDocument/2006/relationships/notesMaster" Target="/ppt/notesMasters/notesMaster1.xml" Id="R8dfd41da03c447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3c449fff4fb4f4b" /><Relationship Type="http://schemas.openxmlformats.org/officeDocument/2006/relationships/notesMaster" Target="/ppt/notesMasters/notesMaster1.xml" Id="R08a2356b4580429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4292a21a044e77" /><Relationship Type="http://schemas.openxmlformats.org/officeDocument/2006/relationships/notesMaster" Target="/ppt/notesMasters/notesMaster1.xml" Id="R54119664210f41c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a38a95328143c7" /><Relationship Type="http://schemas.openxmlformats.org/officeDocument/2006/relationships/notesMaster" Target="/ppt/notesMasters/notesMaster1.xml" Id="Rde662dc835824d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5d0ed0b04244f3" /><Relationship Type="http://schemas.openxmlformats.org/officeDocument/2006/relationships/notesMaster" Target="/ppt/notesMasters/notesMaster1.xml" Id="R00c69d1594f6413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f56e20b5c794074" /><Relationship Type="http://schemas.openxmlformats.org/officeDocument/2006/relationships/notesMaster" Target="/ppt/notesMasters/notesMaster1.xml" Id="Rc61d994f45cb4b9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21fbf2071344284" /><Relationship Type="http://schemas.openxmlformats.org/officeDocument/2006/relationships/notesMaster" Target="/ppt/notesMasters/notesMaster1.xml" Id="Rfb056264f88f49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02e1329c5a74957" /><Relationship Type="http://schemas.openxmlformats.org/officeDocument/2006/relationships/notesMaster" Target="/ppt/notesMasters/notesMaster1.xml" Id="R96e7eb9698c142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ce246e801e4cb9" /><Relationship Type="http://schemas.openxmlformats.org/officeDocument/2006/relationships/notesMaster" Target="/ppt/notesMasters/notesMaster1.xml" Id="R089c0d42b4a5466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73ad67cddc426d" /><Relationship Type="http://schemas.openxmlformats.org/officeDocument/2006/relationships/notesMaster" Target="/ppt/notesMasters/notesMaster1.xml" Id="Rf3afa3c7fe684b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6c9865f3c34f71" /><Relationship Type="http://schemas.openxmlformats.org/officeDocument/2006/relationships/notesMaster" Target="/ppt/notesMasters/notesMaster1.xml" Id="R6550ce717aa542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c748f22ef214a59" /><Relationship Type="http://schemas.openxmlformats.org/officeDocument/2006/relationships/notesMaster" Target="/ppt/notesMasters/notesMaster1.xml" Id="R99880c07d3194b0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999951c9c494cfb" /><Relationship Type="http://schemas.openxmlformats.org/officeDocument/2006/relationships/notesMaster" Target="/ppt/notesMasters/notesMaster1.xml" Id="R4e4691a379e94f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be53d66a4314f27" /><Relationship Type="http://schemas.openxmlformats.org/officeDocument/2006/relationships/notesMaster" Target="/ppt/notesMasters/notesMaster1.xml" Id="R7456ebe96cf043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Explain the CASP16 quotation carefully. McBride and colleagues assessed 35 population-weighted conformational ensembles from 25 predictor groups for two Staphylococcal protein A domain-linker-domain constructs. One used the conserved six-residue linker KADNKF and the other used Gly6. The team back-calculated SAXS curves and NMR residual dipolar couplings from each submitted ensemble. SAXS reports global distance and shape information, while NMR RDCs provide residue-specific orientational information between domains. No ensemble matched both types of experimental evidence closely, and none reproduced the experimentally observed difference between the two linker sequences. The result concerns distributions of relative domain poses in solution. It does not show that every individual domain was incorrectly folded.</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 doi:10.1093/bioinformatics/btv447.</a:t>
            </a:r>
          </a:p>
          <a:p xmlns:a="http://schemas.openxmlformats.org/drawingml/2006/main">
            <a:r>
              <a:t>- Li et al. Multimodal deep learning-assisted rapid linker engineering for synthetic multidomain protein. Synthetic Biology. 2026. doi:10.1016/j.synbio.2026.02.003.</a:t>
            </a:r>
          </a:p>
          <a:p xmlns:a="http://schemas.openxmlformats.org/drawingml/2006/main">
            <a:r>
              <a:t>- McBride AC et al. Predicting Pose Distribution of Protein Domains Connected by Flexible Linkers Is an Unsolved Problem. Proteins. 2026;94(1):362–380. doi:10.1002/prot.70062. https://onlinelibrary.wiley.com/doi/10.1002/prot.70062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Frame the comparison around evidence rather than superiority. LINKER and SynLinker provide generation or retrieval evidence. DFLpred and TransDFL provide residue-classification benchmarks for another task. Li et al. reports measured fluorescence for 370 linker variants in one sfGFP–nanobody system, which gives strong system-specific experimental evidence. The CASP16 ensemble assessment shows that computational methods still struggle to reproduce flexible interdomain pose distributions measured jointly by NMR RDC and SAXS. LinkerForge currently provides a three-pair computational acceptance panel and provenance, without equivalent functional, NMR, or SAXS evidence.</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LinkerForge three-pair public acceptance comparison: the current panel verifies execution and traceability, not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2\runs\folds\public-multipair-af2ptm-20261021\verified_public_acceptance_run_experimental_evidence_2026-10-22.md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1ef16efe1b4b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96d60facef4c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983fb5928d42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a262098a034e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d58036dc8648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ead3e9aa0442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f13eef6998464d" /><Relationship Type="http://schemas.openxmlformats.org/officeDocument/2006/relationships/slideLayout" Target="/ppt/slideLayouts/slideLayout1.xml" Id="R534c479ddf4c442c" /><Relationship Type="http://schemas.openxmlformats.org/officeDocument/2006/relationships/slideLayout" Target="/ppt/slideLayouts/slideLayout2.xml" Id="R5ee30fb61b8c4007" /><Relationship Type="http://schemas.openxmlformats.org/officeDocument/2006/relationships/slideLayout" Target="/ppt/slideLayouts/slideLayout3.xml" Id="R9efa75133d9d49a1" /><Relationship Type="http://schemas.openxmlformats.org/officeDocument/2006/relationships/slideLayout" Target="/ppt/slideLayouts/slideLayout4.xml" Id="R389c54ceae254ec4" /><Relationship Type="http://schemas.openxmlformats.org/officeDocument/2006/relationships/slideLayout" Target="/ppt/slideLayouts/slideLayout5.xml" Id="R82859ab6d09b45c0" /><Relationship Type="http://schemas.openxmlformats.org/officeDocument/2006/relationships/slideLayout" Target="/ppt/slideLayouts/slideLayout6.xml" Id="R569ee81cea394e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4c479ddf4c442c"/>
    <p:sldLayoutId xmlns:r="http://schemas.openxmlformats.org/officeDocument/2006/relationships" id="2147483650" r:id="R5ee30fb61b8c4007"/>
    <p:sldLayoutId xmlns:r="http://schemas.openxmlformats.org/officeDocument/2006/relationships" id="2147483651" r:id="R9efa75133d9d49a1"/>
    <p:sldLayoutId xmlns:r="http://schemas.openxmlformats.org/officeDocument/2006/relationships" id="2147483652" r:id="R389c54ceae254ec4"/>
    <p:sldLayoutId xmlns:r="http://schemas.openxmlformats.org/officeDocument/2006/relationships" id="2147483653" r:id="R82859ab6d09b45c0"/>
    <p:sldLayoutId xmlns:r="http://schemas.openxmlformats.org/officeDocument/2006/relationships" id="2147483654" r:id="R569ee81cea394e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5e66c8768c4148" /><Relationship Type="http://schemas.openxmlformats.org/officeDocument/2006/relationships/image" Target="/ppt/media/image.png" Id="R79f945aed318464a" /><Relationship Type="http://schemas.openxmlformats.org/officeDocument/2006/relationships/notesSlide" Target="/ppt/notesSlides/notesSlide1.xml" Id="R7cf7c606130b4f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b704af14844331" /><Relationship Type="http://schemas.openxmlformats.org/officeDocument/2006/relationships/notesSlide" Target="/ppt/notesSlides/notesSlide2.xml" Id="R4b9dbcd5715c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4201dcff894d5b" /><Relationship Type="http://schemas.openxmlformats.org/officeDocument/2006/relationships/notesSlide" Target="/ppt/notesSlides/notesSlide3.xml" Id="Rab3ddf9e97b14a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2d0102e0524ce7" /><Relationship Type="http://schemas.openxmlformats.org/officeDocument/2006/relationships/notesSlide" Target="/ppt/notesSlides/notesSlide4.xml" Id="R280f8de6ddfd4b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f22f227e434686" /><Relationship Type="http://schemas.openxmlformats.org/officeDocument/2006/relationships/notesSlide" Target="/ppt/notesSlides/notesSlide5.xml" Id="R1247d8d2742845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da097c713c4d2a" /><Relationship Type="http://schemas.openxmlformats.org/officeDocument/2006/relationships/notesSlide" Target="/ppt/notesSlides/notesSlide6.xml" Id="R69f2185c7e4245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96b54c6f5a4012" /><Relationship Type="http://schemas.openxmlformats.org/officeDocument/2006/relationships/notesSlide" Target="/ppt/notesSlides/notesSlide7.xml" Id="Ra4dbdbb5118942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1afbb74d284237" /><Relationship Type="http://schemas.openxmlformats.org/officeDocument/2006/relationships/notesSlide" Target="/ppt/notesSlides/notesSlide8.xml" Id="R66c3de3f57e84f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bb3ae86d0f46a3" /><Relationship Type="http://schemas.openxmlformats.org/officeDocument/2006/relationships/notesSlide" Target="/ppt/notesSlides/notesSlide9.xml" Id="R109af5eb370541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12c8d3ff53480d" /><Relationship Type="http://schemas.openxmlformats.org/officeDocument/2006/relationships/notesSlide" Target="/ppt/notesSlides/notesSlide10.xml" Id="R33aaac3e6f3647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3cdff68b9df4b76" /><Relationship Type="http://schemas.openxmlformats.org/officeDocument/2006/relationships/notesSlide" Target="/ppt/notesSlides/notesSlide11.xml" Id="R764b9962f10e49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0f129b8f1a463e" /><Relationship Type="http://schemas.openxmlformats.org/officeDocument/2006/relationships/notesSlide" Target="/ppt/notesSlides/notesSlide12.xml" Id="Ra8008bc49f0c47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27f40d5f6144257" /><Relationship Type="http://schemas.openxmlformats.org/officeDocument/2006/relationships/notesSlide" Target="/ppt/notesSlides/notesSlide13.xml" Id="R9f4c65bae40a44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06df0e557ae415c" /><Relationship Type="http://schemas.openxmlformats.org/officeDocument/2006/relationships/notesSlide" Target="/ppt/notesSlides/notesSlide14.xml" Id="R6f2c4b63205349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1d7b5c3d6174d61" /><Relationship Type="http://schemas.openxmlformats.org/officeDocument/2006/relationships/notesSlide" Target="/ppt/notesSlides/notesSlide15.xml" Id="Rcdbd9aad00e349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cd22ab307d440c0" /><Relationship Type="http://schemas.openxmlformats.org/officeDocument/2006/relationships/notesSlide" Target="/ppt/notesSlides/notesSlide16.xml" Id="R870a51516e4046f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0c7165a7983415d" /><Relationship Type="http://schemas.openxmlformats.org/officeDocument/2006/relationships/notesSlide" Target="/ppt/notesSlides/notesSlide17.xml" Id="Rc5bab126db5c45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25537ff76a245c0" /><Relationship Type="http://schemas.openxmlformats.org/officeDocument/2006/relationships/image" Target="/ppt/media/image.png" Id="R727676f99fc34e36" /><Relationship Type="http://schemas.openxmlformats.org/officeDocument/2006/relationships/chart" Target="/ppt/slides/charts/chart1.xml" Id="R423f2cebddc64106" /><Relationship Type="http://schemas.openxmlformats.org/officeDocument/2006/relationships/notesSlide" Target="/ppt/notesSlides/notesSlide18.xml" Id="R40e9cfc99f7143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95b7ec543f84830" /><Relationship Type="http://schemas.openxmlformats.org/officeDocument/2006/relationships/chart" Target="/ppt/slides/charts/chart2.xml" Id="Ra9817622fa194150" /><Relationship Type="http://schemas.openxmlformats.org/officeDocument/2006/relationships/notesSlide" Target="/ppt/notesSlides/notesSlide19.xml" Id="Rb55b12e4ddd14d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1dd2ace7d984ba6" /><Relationship Type="http://schemas.openxmlformats.org/officeDocument/2006/relationships/notesSlide" Target="/ppt/notesSlides/notesSlide20.xml" Id="Rcd0f475bbb4745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4690fe4dbfd45a9" /><Relationship Type="http://schemas.openxmlformats.org/officeDocument/2006/relationships/image" Target="/ppt/media/image2.png" Id="R4b1f5248e7dd423f" /><Relationship Type="http://schemas.openxmlformats.org/officeDocument/2006/relationships/notesSlide" Target="/ppt/notesSlides/notesSlide21.xml" Id="R6ff67536ca4a41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359cdbf8b294447" /><Relationship Type="http://schemas.openxmlformats.org/officeDocument/2006/relationships/notesSlide" Target="/ppt/notesSlides/notesSlide22.xml" Id="Ra222a7f2587442d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d756c316c584f6c" /><Relationship Type="http://schemas.openxmlformats.org/officeDocument/2006/relationships/notesSlide" Target="/ppt/notesSlides/notesSlide23.xml" Id="R95bd572c853d45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aaba38f6dca4223" /><Relationship Type="http://schemas.openxmlformats.org/officeDocument/2006/relationships/image" Target="/ppt/media/image3.png" Id="R95888a9d68954f03" /><Relationship Type="http://schemas.openxmlformats.org/officeDocument/2006/relationships/notesSlide" Target="/ppt/notesSlides/notesSlide24.xml" Id="R5068fba38fa34e3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65e9576bd8b4e31" /><Relationship Type="http://schemas.openxmlformats.org/officeDocument/2006/relationships/chart" Target="/ppt/slides/charts/chart3.xml" Id="R0c308dccf7284a15" /><Relationship Type="http://schemas.openxmlformats.org/officeDocument/2006/relationships/notesSlide" Target="/ppt/notesSlides/notesSlide25.xml" Id="R589127e2de48401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b56d94bc4b84de4" /><Relationship Type="http://schemas.openxmlformats.org/officeDocument/2006/relationships/notesSlide" Target="/ppt/notesSlides/notesSlide26.xml" Id="Rd439680e0fec48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a27560ad284376" /><Relationship Type="http://schemas.openxmlformats.org/officeDocument/2006/relationships/notesSlide" Target="/ppt/notesSlides/notesSlide27.xml" Id="Rb8fa8596e51b4b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745af462b5c4972" /><Relationship Type="http://schemas.openxmlformats.org/officeDocument/2006/relationships/notesSlide" Target="/ppt/notesSlides/notesSlide28.xml" Id="Rc3cf0282b81c4b1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2ae302f0df5417c" /><Relationship Type="http://schemas.openxmlformats.org/officeDocument/2006/relationships/notesSlide" Target="/ppt/notesSlides/notesSlide29.xml" Id="R8cd2c14271b14c3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55118ad56874844" /><Relationship Type="http://schemas.openxmlformats.org/officeDocument/2006/relationships/notesSlide" Target="/ppt/notesSlides/notesSlide30.xml" Id="Re9f96111c34741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e19ba09e2234409" /><Relationship Type="http://schemas.openxmlformats.org/officeDocument/2006/relationships/notesSlide" Target="/ppt/notesSlides/notesSlide31.xml" Id="R192873d4e954453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7b6e3c9979c468f" /><Relationship Type="http://schemas.openxmlformats.org/officeDocument/2006/relationships/notesSlide" Target="/ppt/notesSlides/notesSlide32.xml" Id="Rbb624cc1f0414cc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38a94b24b754e99" /><Relationship Type="http://schemas.openxmlformats.org/officeDocument/2006/relationships/notesSlide" Target="/ppt/notesSlides/notesSlide33.xml" Id="R38c163398660452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5ac5f4af44f4515" /><Relationship Type="http://schemas.openxmlformats.org/officeDocument/2006/relationships/notesSlide" Target="/ppt/notesSlides/notesSlide34.xml" Id="Rf120fae1f72843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04075165-8AE1-4626-BCB0-D9A348C7B51E}"/>
              </a:ext>
            </a:extLst>
          </p:cNvPr>
          <p:cNvPicPr>
            <a:picLocks xmlns:a="http://schemas.openxmlformats.org/drawingml/2006/main" noChangeAspect="1"/>
          </p:cNvPicPr>
          <p:nvPr/>
        </p:nvPicPr>
        <p:blipFill>
          <a:blip xmlns:r="http://schemas.openxmlformats.org/officeDocument/2006/relationships" xmlns:a="http://schemas.openxmlformats.org/drawingml/2006/main" r:embed="R79f945aed318464a"/>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A45D0C7-F5DD-4AA0-8939-74DE72D271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E832E4-6503-458E-A6F8-EB01EF51F9D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31544D33-6BD5-4975-8D83-7F8019D5C99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2D02AAE5-292D-4C58-AA34-6C8702B785A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5A597A13-32AE-4185-A0B1-F61336A4BBEB}"/>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7E7165A3-5048-419E-83AD-0599A3330BF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94C562CF-982D-4FF0-B747-27CDB86FE84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E17A8F81-D1F9-4D3D-A274-39F13B5C5CA1}"/>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EC1C7971-2EF8-407D-A571-A98F645B3161}"/>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97AC3EF0-5286-46E6-B116-EB97308EF30A}"/>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BE6D9FC8-7037-4BF9-BDB3-D5F571C024DB}"/>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56EECCE9-BAD0-48AC-AA37-F4564E460820}"/>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167D9974-2C3A-431E-9369-56D38D072886}"/>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9590C518-7909-4029-BC1E-6F7C2D9CFB9D}"/>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76ACD89D-3089-431B-BB72-E5F4E3D132AE}"/>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4990A261-0DE3-4256-968D-6FD4E180BE76}"/>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929E6BB5-C9E6-4D8D-8888-AAE9335E3558}"/>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E3DE2970-6C71-432D-9EAE-48E001CBAF7F}"/>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0901C40D-DB16-4519-828E-2A19CFC7419B}"/>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55C79C53-2B00-4731-830C-2706C3687CE0}"/>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E1339188-DDAC-4201-8AFD-C667047E6DE3}"/>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DE3A14CA-65E7-4470-B3F4-A8CDD9C380EF}"/>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4BACE0C2-C7D9-442E-B696-C7D87A4ABAB2}"/>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4442DB08-D41A-4857-B0FB-E18F3FC93B8F}"/>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9011577F-0E24-4766-9D93-0EE4E318E11F}"/>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E4D64C14-7BCC-4694-A97E-D89B4124B92B}"/>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BC5F4B1A-F013-4C79-A7AE-FA6BC2A7C59B}"/>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D43F378A-2F45-49EC-BA7E-E3AECC74AE44}"/>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25C50A-304B-495C-A266-C69E7C50EB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D5EA69-B4DB-45E0-899F-33AD6937A40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EF4B725-C06C-424A-8287-BDCFFA210A9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8A56CC62-3B38-46CD-88AB-6CEF3D02CF8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A6FE86F9-11BD-4440-A57E-887641CC015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7CAE203C-BA4A-4BAA-8E22-5DA85E59ED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solve different linker problems</a:t>
            </a:r>
          </a:p>
        </p:txBody>
      </p:sp>
      <p:sp>
        <p:nvSpPr>
          <p:cNvPr id="7" name="">
            <a:extLst xmlns:a="http://schemas.openxmlformats.org/drawingml/2006/main">
              <a:ext uri="{FF2B5EF4-FFF2-40B4-BE49-F238E27FC236}">
                <a16:creationId xmlns:a16="http://schemas.microsoft.com/office/drawing/2014/main" id="{AC792587-C517-47F3-B870-6C0DDA363E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Only DFLpred and TransDFL are general per-residue domain-linker classifiers</a:t>
            </a:r>
          </a:p>
        </p:txBody>
      </p:sp>
      <p:graphicFrame>
        <p:nvGraphicFramePr>
          <p:cNvPr id="8" name="">
            <a:extLst xmlns:a="http://schemas.openxmlformats.org/drawingml/2006/main">
              <a:ext uri="{FF2B5EF4-FFF2-40B4-BE49-F238E27FC236}">
                <a16:creationId xmlns:a16="http://schemas.microsoft.com/office/drawing/2014/main" id="{BCBB48ED-AC11-4B8A-A392-00C41AC93CE5}"/>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3ADC0339-2274-4157-B1E4-2A2C4B92FA72}"/>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5F2341EB-29A0-4553-B3FA-0222DBBAE7B6}"/>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9F18B530-641A-4575-A1B8-346B608CAF71}"/>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26B044-1F5A-4B9C-A250-307EF2DDABC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712E48-4FEC-491C-A182-38CE1787235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879BE07A-F5AB-4658-90FA-7D29948B8DA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
            <a:extLst xmlns:a="http://schemas.openxmlformats.org/drawingml/2006/main">
              <a:ext uri="{FF2B5EF4-FFF2-40B4-BE49-F238E27FC236}">
                <a16:creationId xmlns:a16="http://schemas.microsoft.com/office/drawing/2014/main" id="{2C415874-0975-464D-8186-FD7FEE00F88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Li et al. (2026), and the CASP16 flexible-domain ensemble assessment</a:t>
            </a:r>
          </a:p>
        </p:txBody>
      </p:sp>
      <p:sp>
        <p:nvSpPr>
          <p:cNvPr id="5" name="">
            <a:extLst xmlns:a="http://schemas.openxmlformats.org/drawingml/2006/main">
              <a:ext uri="{FF2B5EF4-FFF2-40B4-BE49-F238E27FC236}">
                <a16:creationId xmlns:a16="http://schemas.microsoft.com/office/drawing/2014/main" id="{45B3E279-7A07-4FFA-8211-7266EA57FCA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
            <a:extLst xmlns:a="http://schemas.openxmlformats.org/drawingml/2006/main">
              <a:ext uri="{FF2B5EF4-FFF2-40B4-BE49-F238E27FC236}">
                <a16:creationId xmlns:a16="http://schemas.microsoft.com/office/drawing/2014/main" id="{DCC70EEA-62D6-404F-BB75-43C10733FE3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published evidence actually shows</a:t>
            </a:r>
          </a:p>
        </p:txBody>
      </p:sp>
      <p:sp>
        <p:nvSpPr>
          <p:cNvPr id="7" name="">
            <a:extLst xmlns:a="http://schemas.openxmlformats.org/drawingml/2006/main">
              <a:ext uri="{FF2B5EF4-FFF2-40B4-BE49-F238E27FC236}">
                <a16:creationId xmlns:a16="http://schemas.microsoft.com/office/drawing/2014/main" id="{0FFA7DFA-2528-4C51-8BE6-907832740533}"/>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studies use different evidence. CASP16 tested flexible pose distributions in solution rather than one best structure</a:t>
            </a:r>
          </a:p>
        </p:txBody>
      </p:sp>
      <p:graphicFrame>
        <p:nvGraphicFramePr>
          <p:cNvPr id="8" name="">
            <a:extLst xmlns:a="http://schemas.openxmlformats.org/drawingml/2006/main">
              <a:ext uri="{FF2B5EF4-FFF2-40B4-BE49-F238E27FC236}">
                <a16:creationId xmlns:a16="http://schemas.microsoft.com/office/drawing/2014/main" id="{61F43DF9-46D7-47C7-AB7C-F6213679CA0E}"/>
              </a:ext>
            </a:extLst>
          </p:cNvPr>
          <p:cNvGraphicFramePr/>
          <p:nvPr/>
        </p:nvGraphicFramePr>
        <p:xfrm>
          <a:off xmlns:a="http://schemas.openxmlformats.org/drawingml/2006/main" x="514350" y="1581150"/>
          <a:ext xmlns:a="http://schemas.openxmlformats.org/drawingml/2006/main" cx="11163300" cy="3810000"/>
        </p:xfrm>
        <a:graphic xmlns:a="http://schemas.openxmlformats.org/drawingml/2006/main">
          <a:graphicData uri="http://schemas.openxmlformats.org/drawingml/2006/table">
            <a:tbl>
              <a:tblPr/>
              <a:tblGrid>
                <a:gridCol w="2381250"/>
                <a:gridCol w="4953000"/>
                <a:gridCol w="3829050"/>
              </a:tblGrid>
              <a:tr h="762000">
                <a:tc>
                  <a:txBody>
                    <a:bodyPr/>
                    <a:lstStyle/>
                    <a:p>
                      <a:r>
                        <a:rPr sz="900" b="1">
                          <a:solidFill>
                            <a:srgbClr val="FFFFFF"/>
                          </a:solidFill>
                          <a:latin typeface="Arial"/>
                          <a:ea typeface="Arial"/>
                          <a:cs typeface="Arial"/>
                        </a:rPr>
                        <a:t>Study</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Published finding</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establishes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762000">
                <a:tc>
                  <a:txBody>
                    <a:bodyPr/>
                    <a:lstStyle/>
                    <a:p>
                      <a:r>
                        <a:rPr sz="938">
                          <a:solidFill>
                            <a:srgbClr val="F4F7F5"/>
                          </a:solidFill>
                          <a:latin typeface="Arial"/>
                          <a:ea typeface="Arial"/>
                          <a:cs typeface="Arial"/>
                        </a:rPr>
                        <a:t>2000 · 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sequences are generally selected based on intuition.”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The generator addressed heuristic sequence selection</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2015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linker selection is done mostly ad hoc and still based on random test in experiments.”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resource organized linker retrieval and fusion construction</a:t>
                      </a:r>
                    </a:p>
                  </a:txBody>
                  <a:tcPr marL="91440" marR="91440" marT="45720" marB="45720">
                    <a:lnR w="9525">
                      <a:solidFill>
                        <a:srgbClr val="29433A"/>
                      </a:solidFill>
                      <a:prstDash val="solid"/>
                    </a:lnR>
                    <a:lnB w="9525">
                      <a:solidFill>
                        <a:srgbClr val="29433A"/>
                      </a:solidFill>
                      <a:prstDash val="solid"/>
                    </a:lnB>
                    <a:solidFill>
                      <a:srgbClr val="143128"/>
                    </a:solidFill>
                  </a:tcPr>
                </a:tc>
              </a:tr>
              <a:tr h="762000">
                <a:tc>
                  <a:txBody>
                    <a:bodyPr/>
                    <a:lstStyle/>
                    <a:p>
                      <a:r>
                        <a:rPr sz="938">
                          <a:solidFill>
                            <a:srgbClr val="F4F7F5"/>
                          </a:solidFill>
                          <a:latin typeface="Arial"/>
                          <a:ea typeface="Arial"/>
                          <a:cs typeface="Arial"/>
                        </a:rPr>
                        <a:t>2026 · Li et al.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performance was context dependent in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Measured fluorescence provides strong system-specific experimental evidence</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2026 · CASP16 ensemble assessment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“None were close fits to the combined NMR and SAXS data.”</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 submitted ensemble reproduced both distance and orientation evidence. This does not imply that each domain misfolded</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764FE45-F100-4BBE-9948-DF818BA2EFFB}"/>
              </a:ext>
            </a:extLst>
          </p:cNvPr>
          <p:cNvSpPr>
            <a:spLocks xmlns:a="http://schemas.openxmlformats.org/drawingml/2006/main" noGrp="1"/>
          </p:cNvSpPr>
          <p:nvPr/>
        </p:nvSpPr>
        <p:spPr>
          <a:xfrm xmlns:a="http://schemas.openxmlformats.org/drawingml/2006/main">
            <a:off x="628650" y="5619750"/>
            <a:ext cx="109347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10" name="">
            <a:extLst xmlns:a="http://schemas.openxmlformats.org/drawingml/2006/main">
              <a:ext uri="{FF2B5EF4-FFF2-40B4-BE49-F238E27FC236}">
                <a16:creationId xmlns:a16="http://schemas.microsoft.com/office/drawing/2014/main" id="{FB201F50-223B-4878-B24A-40581DA8376F}"/>
              </a:ext>
            </a:extLst>
          </p:cNvPr>
          <p:cNvSpPr>
            <a:spLocks xmlns:a="http://schemas.openxmlformats.org/drawingml/2006/main" noGrp="1"/>
          </p:cNvSpPr>
          <p:nvPr/>
        </p:nvSpPr>
        <p:spPr>
          <a:xfrm xmlns:a="http://schemas.openxmlformats.org/drawingml/2006/main">
            <a:off x="733425" y="57721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RESEARCH GAP</a:t>
            </a:r>
          </a:p>
        </p:txBody>
      </p:sp>
      <p:sp>
        <p:nvSpPr>
          <p:cNvPr id="11" name="">
            <a:extLst xmlns:a="http://schemas.openxmlformats.org/drawingml/2006/main">
              <a:ext uri="{FF2B5EF4-FFF2-40B4-BE49-F238E27FC236}">
                <a16:creationId xmlns:a16="http://schemas.microsoft.com/office/drawing/2014/main" id="{F4B2F421-EFD7-4594-9F5A-734EC0CFFE6F}"/>
              </a:ext>
            </a:extLst>
          </p:cNvPr>
          <p:cNvSpPr>
            <a:spLocks xmlns:a="http://schemas.openxmlformats.org/drawingml/2006/main" noGrp="1"/>
          </p:cNvSpPr>
          <p:nvPr/>
        </p:nvSpPr>
        <p:spPr>
          <a:xfrm xmlns:a="http://schemas.openxmlformats.org/drawingml/2006/main">
            <a:off x="2181225" y="5705475"/>
            <a:ext cx="925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Choosing a sequence and predicting one static structure cannot establish the solution ensemble or biological outcome. Pair-specific measurements and ensemble-sensitive validation remain necessary.</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63A7DE8A-7A59-4F05-935C-7ACD37535775}"/>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40C751-0B86-4D81-A38C-179F9BF322F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EE738A-CB0F-4FC7-843A-027094DECD2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8BAAE70-2440-44C4-BB4A-5B26F39B3CA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
            <a:extLst xmlns:a="http://schemas.openxmlformats.org/drawingml/2006/main">
              <a:ext uri="{FF2B5EF4-FFF2-40B4-BE49-F238E27FC236}">
                <a16:creationId xmlns:a16="http://schemas.microsoft.com/office/drawing/2014/main" id="{3281F4AF-D1CB-40C6-AE4E-D3ECA1F7385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
            <a:extLst xmlns:a="http://schemas.openxmlformats.org/drawingml/2006/main">
              <a:ext uri="{FF2B5EF4-FFF2-40B4-BE49-F238E27FC236}">
                <a16:creationId xmlns:a16="http://schemas.microsoft.com/office/drawing/2014/main" id="{54AC3E06-2A5B-4512-9324-8550309CE4D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
            <a:extLst xmlns:a="http://schemas.openxmlformats.org/drawingml/2006/main">
              <a:ext uri="{FF2B5EF4-FFF2-40B4-BE49-F238E27FC236}">
                <a16:creationId xmlns:a16="http://schemas.microsoft.com/office/drawing/2014/main" id="{6ADB2549-0A4B-42D4-A84D-45F16B9CF56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
            <a:extLst xmlns:a="http://schemas.openxmlformats.org/drawingml/2006/main">
              <a:ext uri="{FF2B5EF4-FFF2-40B4-BE49-F238E27FC236}">
                <a16:creationId xmlns:a16="http://schemas.microsoft.com/office/drawing/2014/main" id="{2958455D-2D56-4A1A-9CE6-CB8A1E364A2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Comparison in progress. Current differences concern evidence scope rather than method superiority</a:t>
            </a:r>
          </a:p>
        </p:txBody>
      </p:sp>
      <p:graphicFrame>
        <p:nvGraphicFramePr>
          <p:cNvPr id="8" name="">
            <a:extLst xmlns:a="http://schemas.openxmlformats.org/drawingml/2006/main">
              <a:ext uri="{FF2B5EF4-FFF2-40B4-BE49-F238E27FC236}">
                <a16:creationId xmlns:a16="http://schemas.microsoft.com/office/drawing/2014/main" id="{233ACC71-A4C1-42AC-B043-F5BA4B10DD71}"/>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Primary output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Context represented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Evidence currently available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57225">
                <a:tc>
                  <a:txBody>
                    <a:bodyPr/>
                    <a:lstStyle/>
                    <a:p>
                      <a:r>
                        <a:rPr sz="863">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Generated or retrieved linker candidates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Linker properties and curated templates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Generation and retrieval evidence. No matched experimental outcome benchmark</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Per-residue DFL score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One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Residue-level classification benchmarks for a different scientific task</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Fluorescence prediction and linker customization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370 linkers in one sfGFP–nanobody system plus AF2 features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Strong system-specific experimental evidence from measured fluorescence</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Structure model and confidence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Complete supplied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Computational confidence without functional or ensemble validation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Pair-conditioned ranking with a matched evidence bundle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Both domains, attachment context, candidate, and full fusion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Three-pair computational acceptance panel. External and experimental evidence remain incomplete</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0E277FB1-C6C8-4D4F-A8ED-02ED72052B31}"/>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25853574-E8CC-4AAC-9B43-2D2555EA4896}"/>
              </a:ext>
            </a:extLst>
          </p:cNvPr>
          <p:cNvSpPr>
            <a:spLocks xmlns:a="http://schemas.openxmlformats.org/drawingml/2006/main" noGrp="1"/>
          </p:cNvSpPr>
          <p:nvPr/>
        </p:nvSpPr>
        <p:spPr>
          <a:xfrm xmlns:a="http://schemas.openxmlformats.org/drawingml/2006/main">
            <a:off x="733425" y="5962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EVIDENCE INTERPRETATION</a:t>
            </a:r>
          </a:p>
        </p:txBody>
      </p:sp>
      <p:sp>
        <p:nvSpPr>
          <p:cNvPr id="11" name="">
            <a:extLst xmlns:a="http://schemas.openxmlformats.org/drawingml/2006/main">
              <a:ext uri="{FF2B5EF4-FFF2-40B4-BE49-F238E27FC236}">
                <a16:creationId xmlns:a16="http://schemas.microsoft.com/office/drawing/2014/main" id="{BCF76690-5DFF-4B37-929B-0613D2C8CAB9}"/>
              </a:ext>
            </a:extLst>
          </p:cNvPr>
          <p:cNvSpPr>
            <a:spLocks xmlns:a="http://schemas.openxmlformats.org/drawingml/2006/main" noGrp="1"/>
          </p:cNvSpPr>
          <p:nvPr/>
        </p:nvSpPr>
        <p:spPr>
          <a:xfrm xmlns:a="http://schemas.openxmlformats.org/drawingml/2006/main">
            <a:off x="2628900" y="5895975"/>
            <a:ext cx="881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05"/>
          </a:bodyPr>
          <a:lstStyle xmlns:a="http://schemas.openxmlformats.org/drawingml/2006/main">
            <a:defPPr algn="l">
              <a:defRPr sz="1050" b="1" i="0">
                <a:solidFill>
                  <a:srgbClr val="F4F7F5"/>
                </a:solidFill>
                <a:latin typeface="Arial"/>
                <a:ea typeface="Arial"/>
                <a:cs typeface="Arial"/>
              </a:defRPr>
            </a:defPPr>
            <a:lvl1pPr algn="l">
              <a:defRPr sz="1050" b="1" i="0">
                <a:solidFill>
                  <a:srgbClr val="F4F7F5"/>
                </a:solidFill>
                <a:latin typeface="Arial"/>
                <a:ea typeface="Arial"/>
                <a:cs typeface="Arial"/>
              </a:defRPr>
            </a:lvl1pPr>
            <a:lvl2pPr algn="l">
              <a:defRPr sz="1050" b="1" i="0">
                <a:solidFill>
                  <a:srgbClr val="F4F7F5"/>
                </a:solidFill>
                <a:latin typeface="Arial"/>
                <a:ea typeface="Arial"/>
                <a:cs typeface="Arial"/>
              </a:defRPr>
            </a:lvl2pPr>
            <a:lvl3pPr algn="l">
              <a:defRPr sz="1050" b="1" i="0">
                <a:solidFill>
                  <a:srgbClr val="F4F7F5"/>
                </a:solidFill>
                <a:latin typeface="Arial"/>
                <a:ea typeface="Arial"/>
                <a:cs typeface="Arial"/>
              </a:defRPr>
            </a:lvl3pPr>
            <a:lvl4pPr algn="l">
              <a:defRPr sz="1050" b="1" i="0">
                <a:solidFill>
                  <a:srgbClr val="F4F7F5"/>
                </a:solidFill>
                <a:latin typeface="Arial"/>
                <a:ea typeface="Arial"/>
                <a:cs typeface="Arial"/>
              </a:defRPr>
            </a:lvl4pPr>
            <a:lvl5pPr algn="l">
              <a:defRPr sz="1050" b="1" i="0">
                <a:solidFill>
                  <a:srgbClr val="F4F7F5"/>
                </a:solidFill>
                <a:latin typeface="Arial"/>
                <a:ea typeface="Arial"/>
                <a:cs typeface="Arial"/>
              </a:defRPr>
            </a:lvl5pPr>
            <a:lvl6pPr algn="l">
              <a:defRPr sz="1050" b="1" i="0">
                <a:solidFill>
                  <a:srgbClr val="F4F7F5"/>
                </a:solidFill>
                <a:latin typeface="Arial"/>
                <a:ea typeface="Arial"/>
                <a:cs typeface="Arial"/>
              </a:defRPr>
            </a:lvl6pPr>
            <a:lvl7pPr algn="l">
              <a:defRPr sz="1050" b="1" i="0">
                <a:solidFill>
                  <a:srgbClr val="F4F7F5"/>
                </a:solidFill>
                <a:latin typeface="Arial"/>
                <a:ea typeface="Arial"/>
                <a:cs typeface="Arial"/>
              </a:defRPr>
            </a:lvl7pPr>
            <a:lvl8pPr algn="l">
              <a:defRPr sz="1050" b="1" i="0">
                <a:solidFill>
                  <a:srgbClr val="F4F7F5"/>
                </a:solidFill>
                <a:latin typeface="Arial"/>
                <a:ea typeface="Arial"/>
                <a:cs typeface="Arial"/>
              </a:defRPr>
            </a:lvl8pPr>
            <a:lvl9pPr algn="l">
              <a:defRPr sz="1050" b="1" i="0">
                <a:solidFill>
                  <a:srgbClr val="F4F7F5"/>
                </a:solidFill>
                <a:latin typeface="Arial"/>
                <a:ea typeface="Arial"/>
                <a:cs typeface="Arial"/>
              </a:defRPr>
            </a:lvl9pPr>
          </a:lstStyle>
          <a:p xmlns:a="http://schemas.openxmlformats.org/drawingml/2006/main">
            <a:pPr algn="l">
              <a:defRPr sz="1050" b="1" i="0">
                <a:solidFill>
                  <a:srgbClr val="F4F7F5"/>
                </a:solidFill>
                <a:latin typeface="Arial"/>
                <a:ea typeface="Arial"/>
                <a:cs typeface="Arial"/>
              </a:defRPr>
            </a:pPr>
            <a:r>
              <a:rPr sz="1050" b="1" i="0">
                <a:solidFill>
                  <a:srgbClr val="F4F7F5"/>
                </a:solidFill>
                <a:latin typeface="Arial"/>
                <a:ea typeface="Arial"/>
                <a:cs typeface="Arial"/>
              </a:rPr>
              <a:t>Li et al. provides stronger system-specific experimental evidence. CASP16 shows why a confident single structure cannot validate flexible interdomain pose distributions. LinkerForge currently supplies computational evidence only.</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C81F1F22-A36E-401B-9F84-C61F8616A241}"/>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89A43AED-7CAA-4AF9-B728-39FDEB8D85FB}"/>
              </a:ext>
            </a:extLst>
          </p:cNvPr>
          <p:cNvPicPr>
            <a:picLocks xmlns:a="http://schemas.openxmlformats.org/drawingml/2006/main" noChangeAspect="1"/>
          </p:cNvPicPr>
          <p:nvPr/>
        </p:nvPicPr>
        <p:blipFill>
          <a:blip xmlns:r="http://schemas.openxmlformats.org/officeDocument/2006/relationships" xmlns:a="http://schemas.openxmlformats.org/drawingml/2006/main" r:embed="R727676f99fc34e36"/>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6D15ADBC-B3DE-4BF0-A7F8-7264750E8747}"/>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423f2cebddc64106"/>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D2E7F330-E77E-42D0-9756-FCE01627B79F}"/>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a9817622fa194150"/>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FF32C5BF-6638-4924-BD71-BB2B68B8B0A3}"/>
              </a:ext>
            </a:extLst>
          </p:cNvPr>
          <p:cNvPicPr>
            <a:picLocks xmlns:a="http://schemas.openxmlformats.org/drawingml/2006/main" noChangeAspect="1"/>
          </p:cNvPicPr>
          <p:nvPr/>
        </p:nvPicPr>
        <p:blipFill>
          <a:blip xmlns:r="http://schemas.openxmlformats.org/officeDocument/2006/relationships" xmlns:a="http://schemas.openxmlformats.org/drawingml/2006/main" r:embed="R4b1f5248e7dd423f"/>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78E3D3D1-FD94-4354-8E1C-48EB415A17BB}"/>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746EFE2-20E2-4CDB-8EC6-1CE6D7ABF15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AA3ADF-6FEE-4D98-B8FC-B88AF0F399E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12756A1-DBF8-4B8F-A9E2-8138A8071EB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65605652-26BF-431A-92CD-885D362ECE54}"/>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0D7BD415-0B97-46EB-8BEB-D85BD84ACEE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BEC7C5AD-83CD-4F05-840F-8DE24FAA71B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7F29EEAE-8A12-43B7-97AA-C210C35BF80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D4A251BD-B0F2-4EFA-AE58-7F2A104FB421}"/>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23CE389-F50A-4D9A-9D46-4286B5D9A388}"/>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592FB7-F753-4EE2-9A62-2E88185FE835}"/>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A33766AE-1DBF-4129-B2EE-DC82505645EB}"/>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B621B79E-1812-4AB6-8F64-388C8E6445B7}"/>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5E8557A3-080D-4FB4-84AC-4089BC8E145C}"/>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2A7A3D7D-69AB-40A1-BCB7-6C8730DB3232}"/>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284DD2-8ACF-453A-AC6D-516F6FC57A24}"/>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AE016A82-F46C-4B08-9498-7A74DAA8145D}"/>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760F6C50-7B84-4EF2-897A-C6F242EFF138}"/>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B6631D41-3278-4D21-9F22-B4479D22D43F}"/>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B0A004C6-AF47-45D6-84DD-DAAD216D6180}"/>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5E28661-BE4E-46EB-AA1A-66120861DD11}"/>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31166558-DB5A-4575-8A7D-8EDE8B186D4F}"/>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EBB1912A-F76B-47A5-92E7-805A6D081D48}"/>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FA8F964E-7CBC-4853-A37C-93E2970F9115}"/>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973957AE-088C-494B-8CFC-25711B643F8B}"/>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EC02AAA-325E-4747-8F60-199C7E084D4A}"/>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FB08FE6C-88E6-4DC4-9304-4529BD150139}"/>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A359335D-218D-41C3-BD2C-DF2328A6DEEB}"/>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5E0A8125-B152-48AC-A7B9-03C8DA6F0B49}"/>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55545445"/>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9ECC3FF-B887-4F5A-8CCA-58F5AD491A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895C1B-72A2-4C84-93F2-07CA9D2F57A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4FA5B86-9DB2-47D0-B412-0D27116DB6B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F6429F00-8A73-42ED-941B-F6297D4B01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056C4691-57A8-4AB0-A9FB-E287E0FCF75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FC10DE94-1D19-4641-B9EA-CC6DB37CFB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1AA5465D-2640-4FD7-A89A-50B1C3D2EB8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1E42F266-F15D-4AF0-8883-F5704B8640EB}"/>
              </a:ext>
            </a:extLst>
          </p:cNvPr>
          <p:cNvPicPr>
            <a:picLocks xmlns:a="http://schemas.openxmlformats.org/drawingml/2006/main" noChangeAspect="1"/>
          </p:cNvPicPr>
          <p:nvPr/>
        </p:nvPicPr>
        <p:blipFill>
          <a:blip xmlns:r="http://schemas.openxmlformats.org/officeDocument/2006/relationships" xmlns:a="http://schemas.openxmlformats.org/drawingml/2006/main" r:embed="R95888a9d68954f03"/>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09E7B54-0A44-4651-A3BF-1515865716B2}"/>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AA7E5320-7263-430B-AB78-1377DA99E969}"/>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5BF51BF1-CF7A-4C0C-910F-1E7F44E189C2}"/>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91506C27-B5A8-42D0-B40E-0FB9362D567D}"/>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D7B0415B-9C91-4C24-AD91-735564870AEC}"/>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8C8CE615-BAA7-4D4C-9E33-3E2E1C1DD2AA}"/>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F8E744D9-DD13-483F-AF82-7B1A5D777AA2}"/>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5231B84D-B54B-4277-ABA1-A0342B334DF9}"/>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6655017A-0B69-42B0-9984-E91CCBD90C29}"/>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FDA06A76-F4FA-40A1-95BB-CF14FBD4BFFF}"/>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800508E5-E349-4CE6-8779-B6E0D8A33C3C}"/>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39188E69-04C2-48F6-9084-38B5E2060347}"/>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925411566"/>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0C4FDB-FB75-42A2-A9D4-4C2E5409ED5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36CBC4-9445-4E45-9560-F2DF7A12CF9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DF6D2AC-80EB-43A6-9B26-D25FD989E17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D947AFA1-1F6A-4706-946C-5003817172C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6442C868-B481-45B3-B84F-7439CE263D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DC23914A-38F6-410E-92DD-3FA38CE551E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8BA38148-323A-43C0-9A79-EC2D20BD84A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A58C5F5D-CFAF-4DE2-ADC3-62F2BC847A1B}"/>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0c308dccf7284a15"/>
          </a:graphicData>
        </a:graphic>
      </p:graphicFrame>
      <p:sp>
        <p:nvSpPr>
          <p:cNvPr id="9" name="">
            <a:extLst xmlns:a="http://schemas.openxmlformats.org/drawingml/2006/main">
              <a:ext uri="{FF2B5EF4-FFF2-40B4-BE49-F238E27FC236}">
                <a16:creationId xmlns:a16="http://schemas.microsoft.com/office/drawing/2014/main" id="{E111AC86-5DA5-4606-BAC2-8518E59DD117}"/>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8299CA37-4A9E-4C58-86B1-7F7450DA4E8B}"/>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D79033EC-F7AE-4662-9BE8-7F2FFC6EFA3E}"/>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878880707"/>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260BF2-828E-4779-BD5E-A8E8892A10C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79D472-2DC7-4FBD-92E9-15BCF03260F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7D27846-C0D4-4D29-B90C-841256820AB7}"/>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F63A7A2-76DE-4B6E-9634-53F99265E80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AD5EC2D4-7460-4E66-9D25-7BACD78B487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73F87B7E-DEED-4968-888F-A9224BE26F2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8F2AEB77-FCB7-4EF0-A726-B35B54EB6F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5ED770F6-A82C-4BD6-90D6-914562A39CE3}"/>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DABC789D-2D76-4F34-908E-F9CD182733E8}"/>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B0E4E375-FE42-4CB2-8F56-7E84FF60C70D}"/>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03E7C82-8BC8-459C-8387-4A5BCA1ECF2D}"/>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714348725"/>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F957AB-8DAE-4898-9507-4CABCAB701A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E09186-B5F8-4FC6-94A4-B08727810B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ACA48359-361E-4ECE-AF15-56FA43EF475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77059F4A-814A-4FF9-ACE1-DE8EA608923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5A1044AD-FA59-41CF-A8F8-504887A8B6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7C4B7B8D-E150-415F-810F-CC77C128C9A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B6F9B0A9-9DB0-4276-B3F6-2D4B0DDE0B1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BE853728-6753-4370-80F2-E41D92984C17}"/>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3493933-7A63-42C8-A951-A6D8E3DBA6E5}"/>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41E95C9C-80D0-481A-95EB-9E4D3B96470A}"/>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30037884-66E2-42CD-B149-802DC1C3F018}"/>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28586305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3CFED25-4AA2-45C5-A95A-393E656A650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622D27-0D7F-42C7-B0D6-4BD927E8D7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1102743-9D51-42D9-9D5A-E83301358E4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04E0AF77-095A-4423-BEA7-BDB03BD0170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83E1B48E-DBF1-4F67-A72C-F37DE28E1DE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AAFB342C-77A3-4CFE-B851-E6C13ACD2FE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C8CB031F-B093-42F4-9BC2-6A7ACB52997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3F07C5E-89F3-4FD5-80D6-04B946E3DD61}"/>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143EAC28-275B-47BB-B4DD-FECA5D8E1AE6}"/>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E54C766F-D48E-4FF3-BFF5-152D2F5E16ED}"/>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50EB6C3C-3AAE-4337-B20A-765E007D8951}"/>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151302141"/>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B5FBCEB-BFB9-463D-B42C-B21277AF521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2AB82F-F81D-4E21-8816-ABFFABF9B0E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2A8A073-4E87-4954-A0C1-C3CAFC0749AE}"/>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31985D64-A042-4FF6-9C7C-864D302C7F0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289208A2-DFA5-4AEB-B302-3A4F8B87526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EF915414-ED4D-4533-9215-C1CD743B776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189FE1B1-8535-4227-83E3-FA41B4C35DA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7C77D05A-6F14-4C11-A64F-BF98A2623376}"/>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0F753FEE-19D2-42DE-8D33-97E02B62C66C}"/>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B8BBE25-73BE-4694-8608-B6E7D7BCC409}"/>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5E978335-09AB-4C80-AE31-B254AD92B8DC}"/>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83D1BF5F-886E-4157-B47F-F944D01AE991}"/>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70139AA9-CD5A-49F3-A150-D4A3D49AC792}"/>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5AEF5B9E-7346-40EE-A79F-50F693A6F1C1}"/>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FB7EF42-F9A3-4D55-905D-71D63A17587A}"/>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8802CEBC-9AB5-417B-A790-7EECF2628D9B}"/>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73A8CA42-7BDD-4C02-AAF4-9911693933B5}"/>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06B12BA5-5A29-48E1-BDE0-30F8BAE34943}"/>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31DE5531-2F99-47D2-BBED-848F18E083C8}"/>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E35469-81D3-4B20-8923-0C695D7B80A1}"/>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E091732A-96C0-46F2-BF02-A09516E4639F}"/>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8E2F2D23-BDDD-42BE-82E0-B0138D14BCB2}"/>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42B11D71-18C1-423E-AC58-D2B0C28895C2}"/>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4E231849-BB92-4060-AAC4-887DE694EAF8}"/>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912EC2-CE6D-445A-8405-FDB46F7D4014}"/>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11380BFB-0824-4AF0-B8D0-D5A4B2F3B323}"/>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5E0F2C47-9F5B-40DA-8CAC-28BBDAA16858}"/>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5DC27C6B-6804-4DFB-967A-6FACCB5B4936}"/>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32514DF3-623B-4AC8-99CF-6A72957B5A1C}"/>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2AC3C04C-3AA0-49B0-87AE-8ECED1929B8D}"/>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1503160658"/>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19C3AEF-52A1-45BF-BD74-8BDB17305C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6AFB79-F779-4EF5-AA2C-9BA7736EE34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BD1AC7D-8A94-4E32-86B6-E8EB72AE9C38}"/>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6DFF267A-E5DD-4D4F-8C40-0E44CB31771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FBDD7741-931D-4C02-8070-090CA57000E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A8B33C6F-FE7B-4586-AD43-3D0F935A851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F708EBD1-89E9-48C9-AA2A-004E2B14FF2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843A060E-FADF-4FAE-89C0-6FA2B9106652}"/>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DB9FEAFC-EC08-4D44-BBAD-F5F31F230AB2}"/>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39DA17-AB6C-4740-86C7-128F7FFC1569}"/>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9AE6C6C7-E56F-44B8-B1CF-634B6525F98A}"/>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46C24E11-C87D-4B4B-B0F6-F756CAF5B69B}"/>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E7CCAA75-6911-433A-88B3-37BFCF550316}"/>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9BC8A893-7FEB-4E6E-99E1-B3F0A401F54E}"/>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64656CFD-876B-4DD4-B012-5A06DF3D66DA}"/>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CDD1CE1-C689-46BB-89F4-65FAE547410D}"/>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A3901B20-9721-438E-8FE3-B8D0AC296E88}"/>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2A410C88-B4E1-4F88-9A47-2BCB5225BD2F}"/>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55A95DBB-0DDF-4EC4-93AA-FE43A865DEC4}"/>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EEA368DF-913E-44A1-92A2-9C39D18D189D}"/>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B1AB0708-491B-432E-95DC-6051525356FF}"/>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01C198-2887-4339-8534-2C29ECDB8FCA}"/>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311B82C6-3EAD-4D01-B387-AD80D66299B8}"/>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4BD31728-8AFC-4EB6-B4AB-C65950DBDBC2}"/>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3B647FB5-E980-491F-885E-0A67DA798763}"/>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CD816ED4-E575-4F19-96AD-8DF47C6DC27B}"/>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C0188B95-D56F-4FAA-A07A-DC94019CFC87}"/>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7960E02-6E8E-4F65-AD68-76E871A3FD8E}"/>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C7ABEC75-68BB-4C76-86A4-D61EB132631A}"/>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C92C7ADC-77D9-42EE-86FE-28F9DCF89A51}"/>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68A18F56-2896-4BE7-92CE-0649C858B5E6}"/>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B2C65A92-3570-4BF6-8AE3-1E4A09E936ED}"/>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152B5CF7-C767-4E4E-80BB-D6DB772E233F}"/>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97F0812-F279-469F-A5F6-D59A215E200F}"/>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17914131-F8E5-4A6D-93AF-AF48183BC2BB}"/>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2A92D130-46DF-43D5-BB3F-BED01302FC0B}"/>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F209A2A9-5C33-41CA-BE81-0E7177C71C55}"/>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907615415"/>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1CFED7-8A9B-4797-9100-E3C37457D57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BCD20E-0FCF-4727-AE7B-A8796F0D2A0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774E003-27BE-4B3F-9020-42243A09DE7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8D793CFC-8971-49D2-9FE3-9354E785CA8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9E9BC1C8-BC2D-4EDA-9963-5DB7BD522BA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E07E5092-D8A1-479C-8085-FE91FC0F58B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5B1344F6-B34B-4A99-807B-777CB4858CB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095C9784-C860-4D3A-8977-780DEF44B229}"/>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C30D5C7F-8771-464A-8854-08F50BB89BDC}"/>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CE41699E-5121-4AB7-A536-3C2DAE2D560B}"/>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560395876"/>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2026-10-22T09:25:23.9450000Z</dcterms:created>
  <dcterms:modified xsi:type="dcterms:W3CDTF">2026-10-22T09:25:23.9450000Z</dcterms:modified>
</coreProperties>
</file>