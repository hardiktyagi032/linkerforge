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2.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3.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fd8de851c9c43a2" /><Relationship Type="http://schemas.openxmlformats.org/officeDocument/2006/relationships/extended-properties" Target="/docProps/app.xml" Id="Rab52cb1126124e6f" /><Relationship Type="http://schemas.openxmlformats.org/officeDocument/2006/relationships/officeDocument" Target="/ppt/presentation.xml" Id="Rb45cd3f7dfae432d" /></Relationships>
</file>

<file path=ppt/presentation.xml><?xml version="1.0" encoding="utf-8"?>
<p:presentation xmlns:p="http://schemas.openxmlformats.org/presentationml/2006/main">
  <p:sldMasterIdLst>
    <p:sldMasterId xmlns:r="http://schemas.openxmlformats.org/officeDocument/2006/relationships" id="2147483648" r:id="R3bab71c5ceda4e51"/>
  </p:sldMasterIdLst>
  <p:notesMasterIdLst>
    <p:notesMasterId xmlns:r="http://schemas.openxmlformats.org/officeDocument/2006/relationships" r:id="Rb1ce5a81d3b3450e"/>
  </p:notesMasterIdLst>
  <p:sldIdLst>
    <p:sldId xmlns:r="http://schemas.openxmlformats.org/officeDocument/2006/relationships" id="256" r:id="R7861fb6222a448eb"/>
    <p:sldId xmlns:r="http://schemas.openxmlformats.org/officeDocument/2006/relationships" id="257" r:id="Rf4fb90fb49ae4956"/>
    <p:sldId xmlns:r="http://schemas.openxmlformats.org/officeDocument/2006/relationships" id="258" r:id="R15ef754c827b4e76"/>
    <p:sldId xmlns:r="http://schemas.openxmlformats.org/officeDocument/2006/relationships" id="259" r:id="Rd1b696068c784aad"/>
    <p:sldId xmlns:r="http://schemas.openxmlformats.org/officeDocument/2006/relationships" id="260" r:id="R210605bae5fb40b5"/>
    <p:sldId xmlns:r="http://schemas.openxmlformats.org/officeDocument/2006/relationships" id="261" r:id="R2230c1461f9b4bac"/>
    <p:sldId xmlns:r="http://schemas.openxmlformats.org/officeDocument/2006/relationships" id="262" r:id="R1984e094814b40ad"/>
    <p:sldId xmlns:r="http://schemas.openxmlformats.org/officeDocument/2006/relationships" id="263" r:id="Rd849266c0b934262"/>
    <p:sldId xmlns:r="http://schemas.openxmlformats.org/officeDocument/2006/relationships" id="264" r:id="Rb3d4584c9de24a91"/>
    <p:sldId xmlns:r="http://schemas.openxmlformats.org/officeDocument/2006/relationships" id="265" r:id="R29783c95ad7247c0"/>
    <p:sldId xmlns:r="http://schemas.openxmlformats.org/officeDocument/2006/relationships" id="266" r:id="R5c90274e03fa4814"/>
    <p:sldId xmlns:r="http://schemas.openxmlformats.org/officeDocument/2006/relationships" id="267" r:id="R2410fdcc347b4291"/>
    <p:sldId xmlns:r="http://schemas.openxmlformats.org/officeDocument/2006/relationships" id="268" r:id="R86be60fa38254e18"/>
    <p:sldId xmlns:r="http://schemas.openxmlformats.org/officeDocument/2006/relationships" id="269" r:id="Ref2cf59400e04935"/>
    <p:sldId xmlns:r="http://schemas.openxmlformats.org/officeDocument/2006/relationships" id="270" r:id="Rec57a6feacc74488"/>
    <p:sldId xmlns:r="http://schemas.openxmlformats.org/officeDocument/2006/relationships" id="271" r:id="Ref989774776a4400"/>
    <p:sldId xmlns:r="http://schemas.openxmlformats.org/officeDocument/2006/relationships" id="272" r:id="R0f6fcd9f3e334491"/>
    <p:sldId xmlns:r="http://schemas.openxmlformats.org/officeDocument/2006/relationships" id="273" r:id="R29dd118455384f1d"/>
    <p:sldId xmlns:r="http://schemas.openxmlformats.org/officeDocument/2006/relationships" id="274" r:id="R4460ec8ce63849e2"/>
    <p:sldId xmlns:r="http://schemas.openxmlformats.org/officeDocument/2006/relationships" id="275" r:id="R2018172d51d94083"/>
    <p:sldId xmlns:r="http://schemas.openxmlformats.org/officeDocument/2006/relationships" id="276" r:id="R586ad901e0ea4e24"/>
    <p:sldId xmlns:r="http://schemas.openxmlformats.org/officeDocument/2006/relationships" id="277" r:id="R94093a01d86042fc"/>
    <p:sldId xmlns:r="http://schemas.openxmlformats.org/officeDocument/2006/relationships" id="278" r:id="Re726525602984004"/>
    <p:sldId xmlns:r="http://schemas.openxmlformats.org/officeDocument/2006/relationships" id="279" r:id="R05ec5ca66c4a4ff9"/>
    <p:sldId xmlns:r="http://schemas.openxmlformats.org/officeDocument/2006/relationships" id="280" r:id="Red2fcb6e7cba4864"/>
    <p:sldId xmlns:r="http://schemas.openxmlformats.org/officeDocument/2006/relationships" id="281" r:id="Rdc61d50ef22847b3"/>
    <p:sldId xmlns:r="http://schemas.openxmlformats.org/officeDocument/2006/relationships" id="282" r:id="Rf70b3f6344fe426d"/>
    <p:sldId xmlns:r="http://schemas.openxmlformats.org/officeDocument/2006/relationships" id="283" r:id="R426249cf86eb4100"/>
    <p:sldId xmlns:r="http://schemas.openxmlformats.org/officeDocument/2006/relationships" id="284" r:id="R0bad182fb37b48e8"/>
    <p:sldId xmlns:r="http://schemas.openxmlformats.org/officeDocument/2006/relationships" id="285" r:id="Rb595a1b4ed3546e1"/>
    <p:sldId xmlns:r="http://schemas.openxmlformats.org/officeDocument/2006/relationships" id="286" r:id="Re88d9b5398e0462e"/>
    <p:sldId xmlns:r="http://schemas.openxmlformats.org/officeDocument/2006/relationships" id="287" r:id="R0d25ffa104744e91"/>
    <p:sldId xmlns:r="http://schemas.openxmlformats.org/officeDocument/2006/relationships" id="288" r:id="Rb078788771374ade"/>
    <p:sldId xmlns:r="http://schemas.openxmlformats.org/officeDocument/2006/relationships" id="289" r:id="R0f0c3c00fb584c50"/>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e8dd7ce65d7848fc" /><Relationship Type="http://schemas.openxmlformats.org/officeDocument/2006/relationships/slideMaster" Target="/ppt/slideMasters/slideMaster1.xml" Id="R3bab71c5ceda4e51" /><Relationship Type="http://schemas.openxmlformats.org/officeDocument/2006/relationships/notesMaster" Target="/ppt/notesMasters/notesMaster1.xml" Id="Rb1ce5a81d3b3450e" /><Relationship Type="http://schemas.openxmlformats.org/officeDocument/2006/relationships/presProps" Target="/ppt/presProps.xml" Id="R1cecc50d59fa4933" /><Relationship Type="http://schemas.openxmlformats.org/officeDocument/2006/relationships/viewProps" Target="/ppt/viewProps.xml" Id="R6a124894ea5d4287" /><Relationship Type="http://schemas.openxmlformats.org/officeDocument/2006/relationships/tableStyles" Target="/ppt/tableStyles.xml" Id="R738cf9fb452a4331" /><Relationship Type="http://schemas.openxmlformats.org/officeDocument/2006/relationships/slide" Target="/ppt/slides/slide1.xml" Id="R7861fb6222a448eb" /><Relationship Type="http://schemas.openxmlformats.org/officeDocument/2006/relationships/slide" Target="/ppt/slides/slide2.xml" Id="Rf4fb90fb49ae4956" /><Relationship Type="http://schemas.openxmlformats.org/officeDocument/2006/relationships/slide" Target="/ppt/slides/slide3.xml" Id="R15ef754c827b4e76" /><Relationship Type="http://schemas.openxmlformats.org/officeDocument/2006/relationships/slide" Target="/ppt/slides/slide4.xml" Id="Rd1b696068c784aad" /><Relationship Type="http://schemas.openxmlformats.org/officeDocument/2006/relationships/slide" Target="/ppt/slides/slide5.xml" Id="R210605bae5fb40b5" /><Relationship Type="http://schemas.openxmlformats.org/officeDocument/2006/relationships/slide" Target="/ppt/slides/slide6.xml" Id="R2230c1461f9b4bac" /><Relationship Type="http://schemas.openxmlformats.org/officeDocument/2006/relationships/slide" Target="/ppt/slides/slide7.xml" Id="R1984e094814b40ad" /><Relationship Type="http://schemas.openxmlformats.org/officeDocument/2006/relationships/slide" Target="/ppt/slides/slide8.xml" Id="Rd849266c0b934262" /><Relationship Type="http://schemas.openxmlformats.org/officeDocument/2006/relationships/slide" Target="/ppt/slides/slide9.xml" Id="Rb3d4584c9de24a91" /><Relationship Type="http://schemas.openxmlformats.org/officeDocument/2006/relationships/slide" Target="/ppt/slides/slide10.xml" Id="R29783c95ad7247c0" /><Relationship Type="http://schemas.openxmlformats.org/officeDocument/2006/relationships/slide" Target="/ppt/slides/slide11.xml" Id="R5c90274e03fa4814" /><Relationship Type="http://schemas.openxmlformats.org/officeDocument/2006/relationships/slide" Target="/ppt/slides/slide12.xml" Id="R2410fdcc347b4291" /><Relationship Type="http://schemas.openxmlformats.org/officeDocument/2006/relationships/slide" Target="/ppt/slides/slide13.xml" Id="R86be60fa38254e18" /><Relationship Type="http://schemas.openxmlformats.org/officeDocument/2006/relationships/slide" Target="/ppt/slides/slide14.xml" Id="Ref2cf59400e04935" /><Relationship Type="http://schemas.openxmlformats.org/officeDocument/2006/relationships/slide" Target="/ppt/slides/slide15.xml" Id="Rec57a6feacc74488" /><Relationship Type="http://schemas.openxmlformats.org/officeDocument/2006/relationships/slide" Target="/ppt/slides/slide16.xml" Id="Ref989774776a4400" /><Relationship Type="http://schemas.openxmlformats.org/officeDocument/2006/relationships/slide" Target="/ppt/slides/slide17.xml" Id="R0f6fcd9f3e334491" /><Relationship Type="http://schemas.openxmlformats.org/officeDocument/2006/relationships/slide" Target="/ppt/slides/slide18.xml" Id="R29dd118455384f1d" /><Relationship Type="http://schemas.openxmlformats.org/officeDocument/2006/relationships/slide" Target="/ppt/slides/slide19.xml" Id="R4460ec8ce63849e2" /><Relationship Type="http://schemas.openxmlformats.org/officeDocument/2006/relationships/slide" Target="/ppt/slides/slide20.xml" Id="R2018172d51d94083" /><Relationship Type="http://schemas.openxmlformats.org/officeDocument/2006/relationships/slide" Target="/ppt/slides/slide21.xml" Id="R586ad901e0ea4e24" /><Relationship Type="http://schemas.openxmlformats.org/officeDocument/2006/relationships/slide" Target="/ppt/slides/slide22.xml" Id="R94093a01d86042fc" /><Relationship Type="http://schemas.openxmlformats.org/officeDocument/2006/relationships/slide" Target="/ppt/slides/slide23.xml" Id="Re726525602984004" /><Relationship Type="http://schemas.openxmlformats.org/officeDocument/2006/relationships/slide" Target="/ppt/slides/slide24.xml" Id="R05ec5ca66c4a4ff9" /><Relationship Type="http://schemas.openxmlformats.org/officeDocument/2006/relationships/slide" Target="/ppt/slides/slide25.xml" Id="Red2fcb6e7cba4864" /><Relationship Type="http://schemas.openxmlformats.org/officeDocument/2006/relationships/slide" Target="/ppt/slides/slide26.xml" Id="Rdc61d50ef22847b3" /><Relationship Type="http://schemas.openxmlformats.org/officeDocument/2006/relationships/slide" Target="/ppt/slides/slide27.xml" Id="Rf70b3f6344fe426d" /><Relationship Type="http://schemas.openxmlformats.org/officeDocument/2006/relationships/slide" Target="/ppt/slides/slide28.xml" Id="R426249cf86eb4100" /><Relationship Type="http://schemas.openxmlformats.org/officeDocument/2006/relationships/slide" Target="/ppt/slides/slide29.xml" Id="R0bad182fb37b48e8" /><Relationship Type="http://schemas.openxmlformats.org/officeDocument/2006/relationships/slide" Target="/ppt/slides/slide30.xml" Id="Rb595a1b4ed3546e1" /><Relationship Type="http://schemas.openxmlformats.org/officeDocument/2006/relationships/slide" Target="/ppt/slides/slide31.xml" Id="Re88d9b5398e0462e" /><Relationship Type="http://schemas.openxmlformats.org/officeDocument/2006/relationships/slide" Target="/ppt/slides/slide32.xml" Id="R0d25ffa104744e91" /><Relationship Type="http://schemas.openxmlformats.org/officeDocument/2006/relationships/slide" Target="/ppt/slides/slide33.xml" Id="Rb078788771374ade" /><Relationship Type="http://schemas.openxmlformats.org/officeDocument/2006/relationships/slide" Target="/ppt/slides/slide34.xml" Id="R0f0c3c00fb584c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e2bb6fe3dc4d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23bbad56484a92" /><Relationship Type="http://schemas.openxmlformats.org/officeDocument/2006/relationships/notesMaster" Target="/ppt/notesMasters/notesMaster1.xml" Id="Rba2cc4b7a11944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bd54c4987e460d" /><Relationship Type="http://schemas.openxmlformats.org/officeDocument/2006/relationships/notesMaster" Target="/ppt/notesMasters/notesMaster1.xml" Id="R6a86041285ab4d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864c91a9cc43d9" /><Relationship Type="http://schemas.openxmlformats.org/officeDocument/2006/relationships/notesMaster" Target="/ppt/notesMasters/notesMaster1.xml" Id="Rfd63457697b44a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37bf630dc34276" /><Relationship Type="http://schemas.openxmlformats.org/officeDocument/2006/relationships/notesMaster" Target="/ppt/notesMasters/notesMaster1.xml" Id="Rf3d73c01c7c84e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d421f50e704c72" /><Relationship Type="http://schemas.openxmlformats.org/officeDocument/2006/relationships/notesMaster" Target="/ppt/notesMasters/notesMaster1.xml" Id="Rc4411ef2de664d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56578ede9745e3" /><Relationship Type="http://schemas.openxmlformats.org/officeDocument/2006/relationships/notesMaster" Target="/ppt/notesMasters/notesMaster1.xml" Id="R195f78b0bc104b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8f1b12818b4846" /><Relationship Type="http://schemas.openxmlformats.org/officeDocument/2006/relationships/notesMaster" Target="/ppt/notesMasters/notesMaster1.xml" Id="R9686980833e54f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f4997ee93e949d8" /><Relationship Type="http://schemas.openxmlformats.org/officeDocument/2006/relationships/notesMaster" Target="/ppt/notesMasters/notesMaster1.xml" Id="R7fe1a528ec0041ae"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41eaebf12340f5" /><Relationship Type="http://schemas.openxmlformats.org/officeDocument/2006/relationships/notesMaster" Target="/ppt/notesMasters/notesMaster1.xml" Id="Rdd2099c01d3a49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23162a9eb98499c" /><Relationship Type="http://schemas.openxmlformats.org/officeDocument/2006/relationships/notesMaster" Target="/ppt/notesMasters/notesMaster1.xml" Id="R8b38aa4f3b15434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5cb3951b5474f3e" /><Relationship Type="http://schemas.openxmlformats.org/officeDocument/2006/relationships/notesMaster" Target="/ppt/notesMasters/notesMaster1.xml" Id="R9f298d8e485a406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b4035e6532f4f56" /><Relationship Type="http://schemas.openxmlformats.org/officeDocument/2006/relationships/notesMaster" Target="/ppt/notesMasters/notesMaster1.xml" Id="Rf2533aa85c7b466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343d2e41c6a4de3" /><Relationship Type="http://schemas.openxmlformats.org/officeDocument/2006/relationships/notesMaster" Target="/ppt/notesMasters/notesMaster1.xml" Id="R88ecc40f1c1446d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a8ae15db84f4002" /><Relationship Type="http://schemas.openxmlformats.org/officeDocument/2006/relationships/notesMaster" Target="/ppt/notesMasters/notesMaster1.xml" Id="R0505f4981c434f3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c6cf1e54e2c4cab" /><Relationship Type="http://schemas.openxmlformats.org/officeDocument/2006/relationships/notesMaster" Target="/ppt/notesMasters/notesMaster1.xml" Id="R871d72a0438644e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47b722ddacf44fd" /><Relationship Type="http://schemas.openxmlformats.org/officeDocument/2006/relationships/notesMaster" Target="/ppt/notesMasters/notesMaster1.xml" Id="Rc5be6b1b7e4741a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a93f7fec4544376" /><Relationship Type="http://schemas.openxmlformats.org/officeDocument/2006/relationships/notesMaster" Target="/ppt/notesMasters/notesMaster1.xml" Id="R0bdfedb8d37449c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ef8ad0e8a9c4d9e" /><Relationship Type="http://schemas.openxmlformats.org/officeDocument/2006/relationships/notesMaster" Target="/ppt/notesMasters/notesMaster1.xml" Id="R120bbd1821884b5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0f818f234014030" /><Relationship Type="http://schemas.openxmlformats.org/officeDocument/2006/relationships/notesMaster" Target="/ppt/notesMasters/notesMaster1.xml" Id="Rb31cbe528186454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c178da426614148" /><Relationship Type="http://schemas.openxmlformats.org/officeDocument/2006/relationships/notesMaster" Target="/ppt/notesMasters/notesMaster1.xml" Id="R27ee806a043c4e1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4e524eed05e4a6d" /><Relationship Type="http://schemas.openxmlformats.org/officeDocument/2006/relationships/notesMaster" Target="/ppt/notesMasters/notesMaster1.xml" Id="R5fddae862b5140f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40b309997bb441c" /><Relationship Type="http://schemas.openxmlformats.org/officeDocument/2006/relationships/notesMaster" Target="/ppt/notesMasters/notesMaster1.xml" Id="Rebe789180415449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8819e19b8d1417d" /><Relationship Type="http://schemas.openxmlformats.org/officeDocument/2006/relationships/notesMaster" Target="/ppt/notesMasters/notesMaster1.xml" Id="Rf4ef0bfdf9be432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dfd431a64a843e5" /><Relationship Type="http://schemas.openxmlformats.org/officeDocument/2006/relationships/notesMaster" Target="/ppt/notesMasters/notesMaster1.xml" Id="R8bb11ae24b7b48e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4c67834556149a0" /><Relationship Type="http://schemas.openxmlformats.org/officeDocument/2006/relationships/notesMaster" Target="/ppt/notesMasters/notesMaster1.xml" Id="Rfd0579255b4a42a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5150e6dc4fa4a1e" /><Relationship Type="http://schemas.openxmlformats.org/officeDocument/2006/relationships/notesMaster" Target="/ppt/notesMasters/notesMaster1.xml" Id="R70cab80fe3244ed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bd323eaca61445e" /><Relationship Type="http://schemas.openxmlformats.org/officeDocument/2006/relationships/notesMaster" Target="/ppt/notesMasters/notesMaster1.xml" Id="Rfd72672041804ce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fb43a50a68a45cc" /><Relationship Type="http://schemas.openxmlformats.org/officeDocument/2006/relationships/notesMaster" Target="/ppt/notesMasters/notesMaster1.xml" Id="Rd087bcba3a2d4cd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3719a5264f14128" /><Relationship Type="http://schemas.openxmlformats.org/officeDocument/2006/relationships/notesMaster" Target="/ppt/notesMasters/notesMaster1.xml" Id="Rc0506794f36341a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10f141f8d60485a" /><Relationship Type="http://schemas.openxmlformats.org/officeDocument/2006/relationships/notesMaster" Target="/ppt/notesMasters/notesMaster1.xml" Id="Rc41bc7d29072428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f47781f2c6b4a1d" /><Relationship Type="http://schemas.openxmlformats.org/officeDocument/2006/relationships/notesMaster" Target="/ppt/notesMasters/notesMaster1.xml" Id="Rb4dd7900821a470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9ef3980b94f468e" /><Relationship Type="http://schemas.openxmlformats.org/officeDocument/2006/relationships/notesMaster" Target="/ppt/notesMasters/notesMaster1.xml" Id="Rd2f79f12bff74af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a72f4f1e6114c35" /><Relationship Type="http://schemas.openxmlformats.org/officeDocument/2006/relationships/notesMaster" Target="/ppt/notesMasters/notesMaster1.xml" Id="Re0e7d6d9f1164d5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8388fbc8a8f4471" /><Relationship Type="http://schemas.openxmlformats.org/officeDocument/2006/relationships/notesMaster" Target="/ppt/notesMasters/notesMaster1.xml" Id="Reb26a82b50cd4a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3 (minor)</a:t>
            </a:r>
          </a:p>
          <a:p xmlns:a="http://schemas.openxmlformats.org/drawingml/2006/main">
            <a:endParaRPr/>
          </a:p>
          <a:p xmlns:a="http://schemas.openxmlformats.org/drawingml/2006/main">
            <a:r>
              <a:t>Open with the scope: this is a computational workflow and evidence interface. Do not introduce it as a validated biological-success predictor.</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2\runs\folds\acceptance-20261020-ubiquitin-gb1-target10\pymol-open-source-preview.png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3 (minor)</a:t>
            </a:r>
          </a:p>
          <a:p xmlns:a="http://schemas.openxmlformats.org/drawingml/2006/main">
            <a:endParaRPr/>
          </a:p>
          <a:p xmlns:a="http://schemas.openxmlformats.org/drawingml/2006/main">
            <a:r>
              <a:t>State the handoff plan. Presenter 1 owns the rationale and design. Presenter 2 owns the scientific evidence. Presenter 4 closes with product and publication readiness.</a:t>
            </a:r>
          </a:p>
          <a:p xmlns:a="http://schemas.openxmlformats.org/drawingml/2006/main">
            <a:endParaRPr/>
          </a:p>
          <a:p xmlns:a="http://schemas.openxmlformats.org/drawingml/2006/main">
            <a:r>
              <a:t>Sources and evidence:</a:t>
            </a:r>
          </a:p>
          <a:p xmlns:a="http://schemas.openxmlformats.org/drawingml/2006/main">
            <a:r>
              <a:t>- Team allocation created for this presentation; timings are presentation planning values, not scientific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Frame the biological design problem. Linker classes are established, but their effects depend on the fusion context. Avoid saying that any one class is universally superior.</a:t>
            </a:r>
          </a:p>
          <a:p xmlns:a="http://schemas.openxmlformats.org/drawingml/2006/main">
            <a:endParaRPr/>
          </a:p>
          <a:p xmlns:a="http://schemas.openxmlformats.org/drawingml/2006/main">
            <a:r>
              <a:t>Sources and evidence:</a:t>
            </a:r>
          </a:p>
          <a:p xmlns:a="http://schemas.openxmlformats.org/drawingml/2006/main">
            <a:r>
              <a:t>- https://pmc.ncbi.nlm.nih.gov/articles/PMC3726540/</a:t>
            </a:r>
          </a:p>
          <a:p xmlns:a="http://schemas.openxmlformats.org/drawingml/2006/main">
            <a:r>
              <a:t>- https://doi.org/10.1016/j.addr.2012.09.039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Use the timeline to distinguish tasks. LINKER and SynLinker support generation or retrieval. DFLpred and TransDFL detect domain-linker residues. Li and colleagues provide the strongest adjacent functional model, trained on 370 experimentally measured 18-residue linkers for one sfGFP-nanobody construct. That study strengthens the case for context-specific modelling but does not establish cross-pair generalization.</a:t>
            </a:r>
          </a:p>
          <a:p xmlns:a="http://schemas.openxmlformats.org/drawingml/2006/main">
            <a:endParaRPr/>
          </a:p>
          <a:p xmlns:a="http://schemas.openxmlformats.org/drawingml/2006/main">
            <a:r>
              <a:t>Sources and evidence:</a:t>
            </a:r>
          </a:p>
          <a:p xmlns:a="http://schemas.openxmlformats.org/drawingml/2006/main">
            <a:r>
              <a:t>- https://doi.org/10.1093/protein/13.5.309</a:t>
            </a:r>
          </a:p>
          <a:p xmlns:a="http://schemas.openxmlformats.org/drawingml/2006/main">
            <a:r>
              <a:t>- https://doi.org/10.1093/bioinformatics/btv447</a:t>
            </a:r>
          </a:p>
          <a:p xmlns:a="http://schemas.openxmlformats.org/drawingml/2006/main">
            <a:r>
              <a:t>- https://doi.org/10.1093/bioinformatics/btw280</a:t>
            </a:r>
          </a:p>
          <a:p xmlns:a="http://schemas.openxmlformats.org/drawingml/2006/main">
            <a:r>
              <a:t>- https://doi.org/10.1016/j.gpb.2022.10.004</a:t>
            </a:r>
          </a:p>
          <a:p xmlns:a="http://schemas.openxmlformats.org/drawingml/2006/main">
            <a:r>
              <a:t>- https://doi.org/10.1016/j.synbio.2026.02.003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literature shows a progression. Early tools acknowledged intuition-driven selection. SynLinker organized candidates but still described experimental selection as ad hoc. Li and colleagues then trained a multimodal functional predictor with experimental fluorescence data, but only for one fusion architecture. The CASP16 study showed that current structure ensembles can still miss experimentally observed linker-sequence effects. These are important advances, but they do not yet provide a family-disjoint benchmark for ranking linkers across unrelated domain pairs.</a:t>
            </a:r>
          </a:p>
          <a:p xmlns:a="http://schemas.openxmlformats.org/drawingml/2006/main">
            <a:endParaRPr/>
          </a:p>
          <a:p xmlns:a="http://schemas.openxmlformats.org/drawingml/2006/main">
            <a:r>
              <a:t>Sources and evidence:</a:t>
            </a:r>
          </a:p>
          <a:p xmlns:a="http://schemas.openxmlformats.org/drawingml/2006/main">
            <a:r>
              <a:t>- https://academic.oup.com/peds/article-abstract/13/5/309/1505267</a:t>
            </a:r>
          </a:p>
          <a:p xmlns:a="http://schemas.openxmlformats.org/drawingml/2006/main">
            <a:r>
              <a:t>- https://academic.oup.com/bioinformatics/article/31/22/3700/241706</a:t>
            </a:r>
          </a:p>
          <a:p xmlns:a="http://schemas.openxmlformats.org/drawingml/2006/main">
            <a:r>
              <a:t>- https://doi.org/10.1016/j.synbio.2026.02.003</a:t>
            </a:r>
          </a:p>
          <a:p xmlns:a="http://schemas.openxmlformats.org/drawingml/2006/main">
            <a:r>
              <a:t>- https://pmc.ncbi.nlm.nih.gov/articles/PMC12648682/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Explain the quotations as evidence with boundaries. LINKER documented that selection criteria were weak in 2000. SynLinker expanded searchable candidates but did not learn outcomes for a supplied pair. Li and colleagues provide the strongest adjacent functional evidence because they measured 370 linker variants and trained a multimodal model, but all 370 primary variants share one nanobody–sfGFP architecture and one linker length. McBride and colleagues evaluated domain-pose ensembles against solution data and found that plausible domain structures can still miss the observed interdomain distribution. Together these papers motivate pair-conditioned ranking and matched structural evaluation. They do not validate LinkerForge itself.</a:t>
            </a:r>
          </a:p>
          <a:p xmlns:a="http://schemas.openxmlformats.org/drawingml/2006/main">
            <a:endParaRPr/>
          </a:p>
          <a:p xmlns:a="http://schemas.openxmlformats.org/drawingml/2006/main">
            <a:r>
              <a:t>Sources and evidence:</a:t>
            </a:r>
          </a:p>
          <a:p xmlns:a="http://schemas.openxmlformats.org/drawingml/2006/main">
            <a:r>
              <a:t>- https://doi.org/10.1093/protein/13.5.309</a:t>
            </a:r>
          </a:p>
          <a:p xmlns:a="http://schemas.openxmlformats.org/drawingml/2006/main">
            <a:r>
              <a:t>- https://doi.org/10.1093/bioinformatics/btv447</a:t>
            </a:r>
          </a:p>
          <a:p xmlns:a="http://schemas.openxmlformats.org/drawingml/2006/main">
            <a:r>
              <a:t>- https://doi.org/10.1016/j.synbio.2026.02.003</a:t>
            </a:r>
          </a:p>
          <a:p xmlns:a="http://schemas.openxmlformats.org/drawingml/2006/main">
            <a:r>
              <a:t>- https://doi.org/10.1002/prot.70062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Compare methods only within their stated tasks. The 2026 multimodal study is the closest functional comparator because it uses experimental outcomes and AlphaFold-derived features. Its evidence comes from one sfGFP-nanobody architecture. LinkerForge aims to condition ranking on both domains and attachment context, then apply one matched structural and provenance contract. That broader scope could become an advantage, but the compatibility ranker has not yet been scientifically trained or shown to outperform any published model.</a:t>
            </a:r>
          </a:p>
          <a:p xmlns:a="http://schemas.openxmlformats.org/drawingml/2006/main">
            <a:endParaRPr/>
          </a:p>
          <a:p xmlns:a="http://schemas.openxmlformats.org/drawingml/2006/main">
            <a:r>
              <a:t>Sources and evidence:</a:t>
            </a:r>
          </a:p>
          <a:p xmlns:a="http://schemas.openxmlformats.org/drawingml/2006/main">
            <a:r>
              <a:t>- https://doi.org/10.1093/protein/13.5.309</a:t>
            </a:r>
          </a:p>
          <a:p xmlns:a="http://schemas.openxmlformats.org/drawingml/2006/main">
            <a:r>
              <a:t>- https://doi.org/10.1093/bioinformatics/btv447</a:t>
            </a:r>
          </a:p>
          <a:p xmlns:a="http://schemas.openxmlformats.org/drawingml/2006/main">
            <a:r>
              <a:t>- https://doi.org/10.1093/bioinformatics/btw280</a:t>
            </a:r>
          </a:p>
          <a:p xmlns:a="http://schemas.openxmlformats.org/drawingml/2006/main">
            <a:r>
              <a:t>- https://doi.org/10.1093/bioinformatics/btaa808</a:t>
            </a:r>
          </a:p>
          <a:p xmlns:a="http://schemas.openxmlformats.org/drawingml/2006/main">
            <a:r>
              <a:t>- https://doi.org/10.1016/j.gpb.2022.10.004</a:t>
            </a:r>
          </a:p>
          <a:p xmlns:a="http://schemas.openxmlformats.org/drawingml/2006/main">
            <a:r>
              <a:t>- https://doi.org/10.1016/j.synbio.2026.02.003</a:t>
            </a:r>
          </a:p>
          <a:p xmlns:a="http://schemas.openxmlformats.org/drawingml/2006/main">
            <a:r>
              <a:t>- https://www.nature.com/articles/s41592-022-01488-1</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2026 multimodal study narrows the gap by demonstrating functional prediction for one fusion system. The remaining research question is generalization across unrelated domain pairs under a frozen comparison contract. LinkerForge currently contributes the candidate, structure-evidence, rejection, and provenance workflow. Its active DFL detector is a separate sequence-labelling task, and the proposed compatibility ranker remains unvalidated.</a:t>
            </a:r>
          </a:p>
          <a:p xmlns:a="http://schemas.openxmlformats.org/drawingml/2006/main">
            <a:endParaRPr/>
          </a:p>
          <a:p xmlns:a="http://schemas.openxmlformats.org/drawingml/2006/main">
            <a:r>
              <a:t>Sources and evidence:</a:t>
            </a:r>
          </a:p>
          <a:p xmlns:a="http://schemas.openxmlformats.org/drawingml/2006/main">
            <a:r>
              <a:t>- M:\ChatGPT\LinkerForge 2\literature\REVIEW_STATUS.md</a:t>
            </a:r>
          </a:p>
          <a:p xmlns:a="http://schemas.openxmlformats.org/drawingml/2006/main">
            <a:r>
              <a:t>- https://doi.org/10.1016/j.synbio.2026.02.003</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Explain the separation between implemented workflow, execution testing, and future ML evaluation. This protects the project from turning evidence of execution into an unsupported biological claim.</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Walk left to right. Candidate generation is deterministic today. ColabFold provides full-chain models and confidence artifacts. Evidence and provenance are packaged together. Rosetta is explicitly unavailable, and OpenMM is currently an execution smoke test.</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2\docs\FULL_FUSION_LOCAL_WORKFLOW.md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Start with the three representations. ESM-2 supplies pretrained residue-level sequence features for both domains and stays frozen to reduce data requirements. The local geometric graph describes residues around the two attachment points, allowing the model to use spatial relationships rather than sequence alone. A small linker encoder represents the proposed linker sequence and its length. The fusion network combines these representations and sends the shared representation to separate prediction heads. The compatibility output is a ranking score. Other heads estimate class and length suitability plus structural risks. The exact linker encoder and fusion operator still require validation, so the slide presents the frozen architectural intent rather than an implemented performance claim.</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https://doi.org/10.1126/science.ade2574</a:t>
            </a:r>
          </a:p>
          <a:p xmlns:a="http://schemas.openxmlformats.org/drawingml/2006/main">
            <a:r>
              <a:t>- https://openreview.net/forum?id=1YLJDvSx6J4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learning task is pairwise ranking, not experimental-success classification. For one domain pair, the observed natural linker provides a positive example and deterministic corruptions provide labelled synthetic contrasts. Grouped batches prevent the loss from rewarding easy differences between unrelated proteins. Auxiliary heads encourage the shared representation to retain structural constraints. Homology and domain-family clusters remain intact across train, validation, and blind sets. At inference time, LinkerForge ranks an auditable candidate set, then structural hard rejections remove candidates that fail closure, clash, deformation, protected-site, sequence, or uncertainty rules. A raw score must never be described as a calibrated probability until calibration has been demonstrated on an independent outcome dataset.</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Explain acquisition by evidence tier. The mining branch first identifies 5–60 residue gaps between adjacent, non-overlapping, distinct domain calls and excludes terminal tails, overlapping domains, repeats, and transmembrane cases. The detector then assigns scores, producing 6,556 high-score calls and 21,039 provisional candidates. These remain model-mined spans. The authority tiers add 91 CATH and PDB natural junctions, 57 DisProt-curated flexible-linker annotations, and 23 cited engineered templates. The total of 27,766 is a useful discovery, retrieval, and weak-supervision corpus. It does not contain measured compatibility outcomes for arbitrary engineered domain pairs.</a:t>
            </a:r>
          </a:p>
          <a:p xmlns:a="http://schemas.openxmlformats.org/drawingml/2006/main">
            <a:endParaRPr/>
          </a:p>
          <a:p xmlns:a="http://schemas.openxmlformats.org/drawingml/2006/main">
            <a:r>
              <a:t>Sources and evidence:</a:t>
            </a:r>
          </a:p>
          <a:p xmlns:a="http://schemas.openxmlformats.org/drawingml/2006/main">
            <a:r>
              <a:t>- M:\ChatGPT\LinkerForge 2\datasets\README.md</a:t>
            </a:r>
          </a:p>
          <a:p xmlns:a="http://schemas.openxmlformats.org/drawingml/2006/main">
            <a:r>
              <a:t>- M:\ChatGPT\LinkerForge 2\docs\LINKER_CURATION_PROTOCOL_2026-10-21.md</a:t>
            </a:r>
          </a:p>
          <a:p xmlns:a="http://schemas.openxmlformats.org/drawingml/2006/main">
            <a:r>
              <a:t>- M:\ChatGPT\LinkerForge 2\reports\PART1_COMPLETION_AND_NATURAL_MINED_LINKER_DATASET_2026-10-19.md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The packet is deterministic and stratified by source corpus, length, authority tier, classifier score band, and preserved homology-cluster ID. Curator A and Curator B receive separate files and work independently until both are locked. Each curator checks coordinates, the inter-domain interpretation, evidence type, structural state, source support, and final disposition. A third versioned adjudication record resolves disagreements while preserving both original judgements, reviewer identity, and timestamps. Agreement and precision are calculated only after locking. The critical boundary is that every record keeps compatibility_outcome equal to not_assessed. Curation can validate that a segment is a linker and that its source is correctly represented. It cannot show that the sequence will express, fold, or function in a different engineered fusion.</a:t>
            </a:r>
          </a:p>
          <a:p xmlns:a="http://schemas.openxmlformats.org/drawingml/2006/main">
            <a:endParaRPr/>
          </a:p>
          <a:p xmlns:a="http://schemas.openxmlformats.org/drawingml/2006/main">
            <a:r>
              <a:t>Sources and evidence:</a:t>
            </a:r>
          </a:p>
          <a:p xmlns:a="http://schemas.openxmlformats.org/drawingml/2006/main">
            <a:r>
              <a:t>- M:\ChatGPT\LinkerForge 2\docs\LINKER_CURATION_PROTOCOL_2026-10-21.md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Separate five levels of validation. Package checks prove the released archive has not changed. Schema checks prove records have the required fields and internally consistent coordinates. Independent review tests whether mined calls and authorities are correctly interpreted. Cluster-level splitting reduces leakage from close homologues and repeated domain architectures. Only the final level can support a predictive claim, and it requires a separate engineered-fusion outcome dataset plus an untouched family-disjoint comparison. The active DFL detector has an additional firewall: CAID3 spent labels and DP94 sealed labels cannot influence training or model selection. Publishing the files does not reopen those labels for prospective use.</a:t>
            </a:r>
          </a:p>
          <a:p xmlns:a="http://schemas.openxmlformats.org/drawingml/2006/main">
            <a:r>
              <a:t/>
            </a:r>
            <a:endParaRPr/>
          </a:p>
          <a:p xmlns:a="http://schemas.openxmlformats.org/drawingml/2006/main">
            <a:r>
              <a:t>Sources and evidence:</a:t>
            </a:r>
          </a:p>
          <a:p xmlns:a="http://schemas.openxmlformats.org/drawingml/2006/main">
            <a:r>
              <a:t>- M:\ChatGPT\LinkerForge 2\datasets\README.md</a:t>
            </a:r>
          </a:p>
          <a:p xmlns:a="http://schemas.openxmlformats.org/drawingml/2006/main">
            <a:r>
              <a:t>- M:\ChatGPT\LinkerForge 2\CLASSIFIER_DATA_GATE.md</a:t>
            </a:r>
          </a:p>
          <a:p xmlns:a="http://schemas.openxmlformats.org/drawingml/2006/main">
            <a:r>
              <a:t>- M:\ChatGPT\LinkerForge 2\RESEARCH_HANDOFF.md</a:t>
            </a:r>
          </a:p>
          <a:p xmlns:a="http://schemas.openxmlformats.org/drawingml/2006/main">
            <a:r>
              <a:t/>
            </a:r>
          </a:p>
          <a:p xmlns:a="http://schemas.openxmlformats.org/drawingml/2006/main">
            <a:r>
              <a:t>Why the protected gate blocks training: this is a data-independence failure, not a software crash. The DP94 candidate screen connected 88 of 98 proteins to existing train, development, or auxiliary proteins. The public CAID3 common set was already viewed in a one-time comparison, so it cannot be reused to choose a new model. The self-contained B1 V2 split passes its internal checks, but it does not create a fresh, untouched external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Follow the chain from left to right. Source provenance identifies the authority record and retrieval context. The derived record stores exact coordinates, sequence, evidence class, and every transformation. The run record pins code, configuration, model checkpoint, arguments, random seeds, software versions, and hardware. The evidence record connects the exact candidate to structure files, confidence artifacts, calculated measurements, rejection reasons, and limitations. The final bundle contains versioned JSON plus a checksum manifest. The application also maintains a local SHA-256 hash chain so editing or removing a recorded entry becomes detectable. These mechanisms support traceability and reproducibility. They do not convert predicted confidence into experimental evidence.</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2\frontend\src\researchBundle.ts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Differentiate candidate enumeration from learned ranking. The candidate families and controls are operational. The ESM-2 and GNN ranker remains a specified architecture, not a validated model.</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Describe pLDDT as AlphaFold local confidence, not LinkerForge confidence. The linker has low mean pLDDT. Low linker confidence may be compatible with flexibility, but it does not prove flexibility. pTM and cross-domain PAE show uncertainty in global arrangement.</a:t>
            </a:r>
          </a:p>
          <a:p xmlns:a="http://schemas.openxmlformats.org/drawingml/2006/main">
            <a:r>
              <a:t/>
            </a:r>
            <a:endParaRPr/>
          </a:p>
          <a:p xmlns:a="http://schemas.openxmlformats.org/drawingml/2006/main">
            <a:r>
              <a:t>Sources and evidence:</a:t>
            </a:r>
          </a:p>
          <a:p xmlns:a="http://schemas.openxmlformats.org/drawingml/2006/main">
            <a:r>
              <a:t>- M:\ChatGPT\LinkerForge 2\runs\folds\acceptance-20261020-ubiquitin-gb1-target10\evidence_checklist.json</a:t>
            </a:r>
          </a:p>
          <a:p xmlns:a="http://schemas.openxmlformats.org/drawingml/2006/main">
            <a:r>
              <a:t>- M:\ChatGPT\LinkerForge 2\runs\folds\acceptance-20261020-ubiquitin-gb1-target10\pymol-open-source-preview.png</a:t>
            </a:r>
          </a:p>
          <a:p xmlns:a="http://schemas.openxmlformats.org/drawingml/2006/main">
            <a:r>
              <a:t>- https://www.nature.com/articles/s41586-021-03819-2</a:t>
            </a:r>
          </a:p>
          <a:p xmlns:a="http://schemas.openxmlformats.org/drawingml/2006/main">
            <a:r>
              <a:t>- https://www.nature.com/articles/s41592-022-01488-1</a:t>
            </a:r>
          </a:p>
          <a:p xmlns:a="http://schemas.openxmlformats.org/drawingml/2006/main">
            <a:r>
              <a:t/>
            </a:r>
          </a:p>
          <a:p xmlns:a="http://schemas.openxmlformats.org/drawingml/2006/main">
            <a:r>
              <a:t>Updated acceptance context: this slide is the original Ubiquitin–GB1 reference-pair run. Slides 23–31 report the complete three-pair panel. Source: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Only linker-containing conditions are shown. The panel uses matched sequence context and prediction settings, but one domain pair cannot establish generalization or superiority.</a:t>
            </a:r>
          </a:p>
          <a:p xmlns:a="http://schemas.openxmlformats.org/drawingml/2006/main">
            <a:r>
              <a:t/>
            </a:r>
            <a:endParaRPr/>
          </a:p>
          <a:p xmlns:a="http://schemas.openxmlformats.org/drawingml/2006/main">
            <a:r>
              <a:t>Sources and evidence:</a:t>
            </a:r>
          </a:p>
          <a:p xmlns:a="http://schemas.openxmlformats.org/drawingml/2006/main">
            <a:r>
              <a:t>- M:\ChatGPT\LinkerForge 2\docs\PROFESSIONAL_PUBLICATION_READINESS_AUDIT_2026-10-20.md</a:t>
            </a:r>
          </a:p>
          <a:p xmlns:a="http://schemas.openxmlformats.org/drawingml/2006/main">
            <a:r>
              <a:t>- M:\ChatGPT\LinkerForge 2\runs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Treat each tool according to its real task. ColabFold predicts structures and confidence. DFLpred detects linker-like residues. OpenMM confirmed the CUDA pipeline can execute, but 50 ps is too short for a stability claim. PyMOL is inspection, not simulation.</a:t>
            </a:r>
          </a:p>
          <a:p xmlns:a="http://schemas.openxmlformats.org/drawingml/2006/main">
            <a:r>
              <a:t/>
            </a:r>
            <a:endParaRPr/>
          </a:p>
          <a:p xmlns:a="http://schemas.openxmlformats.org/drawingml/2006/main">
            <a:r>
              <a:t>Sources and evidence:</a:t>
            </a:r>
          </a:p>
          <a:p xmlns:a="http://schemas.openxmlformats.org/drawingml/2006/main">
            <a:r>
              <a:t>- M:\ChatGPT\LinkerForge 2\runs</a:t>
            </a:r>
          </a:p>
          <a:p xmlns:a="http://schemas.openxmlformats.org/drawingml/2006/main">
            <a:r>
              <a:t>- https://doi.org/10.1038/s41592-022-01488-1</a:t>
            </a:r>
          </a:p>
          <a:p xmlns:a="http://schemas.openxmlformats.org/drawingml/2006/main">
            <a:r>
              <a:t>- https://doi.org/10.1371/journal.pcbi.1005659</a:t>
            </a:r>
          </a:p>
          <a:p xmlns:a="http://schemas.openxmlformats.org/drawingml/2006/main">
            <a:r>
              <a:t/>
            </a:r>
          </a:p>
          <a:p xmlns:a="http://schemas.openxmlformats.org/drawingml/2006/main">
            <a:r>
              <a:t>Updated presentation count: 18 linker-containing constructs and 90 rankable AlphaFold2-ptm models. Source: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Show the current application as a research workspace rather than a website. A design session is saved in the sidebar. Candidate controls are available without leaving the page. Prediction presents the full fusion and individual domain models. During local folding, the top status area shows elapsed time.</a:t>
            </a:r>
          </a:p>
          <a:p xmlns:a="http://schemas.openxmlformats.org/drawingml/2006/main">
            <a:endParaRPr/>
          </a:p>
          <a:p xmlns:a="http://schemas.openxmlformats.org/drawingml/2006/main">
            <a:r>
              <a:t>Sources and evidence:</a:t>
            </a:r>
          </a:p>
          <a:p xmlns:a="http://schemas.openxmlformats.org/drawingml/2006/main">
            <a:r>
              <a:t>- M:\ChatGPT\LinkerForge 2\.codex\presentation-build\app-workspace.png</a:t>
            </a:r>
          </a:p>
          <a:p xmlns:a="http://schemas.openxmlformats.org/drawingml/2006/main">
            <a:r>
              <a:t>- M:\ChatGPT\LinkerForge 2\frontend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The application can be presented as a transparent software prototype or protocol implementation. It is not ready for a paper claiming prediction performance. Wet-lab validation is excluded from the current work plan, but that exclusion does not make biological claims valid without external evidence.</a:t>
            </a:r>
          </a:p>
          <a:p xmlns:a="http://schemas.openxmlformats.org/drawingml/2006/main">
            <a:endParaRPr/>
          </a:p>
          <a:p xmlns:a="http://schemas.openxmlformats.org/drawingml/2006/main">
            <a:r>
              <a:t>Sources and evidence:</a:t>
            </a:r>
          </a:p>
          <a:p xmlns:a="http://schemas.openxmlformats.org/drawingml/2006/main">
            <a:r>
              <a:t>- M:\ChatGPT\LinkerForge 2\docs\PROFESSIONAL_PUBLICATION_READINESS_AUDIT_2026-10-20.md</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Start the expanded acceptance section with what was actually run and what was deliberately excluded. The completion count verifies pipeline execution and traceability only; it does not validate a compatibility ranker.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2\runs\folds\public-multipair-af2ptm-20261021\panel_manifest.json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Show this structure as the clearest linker-containing execution example. Explain that this is a descriptive confidence result selected after prediction, not an independently validated winner.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2\runs\folds\public-multipair-af2ptm-20261021\prediction\LinkerForge_1CRN_4PTI_eaaak_15_unrelaxed_rank_001_alphafold2_ptm_model_4_seed_000.pdb</a:t>
            </a:r>
          </a:p>
          <a:p xmlns:a="http://schemas.openxmlformats.org/drawingml/2006/main">
            <a:r>
              <a:t>- M:\ChatGPT\LinkerForge 2\runs\folds\public-multipair-af2ptm-20261021\prediction\LinkerForge_1CRN_4PTI_eaaak_15_scores_rank_001_alphafold2_ptm_model_4_seed_000.json</a:t>
            </a:r>
          </a:p>
          <a:p xmlns:a="http://schemas.openxmlformats.org/drawingml/2006/main">
            <a:r>
              <a:t>- https://www.nature.com/articles/s41586-021-03819-2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Compare the same two confidence summaries across the three public pairs. Each bar is the top linker-containing row observed after prediction. Slides 26 to 28 retain every linker-containing condition.</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https://www.nature.com/articles/s41586-021-03819-2</a:t>
            </a:r>
          </a:p>
          <a:p xmlns:a="http://schemas.openxmlformats.org/drawingml/2006/main">
            <a:r>
              <a:t>- https://www.nature.com/articles/s41592-022-01488-1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Ubiquitin–GB1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1UBQ chain A</a:t>
            </a:r>
          </a:p>
          <a:p xmlns:a="http://schemas.openxmlformats.org/drawingml/2006/main">
            <a:r>
              <a:t>- PDB 2GB1 chain 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Crambin–BPTI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1CRN chain A (RCSB FASTA)</a:t>
            </a:r>
          </a:p>
          <a:p xmlns:a="http://schemas.openxmlformats.org/drawingml/2006/main">
            <a:r>
              <a:t>- PDB 4PTI chain A (RCSB FASTA)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Protein G–repressor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1PGA chain A (RCSB FASTA)</a:t>
            </a:r>
          </a:p>
          <a:p xmlns:a="http://schemas.openxmlformats.org/drawingml/2006/main">
            <a:r>
              <a:t>- PDB 1LMB protein chain C/D (RCSB FASTA)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This is the slide to use if someone asks which model produced the confidence. Every displayed confidence metric comes from the AlphaFold2-ptm/ColabFold structure prediction. The proposed compatibility ranker remains scientifically untrained.</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https://www.nature.com/articles/s41586-021-03819-2</a:t>
            </a:r>
          </a:p>
          <a:p xmlns:a="http://schemas.openxmlformats.org/drawingml/2006/main">
            <a:r>
              <a:t>- https://www.nature.com/articles/s41592-022-01488-1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Use this slide to demonstrate provenance. The presentation shows the linker-containing matrix; the JSON remains the machine-readable authority; the CSV supports analysis; hashes bind each displayed row to its PDB and score JSON.</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2\runs\folds\public-multipair-af2ptm-20261021\verified_public_acceptance_run_2026-10-22.md</a:t>
            </a:r>
          </a:p>
          <a:p xmlns:a="http://schemas.openxmlformats.org/drawingml/2006/main">
            <a:r>
              <a:t>- M:\ChatGPT\LinkerForge 2\runs\folds\public-multipair-af2ptm-20261021\panel_manifest.json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r>
              <a:t/>
            </a:r>
          </a:p>
          <a:p xmlns:a="http://schemas.openxmlformats.org/drawingml/2006/main">
            <a:r>
              <a:t>Explain each deferred method as a future evidence layer, not a missing red failure. Production OpenMM is intentionally on hold. Rosetta requires a licensed installation, and other structure-model families require pinned matched environments.</a:t>
            </a:r>
          </a:p>
          <a:p xmlns:a="http://schemas.openxmlformats.org/drawingml/2006/main">
            <a:r>
              <a:t/>
            </a:r>
          </a:p>
          <a:p xmlns:a="http://schemas.openxmlformats.org/drawingml/2006/main">
            <a:r>
              <a:t>Sources and evidence:</a:t>
            </a:r>
          </a:p>
          <a:p xmlns:a="http://schemas.openxmlformats.org/drawingml/2006/main">
            <a:r>
              <a:t>- M:\ChatGPT\LinkerForge 2\docs\FUTURE_STRUCTURAL_VALIDATION_ROADMAP_2026-10-21.md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Use this slide for questions and attribution rather than reading every citation aloud. Slides 5 and 6 rely on the original LINKER, SynLinker, Li, and McBride papers. Slides 10 through 12 use the AlphaFold, ColabFold, ESM-2, and geometric graph literature as method foundations. A method citation explains the component's origin. It does not show that the LinkerForge implementation has trained or validated that component.</a:t>
            </a:r>
          </a:p>
          <a:p xmlns:a="http://schemas.openxmlformats.org/drawingml/2006/main">
            <a:endParaRPr/>
          </a:p>
          <a:p xmlns:a="http://schemas.openxmlformats.org/drawingml/2006/main">
            <a:r>
              <a:t>Sources and evidence:</a:t>
            </a:r>
          </a:p>
          <a:p xmlns:a="http://schemas.openxmlformats.org/drawingml/2006/main">
            <a:r>
              <a:t>- M:\ChatGPT\LinkerForge 2\LINKERFORGE_CURRENT_CITATIONS.md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Explain why these sources are necessary. PDB provides experimental coordinates. SIFTS reconciles PDB residues with canonical sequences. UniProt supplies identifiers and sequence annotations. CATH and InterPro provide domain and family assignments used for extraction and leakage-resistant splitting. DisProt supplies curator-reviewed disorder and flexible-linker annotations. MMseqs2 supports homology clustering. Rosetta and OpenMM cover optional conformational and molecular-mechanics stages. The two LinkerForge documents describe the exact local release and review procedure. The final reproducibility supplement must record the precise database release, access date, terms, file hash, software version, and transformation for every source actually used.</a:t>
            </a:r>
          </a:p>
          <a:p xmlns:a="http://schemas.openxmlformats.org/drawingml/2006/main">
            <a:endParaRPr/>
          </a:p>
          <a:p xmlns:a="http://schemas.openxmlformats.org/drawingml/2006/main">
            <a:r>
              <a:t>Sources and evidence:</a:t>
            </a:r>
          </a:p>
          <a:p xmlns:a="http://schemas.openxmlformats.org/drawingml/2006/main">
            <a:r>
              <a:t>- M:\ChatGPT\LinkerForge 2\LINKERFORGE_CURRENT_CITATIONS.md</a:t>
            </a:r>
          </a:p>
          <a:p xmlns:a="http://schemas.openxmlformats.org/drawingml/2006/main">
            <a:r>
              <a:t>- M:\ChatGPT\LinkerForge 2\datasets\README.md</a:t>
            </a:r>
          </a:p>
          <a:p xmlns:a="http://schemas.openxmlformats.org/drawingml/2006/main">
            <a:r>
              <a:t>- M:\ChatGPT\LinkerForge 2\docs\LINKER_CURATION_PROTOCOL_2026-10-21.md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r>
              <a:t/>
            </a:r>
            <a:endParaRPr/>
          </a:p>
          <a:p xmlns:a="http://schemas.openxmlformats.org/drawingml/2006/main">
            <a:r>
              <a:t>Close by repeating the permitted claim exactly. Invite questions about the evidence chain, data firewall, or next benchmark rather than implying a finished biological predictor.</a:t>
            </a:r>
          </a:p>
          <a:p xmlns:a="http://schemas.openxmlformats.org/drawingml/2006/main">
            <a:r>
              <a:t/>
            </a:r>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2\docs\PROFESSIONAL_PUBLICATION_READINESS_AUDIT_2026-10-20.md</a:t>
            </a:r>
          </a:p>
          <a:p xmlns:a="http://schemas.openxmlformats.org/drawingml/2006/main">
            <a:r>
              <a:t/>
            </a:r>
          </a:p>
          <a:p xmlns:a="http://schemas.openxmlformats.org/drawingml/2006/main">
            <a:r>
              <a:t>Updated conclusion evidence: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139a728fc9466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ab66840a1fb4d7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dc8ba7af9284bb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fbd295a4c70460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d18731f6836469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8617a34b18745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31F308-D43F-47D2-98A2-8AE03BDB856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EF1D34B3-40F9-46D3-8046-D44F9C56AAC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2D1E245-DD9E-47F8-BC7F-7403A51EBE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6B3BBB-AF65-4C39-BDF6-5C600E7984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09DD88A0-AF93-492E-AB97-B6881167A9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BE761CA-3280-4B1C-B9A5-D5A2B348DB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E678DEFB-1D09-435F-8B27-68DFE3651D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7FD6FD86-DA1E-4EB0-96CD-8306A79A6A7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833779-ADF8-43B1-A445-DAD753082D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EB0D59DD-1B5C-4765-982F-71638CADDA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e9193205e04f75" /><Relationship Type="http://schemas.openxmlformats.org/officeDocument/2006/relationships/slideLayout" Target="/ppt/slideLayouts/slideLayout1.xml" Id="R5145e9acf86742aa" /><Relationship Type="http://schemas.openxmlformats.org/officeDocument/2006/relationships/slideLayout" Target="/ppt/slideLayouts/slideLayout2.xml" Id="R6ce5fa92e7b949c8" /><Relationship Type="http://schemas.openxmlformats.org/officeDocument/2006/relationships/slideLayout" Target="/ppt/slideLayouts/slideLayout3.xml" Id="Racb3ba3172744269" /><Relationship Type="http://schemas.openxmlformats.org/officeDocument/2006/relationships/slideLayout" Target="/ppt/slideLayouts/slideLayout4.xml" Id="Rfba64c8ff8bd439a" /><Relationship Type="http://schemas.openxmlformats.org/officeDocument/2006/relationships/slideLayout" Target="/ppt/slideLayouts/slideLayout5.xml" Id="R1f8486fa28854ca4" /><Relationship Type="http://schemas.openxmlformats.org/officeDocument/2006/relationships/slideLayout" Target="/ppt/slideLayouts/slideLayout6.xml" Id="Rd9c270fa59f148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45e9acf86742aa"/>
    <p:sldLayoutId xmlns:r="http://schemas.openxmlformats.org/officeDocument/2006/relationships" id="2147483650" r:id="R6ce5fa92e7b949c8"/>
    <p:sldLayoutId xmlns:r="http://schemas.openxmlformats.org/officeDocument/2006/relationships" id="2147483651" r:id="Racb3ba3172744269"/>
    <p:sldLayoutId xmlns:r="http://schemas.openxmlformats.org/officeDocument/2006/relationships" id="2147483652" r:id="Rfba64c8ff8bd439a"/>
    <p:sldLayoutId xmlns:r="http://schemas.openxmlformats.org/officeDocument/2006/relationships" id="2147483653" r:id="R1f8486fa28854ca4"/>
    <p:sldLayoutId xmlns:r="http://schemas.openxmlformats.org/officeDocument/2006/relationships" id="2147483654" r:id="Rd9c270fa59f148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d81621fbff94833" /><Relationship Type="http://schemas.openxmlformats.org/officeDocument/2006/relationships/image" Target="/ppt/media/image.png" Id="R765954b5ea0b4ada" /><Relationship Type="http://schemas.openxmlformats.org/officeDocument/2006/relationships/notesSlide" Target="/ppt/notesSlides/notesSlide1.xml" Id="R086b2aa299264d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802c0918973471a" /><Relationship Type="http://schemas.openxmlformats.org/officeDocument/2006/relationships/notesSlide" Target="/ppt/notesSlides/notesSlide2.xml" Id="Rfccee8f6e0d44a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cf973d8ee1d43d5" /><Relationship Type="http://schemas.openxmlformats.org/officeDocument/2006/relationships/notesSlide" Target="/ppt/notesSlides/notesSlide3.xml" Id="R0266a875f40442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d05774e788940e6" /><Relationship Type="http://schemas.openxmlformats.org/officeDocument/2006/relationships/notesSlide" Target="/ppt/notesSlides/notesSlide4.xml" Id="R0f90ac7b42fc49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d08424f40754a62" /><Relationship Type="http://schemas.openxmlformats.org/officeDocument/2006/relationships/notesSlide" Target="/ppt/notesSlides/notesSlide5.xml" Id="Rbb71ebd3cb7c44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e743e3b49a643e3" /><Relationship Type="http://schemas.openxmlformats.org/officeDocument/2006/relationships/notesSlide" Target="/ppt/notesSlides/notesSlide6.xml" Id="Rc0ea0dfc852446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9460234c4fe41ee" /><Relationship Type="http://schemas.openxmlformats.org/officeDocument/2006/relationships/notesSlide" Target="/ppt/notesSlides/notesSlide7.xml" Id="Rdd4674b0597b468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2cf630dbfd24ba8" /><Relationship Type="http://schemas.openxmlformats.org/officeDocument/2006/relationships/notesSlide" Target="/ppt/notesSlides/notesSlide8.xml" Id="R6616fc61ab654c3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e9a9a342fa1473e" /><Relationship Type="http://schemas.openxmlformats.org/officeDocument/2006/relationships/notesSlide" Target="/ppt/notesSlides/notesSlide9.xml" Id="R41eed4e5581445d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a64c407f89a4f1b" /><Relationship Type="http://schemas.openxmlformats.org/officeDocument/2006/relationships/notesSlide" Target="/ppt/notesSlides/notesSlide10.xml" Id="R4f71de85355045c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fb62e8aea3d48f6" /><Relationship Type="http://schemas.openxmlformats.org/officeDocument/2006/relationships/notesSlide" Target="/ppt/notesSlides/notesSlide11.xml" Id="R8fd2f04e5f6d419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1b1f58b966f4b9a" /><Relationship Type="http://schemas.openxmlformats.org/officeDocument/2006/relationships/notesSlide" Target="/ppt/notesSlides/notesSlide12.xml" Id="Rffbafae2948a499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1acafad780f4207" /><Relationship Type="http://schemas.openxmlformats.org/officeDocument/2006/relationships/notesSlide" Target="/ppt/notesSlides/notesSlide13.xml" Id="R43f0d5ff38c4481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939182aec32491e" /><Relationship Type="http://schemas.openxmlformats.org/officeDocument/2006/relationships/notesSlide" Target="/ppt/notesSlides/notesSlide14.xml" Id="Raf85b62ddaa048e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f97053ec69942d9" /><Relationship Type="http://schemas.openxmlformats.org/officeDocument/2006/relationships/notesSlide" Target="/ppt/notesSlides/notesSlide15.xml" Id="R91651d1a59e847a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f792091fb664a5a" /><Relationship Type="http://schemas.openxmlformats.org/officeDocument/2006/relationships/notesSlide" Target="/ppt/notesSlides/notesSlide16.xml" Id="R622ea1b31ae748c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fca1008217d42bc" /><Relationship Type="http://schemas.openxmlformats.org/officeDocument/2006/relationships/notesSlide" Target="/ppt/notesSlides/notesSlide17.xml" Id="R10071c521df546d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7702caa5fa844b9" /><Relationship Type="http://schemas.openxmlformats.org/officeDocument/2006/relationships/image" Target="/ppt/media/image.png" Id="R0eb25e57060e48c8" /><Relationship Type="http://schemas.openxmlformats.org/officeDocument/2006/relationships/chart" Target="/ppt/slides/charts/chart1.xml" Id="Rf63fa5e5c31c484f" /><Relationship Type="http://schemas.openxmlformats.org/officeDocument/2006/relationships/notesSlide" Target="/ppt/notesSlides/notesSlide18.xml" Id="Rb8f7691fe21d49f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504f5b791124124" /><Relationship Type="http://schemas.openxmlformats.org/officeDocument/2006/relationships/chart" Target="/ppt/slides/charts/chart2.xml" Id="Rabd25497df5a4d44" /><Relationship Type="http://schemas.openxmlformats.org/officeDocument/2006/relationships/notesSlide" Target="/ppt/notesSlides/notesSlide19.xml" Id="Rd04495ac5196489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a2b1aa775b24b83" /><Relationship Type="http://schemas.openxmlformats.org/officeDocument/2006/relationships/notesSlide" Target="/ppt/notesSlides/notesSlide20.xml" Id="R00e02caee26e4d9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82872ccf2b74cfb" /><Relationship Type="http://schemas.openxmlformats.org/officeDocument/2006/relationships/image" Target="/ppt/media/image2.png" Id="Rbcc19ce74fe542c8" /><Relationship Type="http://schemas.openxmlformats.org/officeDocument/2006/relationships/notesSlide" Target="/ppt/notesSlides/notesSlide21.xml" Id="R51eecb59f64c4e4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de30ab4ac874c07" /><Relationship Type="http://schemas.openxmlformats.org/officeDocument/2006/relationships/notesSlide" Target="/ppt/notesSlides/notesSlide22.xml" Id="R962e7349bc84490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7adb04ae8b54b14" /><Relationship Type="http://schemas.openxmlformats.org/officeDocument/2006/relationships/notesSlide" Target="/ppt/notesSlides/notesSlide23.xml" Id="Rd3f6deef2e4e486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31d876fbb424595" /><Relationship Type="http://schemas.openxmlformats.org/officeDocument/2006/relationships/image" Target="/ppt/media/image3.png" Id="Rf1a4a04d4f734213" /><Relationship Type="http://schemas.openxmlformats.org/officeDocument/2006/relationships/notesSlide" Target="/ppt/notesSlides/notesSlide24.xml" Id="R3231997c0c1a4f5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195f501d80c48f7" /><Relationship Type="http://schemas.openxmlformats.org/officeDocument/2006/relationships/chart" Target="/ppt/slides/charts/chart3.xml" Id="Rea1d84b748ce4776" /><Relationship Type="http://schemas.openxmlformats.org/officeDocument/2006/relationships/notesSlide" Target="/ppt/notesSlides/notesSlide25.xml" Id="R58f70aa3c76e4eb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50d5e36b8f14ae8" /><Relationship Type="http://schemas.openxmlformats.org/officeDocument/2006/relationships/notesSlide" Target="/ppt/notesSlides/notesSlide26.xml" Id="R6ba73c550d22404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afaf40555704670" /><Relationship Type="http://schemas.openxmlformats.org/officeDocument/2006/relationships/notesSlide" Target="/ppt/notesSlides/notesSlide27.xml" Id="Rf3460feb0fd145b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3238feb5e4b4fe8" /><Relationship Type="http://schemas.openxmlformats.org/officeDocument/2006/relationships/notesSlide" Target="/ppt/notesSlides/notesSlide28.xml" Id="R1637d4626087470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e87585f9f3a4c65" /><Relationship Type="http://schemas.openxmlformats.org/officeDocument/2006/relationships/notesSlide" Target="/ppt/notesSlides/notesSlide29.xml" Id="Rb609f13119d248b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424b3e1b4584d8f" /><Relationship Type="http://schemas.openxmlformats.org/officeDocument/2006/relationships/notesSlide" Target="/ppt/notesSlides/notesSlide30.xml" Id="R5aa71d3e0cc642b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b04ee3adfb24f54" /><Relationship Type="http://schemas.openxmlformats.org/officeDocument/2006/relationships/notesSlide" Target="/ppt/notesSlides/notesSlide31.xml" Id="Rc977074387fb4c1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6d5f0787a404bde" /><Relationship Type="http://schemas.openxmlformats.org/officeDocument/2006/relationships/notesSlide" Target="/ppt/notesSlides/notesSlide32.xml" Id="R0a670f15cf2a42c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b4d095ec0d684cb1" /><Relationship Type="http://schemas.openxmlformats.org/officeDocument/2006/relationships/notesSlide" Target="/ppt/notesSlides/notesSlide33.xml" Id="R7434fa46db13467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d4137499d9e14488" /><Relationship Type="http://schemas.openxmlformats.org/officeDocument/2006/relationships/notesSlide" Target="/ppt/notesSlides/notesSlide34.xml" Id="R8ec0b9fd342c4b7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Regional mean pLDDT (0–100)</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Mean pLDDT</c:v>
          </c:tx>
          <c:spPr>
            <a:solidFill xmlns:a="http://schemas.openxmlformats.org/drawingml/2006/main">
              <a:srgbClr val="167D89"/>
            </a:solidFill>
          </c:spPr>
          <c:invertIfNegative val="0"/>
          <c:cat>
            <c:strRef>
              <c:f>'Chart Data'!$A$2:$A$5</c:f>
              <c:strCache>
                <c:ptCount val="4"/>
                <c:pt idx="0">
                  <c:v>Domain A</c:v>
                </c:pt>
                <c:pt idx="1">
                  <c:v>Whole chain</c:v>
                </c:pt>
                <c:pt idx="2">
                  <c:v>Domain B</c:v>
                </c:pt>
                <c:pt idx="3">
                  <c:v>Linker</c:v>
                </c:pt>
              </c:strCache>
            </c:strRef>
          </c:cat>
          <c:val>
            <c:numRef>
              <c:f>'Chart Data'!$B$2:$B$5</c:f>
              <c:numCache>
                <c:formatCode>General</c:formatCode>
                <c:ptCount val="4"/>
                <c:pt idx="0">
                  <c:v>91.1</c:v>
                </c:pt>
                <c:pt idx="1">
                  <c:v>81.74</c:v>
                </c:pt>
                <c:pt idx="2">
                  <c:v>76.9</c:v>
                </c:pt>
                <c:pt idx="3">
                  <c:v>37.73</c:v>
                </c:pt>
              </c:numCache>
            </c:numRef>
          </c:val>
        </c:ser>
        <c:dLbls>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Region</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Overall and linker-region pLDDT by construct</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Whole chain</c:v>
          </c:tx>
          <c:spPr>
            <a:solidFill xmlns:a="http://schemas.openxmlformats.org/drawingml/2006/main">
              <a:srgbClr val="167D89"/>
            </a:solidFill>
          </c:spPr>
          <c:invertIfNegative val="0"/>
          <c:cat>
            <c:strRef>
              <c:f>'Chart Data'!$A$2:$A$7</c:f>
              <c:strCache>
                <c:ptCount val="6"/>
                <c:pt idx="0">
                  <c:v>GGGGS</c:v>
                </c:pt>
                <c:pt idx="1">
                  <c:v>GS10</c:v>
                </c:pt>
                <c:pt idx="2">
                  <c:v>(GGGGS)3</c:v>
                </c:pt>
                <c:pt idx="3">
                  <c:v>WALDO12</c:v>
                </c:pt>
                <c:pt idx="4">
                  <c:v>BIRD18</c:v>
                </c:pt>
                <c:pt idx="5">
                  <c:v>EAAAK15</c:v>
                </c:pt>
              </c:strCache>
            </c:strRef>
          </c:cat>
          <c:val>
            <c:numRef>
              <c:f>'Chart Data'!$B$2:$B$7</c:f>
              <c:numCache>
                <c:formatCode>General</c:formatCode>
                <c:ptCount val="6"/>
                <c:pt idx="0">
                  <c:v>87.03</c:v>
                </c:pt>
                <c:pt idx="1">
                  <c:v>81.74</c:v>
                </c:pt>
                <c:pt idx="2">
                  <c:v>82.75</c:v>
                </c:pt>
                <c:pt idx="3">
                  <c:v>84.09</c:v>
                </c:pt>
                <c:pt idx="4">
                  <c:v>80.21</c:v>
                </c:pt>
                <c:pt idx="5">
                  <c:v>87.88</c:v>
                </c:pt>
              </c:numCache>
            </c:numRef>
          </c:val>
        </c:ser>
        <c:ser>
          <c:idx val="1"/>
          <c:order val="1"/>
          <c:tx>
            <c:v>Linker region</c:v>
          </c:tx>
          <c:spPr>
            <a:solidFill xmlns:a="http://schemas.openxmlformats.org/drawingml/2006/main">
              <a:srgbClr val="E84AAB"/>
            </a:solidFill>
          </c:spPr>
          <c:invertIfNegative val="0"/>
          <c:cat>
            <c:strRef>
              <c:f>'Chart Data'!$C$2:$C$7</c:f>
              <c:strCache>
                <c:ptCount val="6"/>
                <c:pt idx="0">
                  <c:v>GGGGS</c:v>
                </c:pt>
                <c:pt idx="1">
                  <c:v>GS10</c:v>
                </c:pt>
                <c:pt idx="2">
                  <c:v>(GGGGS)3</c:v>
                </c:pt>
                <c:pt idx="3">
                  <c:v>WALDO12</c:v>
                </c:pt>
                <c:pt idx="4">
                  <c:v>BIRD18</c:v>
                </c:pt>
                <c:pt idx="5">
                  <c:v>EAAAK15</c:v>
                </c:pt>
              </c:strCache>
            </c:strRef>
          </c:cat>
          <c:val>
            <c:numRef>
              <c:f>'Chart Data'!$D$2:$D$7</c:f>
              <c:numCache>
                <c:formatCode>General</c:formatCode>
                <c:ptCount val="6"/>
                <c:pt idx="0">
                  <c:v>48.57</c:v>
                </c:pt>
                <c:pt idx="1">
                  <c:v>37.73</c:v>
                </c:pt>
                <c:pt idx="2">
                  <c:v>38.99</c:v>
                </c:pt>
                <c:pt idx="3">
                  <c:v>44.42</c:v>
                </c:pt>
                <c:pt idx="4">
                  <c:v>44.87</c:v>
                </c:pt>
                <c:pt idx="5">
                  <c:v>50.88</c:v>
                </c:pt>
              </c:numCache>
            </c:numRef>
          </c:val>
        </c:ser>
        <c:dLbls>
          <c:txPr>
            <a:bodyPr xmlns:a="http://schemas.openxmlformats.org/drawingml/2006/main" anchorCtr="1"/>
            <a:lstStyle xmlns:a="http://schemas.openxmlformats.org/drawingml/2006/main"/>
            <a:p xmlns:a="http://schemas.openxmlformats.org/drawingml/2006/main">
              <a:pPr>
                <a:defRPr sz="750">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Top observed linker-containing construct per pair</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Whole fusion pLDDT</c:v>
          </c:tx>
          <c:spPr>
            <a:solidFill xmlns:a="http://schemas.openxmlformats.org/drawingml/2006/main">
              <a:srgbClr val="167D89"/>
            </a:solidFill>
          </c:spPr>
          <c:invertIfNegative val="0"/>
          <c:cat>
            <c:strRef>
              <c:f>'Chart Data'!$A$2:$A$4</c:f>
              <c:strCache>
                <c:ptCount val="3"/>
                <c:pt idx="0">
                  <c:v>Crambin–BPTI</c:v>
                </c:pt>
                <c:pt idx="1">
                  <c:v>Protein G–repressor</c:v>
                </c:pt>
                <c:pt idx="2">
                  <c:v>Ubiquitin–GB1</c:v>
                </c:pt>
              </c:strCache>
            </c:strRef>
          </c:cat>
          <c:val>
            <c:numRef>
              <c:f>'Chart Data'!$B$2:$B$4</c:f>
              <c:numCache>
                <c:formatCode>General</c:formatCode>
                <c:ptCount val="3"/>
                <c:pt idx="0">
                  <c:v>93.81</c:v>
                </c:pt>
                <c:pt idx="1">
                  <c:v>92.2</c:v>
                </c:pt>
                <c:pt idx="2">
                  <c:v>87.88</c:v>
                </c:pt>
              </c:numCache>
            </c:numRef>
          </c:val>
        </c:ser>
        <c:ser>
          <c:idx val="1"/>
          <c:order val="1"/>
          <c:tx>
            <c:v>Linker pLDDT</c:v>
          </c:tx>
          <c:spPr>
            <a:solidFill xmlns:a="http://schemas.openxmlformats.org/drawingml/2006/main">
              <a:srgbClr val="E84AAB"/>
            </a:solidFill>
          </c:spPr>
          <c:invertIfNegative val="0"/>
          <c:cat>
            <c:strRef>
              <c:f>'Chart Data'!$C$2:$C$4</c:f>
              <c:strCache>
                <c:ptCount val="3"/>
                <c:pt idx="0">
                  <c:v>Crambin–BPTI</c:v>
                </c:pt>
                <c:pt idx="1">
                  <c:v>Protein G–repressor</c:v>
                </c:pt>
                <c:pt idx="2">
                  <c:v>Ubiquitin–GB1</c:v>
                </c:pt>
              </c:strCache>
            </c:strRef>
          </c:cat>
          <c:val>
            <c:numRef>
              <c:f>'Chart Data'!$D$2:$D$4</c:f>
              <c:numCache>
                <c:formatCode>General</c:formatCode>
                <c:ptCount val="3"/>
                <c:pt idx="0">
                  <c:v>84.85</c:v>
                </c:pt>
                <c:pt idx="1">
                  <c:v>48.93</c:v>
                </c:pt>
                <c:pt idx="2">
                  <c:v>50.88</c:v>
                </c:pt>
              </c:numCache>
            </c:numRef>
          </c:val>
        </c:ser>
        <c:dLbls>
          <c:txPr>
            <a:bodyPr xmlns:a="http://schemas.openxmlformats.org/drawingml/2006/main" anchorCtr="1"/>
            <a:lstStyle xmlns:a="http://schemas.openxmlformats.org/drawingml/2006/main"/>
            <a:p xmlns:a="http://schemas.openxmlformats.org/drawingml/2006/main">
              <a:pPr>
                <a:defRPr sz="825">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942EA4A6-1213-43A9-8C53-6C0A7A206D7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D168E885-2D17-40C1-87BC-028E39E88D98}"/>
              </a:ext>
            </a:extLst>
          </p:cNvPr>
          <p:cNvSpPr>
            <a:spLocks xmlns:a="http://schemas.openxmlformats.org/drawingml/2006/main" noGrp="1"/>
          </p:cNvSpPr>
          <p:nvPr/>
        </p:nvSpPr>
        <p:spPr>
          <a:xfrm xmlns:a="http://schemas.openxmlformats.org/drawingml/2006/main">
            <a:off x="590550" y="6096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B333CAC2-F485-43BC-9971-0DF3A470161B}"/>
              </a:ext>
            </a:extLst>
          </p:cNvPr>
          <p:cNvSpPr>
            <a:spLocks xmlns:a="http://schemas.openxmlformats.org/drawingml/2006/main" noGrp="1"/>
          </p:cNvSpPr>
          <p:nvPr/>
        </p:nvSpPr>
        <p:spPr>
          <a:xfrm xmlns:a="http://schemas.openxmlformats.org/drawingml/2006/main">
            <a:off x="590550" y="1333500"/>
            <a:ext cx="6191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053"/>
          </a:bodyPr>
          <a:lstStyle xmlns:a="http://schemas.openxmlformats.org/drawingml/2006/main">
            <a:defPPr algn="l">
              <a:defRPr sz="3450" b="1" i="0">
                <a:solidFill>
                  <a:srgbClr val="FFFFFF"/>
                </a:solidFill>
                <a:latin typeface="Arial"/>
                <a:ea typeface="Arial"/>
                <a:cs typeface="Arial"/>
              </a:defRPr>
            </a:defPPr>
            <a:lvl1pPr algn="l">
              <a:buNone/>
              <a:defRPr sz="3450" b="1" i="0">
                <a:solidFill>
                  <a:srgbClr val="FFFFFF"/>
                </a:solidFill>
                <a:latin typeface="Arial"/>
                <a:ea typeface="Arial"/>
                <a:cs typeface="Arial"/>
              </a:defRPr>
            </a:lvl1pPr>
            <a:lvl2pPr algn="l">
              <a:buNone/>
              <a:defRPr sz="3450" b="1" i="0">
                <a:solidFill>
                  <a:srgbClr val="FFFFFF"/>
                </a:solidFill>
                <a:latin typeface="Arial"/>
                <a:ea typeface="Arial"/>
                <a:cs typeface="Arial"/>
              </a:defRPr>
            </a:lvl2pPr>
            <a:lvl3pPr algn="l">
              <a:buNone/>
              <a:defRPr sz="3450" b="1" i="0">
                <a:solidFill>
                  <a:srgbClr val="FFFFFF"/>
                </a:solidFill>
                <a:latin typeface="Arial"/>
                <a:ea typeface="Arial"/>
                <a:cs typeface="Arial"/>
              </a:defRPr>
            </a:lvl3pPr>
            <a:lvl4pPr algn="l">
              <a:buNone/>
              <a:defRPr sz="3450" b="1" i="0">
                <a:solidFill>
                  <a:srgbClr val="FFFFFF"/>
                </a:solidFill>
                <a:latin typeface="Arial"/>
                <a:ea typeface="Arial"/>
                <a:cs typeface="Arial"/>
              </a:defRPr>
            </a:lvl4pPr>
            <a:lvl5pPr algn="l">
              <a:buNone/>
              <a:defRPr sz="3450" b="1" i="0">
                <a:solidFill>
                  <a:srgbClr val="FFFFFF"/>
                </a:solidFill>
                <a:latin typeface="Arial"/>
                <a:ea typeface="Arial"/>
                <a:cs typeface="Arial"/>
              </a:defRPr>
            </a:lvl5pPr>
            <a:lvl6pPr algn="l">
              <a:buNone/>
              <a:defRPr sz="3450" b="1" i="0">
                <a:solidFill>
                  <a:srgbClr val="FFFFFF"/>
                </a:solidFill>
                <a:latin typeface="Arial"/>
                <a:ea typeface="Arial"/>
                <a:cs typeface="Arial"/>
              </a:defRPr>
            </a:lvl6pPr>
            <a:lvl7pPr algn="l">
              <a:buNone/>
              <a:defRPr sz="3450" b="1" i="0">
                <a:solidFill>
                  <a:srgbClr val="FFFFFF"/>
                </a:solidFill>
                <a:latin typeface="Arial"/>
                <a:ea typeface="Arial"/>
                <a:cs typeface="Arial"/>
              </a:defRPr>
            </a:lvl7pPr>
            <a:lvl8pPr algn="l">
              <a:buNone/>
              <a:defRPr sz="3450" b="1" i="0">
                <a:solidFill>
                  <a:srgbClr val="FFFFFF"/>
                </a:solidFill>
                <a:latin typeface="Arial"/>
                <a:ea typeface="Arial"/>
                <a:cs typeface="Arial"/>
              </a:defRPr>
            </a:lvl8pPr>
            <a:lvl9pPr algn="l">
              <a:buNone/>
              <a:defRPr sz="3450" b="1" i="0">
                <a:solidFill>
                  <a:srgbClr val="FFFFFF"/>
                </a:solidFill>
                <a:latin typeface="Arial"/>
                <a:ea typeface="Arial"/>
                <a:cs typeface="Arial"/>
              </a:defRPr>
            </a:lvl9pPr>
          </a:lstStyle>
          <a:p xmlns:a="http://schemas.openxmlformats.org/drawingml/2006/main">
            <a:pPr algn="l">
              <a:buNone/>
              <a:defRPr sz="3450" b="1" i="0">
                <a:solidFill>
                  <a:srgbClr val="FFFFFF"/>
                </a:solidFill>
                <a:latin typeface="Arial"/>
                <a:ea typeface="Arial"/>
                <a:cs typeface="Arial"/>
              </a:defRPr>
            </a:pPr>
            <a:r>
              <a:rPr sz="3450" b="1" i="0">
                <a:solidFill>
                  <a:srgbClr val="FFFFFF"/>
                </a:solidFill>
                <a:latin typeface="Arial"/>
                <a:ea typeface="Arial"/>
                <a:cs typeface="Arial"/>
              </a:rPr>
              <a:t>Evidence-aware linker design</a:t>
            </a:r>
          </a:p>
          <a:p xmlns:a="http://schemas.openxmlformats.org/drawingml/2006/main">
            <a:pPr algn="l">
              <a:buNone/>
              <a:defRPr sz="3450" b="1" i="0">
                <a:solidFill>
                  <a:srgbClr val="FFFFFF"/>
                </a:solidFill>
                <a:latin typeface="Arial"/>
                <a:ea typeface="Arial"/>
                <a:cs typeface="Arial"/>
              </a:defRPr>
            </a:pPr>
            <a:r>
              <a:rPr sz="3450" b="1" i="0">
                <a:solidFill>
                  <a:srgbClr val="FFFFFF"/>
                </a:solidFill>
                <a:latin typeface="Arial"/>
                <a:ea typeface="Arial"/>
                <a:cs typeface="Arial"/>
              </a:rPr>
              <a:t>for fusion proteins</a:t>
            </a:r>
          </a:p>
        </p:txBody>
      </p:sp>
      <p:sp>
        <p:nvSpPr>
          <p:cNvPr id="4" name="Rectangle 3">
            <a:extLst xmlns:a="http://schemas.openxmlformats.org/drawingml/2006/main">
              <a:ext uri="{FF2B5EF4-FFF2-40B4-BE49-F238E27FC236}">
                <a16:creationId xmlns:a16="http://schemas.microsoft.com/office/drawing/2014/main" id="{C12DEBDD-864A-48D5-A5EE-891AE31BC6C6}"/>
              </a:ext>
            </a:extLst>
          </p:cNvPr>
          <p:cNvSpPr>
            <a:spLocks xmlns:a="http://schemas.openxmlformats.org/drawingml/2006/main" noGrp="1"/>
          </p:cNvSpPr>
          <p:nvPr/>
        </p:nvSpPr>
        <p:spPr>
          <a:xfrm xmlns:a="http://schemas.openxmlformats.org/drawingml/2006/main">
            <a:off x="628650" y="3143250"/>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52"/>
          </a:bodyPr>
          <a:lstStyle xmlns:a="http://schemas.openxmlformats.org/drawingml/2006/main">
            <a:defPPr algn="l">
              <a:defRPr sz="1500" b="0" i="0">
                <a:solidFill>
                  <a:srgbClr val="B9CCC4"/>
                </a:solidFill>
                <a:latin typeface="Arial"/>
                <a:ea typeface="Arial"/>
                <a:cs typeface="Arial"/>
              </a:defRPr>
            </a:defPPr>
            <a:lvl1pPr algn="l">
              <a:buNone/>
              <a:defRPr sz="1500" b="0" i="0">
                <a:solidFill>
                  <a:srgbClr val="B9CCC4"/>
                </a:solidFill>
                <a:latin typeface="Arial"/>
                <a:ea typeface="Arial"/>
                <a:cs typeface="Arial"/>
              </a:defRPr>
            </a:lvl1pPr>
            <a:lvl2pPr algn="l">
              <a:buNone/>
              <a:defRPr sz="1500" b="0" i="0">
                <a:solidFill>
                  <a:srgbClr val="B9CCC4"/>
                </a:solidFill>
                <a:latin typeface="Arial"/>
                <a:ea typeface="Arial"/>
                <a:cs typeface="Arial"/>
              </a:defRPr>
            </a:lvl2pPr>
            <a:lvl3pPr algn="l">
              <a:buNone/>
              <a:defRPr sz="1500" b="0" i="0">
                <a:solidFill>
                  <a:srgbClr val="B9CCC4"/>
                </a:solidFill>
                <a:latin typeface="Arial"/>
                <a:ea typeface="Arial"/>
                <a:cs typeface="Arial"/>
              </a:defRPr>
            </a:lvl3pPr>
            <a:lvl4pPr algn="l">
              <a:buNone/>
              <a:defRPr sz="1500" b="0" i="0">
                <a:solidFill>
                  <a:srgbClr val="B9CCC4"/>
                </a:solidFill>
                <a:latin typeface="Arial"/>
                <a:ea typeface="Arial"/>
                <a:cs typeface="Arial"/>
              </a:defRPr>
            </a:lvl4pPr>
            <a:lvl5pPr algn="l">
              <a:buNone/>
              <a:defRPr sz="1500" b="0" i="0">
                <a:solidFill>
                  <a:srgbClr val="B9CCC4"/>
                </a:solidFill>
                <a:latin typeface="Arial"/>
                <a:ea typeface="Arial"/>
                <a:cs typeface="Arial"/>
              </a:defRPr>
            </a:lvl5pPr>
            <a:lvl6pPr algn="l">
              <a:buNone/>
              <a:defRPr sz="1500" b="0" i="0">
                <a:solidFill>
                  <a:srgbClr val="B9CCC4"/>
                </a:solidFill>
                <a:latin typeface="Arial"/>
                <a:ea typeface="Arial"/>
                <a:cs typeface="Arial"/>
              </a:defRPr>
            </a:lvl6pPr>
            <a:lvl7pPr algn="l">
              <a:buNone/>
              <a:defRPr sz="1500" b="0" i="0">
                <a:solidFill>
                  <a:srgbClr val="B9CCC4"/>
                </a:solidFill>
                <a:latin typeface="Arial"/>
                <a:ea typeface="Arial"/>
                <a:cs typeface="Arial"/>
              </a:defRPr>
            </a:lvl7pPr>
            <a:lvl8pPr algn="l">
              <a:buNone/>
              <a:defRPr sz="1500" b="0" i="0">
                <a:solidFill>
                  <a:srgbClr val="B9CCC4"/>
                </a:solidFill>
                <a:latin typeface="Arial"/>
                <a:ea typeface="Arial"/>
                <a:cs typeface="Arial"/>
              </a:defRPr>
            </a:lvl8pPr>
            <a:lvl9pPr algn="l">
              <a:buNone/>
              <a:defRPr sz="1500" b="0" i="0">
                <a:solidFill>
                  <a:srgbClr val="B9CCC4"/>
                </a:solidFill>
                <a:latin typeface="Arial"/>
                <a:ea typeface="Arial"/>
                <a:cs typeface="Arial"/>
              </a:defRPr>
            </a:lvl9pPr>
          </a:lstStyle>
          <a:p xmlns:a="http://schemas.openxmlformats.org/drawingml/2006/main">
            <a:pPr algn="l">
              <a:buNone/>
              <a:defRPr sz="1500" b="0" i="0">
                <a:solidFill>
                  <a:srgbClr val="B9CCC4"/>
                </a:solidFill>
                <a:latin typeface="Arial"/>
                <a:ea typeface="Arial"/>
                <a:cs typeface="Arial"/>
              </a:defRPr>
            </a:pPr>
            <a:r>
              <a:rPr sz="1500" b="0" i="0">
                <a:solidFill>
                  <a:srgbClr val="B9CCC4"/>
                </a:solidFill>
                <a:latin typeface="Arial"/>
                <a:ea typeface="Arial"/>
                <a:cs typeface="Arial"/>
              </a:rPr>
              <a:t>Computational prototype · matched public-sequence evidence</a:t>
            </a:r>
          </a:p>
        </p:txBody>
      </p:sp>
      <p:pic>
        <p:nvPicPr>
          <p:cNvPr id="5" name="Picture 4">
            <a:extLst xmlns:a="http://schemas.openxmlformats.org/drawingml/2006/main">
              <a:ext uri="{FF2B5EF4-FFF2-40B4-BE49-F238E27FC236}">
                <a16:creationId xmlns:a16="http://schemas.microsoft.com/office/drawing/2014/main" id="{16D31542-D489-4151-BE77-BC5A118152DF}"/>
              </a:ext>
            </a:extLst>
          </p:cNvPr>
          <p:cNvPicPr>
            <a:picLocks xmlns:a="http://schemas.openxmlformats.org/drawingml/2006/main" noChangeAspect="1"/>
          </p:cNvPicPr>
          <p:nvPr/>
        </p:nvPicPr>
        <p:blipFill>
          <a:blip xmlns:r="http://schemas.openxmlformats.org/officeDocument/2006/relationships" xmlns:a="http://schemas.openxmlformats.org/drawingml/2006/main" r:embed="R765954b5ea0b4ada"/>
          <a:stretch xmlns:a="http://schemas.openxmlformats.org/drawingml/2006/main"/>
        </p:blipFill>
        <p:spPr>
          <a:xfrm xmlns:a="http://schemas.openxmlformats.org/drawingml/2006/main">
            <a:off x="6238875" y="1114425"/>
            <a:ext cx="5334000" cy="3810000"/>
          </a:xfrm>
          <a:prstGeom xmlns:a="http://schemas.openxmlformats.org/drawingml/2006/main" prst="rect">
            <a:avLst/>
          </a:prstGeom>
        </p:spPr>
      </p:pic>
      <p:sp>
        <p:nvSpPr>
          <p:cNvPr id="6" name="Rectangle: Rounded Corners 5">
            <a:extLst xmlns:a="http://schemas.openxmlformats.org/drawingml/2006/main">
              <a:ext uri="{FF2B5EF4-FFF2-40B4-BE49-F238E27FC236}">
                <a16:creationId xmlns:a16="http://schemas.microsoft.com/office/drawing/2014/main" id="{B2FECAEF-218C-4ACD-8FC3-9EC87C8D45D6}"/>
              </a:ext>
            </a:extLst>
          </p:cNvPr>
          <p:cNvSpPr>
            <a:spLocks xmlns:a="http://schemas.openxmlformats.org/drawingml/2006/main" noGrp="1"/>
          </p:cNvSpPr>
          <p:nvPr/>
        </p:nvSpPr>
        <p:spPr>
          <a:xfrm xmlns:a="http://schemas.openxmlformats.org/drawingml/2006/main">
            <a:off x="638175" y="4048125"/>
            <a:ext cx="228600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3FC6D6"/>
            </a:solidFill>
            <a:prstDash val="solid"/>
          </a:ln>
        </p:spPr>
        <p:txBody>
          <a:bodyPr xmlns:a="http://schemas.openxmlformats.org/drawingml/2006/main" anchor="ctr">
            <a:normAutofit fontScale="93321"/>
          </a:bodyPr>
          <a:lstStyle xmlns:a="http://schemas.openxmlformats.org/drawingml/2006/main">
            <a:defPPr algn="ctr">
              <a:defRPr sz="900" b="1">
                <a:solidFill>
                  <a:srgbClr val="3FC6D6"/>
                </a:solidFill>
                <a:latin typeface="Arial"/>
                <a:ea typeface="Arial"/>
                <a:cs typeface="Arial"/>
              </a:defRPr>
            </a:defPPr>
            <a:lvl1pPr algn="ctr">
              <a:buNone/>
              <a:defRPr sz="900" b="1">
                <a:solidFill>
                  <a:srgbClr val="3FC6D6"/>
                </a:solidFill>
                <a:latin typeface="Arial"/>
                <a:ea typeface="Arial"/>
                <a:cs typeface="Arial"/>
              </a:defRPr>
            </a:lvl1pPr>
            <a:lvl2pPr algn="ctr">
              <a:buNone/>
              <a:defRPr sz="900" b="1">
                <a:solidFill>
                  <a:srgbClr val="3FC6D6"/>
                </a:solidFill>
                <a:latin typeface="Arial"/>
                <a:ea typeface="Arial"/>
                <a:cs typeface="Arial"/>
              </a:defRPr>
            </a:lvl2pPr>
            <a:lvl3pPr algn="ctr">
              <a:buNone/>
              <a:defRPr sz="900" b="1">
                <a:solidFill>
                  <a:srgbClr val="3FC6D6"/>
                </a:solidFill>
                <a:latin typeface="Arial"/>
                <a:ea typeface="Arial"/>
                <a:cs typeface="Arial"/>
              </a:defRPr>
            </a:lvl3pPr>
            <a:lvl4pPr algn="ctr">
              <a:buNone/>
              <a:defRPr sz="900" b="1">
                <a:solidFill>
                  <a:srgbClr val="3FC6D6"/>
                </a:solidFill>
                <a:latin typeface="Arial"/>
                <a:ea typeface="Arial"/>
                <a:cs typeface="Arial"/>
              </a:defRPr>
            </a:lvl4pPr>
            <a:lvl5pPr algn="ctr">
              <a:buNone/>
              <a:defRPr sz="900" b="1">
                <a:solidFill>
                  <a:srgbClr val="3FC6D6"/>
                </a:solidFill>
                <a:latin typeface="Arial"/>
                <a:ea typeface="Arial"/>
                <a:cs typeface="Arial"/>
              </a:defRPr>
            </a:lvl5pPr>
            <a:lvl6pPr algn="ctr">
              <a:buNone/>
              <a:defRPr sz="900" b="1">
                <a:solidFill>
                  <a:srgbClr val="3FC6D6"/>
                </a:solidFill>
                <a:latin typeface="Arial"/>
                <a:ea typeface="Arial"/>
                <a:cs typeface="Arial"/>
              </a:defRPr>
            </a:lvl6pPr>
            <a:lvl7pPr algn="ctr">
              <a:buNone/>
              <a:defRPr sz="900" b="1">
                <a:solidFill>
                  <a:srgbClr val="3FC6D6"/>
                </a:solidFill>
                <a:latin typeface="Arial"/>
                <a:ea typeface="Arial"/>
                <a:cs typeface="Arial"/>
              </a:defRPr>
            </a:lvl7pPr>
            <a:lvl8pPr algn="ctr">
              <a:buNone/>
              <a:defRPr sz="900" b="1">
                <a:solidFill>
                  <a:srgbClr val="3FC6D6"/>
                </a:solidFill>
                <a:latin typeface="Arial"/>
                <a:ea typeface="Arial"/>
                <a:cs typeface="Arial"/>
              </a:defRPr>
            </a:lvl8pPr>
            <a:lvl9pPr algn="ctr">
              <a:buNone/>
              <a:defRPr sz="900" b="1">
                <a:solidFill>
                  <a:srgbClr val="3FC6D6"/>
                </a:solidFill>
                <a:latin typeface="Arial"/>
                <a:ea typeface="Arial"/>
                <a:cs typeface="Arial"/>
              </a:defRPr>
            </a:lvl9pPr>
          </a:lstStyle>
          <a:p xmlns:a="http://schemas.openxmlformats.org/drawingml/2006/main">
            <a:pPr algn="ctr">
              <a:buNone/>
              <a:defRPr sz="900" b="1">
                <a:solidFill>
                  <a:srgbClr val="3FC6D6"/>
                </a:solidFill>
                <a:latin typeface="Arial"/>
                <a:ea typeface="Arial"/>
                <a:cs typeface="Arial"/>
              </a:defRPr>
            </a:pPr>
            <a:r>
              <a:rPr sz="900" b="1">
                <a:solidFill>
                  <a:srgbClr val="3FC6D6"/>
                </a:solidFill>
                <a:latin typeface="Arial"/>
                <a:ea typeface="Arial"/>
                <a:cs typeface="Arial"/>
              </a:rPr>
              <a:t>PUBLIC ACCEPTANCE PANEL · 3 PAIRS</a:t>
            </a:r>
          </a:p>
        </p:txBody>
      </p:sp>
      <p:sp>
        <p:nvSpPr>
          <p:cNvPr id="7" name="Rectangle 6">
            <a:extLst xmlns:a="http://schemas.openxmlformats.org/drawingml/2006/main">
              <a:ext uri="{FF2B5EF4-FFF2-40B4-BE49-F238E27FC236}">
                <a16:creationId xmlns:a16="http://schemas.microsoft.com/office/drawing/2014/main" id="{5FEE1652-EAF7-4F01-AB83-4C91BC9D5337}"/>
              </a:ext>
            </a:extLst>
          </p:cNvPr>
          <p:cNvSpPr>
            <a:spLocks xmlns:a="http://schemas.openxmlformats.org/drawingml/2006/main" noGrp="1"/>
          </p:cNvSpPr>
          <p:nvPr/>
        </p:nvSpPr>
        <p:spPr>
          <a:xfrm xmlns:a="http://schemas.openxmlformats.org/drawingml/2006/main">
            <a:off x="638175" y="4552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defPPr algn="l">
              <a:defRPr sz="1350" b="1" i="0">
                <a:solidFill>
                  <a:srgbClr val="FFFFFF"/>
                </a:solidFill>
                <a:latin typeface="Arial"/>
                <a:ea typeface="Arial"/>
                <a:cs typeface="Arial"/>
              </a:defRPr>
            </a:defPPr>
            <a:lvl1pPr algn="l">
              <a:buNone/>
              <a:defRPr sz="1350" b="1" i="0">
                <a:solidFill>
                  <a:srgbClr val="FFFFFF"/>
                </a:solidFill>
                <a:latin typeface="Arial"/>
                <a:ea typeface="Arial"/>
                <a:cs typeface="Arial"/>
              </a:defRPr>
            </a:lvl1pPr>
            <a:lvl2pPr algn="l">
              <a:buNone/>
              <a:defRPr sz="1350" b="1" i="0">
                <a:solidFill>
                  <a:srgbClr val="FFFFFF"/>
                </a:solidFill>
                <a:latin typeface="Arial"/>
                <a:ea typeface="Arial"/>
                <a:cs typeface="Arial"/>
              </a:defRPr>
            </a:lvl2pPr>
            <a:lvl3pPr algn="l">
              <a:buNone/>
              <a:defRPr sz="1350" b="1" i="0">
                <a:solidFill>
                  <a:srgbClr val="FFFFFF"/>
                </a:solidFill>
                <a:latin typeface="Arial"/>
                <a:ea typeface="Arial"/>
                <a:cs typeface="Arial"/>
              </a:defRPr>
            </a:lvl3pPr>
            <a:lvl4pPr algn="l">
              <a:buNone/>
              <a:defRPr sz="1350" b="1" i="0">
                <a:solidFill>
                  <a:srgbClr val="FFFFFF"/>
                </a:solidFill>
                <a:latin typeface="Arial"/>
                <a:ea typeface="Arial"/>
                <a:cs typeface="Arial"/>
              </a:defRPr>
            </a:lvl4pPr>
            <a:lvl5pPr algn="l">
              <a:buNone/>
              <a:defRPr sz="1350" b="1" i="0">
                <a:solidFill>
                  <a:srgbClr val="FFFFFF"/>
                </a:solidFill>
                <a:latin typeface="Arial"/>
                <a:ea typeface="Arial"/>
                <a:cs typeface="Arial"/>
              </a:defRPr>
            </a:lvl5pPr>
            <a:lvl6pPr algn="l">
              <a:buNone/>
              <a:defRPr sz="1350" b="1" i="0">
                <a:solidFill>
                  <a:srgbClr val="FFFFFF"/>
                </a:solidFill>
                <a:latin typeface="Arial"/>
                <a:ea typeface="Arial"/>
                <a:cs typeface="Arial"/>
              </a:defRPr>
            </a:lvl6pPr>
            <a:lvl7pPr algn="l">
              <a:buNone/>
              <a:defRPr sz="1350" b="1" i="0">
                <a:solidFill>
                  <a:srgbClr val="FFFFFF"/>
                </a:solidFill>
                <a:latin typeface="Arial"/>
                <a:ea typeface="Arial"/>
                <a:cs typeface="Arial"/>
              </a:defRPr>
            </a:lvl7pPr>
            <a:lvl8pPr algn="l">
              <a:buNone/>
              <a:defRPr sz="1350" b="1" i="0">
                <a:solidFill>
                  <a:srgbClr val="FFFFFF"/>
                </a:solidFill>
                <a:latin typeface="Arial"/>
                <a:ea typeface="Arial"/>
                <a:cs typeface="Arial"/>
              </a:defRPr>
            </a:lvl8pPr>
            <a:lvl9pPr algn="l">
              <a:buNone/>
              <a:defRPr sz="1350" b="1" i="0">
                <a:solidFill>
                  <a:srgbClr val="FFFFFF"/>
                </a:solidFill>
                <a:latin typeface="Arial"/>
                <a:ea typeface="Arial"/>
                <a:cs typeface="Arial"/>
              </a:defRPr>
            </a:lvl9pPr>
          </a:lstStyle>
          <a:p xmlns:a="http://schemas.openxmlformats.org/drawingml/2006/main">
            <a:pPr algn="l">
              <a:buNone/>
              <a:defRPr sz="1350" b="1" i="0">
                <a:solidFill>
                  <a:srgbClr val="FFFFFF"/>
                </a:solidFill>
                <a:latin typeface="Arial"/>
                <a:ea typeface="Arial"/>
                <a:cs typeface="Arial"/>
              </a:defRPr>
            </a:pPr>
            <a:r>
              <a:rPr sz="1350" b="1" i="0">
                <a:solidFill>
                  <a:srgbClr val="FFFFFF"/>
                </a:solidFill>
                <a:latin typeface="Arial"/>
                <a:ea typeface="Arial"/>
                <a:cs typeface="Arial"/>
              </a:rPr>
              <a:t>Four-presenter project briefing</a:t>
            </a:r>
          </a:p>
        </p:txBody>
      </p:sp>
      <p:sp>
        <p:nvSpPr>
          <p:cNvPr id="8" name="Rectangle 7">
            <a:extLst xmlns:a="http://schemas.openxmlformats.org/drawingml/2006/main">
              <a:ext uri="{FF2B5EF4-FFF2-40B4-BE49-F238E27FC236}">
                <a16:creationId xmlns:a16="http://schemas.microsoft.com/office/drawing/2014/main" id="{8B6F76C9-E558-420A-B712-8DA199C07E00}"/>
              </a:ext>
            </a:extLst>
          </p:cNvPr>
          <p:cNvSpPr>
            <a:spLocks xmlns:a="http://schemas.openxmlformats.org/drawingml/2006/main" noGrp="1"/>
          </p:cNvSpPr>
          <p:nvPr/>
        </p:nvSpPr>
        <p:spPr>
          <a:xfrm xmlns:a="http://schemas.openxmlformats.org/drawingml/2006/main">
            <a:off x="638175" y="49530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C8D6D0"/>
                </a:solidFill>
                <a:latin typeface="Arial"/>
                <a:ea typeface="Arial"/>
                <a:cs typeface="Arial"/>
              </a:defRPr>
            </a:defPPr>
            <a:lvl1pPr algn="l">
              <a:buNone/>
              <a:defRPr sz="1275" b="0" i="0">
                <a:solidFill>
                  <a:srgbClr val="C8D6D0"/>
                </a:solidFill>
                <a:latin typeface="Arial"/>
                <a:ea typeface="Arial"/>
                <a:cs typeface="Arial"/>
              </a:defRPr>
            </a:lvl1pPr>
            <a:lvl2pPr algn="l">
              <a:buNone/>
              <a:defRPr sz="1275" b="0" i="0">
                <a:solidFill>
                  <a:srgbClr val="C8D6D0"/>
                </a:solidFill>
                <a:latin typeface="Arial"/>
                <a:ea typeface="Arial"/>
                <a:cs typeface="Arial"/>
              </a:defRPr>
            </a:lvl2pPr>
            <a:lvl3pPr algn="l">
              <a:buNone/>
              <a:defRPr sz="1275" b="0" i="0">
                <a:solidFill>
                  <a:srgbClr val="C8D6D0"/>
                </a:solidFill>
                <a:latin typeface="Arial"/>
                <a:ea typeface="Arial"/>
                <a:cs typeface="Arial"/>
              </a:defRPr>
            </a:lvl3pPr>
            <a:lvl4pPr algn="l">
              <a:buNone/>
              <a:defRPr sz="1275" b="0" i="0">
                <a:solidFill>
                  <a:srgbClr val="C8D6D0"/>
                </a:solidFill>
                <a:latin typeface="Arial"/>
                <a:ea typeface="Arial"/>
                <a:cs typeface="Arial"/>
              </a:defRPr>
            </a:lvl4pPr>
            <a:lvl5pPr algn="l">
              <a:buNone/>
              <a:defRPr sz="1275" b="0" i="0">
                <a:solidFill>
                  <a:srgbClr val="C8D6D0"/>
                </a:solidFill>
                <a:latin typeface="Arial"/>
                <a:ea typeface="Arial"/>
                <a:cs typeface="Arial"/>
              </a:defRPr>
            </a:lvl5pPr>
            <a:lvl6pPr algn="l">
              <a:buNone/>
              <a:defRPr sz="1275" b="0" i="0">
                <a:solidFill>
                  <a:srgbClr val="C8D6D0"/>
                </a:solidFill>
                <a:latin typeface="Arial"/>
                <a:ea typeface="Arial"/>
                <a:cs typeface="Arial"/>
              </a:defRPr>
            </a:lvl6pPr>
            <a:lvl7pPr algn="l">
              <a:buNone/>
              <a:defRPr sz="1275" b="0" i="0">
                <a:solidFill>
                  <a:srgbClr val="C8D6D0"/>
                </a:solidFill>
                <a:latin typeface="Arial"/>
                <a:ea typeface="Arial"/>
                <a:cs typeface="Arial"/>
              </a:defRPr>
            </a:lvl7pPr>
            <a:lvl8pPr algn="l">
              <a:buNone/>
              <a:defRPr sz="1275" b="0" i="0">
                <a:solidFill>
                  <a:srgbClr val="C8D6D0"/>
                </a:solidFill>
                <a:latin typeface="Arial"/>
                <a:ea typeface="Arial"/>
                <a:cs typeface="Arial"/>
              </a:defRPr>
            </a:lvl8pPr>
            <a:lvl9pPr algn="l">
              <a:buNone/>
              <a:defRPr sz="1275" b="0" i="0">
                <a:solidFill>
                  <a:srgbClr val="C8D6D0"/>
                </a:solidFill>
                <a:latin typeface="Arial"/>
                <a:ea typeface="Arial"/>
                <a:cs typeface="Arial"/>
              </a:defRPr>
            </a:lvl9pPr>
          </a:lstStyle>
          <a:p xmlns:a="http://schemas.openxmlformats.org/drawingml/2006/main">
            <a:pPr algn="l">
              <a:buNone/>
              <a:defRPr sz="1275" b="0" i="0">
                <a:solidFill>
                  <a:srgbClr val="C8D6D0"/>
                </a:solidFill>
                <a:latin typeface="Arial"/>
                <a:ea typeface="Arial"/>
                <a:cs typeface="Arial"/>
              </a:defRPr>
            </a:pPr>
            <a:r>
              <a:t>Kushagra </a:t>
            </a:r>
            <a:r>
              <a:t>Srivastrava</a:t>
            </a:r>
            <a:r>
              <a:t> , Hardik Tyagi</a:t>
            </a:r>
          </a:p>
          <a:p xmlns:a="http://schemas.openxmlformats.org/drawingml/2006/main">
            <a:pPr algn="l">
              <a:buNone/>
              <a:defRPr sz="1275" b="0" i="0">
                <a:solidFill>
                  <a:srgbClr val="C8D6D0"/>
                </a:solidFill>
                <a:latin typeface="Arial"/>
                <a:ea typeface="Arial"/>
                <a:cs typeface="Arial"/>
              </a:defRPr>
            </a:pPr>
            <a:r>
              <a:t>Ram , </a:t>
            </a:r>
            <a:r>
              <a:t>Kritharith</a:t>
            </a:r>
            <a:r>
              <a:t> Shankar</a:t>
            </a:r>
            <a:endParaRPr sz="1275" b="0" i="0">
              <a:solidFill>
                <a:srgbClr val="C8D6D0"/>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D46DD562-1984-42DA-B861-44D6358B2E13}"/>
              </a:ext>
            </a:extLst>
          </p:cNvPr>
          <p:cNvSpPr>
            <a:spLocks xmlns:a="http://schemas.openxmlformats.org/drawingml/2006/main" noGrp="1"/>
          </p:cNvSpPr>
          <p:nvPr/>
        </p:nvSpPr>
        <p:spPr>
          <a:xfrm xmlns:a="http://schemas.openxmlformats.org/drawingml/2006/main">
            <a:off x="10287000" y="64770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91AAA0"/>
                </a:solidFill>
                <a:latin typeface="Arial"/>
                <a:ea typeface="Arial"/>
                <a:cs typeface="Arial"/>
              </a:defRPr>
            </a:defPPr>
            <a:lvl1pPr algn="r">
              <a:buNone/>
              <a:defRPr sz="750" b="1" i="0">
                <a:solidFill>
                  <a:srgbClr val="91AAA0"/>
                </a:solidFill>
                <a:latin typeface="Arial"/>
                <a:ea typeface="Arial"/>
                <a:cs typeface="Arial"/>
              </a:defRPr>
            </a:lvl1pPr>
            <a:lvl2pPr algn="r">
              <a:buNone/>
              <a:defRPr sz="750" b="1" i="0">
                <a:solidFill>
                  <a:srgbClr val="91AAA0"/>
                </a:solidFill>
                <a:latin typeface="Arial"/>
                <a:ea typeface="Arial"/>
                <a:cs typeface="Arial"/>
              </a:defRPr>
            </a:lvl2pPr>
            <a:lvl3pPr algn="r">
              <a:buNone/>
              <a:defRPr sz="750" b="1" i="0">
                <a:solidFill>
                  <a:srgbClr val="91AAA0"/>
                </a:solidFill>
                <a:latin typeface="Arial"/>
                <a:ea typeface="Arial"/>
                <a:cs typeface="Arial"/>
              </a:defRPr>
            </a:lvl3pPr>
            <a:lvl4pPr algn="r">
              <a:buNone/>
              <a:defRPr sz="750" b="1" i="0">
                <a:solidFill>
                  <a:srgbClr val="91AAA0"/>
                </a:solidFill>
                <a:latin typeface="Arial"/>
                <a:ea typeface="Arial"/>
                <a:cs typeface="Arial"/>
              </a:defRPr>
            </a:lvl4pPr>
            <a:lvl5pPr algn="r">
              <a:buNone/>
              <a:defRPr sz="750" b="1" i="0">
                <a:solidFill>
                  <a:srgbClr val="91AAA0"/>
                </a:solidFill>
                <a:latin typeface="Arial"/>
                <a:ea typeface="Arial"/>
                <a:cs typeface="Arial"/>
              </a:defRPr>
            </a:lvl5pPr>
            <a:lvl6pPr algn="r">
              <a:buNone/>
              <a:defRPr sz="750" b="1" i="0">
                <a:solidFill>
                  <a:srgbClr val="91AAA0"/>
                </a:solidFill>
                <a:latin typeface="Arial"/>
                <a:ea typeface="Arial"/>
                <a:cs typeface="Arial"/>
              </a:defRPr>
            </a:lvl6pPr>
            <a:lvl7pPr algn="r">
              <a:buNone/>
              <a:defRPr sz="750" b="1" i="0">
                <a:solidFill>
                  <a:srgbClr val="91AAA0"/>
                </a:solidFill>
                <a:latin typeface="Arial"/>
                <a:ea typeface="Arial"/>
                <a:cs typeface="Arial"/>
              </a:defRPr>
            </a:lvl7pPr>
            <a:lvl8pPr algn="r">
              <a:buNone/>
              <a:defRPr sz="750" b="1" i="0">
                <a:solidFill>
                  <a:srgbClr val="91AAA0"/>
                </a:solidFill>
                <a:latin typeface="Arial"/>
                <a:ea typeface="Arial"/>
                <a:cs typeface="Arial"/>
              </a:defRPr>
            </a:lvl8pPr>
            <a:lvl9pPr algn="r">
              <a:buNone/>
              <a:defRPr sz="750" b="1" i="0">
                <a:solidFill>
                  <a:srgbClr val="91AAA0"/>
                </a:solidFill>
                <a:latin typeface="Arial"/>
                <a:ea typeface="Arial"/>
                <a:cs typeface="Arial"/>
              </a:defRPr>
            </a:lvl9pPr>
          </a:lstStyle>
          <a:p xmlns:a="http://schemas.openxmlformats.org/drawingml/2006/main">
            <a:pPr algn="r">
              <a:buNone/>
              <a:defRPr sz="750" b="1" i="0">
                <a:solidFill>
                  <a:srgbClr val="91AAA0"/>
                </a:solidFill>
                <a:latin typeface="Arial"/>
                <a:ea typeface="Arial"/>
                <a:cs typeface="Arial"/>
              </a:defRPr>
            </a:pPr>
            <a:r>
              <a:rPr sz="750" b="1" i="0">
                <a:solidFill>
                  <a:srgbClr val="91AAA0"/>
                </a:solidFill>
                <a:latin typeface="Arial"/>
                <a:ea typeface="Arial"/>
                <a:cs typeface="Arial"/>
              </a:rPr>
              <a:t>Presenter 3  ·  01</a:t>
            </a:r>
          </a:p>
        </p:txBody>
      </p:sp>
    </p:spTree>
    <p:extLst>
      <p:ext uri="{BB962C8B-B14F-4D97-AF65-F5344CB8AC3E}">
        <p14:creationId xmlns:p14="http://schemas.microsoft.com/office/powerpoint/2010/main" val="1758843887"/>
      </p:ext>
    </p:extLst>
  </p:cSld>
</p:sld>
</file>

<file path=ppt/slides/slide2.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0" name="Rectangle 29">
            <a:extLst xmlns:a="http://schemas.openxmlformats.org/drawingml/2006/main">
              <a:ext uri="{FF2B5EF4-FFF2-40B4-BE49-F238E27FC236}">
                <a16:creationId xmlns:a16="http://schemas.microsoft.com/office/drawing/2014/main" id="{B61B41A8-5FA5-4414-82FE-C9637E940CD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63AE7CE9-A965-451F-9688-B6B210E59563}"/>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90514445-4B1D-4E6C-A306-CDFE58F5E9F4}"/>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PRESENTATION MAP</a:t>
            </a:r>
          </a:p>
        </p:txBody>
      </p:sp>
      <p:sp>
        <p:nvSpPr>
          <p:cNvPr id="4" name="Rectangle 3">
            <a:extLst xmlns:a="http://schemas.openxmlformats.org/drawingml/2006/main">
              <a:ext uri="{FF2B5EF4-FFF2-40B4-BE49-F238E27FC236}">
                <a16:creationId xmlns:a16="http://schemas.microsoft.com/office/drawing/2014/main" id="{DED2C950-AE2A-429A-ADD1-C02F88172027}"/>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3  ·  02</a:t>
            </a:r>
          </a:p>
        </p:txBody>
      </p:sp>
      <p:sp>
        <p:nvSpPr>
          <p:cNvPr id="5" name="Rectangle 4">
            <a:extLst xmlns:a="http://schemas.openxmlformats.org/drawingml/2006/main">
              <a:ext uri="{FF2B5EF4-FFF2-40B4-BE49-F238E27FC236}">
                <a16:creationId xmlns:a16="http://schemas.microsoft.com/office/drawing/2014/main" id="{AF6EF773-D808-4D67-BE95-E36726F50199}"/>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Presentation structure and speaking roles</a:t>
            </a:r>
          </a:p>
        </p:txBody>
      </p:sp>
      <p:sp>
        <p:nvSpPr>
          <p:cNvPr id="6" name="Rectangle 5">
            <a:extLst xmlns:a="http://schemas.openxmlformats.org/drawingml/2006/main">
              <a:ext uri="{FF2B5EF4-FFF2-40B4-BE49-F238E27FC236}">
                <a16:creationId xmlns:a16="http://schemas.microsoft.com/office/drawing/2014/main" id="{79982096-F925-4972-8F10-9B8BE85729C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 40-minute briefing with clear handoffs</a:t>
            </a:r>
          </a:p>
        </p:txBody>
      </p:sp>
      <p:sp>
        <p:nvSpPr>
          <p:cNvPr id="7" name="Oval 6">
            <a:extLst xmlns:a="http://schemas.openxmlformats.org/drawingml/2006/main">
              <a:ext uri="{FF2B5EF4-FFF2-40B4-BE49-F238E27FC236}">
                <a16:creationId xmlns:a16="http://schemas.microsoft.com/office/drawing/2014/main" id="{BE771355-19E1-4346-AEB4-A18F8FBE5AA1}"/>
              </a:ext>
            </a:extLst>
          </p:cNvPr>
          <p:cNvSpPr>
            <a:spLocks xmlns:a="http://schemas.openxmlformats.org/drawingml/2006/main" noGrp="1"/>
          </p:cNvSpPr>
          <p:nvPr/>
        </p:nvSpPr>
        <p:spPr>
          <a:xfrm xmlns:a="http://schemas.openxmlformats.org/drawingml/2006/main">
            <a:off x="628650" y="1752600"/>
            <a:ext cx="609600" cy="60960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8" name="Rectangle 7">
            <a:extLst xmlns:a="http://schemas.openxmlformats.org/drawingml/2006/main">
              <a:ext uri="{FF2B5EF4-FFF2-40B4-BE49-F238E27FC236}">
                <a16:creationId xmlns:a16="http://schemas.microsoft.com/office/drawing/2014/main" id="{C52600FC-C228-4007-958C-5CF681F4F378}"/>
              </a:ext>
            </a:extLst>
          </p:cNvPr>
          <p:cNvSpPr>
            <a:spLocks xmlns:a="http://schemas.openxmlformats.org/drawingml/2006/main" noGrp="1"/>
          </p:cNvSpPr>
          <p:nvPr/>
        </p:nvSpPr>
        <p:spPr>
          <a:xfrm xmlns:a="http://schemas.openxmlformats.org/drawingml/2006/main">
            <a:off x="628650" y="1866900"/>
            <a:ext cx="609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defPPr algn="ctr">
              <a:defRPr sz="1500" b="1" i="0">
                <a:solidFill>
                  <a:srgbClr val="FFFFFF"/>
                </a:solidFill>
                <a:latin typeface="Arial"/>
                <a:ea typeface="Arial"/>
                <a:cs typeface="Arial"/>
              </a:defRPr>
            </a:defPPr>
            <a:lvl1pPr algn="ctr">
              <a:buNone/>
              <a:defRPr sz="1500" b="1" i="0">
                <a:solidFill>
                  <a:srgbClr val="FFFFFF"/>
                </a:solidFill>
                <a:latin typeface="Arial"/>
                <a:ea typeface="Arial"/>
                <a:cs typeface="Arial"/>
              </a:defRPr>
            </a:lvl1pPr>
            <a:lvl2pPr algn="ctr">
              <a:buNone/>
              <a:defRPr sz="1500" b="1" i="0">
                <a:solidFill>
                  <a:srgbClr val="FFFFFF"/>
                </a:solidFill>
                <a:latin typeface="Arial"/>
                <a:ea typeface="Arial"/>
                <a:cs typeface="Arial"/>
              </a:defRPr>
            </a:lvl2pPr>
            <a:lvl3pPr algn="ctr">
              <a:buNone/>
              <a:defRPr sz="1500" b="1" i="0">
                <a:solidFill>
                  <a:srgbClr val="FFFFFF"/>
                </a:solidFill>
                <a:latin typeface="Arial"/>
                <a:ea typeface="Arial"/>
                <a:cs typeface="Arial"/>
              </a:defRPr>
            </a:lvl3pPr>
            <a:lvl4pPr algn="ctr">
              <a:buNone/>
              <a:defRPr sz="1500" b="1" i="0">
                <a:solidFill>
                  <a:srgbClr val="FFFFFF"/>
                </a:solidFill>
                <a:latin typeface="Arial"/>
                <a:ea typeface="Arial"/>
                <a:cs typeface="Arial"/>
              </a:defRPr>
            </a:lvl4pPr>
            <a:lvl5pPr algn="ctr">
              <a:buNone/>
              <a:defRPr sz="1500" b="1" i="0">
                <a:solidFill>
                  <a:srgbClr val="FFFFFF"/>
                </a:solidFill>
                <a:latin typeface="Arial"/>
                <a:ea typeface="Arial"/>
                <a:cs typeface="Arial"/>
              </a:defRPr>
            </a:lvl5pPr>
            <a:lvl6pPr algn="ctr">
              <a:buNone/>
              <a:defRPr sz="1500" b="1" i="0">
                <a:solidFill>
                  <a:srgbClr val="FFFFFF"/>
                </a:solidFill>
                <a:latin typeface="Arial"/>
                <a:ea typeface="Arial"/>
                <a:cs typeface="Arial"/>
              </a:defRPr>
            </a:lvl6pPr>
            <a:lvl7pPr algn="ctr">
              <a:buNone/>
              <a:defRPr sz="1500" b="1" i="0">
                <a:solidFill>
                  <a:srgbClr val="FFFFFF"/>
                </a:solidFill>
                <a:latin typeface="Arial"/>
                <a:ea typeface="Arial"/>
                <a:cs typeface="Arial"/>
              </a:defRPr>
            </a:lvl7pPr>
            <a:lvl8pPr algn="ctr">
              <a:buNone/>
              <a:defRPr sz="1500" b="1" i="0">
                <a:solidFill>
                  <a:srgbClr val="FFFFFF"/>
                </a:solidFill>
                <a:latin typeface="Arial"/>
                <a:ea typeface="Arial"/>
                <a:cs typeface="Arial"/>
              </a:defRPr>
            </a:lvl8pPr>
            <a:lvl9pPr algn="ctr">
              <a:buNone/>
              <a:defRPr sz="1500" b="1" i="0">
                <a:solidFill>
                  <a:srgbClr val="FFFFFF"/>
                </a:solidFill>
                <a:latin typeface="Arial"/>
                <a:ea typeface="Arial"/>
                <a:cs typeface="Arial"/>
              </a:defRPr>
            </a:lvl9pPr>
          </a:lstStyle>
          <a:p xmlns:a="http://schemas.openxmlformats.org/drawingml/2006/main">
            <a:pPr algn="ctr">
              <a:buNone/>
              <a:defRPr sz="1500" b="1" i="0">
                <a:solidFill>
                  <a:srgbClr val="FFFFFF"/>
                </a:solidFill>
                <a:latin typeface="Arial"/>
                <a:ea typeface="Arial"/>
                <a:cs typeface="Arial"/>
              </a:defRPr>
            </a:pPr>
            <a:r>
              <a:rPr sz="1500" b="1" i="0">
                <a:solidFill>
                  <a:srgbClr val="FFFFFF"/>
                </a:solidFill>
                <a:latin typeface="Arial"/>
                <a:ea typeface="Arial"/>
                <a:cs typeface="Arial"/>
              </a:rPr>
              <a:t>P3</a:t>
            </a:r>
          </a:p>
        </p:txBody>
      </p:sp>
      <p:sp>
        <p:nvSpPr>
          <p:cNvPr id="9" name="Rectangle 8">
            <a:extLst xmlns:a="http://schemas.openxmlformats.org/drawingml/2006/main">
              <a:ext uri="{FF2B5EF4-FFF2-40B4-BE49-F238E27FC236}">
                <a16:creationId xmlns:a16="http://schemas.microsoft.com/office/drawing/2014/main" id="{D87088ED-EBC0-466C-BC14-8B2D96FC95E7}"/>
              </a:ext>
            </a:extLst>
          </p:cNvPr>
          <p:cNvSpPr>
            <a:spLocks xmlns:a="http://schemas.openxmlformats.org/drawingml/2006/main" noGrp="1"/>
          </p:cNvSpPr>
          <p:nvPr/>
        </p:nvSpPr>
        <p:spPr>
          <a:xfrm xmlns:a="http://schemas.openxmlformats.org/drawingml/2006/main">
            <a:off x="1524000" y="17526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MINOR</a:t>
            </a:r>
          </a:p>
        </p:txBody>
      </p:sp>
      <p:sp>
        <p:nvSpPr>
          <p:cNvPr id="10" name="Rectangle 9">
            <a:extLst xmlns:a="http://schemas.openxmlformats.org/drawingml/2006/main">
              <a:ext uri="{FF2B5EF4-FFF2-40B4-BE49-F238E27FC236}">
                <a16:creationId xmlns:a16="http://schemas.microsoft.com/office/drawing/2014/main" id="{4FDC1007-198E-4823-937B-DF9B6C7024D8}"/>
              </a:ext>
            </a:extLst>
          </p:cNvPr>
          <p:cNvSpPr>
            <a:spLocks xmlns:a="http://schemas.openxmlformats.org/drawingml/2006/main" noGrp="1"/>
          </p:cNvSpPr>
          <p:nvPr/>
        </p:nvSpPr>
        <p:spPr>
          <a:xfrm xmlns:a="http://schemas.openxmlformats.org/drawingml/2006/main">
            <a:off x="1524000" y="20002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Scope, team map</a:t>
            </a:r>
          </a:p>
        </p:txBody>
      </p:sp>
      <p:sp>
        <p:nvSpPr>
          <p:cNvPr id="11" name="Rectangle 10">
            <a:extLst xmlns:a="http://schemas.openxmlformats.org/drawingml/2006/main">
              <a:ext uri="{FF2B5EF4-FFF2-40B4-BE49-F238E27FC236}">
                <a16:creationId xmlns:a16="http://schemas.microsoft.com/office/drawing/2014/main" id="{CE9CC89E-659D-4CFA-9ACC-AE10EE728616}"/>
              </a:ext>
            </a:extLst>
          </p:cNvPr>
          <p:cNvSpPr>
            <a:spLocks xmlns:a="http://schemas.openxmlformats.org/drawingml/2006/main" noGrp="1"/>
          </p:cNvSpPr>
          <p:nvPr/>
        </p:nvSpPr>
        <p:spPr>
          <a:xfrm xmlns:a="http://schemas.openxmlformats.org/drawingml/2006/main">
            <a:off x="7239000" y="196215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r">
              <a:defRPr sz="1350" b="0" i="0">
                <a:solidFill>
                  <a:srgbClr val="AFC0B8"/>
                </a:solidFill>
                <a:latin typeface="Arial"/>
                <a:ea typeface="Arial"/>
                <a:cs typeface="Arial"/>
              </a:defRPr>
            </a:defPPr>
            <a:lvl1pPr algn="r">
              <a:buNone/>
              <a:defRPr sz="1350" b="0" i="0">
                <a:solidFill>
                  <a:srgbClr val="AFC0B8"/>
                </a:solidFill>
                <a:latin typeface="Arial"/>
                <a:ea typeface="Arial"/>
                <a:cs typeface="Arial"/>
              </a:defRPr>
            </a:lvl1pPr>
            <a:lvl2pPr algn="r">
              <a:buNone/>
              <a:defRPr sz="1350" b="0" i="0">
                <a:solidFill>
                  <a:srgbClr val="AFC0B8"/>
                </a:solidFill>
                <a:latin typeface="Arial"/>
                <a:ea typeface="Arial"/>
                <a:cs typeface="Arial"/>
              </a:defRPr>
            </a:lvl2pPr>
            <a:lvl3pPr algn="r">
              <a:buNone/>
              <a:defRPr sz="1350" b="0" i="0">
                <a:solidFill>
                  <a:srgbClr val="AFC0B8"/>
                </a:solidFill>
                <a:latin typeface="Arial"/>
                <a:ea typeface="Arial"/>
                <a:cs typeface="Arial"/>
              </a:defRPr>
            </a:lvl3pPr>
            <a:lvl4pPr algn="r">
              <a:buNone/>
              <a:defRPr sz="1350" b="0" i="0">
                <a:solidFill>
                  <a:srgbClr val="AFC0B8"/>
                </a:solidFill>
                <a:latin typeface="Arial"/>
                <a:ea typeface="Arial"/>
                <a:cs typeface="Arial"/>
              </a:defRPr>
            </a:lvl4pPr>
            <a:lvl5pPr algn="r">
              <a:buNone/>
              <a:defRPr sz="1350" b="0" i="0">
                <a:solidFill>
                  <a:srgbClr val="AFC0B8"/>
                </a:solidFill>
                <a:latin typeface="Arial"/>
                <a:ea typeface="Arial"/>
                <a:cs typeface="Arial"/>
              </a:defRPr>
            </a:lvl5pPr>
            <a:lvl6pPr algn="r">
              <a:buNone/>
              <a:defRPr sz="1350" b="0" i="0">
                <a:solidFill>
                  <a:srgbClr val="AFC0B8"/>
                </a:solidFill>
                <a:latin typeface="Arial"/>
                <a:ea typeface="Arial"/>
                <a:cs typeface="Arial"/>
              </a:defRPr>
            </a:lvl6pPr>
            <a:lvl7pPr algn="r">
              <a:buNone/>
              <a:defRPr sz="1350" b="0" i="0">
                <a:solidFill>
                  <a:srgbClr val="AFC0B8"/>
                </a:solidFill>
                <a:latin typeface="Arial"/>
                <a:ea typeface="Arial"/>
                <a:cs typeface="Arial"/>
              </a:defRPr>
            </a:lvl7pPr>
            <a:lvl8pPr algn="r">
              <a:buNone/>
              <a:defRPr sz="1350" b="0" i="0">
                <a:solidFill>
                  <a:srgbClr val="AFC0B8"/>
                </a:solidFill>
                <a:latin typeface="Arial"/>
                <a:ea typeface="Arial"/>
                <a:cs typeface="Arial"/>
              </a:defRPr>
            </a:lvl8pPr>
            <a:lvl9pPr algn="r">
              <a:buNone/>
              <a:defRPr sz="1350" b="0" i="0">
                <a:solidFill>
                  <a:srgbClr val="AFC0B8"/>
                </a:solidFill>
                <a:latin typeface="Arial"/>
                <a:ea typeface="Arial"/>
                <a:cs typeface="Arial"/>
              </a:defRPr>
            </a:lvl9pPr>
          </a:lstStyle>
          <a:p xmlns:a="http://schemas.openxmlformats.org/drawingml/2006/main">
            <a:pPr algn="r">
              <a:buNone/>
              <a:defRPr sz="1350" b="0" i="0">
                <a:solidFill>
                  <a:srgbClr val="AFC0B8"/>
                </a:solidFill>
                <a:latin typeface="Arial"/>
                <a:ea typeface="Arial"/>
                <a:cs typeface="Arial"/>
              </a:defRPr>
            </a:pPr>
            <a:r>
              <a:rPr sz="1350" b="0" i="0">
                <a:solidFill>
                  <a:srgbClr val="AFC0B8"/>
                </a:solidFill>
                <a:latin typeface="Arial"/>
                <a:ea typeface="Arial"/>
                <a:cs typeface="Arial"/>
              </a:rPr>
              <a:t>2 min  ·  Slides 1–2</a:t>
            </a:r>
          </a:p>
        </p:txBody>
      </p:sp>
      <p:sp>
        <p:nvSpPr>
          <p:cNvPr id="12" name="Straight Connector 11">
            <a:extLst xmlns:a="http://schemas.openxmlformats.org/drawingml/2006/main">
              <a:ext uri="{FF2B5EF4-FFF2-40B4-BE49-F238E27FC236}">
                <a16:creationId xmlns:a16="http://schemas.microsoft.com/office/drawing/2014/main" id="{88A60792-E54D-4605-AA55-ECF7CD031BA5}"/>
              </a:ext>
            </a:extLst>
          </p:cNvPr>
          <p:cNvSpPr>
            <a:spLocks xmlns:a="http://schemas.openxmlformats.org/drawingml/2006/main" noGrp="1"/>
          </p:cNvSpPr>
          <p:nvPr/>
        </p:nvSpPr>
        <p:spPr>
          <a:xfrm xmlns:a="http://schemas.openxmlformats.org/drawingml/2006/main">
            <a:off x="1524000" y="2533650"/>
            <a:ext cx="9525000"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3" name="Oval 12">
            <a:extLst xmlns:a="http://schemas.openxmlformats.org/drawingml/2006/main">
              <a:ext uri="{FF2B5EF4-FFF2-40B4-BE49-F238E27FC236}">
                <a16:creationId xmlns:a16="http://schemas.microsoft.com/office/drawing/2014/main" id="{BB4AEB7E-2826-467E-AD5E-5E3DE10B8A0D}"/>
              </a:ext>
            </a:extLst>
          </p:cNvPr>
          <p:cNvSpPr>
            <a:spLocks xmlns:a="http://schemas.openxmlformats.org/drawingml/2006/main" noGrp="1"/>
          </p:cNvSpPr>
          <p:nvPr/>
        </p:nvSpPr>
        <p:spPr>
          <a:xfrm xmlns:a="http://schemas.openxmlformats.org/drawingml/2006/main">
            <a:off x="628650" y="2743200"/>
            <a:ext cx="609600" cy="60960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4" name="Rectangle 13">
            <a:extLst xmlns:a="http://schemas.openxmlformats.org/drawingml/2006/main">
              <a:ext uri="{FF2B5EF4-FFF2-40B4-BE49-F238E27FC236}">
                <a16:creationId xmlns:a16="http://schemas.microsoft.com/office/drawing/2014/main" id="{5B7E505D-F7D5-4E8D-A6F0-5D806FF13925}"/>
              </a:ext>
            </a:extLst>
          </p:cNvPr>
          <p:cNvSpPr>
            <a:spLocks xmlns:a="http://schemas.openxmlformats.org/drawingml/2006/main" noGrp="1"/>
          </p:cNvSpPr>
          <p:nvPr/>
        </p:nvSpPr>
        <p:spPr>
          <a:xfrm xmlns:a="http://schemas.openxmlformats.org/drawingml/2006/main">
            <a:off x="628650" y="2857500"/>
            <a:ext cx="609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defPPr algn="ctr">
              <a:defRPr sz="1500" b="1" i="0">
                <a:solidFill>
                  <a:srgbClr val="FFFFFF"/>
                </a:solidFill>
                <a:latin typeface="Arial"/>
                <a:ea typeface="Arial"/>
                <a:cs typeface="Arial"/>
              </a:defRPr>
            </a:defPPr>
            <a:lvl1pPr algn="ctr">
              <a:buNone/>
              <a:defRPr sz="1500" b="1" i="0">
                <a:solidFill>
                  <a:srgbClr val="FFFFFF"/>
                </a:solidFill>
                <a:latin typeface="Arial"/>
                <a:ea typeface="Arial"/>
                <a:cs typeface="Arial"/>
              </a:defRPr>
            </a:lvl1pPr>
            <a:lvl2pPr algn="ctr">
              <a:buNone/>
              <a:defRPr sz="1500" b="1" i="0">
                <a:solidFill>
                  <a:srgbClr val="FFFFFF"/>
                </a:solidFill>
                <a:latin typeface="Arial"/>
                <a:ea typeface="Arial"/>
                <a:cs typeface="Arial"/>
              </a:defRPr>
            </a:lvl2pPr>
            <a:lvl3pPr algn="ctr">
              <a:buNone/>
              <a:defRPr sz="1500" b="1" i="0">
                <a:solidFill>
                  <a:srgbClr val="FFFFFF"/>
                </a:solidFill>
                <a:latin typeface="Arial"/>
                <a:ea typeface="Arial"/>
                <a:cs typeface="Arial"/>
              </a:defRPr>
            </a:lvl3pPr>
            <a:lvl4pPr algn="ctr">
              <a:buNone/>
              <a:defRPr sz="1500" b="1" i="0">
                <a:solidFill>
                  <a:srgbClr val="FFFFFF"/>
                </a:solidFill>
                <a:latin typeface="Arial"/>
                <a:ea typeface="Arial"/>
                <a:cs typeface="Arial"/>
              </a:defRPr>
            </a:lvl4pPr>
            <a:lvl5pPr algn="ctr">
              <a:buNone/>
              <a:defRPr sz="1500" b="1" i="0">
                <a:solidFill>
                  <a:srgbClr val="FFFFFF"/>
                </a:solidFill>
                <a:latin typeface="Arial"/>
                <a:ea typeface="Arial"/>
                <a:cs typeface="Arial"/>
              </a:defRPr>
            </a:lvl5pPr>
            <a:lvl6pPr algn="ctr">
              <a:buNone/>
              <a:defRPr sz="1500" b="1" i="0">
                <a:solidFill>
                  <a:srgbClr val="FFFFFF"/>
                </a:solidFill>
                <a:latin typeface="Arial"/>
                <a:ea typeface="Arial"/>
                <a:cs typeface="Arial"/>
              </a:defRPr>
            </a:lvl6pPr>
            <a:lvl7pPr algn="ctr">
              <a:buNone/>
              <a:defRPr sz="1500" b="1" i="0">
                <a:solidFill>
                  <a:srgbClr val="FFFFFF"/>
                </a:solidFill>
                <a:latin typeface="Arial"/>
                <a:ea typeface="Arial"/>
                <a:cs typeface="Arial"/>
              </a:defRPr>
            </a:lvl7pPr>
            <a:lvl8pPr algn="ctr">
              <a:buNone/>
              <a:defRPr sz="1500" b="1" i="0">
                <a:solidFill>
                  <a:srgbClr val="FFFFFF"/>
                </a:solidFill>
                <a:latin typeface="Arial"/>
                <a:ea typeface="Arial"/>
                <a:cs typeface="Arial"/>
              </a:defRPr>
            </a:lvl8pPr>
            <a:lvl9pPr algn="ctr">
              <a:buNone/>
              <a:defRPr sz="1500" b="1" i="0">
                <a:solidFill>
                  <a:srgbClr val="FFFFFF"/>
                </a:solidFill>
                <a:latin typeface="Arial"/>
                <a:ea typeface="Arial"/>
                <a:cs typeface="Arial"/>
              </a:defRPr>
            </a:lvl9pPr>
          </a:lstStyle>
          <a:p xmlns:a="http://schemas.openxmlformats.org/drawingml/2006/main">
            <a:pPr algn="ctr">
              <a:buNone/>
              <a:defRPr sz="1500" b="1" i="0">
                <a:solidFill>
                  <a:srgbClr val="FFFFFF"/>
                </a:solidFill>
                <a:latin typeface="Arial"/>
                <a:ea typeface="Arial"/>
                <a:cs typeface="Arial"/>
              </a:defRPr>
            </a:pPr>
            <a:r>
              <a:rPr sz="1500" b="1" i="0">
                <a:solidFill>
                  <a:srgbClr val="FFFFFF"/>
                </a:solidFill>
                <a:latin typeface="Arial"/>
                <a:ea typeface="Arial"/>
                <a:cs typeface="Arial"/>
              </a:rPr>
              <a:t>P1</a:t>
            </a:r>
          </a:p>
        </p:txBody>
      </p:sp>
      <p:sp>
        <p:nvSpPr>
          <p:cNvPr id="15" name="Rectangle 14">
            <a:extLst xmlns:a="http://schemas.openxmlformats.org/drawingml/2006/main">
              <a:ext uri="{FF2B5EF4-FFF2-40B4-BE49-F238E27FC236}">
                <a16:creationId xmlns:a16="http://schemas.microsoft.com/office/drawing/2014/main" id="{AE92DC71-90F6-439C-9945-5520A6716E96}"/>
              </a:ext>
            </a:extLst>
          </p:cNvPr>
          <p:cNvSpPr>
            <a:spLocks xmlns:a="http://schemas.openxmlformats.org/drawingml/2006/main" noGrp="1"/>
          </p:cNvSpPr>
          <p:nvPr/>
        </p:nvSpPr>
        <p:spPr>
          <a:xfrm xmlns:a="http://schemas.openxmlformats.org/drawingml/2006/main">
            <a:off x="1524000" y="27432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00" b="1" i="0">
                <a:solidFill>
                  <a:srgbClr val="E84AAB"/>
                </a:solidFill>
                <a:latin typeface="Arial"/>
                <a:ea typeface="Arial"/>
                <a:cs typeface="Arial"/>
              </a:defRPr>
            </a:defPPr>
            <a:lvl1pPr algn="l">
              <a:buNone/>
              <a:defRPr sz="900" b="1" i="0">
                <a:solidFill>
                  <a:srgbClr val="E84AAB"/>
                </a:solidFill>
                <a:latin typeface="Arial"/>
                <a:ea typeface="Arial"/>
                <a:cs typeface="Arial"/>
              </a:defRPr>
            </a:lvl1pPr>
            <a:lvl2pPr algn="l">
              <a:buNone/>
              <a:defRPr sz="900" b="1" i="0">
                <a:solidFill>
                  <a:srgbClr val="E84AAB"/>
                </a:solidFill>
                <a:latin typeface="Arial"/>
                <a:ea typeface="Arial"/>
                <a:cs typeface="Arial"/>
              </a:defRPr>
            </a:lvl2pPr>
            <a:lvl3pPr algn="l">
              <a:buNone/>
              <a:defRPr sz="900" b="1" i="0">
                <a:solidFill>
                  <a:srgbClr val="E84AAB"/>
                </a:solidFill>
                <a:latin typeface="Arial"/>
                <a:ea typeface="Arial"/>
                <a:cs typeface="Arial"/>
              </a:defRPr>
            </a:lvl3pPr>
            <a:lvl4pPr algn="l">
              <a:buNone/>
              <a:defRPr sz="900" b="1" i="0">
                <a:solidFill>
                  <a:srgbClr val="E84AAB"/>
                </a:solidFill>
                <a:latin typeface="Arial"/>
                <a:ea typeface="Arial"/>
                <a:cs typeface="Arial"/>
              </a:defRPr>
            </a:lvl4pPr>
            <a:lvl5pPr algn="l">
              <a:buNone/>
              <a:defRPr sz="900" b="1" i="0">
                <a:solidFill>
                  <a:srgbClr val="E84AAB"/>
                </a:solidFill>
                <a:latin typeface="Arial"/>
                <a:ea typeface="Arial"/>
                <a:cs typeface="Arial"/>
              </a:defRPr>
            </a:lvl5pPr>
            <a:lvl6pPr algn="l">
              <a:buNone/>
              <a:defRPr sz="900" b="1" i="0">
                <a:solidFill>
                  <a:srgbClr val="E84AAB"/>
                </a:solidFill>
                <a:latin typeface="Arial"/>
                <a:ea typeface="Arial"/>
                <a:cs typeface="Arial"/>
              </a:defRPr>
            </a:lvl6pPr>
            <a:lvl7pPr algn="l">
              <a:buNone/>
              <a:defRPr sz="900" b="1" i="0">
                <a:solidFill>
                  <a:srgbClr val="E84AAB"/>
                </a:solidFill>
                <a:latin typeface="Arial"/>
                <a:ea typeface="Arial"/>
                <a:cs typeface="Arial"/>
              </a:defRPr>
            </a:lvl7pPr>
            <a:lvl8pPr algn="l">
              <a:buNone/>
              <a:defRPr sz="900" b="1" i="0">
                <a:solidFill>
                  <a:srgbClr val="E84AAB"/>
                </a:solidFill>
                <a:latin typeface="Arial"/>
                <a:ea typeface="Arial"/>
                <a:cs typeface="Arial"/>
              </a:defRPr>
            </a:lvl8pPr>
            <a:lvl9pPr algn="l">
              <a:buNone/>
              <a:defRPr sz="900" b="1" i="0">
                <a:solidFill>
                  <a:srgbClr val="E84AAB"/>
                </a:solidFill>
                <a:latin typeface="Arial"/>
                <a:ea typeface="Arial"/>
                <a:cs typeface="Arial"/>
              </a:defRPr>
            </a:lvl9pPr>
          </a:lstStyle>
          <a:p xmlns:a="http://schemas.openxmlformats.org/drawingml/2006/main">
            <a:pPr algn="l">
              <a:buNone/>
              <a:defRPr sz="900" b="1" i="0">
                <a:solidFill>
                  <a:srgbClr val="E84AAB"/>
                </a:solidFill>
                <a:latin typeface="Arial"/>
                <a:ea typeface="Arial"/>
                <a:cs typeface="Arial"/>
              </a:defRPr>
            </a:pPr>
            <a:r>
              <a:rPr sz="900" b="1" i="0">
                <a:solidFill>
                  <a:srgbClr val="E84AAB"/>
                </a:solidFill>
                <a:latin typeface="Arial"/>
                <a:ea typeface="Arial"/>
                <a:cs typeface="Arial"/>
              </a:rPr>
              <a:t>MAJOR</a:t>
            </a:r>
          </a:p>
        </p:txBody>
      </p:sp>
      <p:sp>
        <p:nvSpPr>
          <p:cNvPr id="16" name="Rectangle 15">
            <a:extLst xmlns:a="http://schemas.openxmlformats.org/drawingml/2006/main">
              <a:ext uri="{FF2B5EF4-FFF2-40B4-BE49-F238E27FC236}">
                <a16:creationId xmlns:a16="http://schemas.microsoft.com/office/drawing/2014/main" id="{676C9A98-9FD4-4A3D-BB60-03D21BA8EA54}"/>
              </a:ext>
            </a:extLst>
          </p:cNvPr>
          <p:cNvSpPr>
            <a:spLocks xmlns:a="http://schemas.openxmlformats.org/drawingml/2006/main" noGrp="1"/>
          </p:cNvSpPr>
          <p:nvPr/>
        </p:nvSpPr>
        <p:spPr>
          <a:xfrm xmlns:a="http://schemas.openxmlformats.org/drawingml/2006/main">
            <a:off x="1524000" y="29908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Problem, literature, gap, model architecture</a:t>
            </a:r>
          </a:p>
        </p:txBody>
      </p:sp>
      <p:sp>
        <p:nvSpPr>
          <p:cNvPr id="17" name="Rectangle 16">
            <a:extLst xmlns:a="http://schemas.openxmlformats.org/drawingml/2006/main">
              <a:ext uri="{FF2B5EF4-FFF2-40B4-BE49-F238E27FC236}">
                <a16:creationId xmlns:a16="http://schemas.microsoft.com/office/drawing/2014/main" id="{1258231F-3654-41C1-9D88-2ED963686155}"/>
              </a:ext>
            </a:extLst>
          </p:cNvPr>
          <p:cNvSpPr>
            <a:spLocks xmlns:a="http://schemas.openxmlformats.org/drawingml/2006/main" noGrp="1"/>
          </p:cNvSpPr>
          <p:nvPr/>
        </p:nvSpPr>
        <p:spPr>
          <a:xfrm xmlns:a="http://schemas.openxmlformats.org/drawingml/2006/main">
            <a:off x="7239000" y="295275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r">
              <a:defRPr sz="1350" b="0" i="0">
                <a:solidFill>
                  <a:srgbClr val="AFC0B8"/>
                </a:solidFill>
                <a:latin typeface="Arial"/>
                <a:ea typeface="Arial"/>
                <a:cs typeface="Arial"/>
              </a:defRPr>
            </a:defPPr>
            <a:lvl1pPr algn="r">
              <a:buNone/>
              <a:defRPr sz="1350" b="0" i="0">
                <a:solidFill>
                  <a:srgbClr val="AFC0B8"/>
                </a:solidFill>
                <a:latin typeface="Arial"/>
                <a:ea typeface="Arial"/>
                <a:cs typeface="Arial"/>
              </a:defRPr>
            </a:lvl1pPr>
            <a:lvl2pPr algn="r">
              <a:buNone/>
              <a:defRPr sz="1350" b="0" i="0">
                <a:solidFill>
                  <a:srgbClr val="AFC0B8"/>
                </a:solidFill>
                <a:latin typeface="Arial"/>
                <a:ea typeface="Arial"/>
                <a:cs typeface="Arial"/>
              </a:defRPr>
            </a:lvl2pPr>
            <a:lvl3pPr algn="r">
              <a:buNone/>
              <a:defRPr sz="1350" b="0" i="0">
                <a:solidFill>
                  <a:srgbClr val="AFC0B8"/>
                </a:solidFill>
                <a:latin typeface="Arial"/>
                <a:ea typeface="Arial"/>
                <a:cs typeface="Arial"/>
              </a:defRPr>
            </a:lvl3pPr>
            <a:lvl4pPr algn="r">
              <a:buNone/>
              <a:defRPr sz="1350" b="0" i="0">
                <a:solidFill>
                  <a:srgbClr val="AFC0B8"/>
                </a:solidFill>
                <a:latin typeface="Arial"/>
                <a:ea typeface="Arial"/>
                <a:cs typeface="Arial"/>
              </a:defRPr>
            </a:lvl4pPr>
            <a:lvl5pPr algn="r">
              <a:buNone/>
              <a:defRPr sz="1350" b="0" i="0">
                <a:solidFill>
                  <a:srgbClr val="AFC0B8"/>
                </a:solidFill>
                <a:latin typeface="Arial"/>
                <a:ea typeface="Arial"/>
                <a:cs typeface="Arial"/>
              </a:defRPr>
            </a:lvl5pPr>
            <a:lvl6pPr algn="r">
              <a:buNone/>
              <a:defRPr sz="1350" b="0" i="0">
                <a:solidFill>
                  <a:srgbClr val="AFC0B8"/>
                </a:solidFill>
                <a:latin typeface="Arial"/>
                <a:ea typeface="Arial"/>
                <a:cs typeface="Arial"/>
              </a:defRPr>
            </a:lvl6pPr>
            <a:lvl7pPr algn="r">
              <a:buNone/>
              <a:defRPr sz="1350" b="0" i="0">
                <a:solidFill>
                  <a:srgbClr val="AFC0B8"/>
                </a:solidFill>
                <a:latin typeface="Arial"/>
                <a:ea typeface="Arial"/>
                <a:cs typeface="Arial"/>
              </a:defRPr>
            </a:lvl7pPr>
            <a:lvl8pPr algn="r">
              <a:buNone/>
              <a:defRPr sz="1350" b="0" i="0">
                <a:solidFill>
                  <a:srgbClr val="AFC0B8"/>
                </a:solidFill>
                <a:latin typeface="Arial"/>
                <a:ea typeface="Arial"/>
                <a:cs typeface="Arial"/>
              </a:defRPr>
            </a:lvl8pPr>
            <a:lvl9pPr algn="r">
              <a:buNone/>
              <a:defRPr sz="1350" b="0" i="0">
                <a:solidFill>
                  <a:srgbClr val="AFC0B8"/>
                </a:solidFill>
                <a:latin typeface="Arial"/>
                <a:ea typeface="Arial"/>
                <a:cs typeface="Arial"/>
              </a:defRPr>
            </a:lvl9pPr>
          </a:lstStyle>
          <a:p xmlns:a="http://schemas.openxmlformats.org/drawingml/2006/main">
            <a:pPr algn="r">
              <a:buNone/>
              <a:defRPr sz="1350" b="0" i="0">
                <a:solidFill>
                  <a:srgbClr val="AFC0B8"/>
                </a:solidFill>
                <a:latin typeface="Arial"/>
                <a:ea typeface="Arial"/>
                <a:cs typeface="Arial"/>
              </a:defRPr>
            </a:pPr>
            <a:r>
              <a:rPr sz="1350" b="0" i="0">
                <a:solidFill>
                  <a:srgbClr val="AFC0B8"/>
                </a:solidFill>
                <a:latin typeface="Arial"/>
                <a:ea typeface="Arial"/>
                <a:cs typeface="Arial"/>
              </a:rPr>
              <a:t>13 min  ·  Slides 3–12</a:t>
            </a:r>
          </a:p>
        </p:txBody>
      </p:sp>
      <p:sp>
        <p:nvSpPr>
          <p:cNvPr id="18" name="Straight Connector 17">
            <a:extLst xmlns:a="http://schemas.openxmlformats.org/drawingml/2006/main">
              <a:ext uri="{FF2B5EF4-FFF2-40B4-BE49-F238E27FC236}">
                <a16:creationId xmlns:a16="http://schemas.microsoft.com/office/drawing/2014/main" id="{37F3A636-2376-4CE0-9E59-AA74CBC08D95}"/>
              </a:ext>
            </a:extLst>
          </p:cNvPr>
          <p:cNvSpPr>
            <a:spLocks xmlns:a="http://schemas.openxmlformats.org/drawingml/2006/main" noGrp="1"/>
          </p:cNvSpPr>
          <p:nvPr/>
        </p:nvSpPr>
        <p:spPr>
          <a:xfrm xmlns:a="http://schemas.openxmlformats.org/drawingml/2006/main">
            <a:off x="1524000" y="3524250"/>
            <a:ext cx="9525000"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9" name="Oval 18">
            <a:extLst xmlns:a="http://schemas.openxmlformats.org/drawingml/2006/main">
              <a:ext uri="{FF2B5EF4-FFF2-40B4-BE49-F238E27FC236}">
                <a16:creationId xmlns:a16="http://schemas.microsoft.com/office/drawing/2014/main" id="{E11478FB-1BE3-42A9-9CCF-D5AADC205382}"/>
              </a:ext>
            </a:extLst>
          </p:cNvPr>
          <p:cNvSpPr>
            <a:spLocks xmlns:a="http://schemas.openxmlformats.org/drawingml/2006/main" noGrp="1"/>
          </p:cNvSpPr>
          <p:nvPr/>
        </p:nvSpPr>
        <p:spPr>
          <a:xfrm xmlns:a="http://schemas.openxmlformats.org/drawingml/2006/main">
            <a:off x="628650" y="3733800"/>
            <a:ext cx="609600" cy="60960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20" name="Rectangle 19">
            <a:extLst xmlns:a="http://schemas.openxmlformats.org/drawingml/2006/main">
              <a:ext uri="{FF2B5EF4-FFF2-40B4-BE49-F238E27FC236}">
                <a16:creationId xmlns:a16="http://schemas.microsoft.com/office/drawing/2014/main" id="{FE48567F-40EA-4EC9-8B8F-6ED548B9F144}"/>
              </a:ext>
            </a:extLst>
          </p:cNvPr>
          <p:cNvSpPr>
            <a:spLocks xmlns:a="http://schemas.openxmlformats.org/drawingml/2006/main" noGrp="1"/>
          </p:cNvSpPr>
          <p:nvPr/>
        </p:nvSpPr>
        <p:spPr>
          <a:xfrm xmlns:a="http://schemas.openxmlformats.org/drawingml/2006/main">
            <a:off x="628650" y="3848100"/>
            <a:ext cx="609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defPPr algn="ctr">
              <a:defRPr sz="1500" b="1" i="0">
                <a:solidFill>
                  <a:srgbClr val="FFFFFF"/>
                </a:solidFill>
                <a:latin typeface="Arial"/>
                <a:ea typeface="Arial"/>
                <a:cs typeface="Arial"/>
              </a:defRPr>
            </a:defPPr>
            <a:lvl1pPr algn="ctr">
              <a:buNone/>
              <a:defRPr sz="1500" b="1" i="0">
                <a:solidFill>
                  <a:srgbClr val="FFFFFF"/>
                </a:solidFill>
                <a:latin typeface="Arial"/>
                <a:ea typeface="Arial"/>
                <a:cs typeface="Arial"/>
              </a:defRPr>
            </a:lvl1pPr>
            <a:lvl2pPr algn="ctr">
              <a:buNone/>
              <a:defRPr sz="1500" b="1" i="0">
                <a:solidFill>
                  <a:srgbClr val="FFFFFF"/>
                </a:solidFill>
                <a:latin typeface="Arial"/>
                <a:ea typeface="Arial"/>
                <a:cs typeface="Arial"/>
              </a:defRPr>
            </a:lvl2pPr>
            <a:lvl3pPr algn="ctr">
              <a:buNone/>
              <a:defRPr sz="1500" b="1" i="0">
                <a:solidFill>
                  <a:srgbClr val="FFFFFF"/>
                </a:solidFill>
                <a:latin typeface="Arial"/>
                <a:ea typeface="Arial"/>
                <a:cs typeface="Arial"/>
              </a:defRPr>
            </a:lvl3pPr>
            <a:lvl4pPr algn="ctr">
              <a:buNone/>
              <a:defRPr sz="1500" b="1" i="0">
                <a:solidFill>
                  <a:srgbClr val="FFFFFF"/>
                </a:solidFill>
                <a:latin typeface="Arial"/>
                <a:ea typeface="Arial"/>
                <a:cs typeface="Arial"/>
              </a:defRPr>
            </a:lvl4pPr>
            <a:lvl5pPr algn="ctr">
              <a:buNone/>
              <a:defRPr sz="1500" b="1" i="0">
                <a:solidFill>
                  <a:srgbClr val="FFFFFF"/>
                </a:solidFill>
                <a:latin typeface="Arial"/>
                <a:ea typeface="Arial"/>
                <a:cs typeface="Arial"/>
              </a:defRPr>
            </a:lvl5pPr>
            <a:lvl6pPr algn="ctr">
              <a:buNone/>
              <a:defRPr sz="1500" b="1" i="0">
                <a:solidFill>
                  <a:srgbClr val="FFFFFF"/>
                </a:solidFill>
                <a:latin typeface="Arial"/>
                <a:ea typeface="Arial"/>
                <a:cs typeface="Arial"/>
              </a:defRPr>
            </a:lvl6pPr>
            <a:lvl7pPr algn="ctr">
              <a:buNone/>
              <a:defRPr sz="1500" b="1" i="0">
                <a:solidFill>
                  <a:srgbClr val="FFFFFF"/>
                </a:solidFill>
                <a:latin typeface="Arial"/>
                <a:ea typeface="Arial"/>
                <a:cs typeface="Arial"/>
              </a:defRPr>
            </a:lvl7pPr>
            <a:lvl8pPr algn="ctr">
              <a:buNone/>
              <a:defRPr sz="1500" b="1" i="0">
                <a:solidFill>
                  <a:srgbClr val="FFFFFF"/>
                </a:solidFill>
                <a:latin typeface="Arial"/>
                <a:ea typeface="Arial"/>
                <a:cs typeface="Arial"/>
              </a:defRPr>
            </a:lvl8pPr>
            <a:lvl9pPr algn="ctr">
              <a:buNone/>
              <a:defRPr sz="1500" b="1" i="0">
                <a:solidFill>
                  <a:srgbClr val="FFFFFF"/>
                </a:solidFill>
                <a:latin typeface="Arial"/>
                <a:ea typeface="Arial"/>
                <a:cs typeface="Arial"/>
              </a:defRPr>
            </a:lvl9pPr>
          </a:lstStyle>
          <a:p xmlns:a="http://schemas.openxmlformats.org/drawingml/2006/main">
            <a:pPr algn="ctr">
              <a:buNone/>
              <a:defRPr sz="1500" b="1" i="0">
                <a:solidFill>
                  <a:srgbClr val="FFFFFF"/>
                </a:solidFill>
                <a:latin typeface="Arial"/>
                <a:ea typeface="Arial"/>
                <a:cs typeface="Arial"/>
              </a:defRPr>
            </a:pPr>
            <a:r>
              <a:rPr sz="1500" b="1" i="0">
                <a:solidFill>
                  <a:srgbClr val="FFFFFF"/>
                </a:solidFill>
                <a:latin typeface="Arial"/>
                <a:ea typeface="Arial"/>
                <a:cs typeface="Arial"/>
              </a:rPr>
              <a:t>P2</a:t>
            </a:r>
          </a:p>
        </p:txBody>
      </p:sp>
      <p:sp>
        <p:nvSpPr>
          <p:cNvPr id="21" name="Rectangle 20">
            <a:extLst xmlns:a="http://schemas.openxmlformats.org/drawingml/2006/main">
              <a:ext uri="{FF2B5EF4-FFF2-40B4-BE49-F238E27FC236}">
                <a16:creationId xmlns:a16="http://schemas.microsoft.com/office/drawing/2014/main" id="{98139811-6B2E-402F-9D39-F88968CDEEDE}"/>
              </a:ext>
            </a:extLst>
          </p:cNvPr>
          <p:cNvSpPr>
            <a:spLocks xmlns:a="http://schemas.openxmlformats.org/drawingml/2006/main" noGrp="1"/>
          </p:cNvSpPr>
          <p:nvPr/>
        </p:nvSpPr>
        <p:spPr>
          <a:xfrm xmlns:a="http://schemas.openxmlformats.org/drawingml/2006/main">
            <a:off x="1524000" y="37338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00" b="1" i="0">
                <a:solidFill>
                  <a:srgbClr val="E84AAB"/>
                </a:solidFill>
                <a:latin typeface="Arial"/>
                <a:ea typeface="Arial"/>
                <a:cs typeface="Arial"/>
              </a:defRPr>
            </a:defPPr>
            <a:lvl1pPr algn="l">
              <a:buNone/>
              <a:defRPr sz="900" b="1" i="0">
                <a:solidFill>
                  <a:srgbClr val="E84AAB"/>
                </a:solidFill>
                <a:latin typeface="Arial"/>
                <a:ea typeface="Arial"/>
                <a:cs typeface="Arial"/>
              </a:defRPr>
            </a:lvl1pPr>
            <a:lvl2pPr algn="l">
              <a:buNone/>
              <a:defRPr sz="900" b="1" i="0">
                <a:solidFill>
                  <a:srgbClr val="E84AAB"/>
                </a:solidFill>
                <a:latin typeface="Arial"/>
                <a:ea typeface="Arial"/>
                <a:cs typeface="Arial"/>
              </a:defRPr>
            </a:lvl2pPr>
            <a:lvl3pPr algn="l">
              <a:buNone/>
              <a:defRPr sz="900" b="1" i="0">
                <a:solidFill>
                  <a:srgbClr val="E84AAB"/>
                </a:solidFill>
                <a:latin typeface="Arial"/>
                <a:ea typeface="Arial"/>
                <a:cs typeface="Arial"/>
              </a:defRPr>
            </a:lvl3pPr>
            <a:lvl4pPr algn="l">
              <a:buNone/>
              <a:defRPr sz="900" b="1" i="0">
                <a:solidFill>
                  <a:srgbClr val="E84AAB"/>
                </a:solidFill>
                <a:latin typeface="Arial"/>
                <a:ea typeface="Arial"/>
                <a:cs typeface="Arial"/>
              </a:defRPr>
            </a:lvl4pPr>
            <a:lvl5pPr algn="l">
              <a:buNone/>
              <a:defRPr sz="900" b="1" i="0">
                <a:solidFill>
                  <a:srgbClr val="E84AAB"/>
                </a:solidFill>
                <a:latin typeface="Arial"/>
                <a:ea typeface="Arial"/>
                <a:cs typeface="Arial"/>
              </a:defRPr>
            </a:lvl5pPr>
            <a:lvl6pPr algn="l">
              <a:buNone/>
              <a:defRPr sz="900" b="1" i="0">
                <a:solidFill>
                  <a:srgbClr val="E84AAB"/>
                </a:solidFill>
                <a:latin typeface="Arial"/>
                <a:ea typeface="Arial"/>
                <a:cs typeface="Arial"/>
              </a:defRPr>
            </a:lvl6pPr>
            <a:lvl7pPr algn="l">
              <a:buNone/>
              <a:defRPr sz="900" b="1" i="0">
                <a:solidFill>
                  <a:srgbClr val="E84AAB"/>
                </a:solidFill>
                <a:latin typeface="Arial"/>
                <a:ea typeface="Arial"/>
                <a:cs typeface="Arial"/>
              </a:defRPr>
            </a:lvl7pPr>
            <a:lvl8pPr algn="l">
              <a:buNone/>
              <a:defRPr sz="900" b="1" i="0">
                <a:solidFill>
                  <a:srgbClr val="E84AAB"/>
                </a:solidFill>
                <a:latin typeface="Arial"/>
                <a:ea typeface="Arial"/>
                <a:cs typeface="Arial"/>
              </a:defRPr>
            </a:lvl8pPr>
            <a:lvl9pPr algn="l">
              <a:buNone/>
              <a:defRPr sz="900" b="1" i="0">
                <a:solidFill>
                  <a:srgbClr val="E84AAB"/>
                </a:solidFill>
                <a:latin typeface="Arial"/>
                <a:ea typeface="Arial"/>
                <a:cs typeface="Arial"/>
              </a:defRPr>
            </a:lvl9pPr>
          </a:lstStyle>
          <a:p xmlns:a="http://schemas.openxmlformats.org/drawingml/2006/main">
            <a:pPr algn="l">
              <a:buNone/>
              <a:defRPr sz="900" b="1" i="0">
                <a:solidFill>
                  <a:srgbClr val="E84AAB"/>
                </a:solidFill>
                <a:latin typeface="Arial"/>
                <a:ea typeface="Arial"/>
                <a:cs typeface="Arial"/>
              </a:defRPr>
            </a:pPr>
            <a:r>
              <a:rPr sz="900" b="1" i="0">
                <a:solidFill>
                  <a:srgbClr val="E84AAB"/>
                </a:solidFill>
                <a:latin typeface="Arial"/>
                <a:ea typeface="Arial"/>
                <a:cs typeface="Arial"/>
              </a:rPr>
              <a:t>MAJOR</a:t>
            </a:r>
          </a:p>
        </p:txBody>
      </p:sp>
      <p:sp>
        <p:nvSpPr>
          <p:cNvPr id="22" name="Rectangle 21">
            <a:extLst xmlns:a="http://schemas.openxmlformats.org/drawingml/2006/main">
              <a:ext uri="{FF2B5EF4-FFF2-40B4-BE49-F238E27FC236}">
                <a16:creationId xmlns:a16="http://schemas.microsoft.com/office/drawing/2014/main" id="{2A3D41D4-C8DC-4869-A7D5-EC511D7E7134}"/>
              </a:ext>
            </a:extLst>
          </p:cNvPr>
          <p:cNvSpPr>
            <a:spLocks xmlns:a="http://schemas.openxmlformats.org/drawingml/2006/main" noGrp="1"/>
          </p:cNvSpPr>
          <p:nvPr/>
        </p:nvSpPr>
        <p:spPr>
          <a:xfrm xmlns:a="http://schemas.openxmlformats.org/drawingml/2006/main">
            <a:off x="1524000" y="39814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Data, provenance, candidates, evidence</a:t>
            </a:r>
          </a:p>
        </p:txBody>
      </p:sp>
      <p:sp>
        <p:nvSpPr>
          <p:cNvPr id="23" name="Rectangle 22">
            <a:extLst xmlns:a="http://schemas.openxmlformats.org/drawingml/2006/main">
              <a:ext uri="{FF2B5EF4-FFF2-40B4-BE49-F238E27FC236}">
                <a16:creationId xmlns:a16="http://schemas.microsoft.com/office/drawing/2014/main" id="{3E8880A2-DF8F-4DFE-BDE2-0FD231D701D0}"/>
              </a:ext>
            </a:extLst>
          </p:cNvPr>
          <p:cNvSpPr>
            <a:spLocks xmlns:a="http://schemas.openxmlformats.org/drawingml/2006/main" noGrp="1"/>
          </p:cNvSpPr>
          <p:nvPr/>
        </p:nvSpPr>
        <p:spPr>
          <a:xfrm xmlns:a="http://schemas.openxmlformats.org/drawingml/2006/main">
            <a:off x="7239000" y="394335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r">
              <a:defRPr sz="1350" b="0" i="0">
                <a:solidFill>
                  <a:srgbClr val="AFC0B8"/>
                </a:solidFill>
                <a:latin typeface="Arial"/>
                <a:ea typeface="Arial"/>
                <a:cs typeface="Arial"/>
              </a:defRPr>
            </a:defPPr>
            <a:lvl1pPr algn="r">
              <a:buNone/>
              <a:defRPr sz="1350" b="0" i="0">
                <a:solidFill>
                  <a:srgbClr val="AFC0B8"/>
                </a:solidFill>
                <a:latin typeface="Arial"/>
                <a:ea typeface="Arial"/>
                <a:cs typeface="Arial"/>
              </a:defRPr>
            </a:lvl1pPr>
            <a:lvl2pPr algn="r">
              <a:buNone/>
              <a:defRPr sz="1350" b="0" i="0">
                <a:solidFill>
                  <a:srgbClr val="AFC0B8"/>
                </a:solidFill>
                <a:latin typeface="Arial"/>
                <a:ea typeface="Arial"/>
                <a:cs typeface="Arial"/>
              </a:defRPr>
            </a:lvl2pPr>
            <a:lvl3pPr algn="r">
              <a:buNone/>
              <a:defRPr sz="1350" b="0" i="0">
                <a:solidFill>
                  <a:srgbClr val="AFC0B8"/>
                </a:solidFill>
                <a:latin typeface="Arial"/>
                <a:ea typeface="Arial"/>
                <a:cs typeface="Arial"/>
              </a:defRPr>
            </a:lvl3pPr>
            <a:lvl4pPr algn="r">
              <a:buNone/>
              <a:defRPr sz="1350" b="0" i="0">
                <a:solidFill>
                  <a:srgbClr val="AFC0B8"/>
                </a:solidFill>
                <a:latin typeface="Arial"/>
                <a:ea typeface="Arial"/>
                <a:cs typeface="Arial"/>
              </a:defRPr>
            </a:lvl4pPr>
            <a:lvl5pPr algn="r">
              <a:buNone/>
              <a:defRPr sz="1350" b="0" i="0">
                <a:solidFill>
                  <a:srgbClr val="AFC0B8"/>
                </a:solidFill>
                <a:latin typeface="Arial"/>
                <a:ea typeface="Arial"/>
                <a:cs typeface="Arial"/>
              </a:defRPr>
            </a:lvl5pPr>
            <a:lvl6pPr algn="r">
              <a:buNone/>
              <a:defRPr sz="1350" b="0" i="0">
                <a:solidFill>
                  <a:srgbClr val="AFC0B8"/>
                </a:solidFill>
                <a:latin typeface="Arial"/>
                <a:ea typeface="Arial"/>
                <a:cs typeface="Arial"/>
              </a:defRPr>
            </a:lvl6pPr>
            <a:lvl7pPr algn="r">
              <a:buNone/>
              <a:defRPr sz="1350" b="0" i="0">
                <a:solidFill>
                  <a:srgbClr val="AFC0B8"/>
                </a:solidFill>
                <a:latin typeface="Arial"/>
                <a:ea typeface="Arial"/>
                <a:cs typeface="Arial"/>
              </a:defRPr>
            </a:lvl7pPr>
            <a:lvl8pPr algn="r">
              <a:buNone/>
              <a:defRPr sz="1350" b="0" i="0">
                <a:solidFill>
                  <a:srgbClr val="AFC0B8"/>
                </a:solidFill>
                <a:latin typeface="Arial"/>
                <a:ea typeface="Arial"/>
                <a:cs typeface="Arial"/>
              </a:defRPr>
            </a:lvl8pPr>
            <a:lvl9pPr algn="r">
              <a:buNone/>
              <a:defRPr sz="1350" b="0" i="0">
                <a:solidFill>
                  <a:srgbClr val="AFC0B8"/>
                </a:solidFill>
                <a:latin typeface="Arial"/>
                <a:ea typeface="Arial"/>
                <a:cs typeface="Arial"/>
              </a:defRPr>
            </a:lvl9pPr>
          </a:lstStyle>
          <a:p xmlns:a="http://schemas.openxmlformats.org/drawingml/2006/main">
            <a:pPr algn="r">
              <a:buNone/>
              <a:defRPr sz="1350" b="0" i="0">
                <a:solidFill>
                  <a:srgbClr val="AFC0B8"/>
                </a:solidFill>
                <a:latin typeface="Arial"/>
                <a:ea typeface="Arial"/>
                <a:cs typeface="Arial"/>
              </a:defRPr>
            </a:pPr>
            <a:r>
              <a:rPr sz="1350" b="0" i="0">
                <a:solidFill>
                  <a:srgbClr val="AFC0B8"/>
                </a:solidFill>
                <a:latin typeface="Arial"/>
                <a:ea typeface="Arial"/>
                <a:cs typeface="Arial"/>
              </a:rPr>
              <a:t>19 min  ·  Slides 13–20, 23–30</a:t>
            </a:r>
          </a:p>
        </p:txBody>
      </p:sp>
      <p:sp>
        <p:nvSpPr>
          <p:cNvPr id="24" name="Straight Connector 23">
            <a:extLst xmlns:a="http://schemas.openxmlformats.org/drawingml/2006/main">
              <a:ext uri="{FF2B5EF4-FFF2-40B4-BE49-F238E27FC236}">
                <a16:creationId xmlns:a16="http://schemas.microsoft.com/office/drawing/2014/main" id="{2D4D4D2B-E35E-4F74-AD6B-5BB3E006A75F}"/>
              </a:ext>
            </a:extLst>
          </p:cNvPr>
          <p:cNvSpPr>
            <a:spLocks xmlns:a="http://schemas.openxmlformats.org/drawingml/2006/main" noGrp="1"/>
          </p:cNvSpPr>
          <p:nvPr/>
        </p:nvSpPr>
        <p:spPr>
          <a:xfrm xmlns:a="http://schemas.openxmlformats.org/drawingml/2006/main">
            <a:off x="1524000" y="4514850"/>
            <a:ext cx="9525000"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5" name="Oval 24">
            <a:extLst xmlns:a="http://schemas.openxmlformats.org/drawingml/2006/main">
              <a:ext uri="{FF2B5EF4-FFF2-40B4-BE49-F238E27FC236}">
                <a16:creationId xmlns:a16="http://schemas.microsoft.com/office/drawing/2014/main" id="{F3F4C80C-89B7-472F-9A58-7BC9D0F6B1B6}"/>
              </a:ext>
            </a:extLst>
          </p:cNvPr>
          <p:cNvSpPr>
            <a:spLocks xmlns:a="http://schemas.openxmlformats.org/drawingml/2006/main" noGrp="1"/>
          </p:cNvSpPr>
          <p:nvPr/>
        </p:nvSpPr>
        <p:spPr>
          <a:xfrm xmlns:a="http://schemas.openxmlformats.org/drawingml/2006/main">
            <a:off x="628650" y="4724400"/>
            <a:ext cx="609600" cy="60960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6" name="Rectangle 25">
            <a:extLst xmlns:a="http://schemas.openxmlformats.org/drawingml/2006/main">
              <a:ext uri="{FF2B5EF4-FFF2-40B4-BE49-F238E27FC236}">
                <a16:creationId xmlns:a16="http://schemas.microsoft.com/office/drawing/2014/main" id="{3B4E3F0A-FE11-48E8-AD02-8D72B2249068}"/>
              </a:ext>
            </a:extLst>
          </p:cNvPr>
          <p:cNvSpPr>
            <a:spLocks xmlns:a="http://schemas.openxmlformats.org/drawingml/2006/main" noGrp="1"/>
          </p:cNvSpPr>
          <p:nvPr/>
        </p:nvSpPr>
        <p:spPr>
          <a:xfrm xmlns:a="http://schemas.openxmlformats.org/drawingml/2006/main">
            <a:off x="628650" y="4838700"/>
            <a:ext cx="609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defPPr algn="ctr">
              <a:defRPr sz="1500" b="1" i="0">
                <a:solidFill>
                  <a:srgbClr val="FFFFFF"/>
                </a:solidFill>
                <a:latin typeface="Arial"/>
                <a:ea typeface="Arial"/>
                <a:cs typeface="Arial"/>
              </a:defRPr>
            </a:defPPr>
            <a:lvl1pPr algn="ctr">
              <a:buNone/>
              <a:defRPr sz="1500" b="1" i="0">
                <a:solidFill>
                  <a:srgbClr val="FFFFFF"/>
                </a:solidFill>
                <a:latin typeface="Arial"/>
                <a:ea typeface="Arial"/>
                <a:cs typeface="Arial"/>
              </a:defRPr>
            </a:lvl1pPr>
            <a:lvl2pPr algn="ctr">
              <a:buNone/>
              <a:defRPr sz="1500" b="1" i="0">
                <a:solidFill>
                  <a:srgbClr val="FFFFFF"/>
                </a:solidFill>
                <a:latin typeface="Arial"/>
                <a:ea typeface="Arial"/>
                <a:cs typeface="Arial"/>
              </a:defRPr>
            </a:lvl2pPr>
            <a:lvl3pPr algn="ctr">
              <a:buNone/>
              <a:defRPr sz="1500" b="1" i="0">
                <a:solidFill>
                  <a:srgbClr val="FFFFFF"/>
                </a:solidFill>
                <a:latin typeface="Arial"/>
                <a:ea typeface="Arial"/>
                <a:cs typeface="Arial"/>
              </a:defRPr>
            </a:lvl3pPr>
            <a:lvl4pPr algn="ctr">
              <a:buNone/>
              <a:defRPr sz="1500" b="1" i="0">
                <a:solidFill>
                  <a:srgbClr val="FFFFFF"/>
                </a:solidFill>
                <a:latin typeface="Arial"/>
                <a:ea typeface="Arial"/>
                <a:cs typeface="Arial"/>
              </a:defRPr>
            </a:lvl4pPr>
            <a:lvl5pPr algn="ctr">
              <a:buNone/>
              <a:defRPr sz="1500" b="1" i="0">
                <a:solidFill>
                  <a:srgbClr val="FFFFFF"/>
                </a:solidFill>
                <a:latin typeface="Arial"/>
                <a:ea typeface="Arial"/>
                <a:cs typeface="Arial"/>
              </a:defRPr>
            </a:lvl5pPr>
            <a:lvl6pPr algn="ctr">
              <a:buNone/>
              <a:defRPr sz="1500" b="1" i="0">
                <a:solidFill>
                  <a:srgbClr val="FFFFFF"/>
                </a:solidFill>
                <a:latin typeface="Arial"/>
                <a:ea typeface="Arial"/>
                <a:cs typeface="Arial"/>
              </a:defRPr>
            </a:lvl6pPr>
            <a:lvl7pPr algn="ctr">
              <a:buNone/>
              <a:defRPr sz="1500" b="1" i="0">
                <a:solidFill>
                  <a:srgbClr val="FFFFFF"/>
                </a:solidFill>
                <a:latin typeface="Arial"/>
                <a:ea typeface="Arial"/>
                <a:cs typeface="Arial"/>
              </a:defRPr>
            </a:lvl7pPr>
            <a:lvl8pPr algn="ctr">
              <a:buNone/>
              <a:defRPr sz="1500" b="1" i="0">
                <a:solidFill>
                  <a:srgbClr val="FFFFFF"/>
                </a:solidFill>
                <a:latin typeface="Arial"/>
                <a:ea typeface="Arial"/>
                <a:cs typeface="Arial"/>
              </a:defRPr>
            </a:lvl8pPr>
            <a:lvl9pPr algn="ctr">
              <a:buNone/>
              <a:defRPr sz="1500" b="1" i="0">
                <a:solidFill>
                  <a:srgbClr val="FFFFFF"/>
                </a:solidFill>
                <a:latin typeface="Arial"/>
                <a:ea typeface="Arial"/>
                <a:cs typeface="Arial"/>
              </a:defRPr>
            </a:lvl9pPr>
          </a:lstStyle>
          <a:p xmlns:a="http://schemas.openxmlformats.org/drawingml/2006/main">
            <a:pPr algn="ctr">
              <a:buNone/>
              <a:defRPr sz="1500" b="1" i="0">
                <a:solidFill>
                  <a:srgbClr val="FFFFFF"/>
                </a:solidFill>
                <a:latin typeface="Arial"/>
                <a:ea typeface="Arial"/>
                <a:cs typeface="Arial"/>
              </a:defRPr>
            </a:pPr>
            <a:r>
              <a:rPr sz="1500" b="1" i="0">
                <a:solidFill>
                  <a:srgbClr val="FFFFFF"/>
                </a:solidFill>
                <a:latin typeface="Arial"/>
                <a:ea typeface="Arial"/>
                <a:cs typeface="Arial"/>
              </a:rPr>
              <a:t>P4</a:t>
            </a:r>
          </a:p>
        </p:txBody>
      </p:sp>
      <p:sp>
        <p:nvSpPr>
          <p:cNvPr id="27" name="Rectangle 26">
            <a:extLst xmlns:a="http://schemas.openxmlformats.org/drawingml/2006/main">
              <a:ext uri="{FF2B5EF4-FFF2-40B4-BE49-F238E27FC236}">
                <a16:creationId xmlns:a16="http://schemas.microsoft.com/office/drawing/2014/main" id="{E7238AA1-863C-4315-8AA4-F69F25DB0425}"/>
              </a:ext>
            </a:extLst>
          </p:cNvPr>
          <p:cNvSpPr>
            <a:spLocks xmlns:a="http://schemas.openxmlformats.org/drawingml/2006/main" noGrp="1"/>
          </p:cNvSpPr>
          <p:nvPr/>
        </p:nvSpPr>
        <p:spPr>
          <a:xfrm xmlns:a="http://schemas.openxmlformats.org/drawingml/2006/main">
            <a:off x="1524000" y="47244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MINOR</a:t>
            </a:r>
          </a:p>
        </p:txBody>
      </p:sp>
      <p:sp>
        <p:nvSpPr>
          <p:cNvPr id="28" name="Rectangle 27">
            <a:extLst xmlns:a="http://schemas.openxmlformats.org/drawingml/2006/main">
              <a:ext uri="{FF2B5EF4-FFF2-40B4-BE49-F238E27FC236}">
                <a16:creationId xmlns:a16="http://schemas.microsoft.com/office/drawing/2014/main" id="{994DE8C3-FD12-4451-831E-D7B27D7E5C4E}"/>
              </a:ext>
            </a:extLst>
          </p:cNvPr>
          <p:cNvSpPr>
            <a:spLocks xmlns:a="http://schemas.openxmlformats.org/drawingml/2006/main" noGrp="1"/>
          </p:cNvSpPr>
          <p:nvPr/>
        </p:nvSpPr>
        <p:spPr>
          <a:xfrm xmlns:a="http://schemas.openxmlformats.org/drawingml/2006/main">
            <a:off x="1524000" y="49720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Interface, readiness, references, conclusion</a:t>
            </a:r>
          </a:p>
        </p:txBody>
      </p:sp>
      <p:sp>
        <p:nvSpPr>
          <p:cNvPr id="29" name="Rectangle 28">
            <a:extLst xmlns:a="http://schemas.openxmlformats.org/drawingml/2006/main">
              <a:ext uri="{FF2B5EF4-FFF2-40B4-BE49-F238E27FC236}">
                <a16:creationId xmlns:a16="http://schemas.microsoft.com/office/drawing/2014/main" id="{E8379DC8-CE2F-4556-A3B3-3A32CEDB5E02}"/>
              </a:ext>
            </a:extLst>
          </p:cNvPr>
          <p:cNvSpPr>
            <a:spLocks xmlns:a="http://schemas.openxmlformats.org/drawingml/2006/main" noGrp="1"/>
          </p:cNvSpPr>
          <p:nvPr/>
        </p:nvSpPr>
        <p:spPr>
          <a:xfrm xmlns:a="http://schemas.openxmlformats.org/drawingml/2006/main">
            <a:off x="7239000" y="493395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r">
              <a:defRPr sz="1350" b="0" i="0">
                <a:solidFill>
                  <a:srgbClr val="AFC0B8"/>
                </a:solidFill>
                <a:latin typeface="Arial"/>
                <a:ea typeface="Arial"/>
                <a:cs typeface="Arial"/>
              </a:defRPr>
            </a:defPPr>
            <a:lvl1pPr algn="r">
              <a:buNone/>
              <a:defRPr sz="1350" b="0" i="0">
                <a:solidFill>
                  <a:srgbClr val="AFC0B8"/>
                </a:solidFill>
                <a:latin typeface="Arial"/>
                <a:ea typeface="Arial"/>
                <a:cs typeface="Arial"/>
              </a:defRPr>
            </a:lvl1pPr>
            <a:lvl2pPr algn="r">
              <a:buNone/>
              <a:defRPr sz="1350" b="0" i="0">
                <a:solidFill>
                  <a:srgbClr val="AFC0B8"/>
                </a:solidFill>
                <a:latin typeface="Arial"/>
                <a:ea typeface="Arial"/>
                <a:cs typeface="Arial"/>
              </a:defRPr>
            </a:lvl2pPr>
            <a:lvl3pPr algn="r">
              <a:buNone/>
              <a:defRPr sz="1350" b="0" i="0">
                <a:solidFill>
                  <a:srgbClr val="AFC0B8"/>
                </a:solidFill>
                <a:latin typeface="Arial"/>
                <a:ea typeface="Arial"/>
                <a:cs typeface="Arial"/>
              </a:defRPr>
            </a:lvl3pPr>
            <a:lvl4pPr algn="r">
              <a:buNone/>
              <a:defRPr sz="1350" b="0" i="0">
                <a:solidFill>
                  <a:srgbClr val="AFC0B8"/>
                </a:solidFill>
                <a:latin typeface="Arial"/>
                <a:ea typeface="Arial"/>
                <a:cs typeface="Arial"/>
              </a:defRPr>
            </a:lvl4pPr>
            <a:lvl5pPr algn="r">
              <a:buNone/>
              <a:defRPr sz="1350" b="0" i="0">
                <a:solidFill>
                  <a:srgbClr val="AFC0B8"/>
                </a:solidFill>
                <a:latin typeface="Arial"/>
                <a:ea typeface="Arial"/>
                <a:cs typeface="Arial"/>
              </a:defRPr>
            </a:lvl5pPr>
            <a:lvl6pPr algn="r">
              <a:buNone/>
              <a:defRPr sz="1350" b="0" i="0">
                <a:solidFill>
                  <a:srgbClr val="AFC0B8"/>
                </a:solidFill>
                <a:latin typeface="Arial"/>
                <a:ea typeface="Arial"/>
                <a:cs typeface="Arial"/>
              </a:defRPr>
            </a:lvl6pPr>
            <a:lvl7pPr algn="r">
              <a:buNone/>
              <a:defRPr sz="1350" b="0" i="0">
                <a:solidFill>
                  <a:srgbClr val="AFC0B8"/>
                </a:solidFill>
                <a:latin typeface="Arial"/>
                <a:ea typeface="Arial"/>
                <a:cs typeface="Arial"/>
              </a:defRPr>
            </a:lvl7pPr>
            <a:lvl8pPr algn="r">
              <a:buNone/>
              <a:defRPr sz="1350" b="0" i="0">
                <a:solidFill>
                  <a:srgbClr val="AFC0B8"/>
                </a:solidFill>
                <a:latin typeface="Arial"/>
                <a:ea typeface="Arial"/>
                <a:cs typeface="Arial"/>
              </a:defRPr>
            </a:lvl8pPr>
            <a:lvl9pPr algn="r">
              <a:buNone/>
              <a:defRPr sz="1350" b="0" i="0">
                <a:solidFill>
                  <a:srgbClr val="AFC0B8"/>
                </a:solidFill>
                <a:latin typeface="Arial"/>
                <a:ea typeface="Arial"/>
                <a:cs typeface="Arial"/>
              </a:defRPr>
            </a:lvl9pPr>
          </a:lstStyle>
          <a:p xmlns:a="http://schemas.openxmlformats.org/drawingml/2006/main">
            <a:pPr algn="r">
              <a:buNone/>
              <a:defRPr sz="1350" b="0" i="0">
                <a:solidFill>
                  <a:srgbClr val="AFC0B8"/>
                </a:solidFill>
                <a:latin typeface="Arial"/>
                <a:ea typeface="Arial"/>
                <a:cs typeface="Arial"/>
              </a:defRPr>
            </a:pPr>
            <a:r>
              <a:rPr sz="1350" b="0" i="0">
                <a:solidFill>
                  <a:srgbClr val="AFC0B8"/>
                </a:solidFill>
                <a:latin typeface="Arial"/>
                <a:ea typeface="Arial"/>
                <a:cs typeface="Arial"/>
              </a:rPr>
              <a:t>6 min  ·  Slides 21–22, 31–34</a:t>
            </a:r>
          </a:p>
        </p:txBody>
      </p:sp>
    </p:spTree>
    <p:extLst>
      <p:ext uri="{BB962C8B-B14F-4D97-AF65-F5344CB8AC3E}">
        <p14:creationId xmlns:p14="http://schemas.microsoft.com/office/powerpoint/2010/main" val="1778448529"/>
      </p:ext>
    </p:extLst>
  </p:cSld>
</p:sld>
</file>

<file path=ppt/slides/slide3.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0" name="Rectangle 19">
            <a:extLst xmlns:a="http://schemas.openxmlformats.org/drawingml/2006/main">
              <a:ext uri="{FF2B5EF4-FFF2-40B4-BE49-F238E27FC236}">
                <a16:creationId xmlns:a16="http://schemas.microsoft.com/office/drawing/2014/main" id="{883FACBE-B6E8-4149-AD37-A6B4D55B6A3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02D4F690-002D-4E26-87FC-EB9B0D20B8A9}"/>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B3FC6CC-A33E-4654-AC52-D9D643960084}"/>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PROBLEM</a:t>
            </a:r>
          </a:p>
        </p:txBody>
      </p:sp>
      <p:sp>
        <p:nvSpPr>
          <p:cNvPr id="4" name="Rectangle 3">
            <a:extLst xmlns:a="http://schemas.openxmlformats.org/drawingml/2006/main">
              <a:ext uri="{FF2B5EF4-FFF2-40B4-BE49-F238E27FC236}">
                <a16:creationId xmlns:a16="http://schemas.microsoft.com/office/drawing/2014/main" id="{D814E881-F13F-48FD-BDEE-D4363A1DCD7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Chen, Zaro &amp; Shen, Adv Drug Deliv Rev (2013), DOI 10.1016/j.addr.2012.09.039</a:t>
            </a:r>
          </a:p>
        </p:txBody>
      </p:sp>
      <p:sp>
        <p:nvSpPr>
          <p:cNvPr id="5" name="Rectangle 4">
            <a:extLst xmlns:a="http://schemas.openxmlformats.org/drawingml/2006/main">
              <a:ext uri="{FF2B5EF4-FFF2-40B4-BE49-F238E27FC236}">
                <a16:creationId xmlns:a16="http://schemas.microsoft.com/office/drawing/2014/main" id="{1933EC6B-5FDD-4814-97CB-D6D6372B9084}"/>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03</a:t>
            </a:r>
          </a:p>
        </p:txBody>
      </p:sp>
      <p:sp>
        <p:nvSpPr>
          <p:cNvPr id="6" name="Rectangle 5">
            <a:extLst xmlns:a="http://schemas.openxmlformats.org/drawingml/2006/main">
              <a:ext uri="{FF2B5EF4-FFF2-40B4-BE49-F238E27FC236}">
                <a16:creationId xmlns:a16="http://schemas.microsoft.com/office/drawing/2014/main" id="{322D8915-8A09-4F50-8C44-8BD7B02D0F9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Linker choice changes the fusion construct</a:t>
            </a:r>
          </a:p>
        </p:txBody>
      </p:sp>
      <p:sp>
        <p:nvSpPr>
          <p:cNvPr id="7" name="Rectangle 6">
            <a:extLst xmlns:a="http://schemas.openxmlformats.org/drawingml/2006/main">
              <a:ext uri="{FF2B5EF4-FFF2-40B4-BE49-F238E27FC236}">
                <a16:creationId xmlns:a16="http://schemas.microsoft.com/office/drawing/2014/main" id="{AA29C8ED-6FF9-4742-97A3-C08F069AFB5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Sequence and length can influence folding, separation, stability, and function</a:t>
            </a:r>
          </a:p>
        </p:txBody>
      </p:sp>
      <p:sp>
        <p:nvSpPr>
          <p:cNvPr id="8" name="Rectangle 7">
            <a:extLst xmlns:a="http://schemas.openxmlformats.org/drawingml/2006/main">
              <a:ext uri="{FF2B5EF4-FFF2-40B4-BE49-F238E27FC236}">
                <a16:creationId xmlns:a16="http://schemas.microsoft.com/office/drawing/2014/main" id="{996F5E90-7985-4E75-A2B5-34E85D60EEA4}"/>
              </a:ext>
            </a:extLst>
          </p:cNvPr>
          <p:cNvSpPr>
            <a:spLocks xmlns:a="http://schemas.openxmlformats.org/drawingml/2006/main" noGrp="1"/>
          </p:cNvSpPr>
          <p:nvPr/>
        </p:nvSpPr>
        <p:spPr>
          <a:xfrm xmlns:a="http://schemas.openxmlformats.org/drawingml/2006/main">
            <a:off x="895350" y="21526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425" b="1" i="0">
                <a:solidFill>
                  <a:srgbClr val="4E9BEC"/>
                </a:solidFill>
                <a:latin typeface="Arial"/>
                <a:ea typeface="Arial"/>
                <a:cs typeface="Arial"/>
              </a:defRPr>
            </a:defPPr>
            <a:lvl1pPr algn="ctr">
              <a:buNone/>
              <a:defRPr sz="1425" b="1" i="0">
                <a:solidFill>
                  <a:srgbClr val="4E9BEC"/>
                </a:solidFill>
                <a:latin typeface="Arial"/>
                <a:ea typeface="Arial"/>
                <a:cs typeface="Arial"/>
              </a:defRPr>
            </a:lvl1pPr>
            <a:lvl2pPr algn="ctr">
              <a:buNone/>
              <a:defRPr sz="1425" b="1" i="0">
                <a:solidFill>
                  <a:srgbClr val="4E9BEC"/>
                </a:solidFill>
                <a:latin typeface="Arial"/>
                <a:ea typeface="Arial"/>
                <a:cs typeface="Arial"/>
              </a:defRPr>
            </a:lvl2pPr>
            <a:lvl3pPr algn="ctr">
              <a:buNone/>
              <a:defRPr sz="1425" b="1" i="0">
                <a:solidFill>
                  <a:srgbClr val="4E9BEC"/>
                </a:solidFill>
                <a:latin typeface="Arial"/>
                <a:ea typeface="Arial"/>
                <a:cs typeface="Arial"/>
              </a:defRPr>
            </a:lvl3pPr>
            <a:lvl4pPr algn="ctr">
              <a:buNone/>
              <a:defRPr sz="1425" b="1" i="0">
                <a:solidFill>
                  <a:srgbClr val="4E9BEC"/>
                </a:solidFill>
                <a:latin typeface="Arial"/>
                <a:ea typeface="Arial"/>
                <a:cs typeface="Arial"/>
              </a:defRPr>
            </a:lvl4pPr>
            <a:lvl5pPr algn="ctr">
              <a:buNone/>
              <a:defRPr sz="1425" b="1" i="0">
                <a:solidFill>
                  <a:srgbClr val="4E9BEC"/>
                </a:solidFill>
                <a:latin typeface="Arial"/>
                <a:ea typeface="Arial"/>
                <a:cs typeface="Arial"/>
              </a:defRPr>
            </a:lvl5pPr>
            <a:lvl6pPr algn="ctr">
              <a:buNone/>
              <a:defRPr sz="1425" b="1" i="0">
                <a:solidFill>
                  <a:srgbClr val="4E9BEC"/>
                </a:solidFill>
                <a:latin typeface="Arial"/>
                <a:ea typeface="Arial"/>
                <a:cs typeface="Arial"/>
              </a:defRPr>
            </a:lvl6pPr>
            <a:lvl7pPr algn="ctr">
              <a:buNone/>
              <a:defRPr sz="1425" b="1" i="0">
                <a:solidFill>
                  <a:srgbClr val="4E9BEC"/>
                </a:solidFill>
                <a:latin typeface="Arial"/>
                <a:ea typeface="Arial"/>
                <a:cs typeface="Arial"/>
              </a:defRPr>
            </a:lvl7pPr>
            <a:lvl8pPr algn="ctr">
              <a:buNone/>
              <a:defRPr sz="1425" b="1" i="0">
                <a:solidFill>
                  <a:srgbClr val="4E9BEC"/>
                </a:solidFill>
                <a:latin typeface="Arial"/>
                <a:ea typeface="Arial"/>
                <a:cs typeface="Arial"/>
              </a:defRPr>
            </a:lvl8pPr>
            <a:lvl9pPr algn="ctr">
              <a:buNone/>
              <a:defRPr sz="1425" b="1" i="0">
                <a:solidFill>
                  <a:srgbClr val="4E9BEC"/>
                </a:solidFill>
                <a:latin typeface="Arial"/>
                <a:ea typeface="Arial"/>
                <a:cs typeface="Arial"/>
              </a:defRPr>
            </a:lvl9pPr>
          </a:lstStyle>
          <a:p xmlns:a="http://schemas.openxmlformats.org/drawingml/2006/main">
            <a:pPr algn="ctr">
              <a:buNone/>
              <a:defRPr sz="1425" b="1" i="0">
                <a:solidFill>
                  <a:srgbClr val="4E9BEC"/>
                </a:solidFill>
                <a:latin typeface="Arial"/>
                <a:ea typeface="Arial"/>
                <a:cs typeface="Arial"/>
              </a:defRPr>
            </a:pPr>
            <a:r>
              <a:rPr sz="1425" b="1" i="0">
                <a:solidFill>
                  <a:srgbClr val="4E9BEC"/>
                </a:solidFill>
                <a:latin typeface="Arial"/>
                <a:ea typeface="Arial"/>
                <a:cs typeface="Arial"/>
              </a:rPr>
              <a:t>DOMAIN A</a:t>
            </a:r>
          </a:p>
        </p:txBody>
      </p:sp>
      <p:sp>
        <p:nvSpPr>
          <p:cNvPr id="9" name="Rectangle: Rounded Corners 8">
            <a:extLst xmlns:a="http://schemas.openxmlformats.org/drawingml/2006/main">
              <a:ext uri="{FF2B5EF4-FFF2-40B4-BE49-F238E27FC236}">
                <a16:creationId xmlns:a16="http://schemas.microsoft.com/office/drawing/2014/main" id="{624E0F32-487A-4624-8545-E20C878EE9E1}"/>
              </a:ext>
            </a:extLst>
          </p:cNvPr>
          <p:cNvSpPr>
            <a:spLocks xmlns:a="http://schemas.openxmlformats.org/drawingml/2006/main" noGrp="1"/>
          </p:cNvSpPr>
          <p:nvPr/>
        </p:nvSpPr>
        <p:spPr>
          <a:xfrm xmlns:a="http://schemas.openxmlformats.org/drawingml/2006/main">
            <a:off x="723900" y="2619375"/>
            <a:ext cx="2667000" cy="1028700"/>
          </a:xfrm>
          <a:prstGeom xmlns:a="http://schemas.openxmlformats.org/drawingml/2006/main" prst="roundRect">
            <a:avLst>
              <a:gd name="adj" fmla="val 11111"/>
            </a:avLst>
          </a:prstGeom>
          <a:solidFill xmlns:a="http://schemas.openxmlformats.org/drawingml/2006/main">
            <a:srgbClr val="DDEBFA"/>
          </a:solidFill>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FAC3371D-2804-49BF-8FC8-C99A36B40DA5}"/>
              </a:ext>
            </a:extLst>
          </p:cNvPr>
          <p:cNvSpPr>
            <a:spLocks xmlns:a="http://schemas.openxmlformats.org/drawingml/2006/main" noGrp="1"/>
          </p:cNvSpPr>
          <p:nvPr/>
        </p:nvSpPr>
        <p:spPr>
          <a:xfrm xmlns:a="http://schemas.openxmlformats.org/drawingml/2006/main">
            <a:off x="914400" y="29146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725" b="1" i="0">
                <a:solidFill>
                  <a:srgbClr val="4E9BEC"/>
                </a:solidFill>
                <a:latin typeface="Arial"/>
                <a:ea typeface="Arial"/>
                <a:cs typeface="Arial"/>
              </a:defRPr>
            </a:defPPr>
            <a:lvl1pPr algn="ctr">
              <a:buNone/>
              <a:defRPr sz="1725" b="1" i="0">
                <a:solidFill>
                  <a:srgbClr val="4E9BEC"/>
                </a:solidFill>
                <a:latin typeface="Arial"/>
                <a:ea typeface="Arial"/>
                <a:cs typeface="Arial"/>
              </a:defRPr>
            </a:lvl1pPr>
            <a:lvl2pPr algn="ctr">
              <a:buNone/>
              <a:defRPr sz="1725" b="1" i="0">
                <a:solidFill>
                  <a:srgbClr val="4E9BEC"/>
                </a:solidFill>
                <a:latin typeface="Arial"/>
                <a:ea typeface="Arial"/>
                <a:cs typeface="Arial"/>
              </a:defRPr>
            </a:lvl2pPr>
            <a:lvl3pPr algn="ctr">
              <a:buNone/>
              <a:defRPr sz="1725" b="1" i="0">
                <a:solidFill>
                  <a:srgbClr val="4E9BEC"/>
                </a:solidFill>
                <a:latin typeface="Arial"/>
                <a:ea typeface="Arial"/>
                <a:cs typeface="Arial"/>
              </a:defRPr>
            </a:lvl3pPr>
            <a:lvl4pPr algn="ctr">
              <a:buNone/>
              <a:defRPr sz="1725" b="1" i="0">
                <a:solidFill>
                  <a:srgbClr val="4E9BEC"/>
                </a:solidFill>
                <a:latin typeface="Arial"/>
                <a:ea typeface="Arial"/>
                <a:cs typeface="Arial"/>
              </a:defRPr>
            </a:lvl4pPr>
            <a:lvl5pPr algn="ctr">
              <a:buNone/>
              <a:defRPr sz="1725" b="1" i="0">
                <a:solidFill>
                  <a:srgbClr val="4E9BEC"/>
                </a:solidFill>
                <a:latin typeface="Arial"/>
                <a:ea typeface="Arial"/>
                <a:cs typeface="Arial"/>
              </a:defRPr>
            </a:lvl5pPr>
            <a:lvl6pPr algn="ctr">
              <a:buNone/>
              <a:defRPr sz="1725" b="1" i="0">
                <a:solidFill>
                  <a:srgbClr val="4E9BEC"/>
                </a:solidFill>
                <a:latin typeface="Arial"/>
                <a:ea typeface="Arial"/>
                <a:cs typeface="Arial"/>
              </a:defRPr>
            </a:lvl6pPr>
            <a:lvl7pPr algn="ctr">
              <a:buNone/>
              <a:defRPr sz="1725" b="1" i="0">
                <a:solidFill>
                  <a:srgbClr val="4E9BEC"/>
                </a:solidFill>
                <a:latin typeface="Arial"/>
                <a:ea typeface="Arial"/>
                <a:cs typeface="Arial"/>
              </a:defRPr>
            </a:lvl7pPr>
            <a:lvl8pPr algn="ctr">
              <a:buNone/>
              <a:defRPr sz="1725" b="1" i="0">
                <a:solidFill>
                  <a:srgbClr val="4E9BEC"/>
                </a:solidFill>
                <a:latin typeface="Arial"/>
                <a:ea typeface="Arial"/>
                <a:cs typeface="Arial"/>
              </a:defRPr>
            </a:lvl8pPr>
            <a:lvl9pPr algn="ctr">
              <a:buNone/>
              <a:defRPr sz="1725" b="1" i="0">
                <a:solidFill>
                  <a:srgbClr val="4E9BEC"/>
                </a:solidFill>
                <a:latin typeface="Arial"/>
                <a:ea typeface="Arial"/>
                <a:cs typeface="Arial"/>
              </a:defRPr>
            </a:lvl9pPr>
          </a:lstStyle>
          <a:p xmlns:a="http://schemas.openxmlformats.org/drawingml/2006/main">
            <a:pPr algn="ctr">
              <a:buNone/>
              <a:defRPr sz="1725" b="1" i="0">
                <a:solidFill>
                  <a:srgbClr val="4E9BEC"/>
                </a:solidFill>
                <a:latin typeface="Arial"/>
                <a:ea typeface="Arial"/>
                <a:cs typeface="Arial"/>
              </a:defRPr>
            </a:pPr>
            <a:r>
              <a:rPr sz="1725" b="1" i="0">
                <a:solidFill>
                  <a:srgbClr val="4E9BEC"/>
                </a:solidFill>
                <a:latin typeface="Arial"/>
                <a:ea typeface="Arial"/>
                <a:cs typeface="Arial"/>
              </a:rPr>
              <a:t>Protein domain A</a:t>
            </a:r>
          </a:p>
        </p:txBody>
      </p:sp>
      <p:sp>
        <p:nvSpPr>
          <p:cNvPr id="11" name="Straight Connector 10">
            <a:extLst xmlns:a="http://schemas.openxmlformats.org/drawingml/2006/main">
              <a:ext uri="{FF2B5EF4-FFF2-40B4-BE49-F238E27FC236}">
                <a16:creationId xmlns:a16="http://schemas.microsoft.com/office/drawing/2014/main" id="{62B0DB38-788D-4541-99AB-F9254E2C4741}"/>
              </a:ext>
            </a:extLst>
          </p:cNvPr>
          <p:cNvSpPr>
            <a:spLocks xmlns:a="http://schemas.openxmlformats.org/drawingml/2006/main" noGrp="1"/>
          </p:cNvSpPr>
          <p:nvPr/>
        </p:nvSpPr>
        <p:spPr>
          <a:xfrm xmlns:a="http://schemas.openxmlformats.org/drawingml/2006/main">
            <a:off x="3390900" y="3133725"/>
            <a:ext cx="1266825"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2" name="Rectangle: Rounded Corners 11">
            <a:extLst xmlns:a="http://schemas.openxmlformats.org/drawingml/2006/main">
              <a:ext uri="{FF2B5EF4-FFF2-40B4-BE49-F238E27FC236}">
                <a16:creationId xmlns:a16="http://schemas.microsoft.com/office/drawing/2014/main" id="{FED5645D-2A42-456E-A109-A91BD7469EDC}"/>
              </a:ext>
            </a:extLst>
          </p:cNvPr>
          <p:cNvSpPr>
            <a:spLocks xmlns:a="http://schemas.openxmlformats.org/drawingml/2006/main" noGrp="1"/>
          </p:cNvSpPr>
          <p:nvPr/>
        </p:nvSpPr>
        <p:spPr>
          <a:xfrm xmlns:a="http://schemas.openxmlformats.org/drawingml/2006/main">
            <a:off x="4657725" y="2790825"/>
            <a:ext cx="2876550" cy="685800"/>
          </a:xfrm>
          <a:prstGeom xmlns:a="http://schemas.openxmlformats.org/drawingml/2006/main" prst="roundRect">
            <a:avLst>
              <a:gd name="adj" fmla="val 16667"/>
            </a:avLst>
          </a:prstGeom>
          <a:solidFill xmlns:a="http://schemas.openxmlformats.org/drawingml/2006/main">
            <a:srgbClr val="FFF4C8"/>
          </a:solidFill>
          <a:ln xmlns:a="http://schemas.openxmlformats.org/drawingml/2006/main" w="19050">
            <a:solidFill>
              <a:srgbClr val="F1C84B"/>
            </a:solidFill>
            <a:prstDash val="solid"/>
          </a:ln>
        </p:spPr>
      </p:sp>
      <p:sp>
        <p:nvSpPr>
          <p:cNvPr id="13" name="Rectangle 12">
            <a:extLst xmlns:a="http://schemas.openxmlformats.org/drawingml/2006/main">
              <a:ext uri="{FF2B5EF4-FFF2-40B4-BE49-F238E27FC236}">
                <a16:creationId xmlns:a16="http://schemas.microsoft.com/office/drawing/2014/main" id="{A3E8A75E-92E3-486B-81C5-92EC949AE43F}"/>
              </a:ext>
            </a:extLst>
          </p:cNvPr>
          <p:cNvSpPr>
            <a:spLocks xmlns:a="http://schemas.openxmlformats.org/drawingml/2006/main" noGrp="1"/>
          </p:cNvSpPr>
          <p:nvPr/>
        </p:nvSpPr>
        <p:spPr>
          <a:xfrm xmlns:a="http://schemas.openxmlformats.org/drawingml/2006/main">
            <a:off x="4895850" y="2943225"/>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575" b="1" i="0">
                <a:solidFill>
                  <a:srgbClr val="6D5700"/>
                </a:solidFill>
                <a:latin typeface="Arial"/>
                <a:ea typeface="Arial"/>
                <a:cs typeface="Arial"/>
              </a:defRPr>
            </a:defPPr>
            <a:lvl1pPr algn="ctr">
              <a:buNone/>
              <a:defRPr sz="1575" b="1" i="0">
                <a:solidFill>
                  <a:srgbClr val="6D5700"/>
                </a:solidFill>
                <a:latin typeface="Arial"/>
                <a:ea typeface="Arial"/>
                <a:cs typeface="Arial"/>
              </a:defRPr>
            </a:lvl1pPr>
            <a:lvl2pPr algn="ctr">
              <a:buNone/>
              <a:defRPr sz="1575" b="1" i="0">
                <a:solidFill>
                  <a:srgbClr val="6D5700"/>
                </a:solidFill>
                <a:latin typeface="Arial"/>
                <a:ea typeface="Arial"/>
                <a:cs typeface="Arial"/>
              </a:defRPr>
            </a:lvl2pPr>
            <a:lvl3pPr algn="ctr">
              <a:buNone/>
              <a:defRPr sz="1575" b="1" i="0">
                <a:solidFill>
                  <a:srgbClr val="6D5700"/>
                </a:solidFill>
                <a:latin typeface="Arial"/>
                <a:ea typeface="Arial"/>
                <a:cs typeface="Arial"/>
              </a:defRPr>
            </a:lvl3pPr>
            <a:lvl4pPr algn="ctr">
              <a:buNone/>
              <a:defRPr sz="1575" b="1" i="0">
                <a:solidFill>
                  <a:srgbClr val="6D5700"/>
                </a:solidFill>
                <a:latin typeface="Arial"/>
                <a:ea typeface="Arial"/>
                <a:cs typeface="Arial"/>
              </a:defRPr>
            </a:lvl4pPr>
            <a:lvl5pPr algn="ctr">
              <a:buNone/>
              <a:defRPr sz="1575" b="1" i="0">
                <a:solidFill>
                  <a:srgbClr val="6D5700"/>
                </a:solidFill>
                <a:latin typeface="Arial"/>
                <a:ea typeface="Arial"/>
                <a:cs typeface="Arial"/>
              </a:defRPr>
            </a:lvl5pPr>
            <a:lvl6pPr algn="ctr">
              <a:buNone/>
              <a:defRPr sz="1575" b="1" i="0">
                <a:solidFill>
                  <a:srgbClr val="6D5700"/>
                </a:solidFill>
                <a:latin typeface="Arial"/>
                <a:ea typeface="Arial"/>
                <a:cs typeface="Arial"/>
              </a:defRPr>
            </a:lvl6pPr>
            <a:lvl7pPr algn="ctr">
              <a:buNone/>
              <a:defRPr sz="1575" b="1" i="0">
                <a:solidFill>
                  <a:srgbClr val="6D5700"/>
                </a:solidFill>
                <a:latin typeface="Arial"/>
                <a:ea typeface="Arial"/>
                <a:cs typeface="Arial"/>
              </a:defRPr>
            </a:lvl7pPr>
            <a:lvl8pPr algn="ctr">
              <a:buNone/>
              <a:defRPr sz="1575" b="1" i="0">
                <a:solidFill>
                  <a:srgbClr val="6D5700"/>
                </a:solidFill>
                <a:latin typeface="Arial"/>
                <a:ea typeface="Arial"/>
                <a:cs typeface="Arial"/>
              </a:defRPr>
            </a:lvl8pPr>
            <a:lvl9pPr algn="ctr">
              <a:buNone/>
              <a:defRPr sz="1575" b="1" i="0">
                <a:solidFill>
                  <a:srgbClr val="6D5700"/>
                </a:solidFill>
                <a:latin typeface="Arial"/>
                <a:ea typeface="Arial"/>
                <a:cs typeface="Arial"/>
              </a:defRPr>
            </a:lvl9pPr>
          </a:lstStyle>
          <a:p xmlns:a="http://schemas.openxmlformats.org/drawingml/2006/main">
            <a:pPr algn="ctr">
              <a:buNone/>
              <a:defRPr sz="1575" b="1" i="0">
                <a:solidFill>
                  <a:srgbClr val="6D5700"/>
                </a:solidFill>
                <a:latin typeface="Arial"/>
                <a:ea typeface="Arial"/>
                <a:cs typeface="Arial"/>
              </a:defRPr>
            </a:pPr>
            <a:r>
              <a:rPr sz="1575" b="1" i="0">
                <a:solidFill>
                  <a:srgbClr val="6D5700"/>
                </a:solidFill>
                <a:latin typeface="Arial"/>
                <a:ea typeface="Arial"/>
                <a:cs typeface="Arial"/>
              </a:rPr>
              <a:t>linker sequence</a:t>
            </a:r>
          </a:p>
        </p:txBody>
      </p:sp>
      <p:sp>
        <p:nvSpPr>
          <p:cNvPr id="14" name="Straight Connector 13">
            <a:extLst xmlns:a="http://schemas.openxmlformats.org/drawingml/2006/main">
              <a:ext uri="{FF2B5EF4-FFF2-40B4-BE49-F238E27FC236}">
                <a16:creationId xmlns:a16="http://schemas.microsoft.com/office/drawing/2014/main" id="{2C57F4E0-74AE-4AE6-BF20-65C77ACDBFA7}"/>
              </a:ext>
            </a:extLst>
          </p:cNvPr>
          <p:cNvSpPr>
            <a:spLocks xmlns:a="http://schemas.openxmlformats.org/drawingml/2006/main" noGrp="1"/>
          </p:cNvSpPr>
          <p:nvPr/>
        </p:nvSpPr>
        <p:spPr>
          <a:xfrm xmlns:a="http://schemas.openxmlformats.org/drawingml/2006/main">
            <a:off x="7534275" y="3133725"/>
            <a:ext cx="1266825"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5" name="Rectangle 14">
            <a:extLst xmlns:a="http://schemas.openxmlformats.org/drawingml/2006/main">
              <a:ext uri="{FF2B5EF4-FFF2-40B4-BE49-F238E27FC236}">
                <a16:creationId xmlns:a16="http://schemas.microsoft.com/office/drawing/2014/main" id="{FF42EA5B-B888-4258-B68D-91A1B1A68CAD}"/>
              </a:ext>
            </a:extLst>
          </p:cNvPr>
          <p:cNvSpPr>
            <a:spLocks xmlns:a="http://schemas.openxmlformats.org/drawingml/2006/main" noGrp="1"/>
          </p:cNvSpPr>
          <p:nvPr/>
        </p:nvSpPr>
        <p:spPr>
          <a:xfrm xmlns:a="http://schemas.openxmlformats.org/drawingml/2006/main">
            <a:off x="9010650" y="21526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425" b="1" i="0">
                <a:solidFill>
                  <a:srgbClr val="D66A87"/>
                </a:solidFill>
                <a:latin typeface="Arial"/>
                <a:ea typeface="Arial"/>
                <a:cs typeface="Arial"/>
              </a:defRPr>
            </a:defPPr>
            <a:lvl1pPr algn="ctr">
              <a:buNone/>
              <a:defRPr sz="1425" b="1" i="0">
                <a:solidFill>
                  <a:srgbClr val="D66A87"/>
                </a:solidFill>
                <a:latin typeface="Arial"/>
                <a:ea typeface="Arial"/>
                <a:cs typeface="Arial"/>
              </a:defRPr>
            </a:lvl1pPr>
            <a:lvl2pPr algn="ctr">
              <a:buNone/>
              <a:defRPr sz="1425" b="1" i="0">
                <a:solidFill>
                  <a:srgbClr val="D66A87"/>
                </a:solidFill>
                <a:latin typeface="Arial"/>
                <a:ea typeface="Arial"/>
                <a:cs typeface="Arial"/>
              </a:defRPr>
            </a:lvl2pPr>
            <a:lvl3pPr algn="ctr">
              <a:buNone/>
              <a:defRPr sz="1425" b="1" i="0">
                <a:solidFill>
                  <a:srgbClr val="D66A87"/>
                </a:solidFill>
                <a:latin typeface="Arial"/>
                <a:ea typeface="Arial"/>
                <a:cs typeface="Arial"/>
              </a:defRPr>
            </a:lvl3pPr>
            <a:lvl4pPr algn="ctr">
              <a:buNone/>
              <a:defRPr sz="1425" b="1" i="0">
                <a:solidFill>
                  <a:srgbClr val="D66A87"/>
                </a:solidFill>
                <a:latin typeface="Arial"/>
                <a:ea typeface="Arial"/>
                <a:cs typeface="Arial"/>
              </a:defRPr>
            </a:lvl4pPr>
            <a:lvl5pPr algn="ctr">
              <a:buNone/>
              <a:defRPr sz="1425" b="1" i="0">
                <a:solidFill>
                  <a:srgbClr val="D66A87"/>
                </a:solidFill>
                <a:latin typeface="Arial"/>
                <a:ea typeface="Arial"/>
                <a:cs typeface="Arial"/>
              </a:defRPr>
            </a:lvl5pPr>
            <a:lvl6pPr algn="ctr">
              <a:buNone/>
              <a:defRPr sz="1425" b="1" i="0">
                <a:solidFill>
                  <a:srgbClr val="D66A87"/>
                </a:solidFill>
                <a:latin typeface="Arial"/>
                <a:ea typeface="Arial"/>
                <a:cs typeface="Arial"/>
              </a:defRPr>
            </a:lvl6pPr>
            <a:lvl7pPr algn="ctr">
              <a:buNone/>
              <a:defRPr sz="1425" b="1" i="0">
                <a:solidFill>
                  <a:srgbClr val="D66A87"/>
                </a:solidFill>
                <a:latin typeface="Arial"/>
                <a:ea typeface="Arial"/>
                <a:cs typeface="Arial"/>
              </a:defRPr>
            </a:lvl7pPr>
            <a:lvl8pPr algn="ctr">
              <a:buNone/>
              <a:defRPr sz="1425" b="1" i="0">
                <a:solidFill>
                  <a:srgbClr val="D66A87"/>
                </a:solidFill>
                <a:latin typeface="Arial"/>
                <a:ea typeface="Arial"/>
                <a:cs typeface="Arial"/>
              </a:defRPr>
            </a:lvl8pPr>
            <a:lvl9pPr algn="ctr">
              <a:buNone/>
              <a:defRPr sz="1425" b="1" i="0">
                <a:solidFill>
                  <a:srgbClr val="D66A87"/>
                </a:solidFill>
                <a:latin typeface="Arial"/>
                <a:ea typeface="Arial"/>
                <a:cs typeface="Arial"/>
              </a:defRPr>
            </a:lvl9pPr>
          </a:lstStyle>
          <a:p xmlns:a="http://schemas.openxmlformats.org/drawingml/2006/main">
            <a:pPr algn="ctr">
              <a:buNone/>
              <a:defRPr sz="1425" b="1" i="0">
                <a:solidFill>
                  <a:srgbClr val="D66A87"/>
                </a:solidFill>
                <a:latin typeface="Arial"/>
                <a:ea typeface="Arial"/>
                <a:cs typeface="Arial"/>
              </a:defRPr>
            </a:pPr>
            <a:r>
              <a:rPr sz="1425" b="1" i="0">
                <a:solidFill>
                  <a:srgbClr val="D66A87"/>
                </a:solidFill>
                <a:latin typeface="Arial"/>
                <a:ea typeface="Arial"/>
                <a:cs typeface="Arial"/>
              </a:rPr>
              <a:t>DOMAIN B</a:t>
            </a:r>
          </a:p>
        </p:txBody>
      </p:sp>
      <p:sp>
        <p:nvSpPr>
          <p:cNvPr id="16" name="Rectangle: Rounded Corners 15">
            <a:extLst xmlns:a="http://schemas.openxmlformats.org/drawingml/2006/main">
              <a:ext uri="{FF2B5EF4-FFF2-40B4-BE49-F238E27FC236}">
                <a16:creationId xmlns:a16="http://schemas.microsoft.com/office/drawing/2014/main" id="{8CCBC133-6EBD-492D-9E40-3DA24A9B6559}"/>
              </a:ext>
            </a:extLst>
          </p:cNvPr>
          <p:cNvSpPr>
            <a:spLocks xmlns:a="http://schemas.openxmlformats.org/drawingml/2006/main" noGrp="1"/>
          </p:cNvSpPr>
          <p:nvPr/>
        </p:nvSpPr>
        <p:spPr>
          <a:xfrm xmlns:a="http://schemas.openxmlformats.org/drawingml/2006/main">
            <a:off x="8801100" y="2619375"/>
            <a:ext cx="2667000" cy="1028700"/>
          </a:xfrm>
          <a:prstGeom xmlns:a="http://schemas.openxmlformats.org/drawingml/2006/main" prst="roundRect">
            <a:avLst>
              <a:gd name="adj" fmla="val 11111"/>
            </a:avLst>
          </a:prstGeom>
          <a:solidFill xmlns:a="http://schemas.openxmlformats.org/drawingml/2006/main">
            <a:srgbClr val="F3DFE5"/>
          </a:solidFill>
          <a:ln xmlns:a="http://schemas.openxmlformats.org/drawingml/2006/main" w="19050">
            <a:solidFill>
              <a:srgbClr val="D66A87"/>
            </a:solidFill>
            <a:prstDash val="solid"/>
          </a:ln>
        </p:spPr>
      </p:sp>
      <p:sp>
        <p:nvSpPr>
          <p:cNvPr id="17" name="Rectangle 16">
            <a:extLst xmlns:a="http://schemas.openxmlformats.org/drawingml/2006/main">
              <a:ext uri="{FF2B5EF4-FFF2-40B4-BE49-F238E27FC236}">
                <a16:creationId xmlns:a16="http://schemas.microsoft.com/office/drawing/2014/main" id="{1242D1A1-4373-4E0F-ACDC-287998AEEDC3}"/>
              </a:ext>
            </a:extLst>
          </p:cNvPr>
          <p:cNvSpPr>
            <a:spLocks xmlns:a="http://schemas.openxmlformats.org/drawingml/2006/main" noGrp="1"/>
          </p:cNvSpPr>
          <p:nvPr/>
        </p:nvSpPr>
        <p:spPr>
          <a:xfrm xmlns:a="http://schemas.openxmlformats.org/drawingml/2006/main">
            <a:off x="8991600" y="29146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725" b="1" i="0">
                <a:solidFill>
                  <a:srgbClr val="D66A87"/>
                </a:solidFill>
                <a:latin typeface="Arial"/>
                <a:ea typeface="Arial"/>
                <a:cs typeface="Arial"/>
              </a:defRPr>
            </a:defPPr>
            <a:lvl1pPr algn="ctr">
              <a:buNone/>
              <a:defRPr sz="1725" b="1" i="0">
                <a:solidFill>
                  <a:srgbClr val="D66A87"/>
                </a:solidFill>
                <a:latin typeface="Arial"/>
                <a:ea typeface="Arial"/>
                <a:cs typeface="Arial"/>
              </a:defRPr>
            </a:lvl1pPr>
            <a:lvl2pPr algn="ctr">
              <a:buNone/>
              <a:defRPr sz="1725" b="1" i="0">
                <a:solidFill>
                  <a:srgbClr val="D66A87"/>
                </a:solidFill>
                <a:latin typeface="Arial"/>
                <a:ea typeface="Arial"/>
                <a:cs typeface="Arial"/>
              </a:defRPr>
            </a:lvl2pPr>
            <a:lvl3pPr algn="ctr">
              <a:buNone/>
              <a:defRPr sz="1725" b="1" i="0">
                <a:solidFill>
                  <a:srgbClr val="D66A87"/>
                </a:solidFill>
                <a:latin typeface="Arial"/>
                <a:ea typeface="Arial"/>
                <a:cs typeface="Arial"/>
              </a:defRPr>
            </a:lvl3pPr>
            <a:lvl4pPr algn="ctr">
              <a:buNone/>
              <a:defRPr sz="1725" b="1" i="0">
                <a:solidFill>
                  <a:srgbClr val="D66A87"/>
                </a:solidFill>
                <a:latin typeface="Arial"/>
                <a:ea typeface="Arial"/>
                <a:cs typeface="Arial"/>
              </a:defRPr>
            </a:lvl4pPr>
            <a:lvl5pPr algn="ctr">
              <a:buNone/>
              <a:defRPr sz="1725" b="1" i="0">
                <a:solidFill>
                  <a:srgbClr val="D66A87"/>
                </a:solidFill>
                <a:latin typeface="Arial"/>
                <a:ea typeface="Arial"/>
                <a:cs typeface="Arial"/>
              </a:defRPr>
            </a:lvl5pPr>
            <a:lvl6pPr algn="ctr">
              <a:buNone/>
              <a:defRPr sz="1725" b="1" i="0">
                <a:solidFill>
                  <a:srgbClr val="D66A87"/>
                </a:solidFill>
                <a:latin typeface="Arial"/>
                <a:ea typeface="Arial"/>
                <a:cs typeface="Arial"/>
              </a:defRPr>
            </a:lvl6pPr>
            <a:lvl7pPr algn="ctr">
              <a:buNone/>
              <a:defRPr sz="1725" b="1" i="0">
                <a:solidFill>
                  <a:srgbClr val="D66A87"/>
                </a:solidFill>
                <a:latin typeface="Arial"/>
                <a:ea typeface="Arial"/>
                <a:cs typeface="Arial"/>
              </a:defRPr>
            </a:lvl7pPr>
            <a:lvl8pPr algn="ctr">
              <a:buNone/>
              <a:defRPr sz="1725" b="1" i="0">
                <a:solidFill>
                  <a:srgbClr val="D66A87"/>
                </a:solidFill>
                <a:latin typeface="Arial"/>
                <a:ea typeface="Arial"/>
                <a:cs typeface="Arial"/>
              </a:defRPr>
            </a:lvl8pPr>
            <a:lvl9pPr algn="ctr">
              <a:buNone/>
              <a:defRPr sz="1725" b="1" i="0">
                <a:solidFill>
                  <a:srgbClr val="D66A87"/>
                </a:solidFill>
                <a:latin typeface="Arial"/>
                <a:ea typeface="Arial"/>
                <a:cs typeface="Arial"/>
              </a:defRPr>
            </a:lvl9pPr>
          </a:lstStyle>
          <a:p xmlns:a="http://schemas.openxmlformats.org/drawingml/2006/main">
            <a:pPr algn="ctr">
              <a:buNone/>
              <a:defRPr sz="1725" b="1" i="0">
                <a:solidFill>
                  <a:srgbClr val="D66A87"/>
                </a:solidFill>
                <a:latin typeface="Arial"/>
                <a:ea typeface="Arial"/>
                <a:cs typeface="Arial"/>
              </a:defRPr>
            </a:pPr>
            <a:r>
              <a:rPr sz="1725" b="1" i="0">
                <a:solidFill>
                  <a:srgbClr val="D66A87"/>
                </a:solidFill>
                <a:latin typeface="Arial"/>
                <a:ea typeface="Arial"/>
                <a:cs typeface="Arial"/>
              </a:rPr>
              <a:t>Protein domain B</a:t>
            </a:r>
          </a:p>
        </p:txBody>
      </p:sp>
      <p:sp>
        <p:nvSpPr>
          <p:cNvPr id="18" name="Rectangle 17">
            <a:extLst xmlns:a="http://schemas.openxmlformats.org/drawingml/2006/main">
              <a:ext uri="{FF2B5EF4-FFF2-40B4-BE49-F238E27FC236}">
                <a16:creationId xmlns:a16="http://schemas.microsoft.com/office/drawing/2014/main" id="{1B65027B-1F0E-4DA4-A59A-3D1774EF69BF}"/>
              </a:ext>
            </a:extLst>
          </p:cNvPr>
          <p:cNvSpPr>
            <a:spLocks xmlns:a="http://schemas.openxmlformats.org/drawingml/2006/main" noGrp="1"/>
          </p:cNvSpPr>
          <p:nvPr/>
        </p:nvSpPr>
        <p:spPr>
          <a:xfrm xmlns:a="http://schemas.openxmlformats.org/drawingml/2006/main">
            <a:off x="1238250" y="4257675"/>
            <a:ext cx="952500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defRPr sz="1500">
                <a:solidFill>
                  <a:srgbClr val="F4F7F5"/>
                </a:solidFill>
                <a:latin typeface="Arial"/>
                <a:ea typeface="Arial"/>
                <a:cs typeface="Arial"/>
              </a:defRPr>
            </a:defPPr>
            <a:lvl1pPr>
              <a:buNone/>
              <a:defRPr sz="1500">
                <a:solidFill>
                  <a:srgbClr val="F4F7F5"/>
                </a:solidFill>
                <a:latin typeface="Arial"/>
                <a:ea typeface="Arial"/>
                <a:cs typeface="Arial"/>
              </a:defRPr>
            </a:lvl1pPr>
            <a:lvl2pPr>
              <a:buNone/>
              <a:defRPr sz="1500">
                <a:solidFill>
                  <a:srgbClr val="F4F7F5"/>
                </a:solidFill>
                <a:latin typeface="Arial"/>
                <a:ea typeface="Arial"/>
                <a:cs typeface="Arial"/>
              </a:defRPr>
            </a:lvl2pPr>
            <a:lvl3pPr>
              <a:buNone/>
              <a:defRPr sz="1500">
                <a:solidFill>
                  <a:srgbClr val="F4F7F5"/>
                </a:solidFill>
                <a:latin typeface="Arial"/>
                <a:ea typeface="Arial"/>
                <a:cs typeface="Arial"/>
              </a:defRPr>
            </a:lvl3pPr>
            <a:lvl4pPr>
              <a:buNone/>
              <a:defRPr sz="1500">
                <a:solidFill>
                  <a:srgbClr val="F4F7F5"/>
                </a:solidFill>
                <a:latin typeface="Arial"/>
                <a:ea typeface="Arial"/>
                <a:cs typeface="Arial"/>
              </a:defRPr>
            </a:lvl4pPr>
            <a:lvl5pPr>
              <a:buNone/>
              <a:defRPr sz="1500">
                <a:solidFill>
                  <a:srgbClr val="F4F7F5"/>
                </a:solidFill>
                <a:latin typeface="Arial"/>
                <a:ea typeface="Arial"/>
                <a:cs typeface="Arial"/>
              </a:defRPr>
            </a:lvl5pPr>
            <a:lvl6pPr>
              <a:buNone/>
              <a:defRPr sz="1500">
                <a:solidFill>
                  <a:srgbClr val="F4F7F5"/>
                </a:solidFill>
                <a:latin typeface="Arial"/>
                <a:ea typeface="Arial"/>
                <a:cs typeface="Arial"/>
              </a:defRPr>
            </a:lvl6pPr>
            <a:lvl7pPr>
              <a:buNone/>
              <a:defRPr sz="1500">
                <a:solidFill>
                  <a:srgbClr val="F4F7F5"/>
                </a:solidFill>
                <a:latin typeface="Arial"/>
                <a:ea typeface="Arial"/>
                <a:cs typeface="Arial"/>
              </a:defRPr>
            </a:lvl7pPr>
            <a:lvl8pPr>
              <a:buNone/>
              <a:defRPr sz="1500">
                <a:solidFill>
                  <a:srgbClr val="F4F7F5"/>
                </a:solidFill>
                <a:latin typeface="Arial"/>
                <a:ea typeface="Arial"/>
                <a:cs typeface="Arial"/>
              </a:defRPr>
            </a:lvl8pPr>
            <a:lvl9pPr>
              <a:buNone/>
              <a:defRPr sz="1500">
                <a:solidFill>
                  <a:srgbClr val="F4F7F5"/>
                </a:solidFill>
                <a:latin typeface="Arial"/>
                <a:ea typeface="Arial"/>
                <a:cs typeface="Arial"/>
              </a:defRPr>
            </a:lvl9pPr>
          </a:lstStyle>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Flexible linkers can permit motion and separation.</a:t>
            </a:r>
          </a:p>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Rigid linkers can maintain distance and reduce domain interference.</a:t>
            </a:r>
          </a:p>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Cleavable linkers can enable controlled separation after expression.</a:t>
            </a:r>
          </a:p>
        </p:txBody>
      </p:sp>
      <p:sp>
        <p:nvSpPr>
          <p:cNvPr id="19" name="Rectangle 18">
            <a:extLst xmlns:a="http://schemas.openxmlformats.org/drawingml/2006/main">
              <a:ext uri="{FF2B5EF4-FFF2-40B4-BE49-F238E27FC236}">
                <a16:creationId xmlns:a16="http://schemas.microsoft.com/office/drawing/2014/main" id="{3C624598-FB89-4718-83D0-AA78CA94AE99}"/>
              </a:ext>
            </a:extLst>
          </p:cNvPr>
          <p:cNvSpPr>
            <a:spLocks xmlns:a="http://schemas.openxmlformats.org/drawingml/2006/main" noGrp="1"/>
          </p:cNvSpPr>
          <p:nvPr/>
        </p:nvSpPr>
        <p:spPr>
          <a:xfrm xmlns:a="http://schemas.openxmlformats.org/drawingml/2006/main">
            <a:off x="1247775" y="58102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Context matters: a useful linker for one domain pair is not automatically transferable to another.</a:t>
            </a:r>
          </a:p>
        </p:txBody>
      </p:sp>
    </p:spTree>
    <p:extLst>
      <p:ext uri="{BB962C8B-B14F-4D97-AF65-F5344CB8AC3E}">
        <p14:creationId xmlns:p14="http://schemas.microsoft.com/office/powerpoint/2010/main" val="583668543"/>
      </p:ext>
    </p:extLst>
  </p:cSld>
</p:sld>
</file>

<file path=ppt/slides/slide4.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1" name="Rectangle 30">
            <a:extLst xmlns:a="http://schemas.openxmlformats.org/drawingml/2006/main">
              <a:ext uri="{FF2B5EF4-FFF2-40B4-BE49-F238E27FC236}">
                <a16:creationId xmlns:a16="http://schemas.microsoft.com/office/drawing/2014/main" id="{A4DFBF35-37E8-47FF-85BE-8B7D2FBA9FC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6008FCED-DCF3-4AB3-A718-B6C0B8D27AE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D2509935-4CDA-4ECC-89CE-F51E17AD74CB}"/>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LITERATURE</a:t>
            </a:r>
          </a:p>
        </p:txBody>
      </p:sp>
      <p:sp>
        <p:nvSpPr>
          <p:cNvPr id="4" name="Rectangle 3">
            <a:extLst xmlns:a="http://schemas.openxmlformats.org/drawingml/2006/main">
              <a:ext uri="{FF2B5EF4-FFF2-40B4-BE49-F238E27FC236}">
                <a16:creationId xmlns:a16="http://schemas.microsoft.com/office/drawing/2014/main" id="{436202E4-0BA8-48EB-89F8-CEE08B85AAAA}"/>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Primary literature: LINKER (2000), SynLinker (2015), DFLpred (2016), TransDFL (2023), Li et al. (2026)</a:t>
            </a:r>
          </a:p>
        </p:txBody>
      </p:sp>
      <p:sp>
        <p:nvSpPr>
          <p:cNvPr id="5" name="Rectangle 4">
            <a:extLst xmlns:a="http://schemas.openxmlformats.org/drawingml/2006/main">
              <a:ext uri="{FF2B5EF4-FFF2-40B4-BE49-F238E27FC236}">
                <a16:creationId xmlns:a16="http://schemas.microsoft.com/office/drawing/2014/main" id="{675AD153-EE02-4B63-817B-EB027871D7C0}"/>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04</a:t>
            </a:r>
          </a:p>
        </p:txBody>
      </p:sp>
      <p:sp>
        <p:nvSpPr>
          <p:cNvPr id="6" name="Rectangle 5">
            <a:extLst xmlns:a="http://schemas.openxmlformats.org/drawingml/2006/main">
              <a:ext uri="{FF2B5EF4-FFF2-40B4-BE49-F238E27FC236}">
                <a16:creationId xmlns:a16="http://schemas.microsoft.com/office/drawing/2014/main" id="{B34F0E24-FB36-4307-B721-AD966D6F89B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Published methods span several linker tasks</a:t>
            </a:r>
          </a:p>
        </p:txBody>
      </p:sp>
      <p:sp>
        <p:nvSpPr>
          <p:cNvPr id="7" name="Rectangle 6">
            <a:extLst xmlns:a="http://schemas.openxmlformats.org/drawingml/2006/main">
              <a:ext uri="{FF2B5EF4-FFF2-40B4-BE49-F238E27FC236}">
                <a16:creationId xmlns:a16="http://schemas.microsoft.com/office/drawing/2014/main" id="{F3AACC7A-E7E2-486F-B915-2ABA076FEEA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Generation, retrieval, residue detection, and one-system functional modelling solve different problems</a:t>
            </a:r>
          </a:p>
        </p:txBody>
      </p:sp>
      <p:sp>
        <p:nvSpPr>
          <p:cNvPr id="8" name="Straight Connector 7">
            <a:extLst xmlns:a="http://schemas.openxmlformats.org/drawingml/2006/main">
              <a:ext uri="{FF2B5EF4-FFF2-40B4-BE49-F238E27FC236}">
                <a16:creationId xmlns:a16="http://schemas.microsoft.com/office/drawing/2014/main" id="{6A1C0DCD-EE92-4AB8-856C-A6E0771E80C6}"/>
              </a:ext>
            </a:extLst>
          </p:cNvPr>
          <p:cNvSpPr>
            <a:spLocks xmlns:a="http://schemas.openxmlformats.org/drawingml/2006/main" noGrp="1"/>
          </p:cNvSpPr>
          <p:nvPr/>
        </p:nvSpPr>
        <p:spPr>
          <a:xfrm xmlns:a="http://schemas.openxmlformats.org/drawingml/2006/main">
            <a:off x="952500" y="3171825"/>
            <a:ext cx="10191750" cy="0"/>
          </a:xfrm>
          <a:prstGeom xmlns:a="http://schemas.openxmlformats.org/drawingml/2006/main" prst="line">
            <a:avLst/>
          </a:prstGeom>
          <a:noFill xmlns:a="http://schemas.openxmlformats.org/drawingml/2006/main"/>
          <a:ln xmlns:a="http://schemas.openxmlformats.org/drawingml/2006/main" w="38100">
            <a:solidFill>
              <a:srgbClr val="29433A"/>
            </a:solidFill>
            <a:prstDash val="solid"/>
          </a:ln>
        </p:spPr>
      </p:sp>
      <p:sp>
        <p:nvSpPr>
          <p:cNvPr id="9" name="Oval 8">
            <a:extLst xmlns:a="http://schemas.openxmlformats.org/drawingml/2006/main">
              <a:ext uri="{FF2B5EF4-FFF2-40B4-BE49-F238E27FC236}">
                <a16:creationId xmlns:a16="http://schemas.microsoft.com/office/drawing/2014/main" id="{1736DFA6-317A-47B7-AE6D-EA5EC007E39E}"/>
              </a:ext>
            </a:extLst>
          </p:cNvPr>
          <p:cNvSpPr>
            <a:spLocks xmlns:a="http://schemas.openxmlformats.org/drawingml/2006/main" noGrp="1"/>
          </p:cNvSpPr>
          <p:nvPr/>
        </p:nvSpPr>
        <p:spPr>
          <a:xfrm xmlns:a="http://schemas.openxmlformats.org/drawingml/2006/main">
            <a:off x="952500" y="2952750"/>
            <a:ext cx="438150" cy="438150"/>
          </a:xfrm>
          <a:prstGeom xmlns:a="http://schemas.openxmlformats.org/drawingml/2006/main" prst="ellipse">
            <a:avLst/>
          </a:prstGeom>
          <a:solidFill xmlns:a="http://schemas.openxmlformats.org/drawingml/2006/main">
            <a:srgbClr val="4E9BEC"/>
          </a:solidFill>
          <a:ln xmlns:a="http://schemas.openxmlformats.org/drawingml/2006/main" w="19050">
            <a:solidFill>
              <a:srgbClr val="FFFFFF"/>
            </a:solidFill>
            <a:prstDash val="solid"/>
          </a:ln>
        </p:spPr>
      </p:sp>
      <p:sp>
        <p:nvSpPr>
          <p:cNvPr id="10" name="Rectangle 9">
            <a:extLst xmlns:a="http://schemas.openxmlformats.org/drawingml/2006/main">
              <a:ext uri="{FF2B5EF4-FFF2-40B4-BE49-F238E27FC236}">
                <a16:creationId xmlns:a16="http://schemas.microsoft.com/office/drawing/2014/main" id="{C3BF08C5-DEBE-40E8-A8E5-8105FF5FBA3C}"/>
              </a:ext>
            </a:extLst>
          </p:cNvPr>
          <p:cNvSpPr>
            <a:spLocks xmlns:a="http://schemas.openxmlformats.org/drawingml/2006/main" noGrp="1"/>
          </p:cNvSpPr>
          <p:nvPr/>
        </p:nvSpPr>
        <p:spPr>
          <a:xfrm xmlns:a="http://schemas.openxmlformats.org/drawingml/2006/main">
            <a:off x="857250" y="24669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4E9BEC"/>
                </a:solidFill>
                <a:latin typeface="Arial"/>
                <a:ea typeface="Arial"/>
                <a:cs typeface="Arial"/>
              </a:defRPr>
            </a:defPPr>
            <a:lvl1pPr algn="ctr">
              <a:buNone/>
              <a:defRPr sz="1275" b="1" i="0">
                <a:solidFill>
                  <a:srgbClr val="4E9BEC"/>
                </a:solidFill>
                <a:latin typeface="Arial"/>
                <a:ea typeface="Arial"/>
                <a:cs typeface="Arial"/>
              </a:defRPr>
            </a:lvl1pPr>
            <a:lvl2pPr algn="ctr">
              <a:buNone/>
              <a:defRPr sz="1275" b="1" i="0">
                <a:solidFill>
                  <a:srgbClr val="4E9BEC"/>
                </a:solidFill>
                <a:latin typeface="Arial"/>
                <a:ea typeface="Arial"/>
                <a:cs typeface="Arial"/>
              </a:defRPr>
            </a:lvl2pPr>
            <a:lvl3pPr algn="ctr">
              <a:buNone/>
              <a:defRPr sz="1275" b="1" i="0">
                <a:solidFill>
                  <a:srgbClr val="4E9BEC"/>
                </a:solidFill>
                <a:latin typeface="Arial"/>
                <a:ea typeface="Arial"/>
                <a:cs typeface="Arial"/>
              </a:defRPr>
            </a:lvl3pPr>
            <a:lvl4pPr algn="ctr">
              <a:buNone/>
              <a:defRPr sz="1275" b="1" i="0">
                <a:solidFill>
                  <a:srgbClr val="4E9BEC"/>
                </a:solidFill>
                <a:latin typeface="Arial"/>
                <a:ea typeface="Arial"/>
                <a:cs typeface="Arial"/>
              </a:defRPr>
            </a:lvl4pPr>
            <a:lvl5pPr algn="ctr">
              <a:buNone/>
              <a:defRPr sz="1275" b="1" i="0">
                <a:solidFill>
                  <a:srgbClr val="4E9BEC"/>
                </a:solidFill>
                <a:latin typeface="Arial"/>
                <a:ea typeface="Arial"/>
                <a:cs typeface="Arial"/>
              </a:defRPr>
            </a:lvl5pPr>
            <a:lvl6pPr algn="ctr">
              <a:buNone/>
              <a:defRPr sz="1275" b="1" i="0">
                <a:solidFill>
                  <a:srgbClr val="4E9BEC"/>
                </a:solidFill>
                <a:latin typeface="Arial"/>
                <a:ea typeface="Arial"/>
                <a:cs typeface="Arial"/>
              </a:defRPr>
            </a:lvl6pPr>
            <a:lvl7pPr algn="ctr">
              <a:buNone/>
              <a:defRPr sz="1275" b="1" i="0">
                <a:solidFill>
                  <a:srgbClr val="4E9BEC"/>
                </a:solidFill>
                <a:latin typeface="Arial"/>
                <a:ea typeface="Arial"/>
                <a:cs typeface="Arial"/>
              </a:defRPr>
            </a:lvl7pPr>
            <a:lvl8pPr algn="ctr">
              <a:buNone/>
              <a:defRPr sz="1275" b="1" i="0">
                <a:solidFill>
                  <a:srgbClr val="4E9BEC"/>
                </a:solidFill>
                <a:latin typeface="Arial"/>
                <a:ea typeface="Arial"/>
                <a:cs typeface="Arial"/>
              </a:defRPr>
            </a:lvl8pPr>
            <a:lvl9pPr algn="ctr">
              <a:buNone/>
              <a:defRPr sz="1275" b="1" i="0">
                <a:solidFill>
                  <a:srgbClr val="4E9BEC"/>
                </a:solidFill>
                <a:latin typeface="Arial"/>
                <a:ea typeface="Arial"/>
                <a:cs typeface="Arial"/>
              </a:defRPr>
            </a:lvl9pPr>
          </a:lstStyle>
          <a:p xmlns:a="http://schemas.openxmlformats.org/drawingml/2006/main">
            <a:pPr algn="ctr">
              <a:buNone/>
              <a:defRPr sz="1275" b="1" i="0">
                <a:solidFill>
                  <a:srgbClr val="4E9BEC"/>
                </a:solidFill>
                <a:latin typeface="Arial"/>
                <a:ea typeface="Arial"/>
                <a:cs typeface="Arial"/>
              </a:defRPr>
            </a:pPr>
            <a:r>
              <a:rPr sz="1275" b="1" i="0">
                <a:solidFill>
                  <a:srgbClr val="4E9BEC"/>
                </a:solidFill>
                <a:latin typeface="Arial"/>
                <a:ea typeface="Arial"/>
                <a:cs typeface="Arial"/>
              </a:rPr>
              <a:t>2000</a:t>
            </a:r>
          </a:p>
        </p:txBody>
      </p:sp>
      <p:sp>
        <p:nvSpPr>
          <p:cNvPr id="11" name="Rectangle 10">
            <a:extLst xmlns:a="http://schemas.openxmlformats.org/drawingml/2006/main">
              <a:ext uri="{FF2B5EF4-FFF2-40B4-BE49-F238E27FC236}">
                <a16:creationId xmlns:a16="http://schemas.microsoft.com/office/drawing/2014/main" id="{EDC276DC-5FA6-44AD-830E-950B1C069057}"/>
              </a:ext>
            </a:extLst>
          </p:cNvPr>
          <p:cNvSpPr>
            <a:spLocks xmlns:a="http://schemas.openxmlformats.org/drawingml/2006/main" noGrp="1"/>
          </p:cNvSpPr>
          <p:nvPr/>
        </p:nvSpPr>
        <p:spPr>
          <a:xfrm xmlns:a="http://schemas.openxmlformats.org/drawingml/2006/main">
            <a:off x="400050" y="367665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F4F7F5"/>
                </a:solidFill>
                <a:latin typeface="Arial"/>
                <a:ea typeface="Arial"/>
                <a:cs typeface="Arial"/>
              </a:defRPr>
            </a:defPPr>
            <a:lvl1pPr algn="ctr">
              <a:buNone/>
              <a:defRPr sz="1500" b="1" i="0">
                <a:solidFill>
                  <a:srgbClr val="F4F7F5"/>
                </a:solidFill>
                <a:latin typeface="Arial"/>
                <a:ea typeface="Arial"/>
                <a:cs typeface="Arial"/>
              </a:defRPr>
            </a:lvl1pPr>
            <a:lvl2pPr algn="ctr">
              <a:buNone/>
              <a:defRPr sz="1500" b="1" i="0">
                <a:solidFill>
                  <a:srgbClr val="F4F7F5"/>
                </a:solidFill>
                <a:latin typeface="Arial"/>
                <a:ea typeface="Arial"/>
                <a:cs typeface="Arial"/>
              </a:defRPr>
            </a:lvl2pPr>
            <a:lvl3pPr algn="ctr">
              <a:buNone/>
              <a:defRPr sz="1500" b="1" i="0">
                <a:solidFill>
                  <a:srgbClr val="F4F7F5"/>
                </a:solidFill>
                <a:latin typeface="Arial"/>
                <a:ea typeface="Arial"/>
                <a:cs typeface="Arial"/>
              </a:defRPr>
            </a:lvl3pPr>
            <a:lvl4pPr algn="ctr">
              <a:buNone/>
              <a:defRPr sz="1500" b="1" i="0">
                <a:solidFill>
                  <a:srgbClr val="F4F7F5"/>
                </a:solidFill>
                <a:latin typeface="Arial"/>
                <a:ea typeface="Arial"/>
                <a:cs typeface="Arial"/>
              </a:defRPr>
            </a:lvl4pPr>
            <a:lvl5pPr algn="ctr">
              <a:buNone/>
              <a:defRPr sz="1500" b="1" i="0">
                <a:solidFill>
                  <a:srgbClr val="F4F7F5"/>
                </a:solidFill>
                <a:latin typeface="Arial"/>
                <a:ea typeface="Arial"/>
                <a:cs typeface="Arial"/>
              </a:defRPr>
            </a:lvl5pPr>
            <a:lvl6pPr algn="ctr">
              <a:buNone/>
              <a:defRPr sz="1500" b="1" i="0">
                <a:solidFill>
                  <a:srgbClr val="F4F7F5"/>
                </a:solidFill>
                <a:latin typeface="Arial"/>
                <a:ea typeface="Arial"/>
                <a:cs typeface="Arial"/>
              </a:defRPr>
            </a:lvl6pPr>
            <a:lvl7pPr algn="ctr">
              <a:buNone/>
              <a:defRPr sz="1500" b="1" i="0">
                <a:solidFill>
                  <a:srgbClr val="F4F7F5"/>
                </a:solidFill>
                <a:latin typeface="Arial"/>
                <a:ea typeface="Arial"/>
                <a:cs typeface="Arial"/>
              </a:defRPr>
            </a:lvl7pPr>
            <a:lvl8pPr algn="ctr">
              <a:buNone/>
              <a:defRPr sz="1500" b="1" i="0">
                <a:solidFill>
                  <a:srgbClr val="F4F7F5"/>
                </a:solidFill>
                <a:latin typeface="Arial"/>
                <a:ea typeface="Arial"/>
                <a:cs typeface="Arial"/>
              </a:defRPr>
            </a:lvl8pPr>
            <a:lvl9pPr algn="ctr">
              <a:buNone/>
              <a:defRPr sz="1500" b="1" i="0">
                <a:solidFill>
                  <a:srgbClr val="F4F7F5"/>
                </a:solidFill>
                <a:latin typeface="Arial"/>
                <a:ea typeface="Arial"/>
                <a:cs typeface="Arial"/>
              </a:defRPr>
            </a:lvl9pPr>
          </a:lstStyle>
          <a:p xmlns:a="http://schemas.openxmlformats.org/drawingml/2006/main">
            <a:pPr algn="ctr">
              <a:buNone/>
              <a:defRPr sz="1500" b="1" i="0">
                <a:solidFill>
                  <a:srgbClr val="F4F7F5"/>
                </a:solidFill>
                <a:latin typeface="Arial"/>
                <a:ea typeface="Arial"/>
                <a:cs typeface="Arial"/>
              </a:defRPr>
            </a:pPr>
            <a:r>
              <a:rPr sz="1500" b="1" i="0">
                <a:solidFill>
                  <a:srgbClr val="F4F7F5"/>
                </a:solidFill>
                <a:latin typeface="Arial"/>
                <a:ea typeface="Arial"/>
                <a:cs typeface="Arial"/>
              </a:rPr>
              <a:t>LINKER</a:t>
            </a:r>
          </a:p>
        </p:txBody>
      </p:sp>
      <p:sp>
        <p:nvSpPr>
          <p:cNvPr id="12" name="Rectangle 11">
            <a:extLst xmlns:a="http://schemas.openxmlformats.org/drawingml/2006/main">
              <a:ext uri="{FF2B5EF4-FFF2-40B4-BE49-F238E27FC236}">
                <a16:creationId xmlns:a16="http://schemas.microsoft.com/office/drawing/2014/main" id="{8C036DA3-FB5F-432E-985B-87A32203D8A2}"/>
              </a:ext>
            </a:extLst>
          </p:cNvPr>
          <p:cNvSpPr>
            <a:spLocks xmlns:a="http://schemas.openxmlformats.org/drawingml/2006/main" noGrp="1"/>
          </p:cNvSpPr>
          <p:nvPr/>
        </p:nvSpPr>
        <p:spPr>
          <a:xfrm xmlns:a="http://schemas.openxmlformats.org/drawingml/2006/main">
            <a:off x="228600" y="4067175"/>
            <a:ext cx="1885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125" b="0" i="0">
                <a:solidFill>
                  <a:srgbClr val="AFC0B8"/>
                </a:solidFill>
                <a:latin typeface="Arial"/>
                <a:ea typeface="Arial"/>
                <a:cs typeface="Arial"/>
              </a:defRPr>
            </a:defPPr>
            <a:lvl1pPr algn="ctr">
              <a:buNone/>
              <a:defRPr sz="1125" b="0" i="0">
                <a:solidFill>
                  <a:srgbClr val="AFC0B8"/>
                </a:solidFill>
                <a:latin typeface="Arial"/>
                <a:ea typeface="Arial"/>
                <a:cs typeface="Arial"/>
              </a:defRPr>
            </a:lvl1pPr>
            <a:lvl2pPr algn="ctr">
              <a:buNone/>
              <a:defRPr sz="1125" b="0" i="0">
                <a:solidFill>
                  <a:srgbClr val="AFC0B8"/>
                </a:solidFill>
                <a:latin typeface="Arial"/>
                <a:ea typeface="Arial"/>
                <a:cs typeface="Arial"/>
              </a:defRPr>
            </a:lvl2pPr>
            <a:lvl3pPr algn="ctr">
              <a:buNone/>
              <a:defRPr sz="1125" b="0" i="0">
                <a:solidFill>
                  <a:srgbClr val="AFC0B8"/>
                </a:solidFill>
                <a:latin typeface="Arial"/>
                <a:ea typeface="Arial"/>
                <a:cs typeface="Arial"/>
              </a:defRPr>
            </a:lvl3pPr>
            <a:lvl4pPr algn="ctr">
              <a:buNone/>
              <a:defRPr sz="1125" b="0" i="0">
                <a:solidFill>
                  <a:srgbClr val="AFC0B8"/>
                </a:solidFill>
                <a:latin typeface="Arial"/>
                <a:ea typeface="Arial"/>
                <a:cs typeface="Arial"/>
              </a:defRPr>
            </a:lvl4pPr>
            <a:lvl5pPr algn="ctr">
              <a:buNone/>
              <a:defRPr sz="1125" b="0" i="0">
                <a:solidFill>
                  <a:srgbClr val="AFC0B8"/>
                </a:solidFill>
                <a:latin typeface="Arial"/>
                <a:ea typeface="Arial"/>
                <a:cs typeface="Arial"/>
              </a:defRPr>
            </a:lvl5pPr>
            <a:lvl6pPr algn="ctr">
              <a:buNone/>
              <a:defRPr sz="1125" b="0" i="0">
                <a:solidFill>
                  <a:srgbClr val="AFC0B8"/>
                </a:solidFill>
                <a:latin typeface="Arial"/>
                <a:ea typeface="Arial"/>
                <a:cs typeface="Arial"/>
              </a:defRPr>
            </a:lvl6pPr>
            <a:lvl7pPr algn="ctr">
              <a:buNone/>
              <a:defRPr sz="1125" b="0" i="0">
                <a:solidFill>
                  <a:srgbClr val="AFC0B8"/>
                </a:solidFill>
                <a:latin typeface="Arial"/>
                <a:ea typeface="Arial"/>
                <a:cs typeface="Arial"/>
              </a:defRPr>
            </a:lvl7pPr>
            <a:lvl8pPr algn="ctr">
              <a:buNone/>
              <a:defRPr sz="1125" b="0" i="0">
                <a:solidFill>
                  <a:srgbClr val="AFC0B8"/>
                </a:solidFill>
                <a:latin typeface="Arial"/>
                <a:ea typeface="Arial"/>
                <a:cs typeface="Arial"/>
              </a:defRPr>
            </a:lvl8pPr>
            <a:lvl9pPr algn="ctr">
              <a:buNone/>
              <a:defRPr sz="1125" b="0" i="0">
                <a:solidFill>
                  <a:srgbClr val="AFC0B8"/>
                </a:solidFill>
                <a:latin typeface="Arial"/>
                <a:ea typeface="Arial"/>
                <a:cs typeface="Arial"/>
              </a:defRPr>
            </a:lvl9pPr>
          </a:lstStyle>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PDB loop-derived</a:t>
            </a:r>
          </a:p>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sequence generation</a:t>
            </a:r>
          </a:p>
        </p:txBody>
      </p:sp>
      <p:sp>
        <p:nvSpPr>
          <p:cNvPr id="13" name="Oval 12">
            <a:extLst xmlns:a="http://schemas.openxmlformats.org/drawingml/2006/main">
              <a:ext uri="{FF2B5EF4-FFF2-40B4-BE49-F238E27FC236}">
                <a16:creationId xmlns:a16="http://schemas.microsoft.com/office/drawing/2014/main" id="{7DF6BD63-9C3D-47AF-AEA5-58D167EA5043}"/>
              </a:ext>
            </a:extLst>
          </p:cNvPr>
          <p:cNvSpPr>
            <a:spLocks xmlns:a="http://schemas.openxmlformats.org/drawingml/2006/main" noGrp="1"/>
          </p:cNvSpPr>
          <p:nvPr/>
        </p:nvSpPr>
        <p:spPr>
          <a:xfrm xmlns:a="http://schemas.openxmlformats.org/drawingml/2006/main">
            <a:off x="3457575" y="2952750"/>
            <a:ext cx="438150" cy="438150"/>
          </a:xfrm>
          <a:prstGeom xmlns:a="http://schemas.openxmlformats.org/drawingml/2006/main" prst="ellipse">
            <a:avLst/>
          </a:prstGeom>
          <a:solidFill xmlns:a="http://schemas.openxmlformats.org/drawingml/2006/main">
            <a:srgbClr val="2DBD73"/>
          </a:solidFill>
          <a:ln xmlns:a="http://schemas.openxmlformats.org/drawingml/2006/main" w="19050">
            <a:solidFill>
              <a:srgbClr val="FFFFFF"/>
            </a:solidFill>
            <a:prstDash val="solid"/>
          </a:ln>
        </p:spPr>
      </p:sp>
      <p:sp>
        <p:nvSpPr>
          <p:cNvPr id="14" name="Rectangle 13">
            <a:extLst xmlns:a="http://schemas.openxmlformats.org/drawingml/2006/main">
              <a:ext uri="{FF2B5EF4-FFF2-40B4-BE49-F238E27FC236}">
                <a16:creationId xmlns:a16="http://schemas.microsoft.com/office/drawing/2014/main" id="{74931553-FA83-483F-8496-07B0D98C9FC3}"/>
              </a:ext>
            </a:extLst>
          </p:cNvPr>
          <p:cNvSpPr>
            <a:spLocks xmlns:a="http://schemas.openxmlformats.org/drawingml/2006/main" noGrp="1"/>
          </p:cNvSpPr>
          <p:nvPr/>
        </p:nvSpPr>
        <p:spPr>
          <a:xfrm xmlns:a="http://schemas.openxmlformats.org/drawingml/2006/main">
            <a:off x="3362325" y="24669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2DBD73"/>
                </a:solidFill>
                <a:latin typeface="Arial"/>
                <a:ea typeface="Arial"/>
                <a:cs typeface="Arial"/>
              </a:defRPr>
            </a:defPPr>
            <a:lvl1pPr algn="ctr">
              <a:buNone/>
              <a:defRPr sz="1275" b="1" i="0">
                <a:solidFill>
                  <a:srgbClr val="2DBD73"/>
                </a:solidFill>
                <a:latin typeface="Arial"/>
                <a:ea typeface="Arial"/>
                <a:cs typeface="Arial"/>
              </a:defRPr>
            </a:lvl1pPr>
            <a:lvl2pPr algn="ctr">
              <a:buNone/>
              <a:defRPr sz="1275" b="1" i="0">
                <a:solidFill>
                  <a:srgbClr val="2DBD73"/>
                </a:solidFill>
                <a:latin typeface="Arial"/>
                <a:ea typeface="Arial"/>
                <a:cs typeface="Arial"/>
              </a:defRPr>
            </a:lvl2pPr>
            <a:lvl3pPr algn="ctr">
              <a:buNone/>
              <a:defRPr sz="1275" b="1" i="0">
                <a:solidFill>
                  <a:srgbClr val="2DBD73"/>
                </a:solidFill>
                <a:latin typeface="Arial"/>
                <a:ea typeface="Arial"/>
                <a:cs typeface="Arial"/>
              </a:defRPr>
            </a:lvl3pPr>
            <a:lvl4pPr algn="ctr">
              <a:buNone/>
              <a:defRPr sz="1275" b="1" i="0">
                <a:solidFill>
                  <a:srgbClr val="2DBD73"/>
                </a:solidFill>
                <a:latin typeface="Arial"/>
                <a:ea typeface="Arial"/>
                <a:cs typeface="Arial"/>
              </a:defRPr>
            </a:lvl4pPr>
            <a:lvl5pPr algn="ctr">
              <a:buNone/>
              <a:defRPr sz="1275" b="1" i="0">
                <a:solidFill>
                  <a:srgbClr val="2DBD73"/>
                </a:solidFill>
                <a:latin typeface="Arial"/>
                <a:ea typeface="Arial"/>
                <a:cs typeface="Arial"/>
              </a:defRPr>
            </a:lvl5pPr>
            <a:lvl6pPr algn="ctr">
              <a:buNone/>
              <a:defRPr sz="1275" b="1" i="0">
                <a:solidFill>
                  <a:srgbClr val="2DBD73"/>
                </a:solidFill>
                <a:latin typeface="Arial"/>
                <a:ea typeface="Arial"/>
                <a:cs typeface="Arial"/>
              </a:defRPr>
            </a:lvl6pPr>
            <a:lvl7pPr algn="ctr">
              <a:buNone/>
              <a:defRPr sz="1275" b="1" i="0">
                <a:solidFill>
                  <a:srgbClr val="2DBD73"/>
                </a:solidFill>
                <a:latin typeface="Arial"/>
                <a:ea typeface="Arial"/>
                <a:cs typeface="Arial"/>
              </a:defRPr>
            </a:lvl7pPr>
            <a:lvl8pPr algn="ctr">
              <a:buNone/>
              <a:defRPr sz="1275" b="1" i="0">
                <a:solidFill>
                  <a:srgbClr val="2DBD73"/>
                </a:solidFill>
                <a:latin typeface="Arial"/>
                <a:ea typeface="Arial"/>
                <a:cs typeface="Arial"/>
              </a:defRPr>
            </a:lvl8pPr>
            <a:lvl9pPr algn="ctr">
              <a:buNone/>
              <a:defRPr sz="1275" b="1" i="0">
                <a:solidFill>
                  <a:srgbClr val="2DBD73"/>
                </a:solidFill>
                <a:latin typeface="Arial"/>
                <a:ea typeface="Arial"/>
                <a:cs typeface="Arial"/>
              </a:defRPr>
            </a:lvl9pPr>
          </a:lstStyle>
          <a:p xmlns:a="http://schemas.openxmlformats.org/drawingml/2006/main">
            <a:pPr algn="ctr">
              <a:buNone/>
              <a:defRPr sz="1275" b="1" i="0">
                <a:solidFill>
                  <a:srgbClr val="2DBD73"/>
                </a:solidFill>
                <a:latin typeface="Arial"/>
                <a:ea typeface="Arial"/>
                <a:cs typeface="Arial"/>
              </a:defRPr>
            </a:pPr>
            <a:r>
              <a:rPr sz="1275" b="1" i="0">
                <a:solidFill>
                  <a:srgbClr val="2DBD73"/>
                </a:solidFill>
                <a:latin typeface="Arial"/>
                <a:ea typeface="Arial"/>
                <a:cs typeface="Arial"/>
              </a:rPr>
              <a:t>2015</a:t>
            </a:r>
          </a:p>
        </p:txBody>
      </p:sp>
      <p:sp>
        <p:nvSpPr>
          <p:cNvPr id="15" name="Rectangle 14">
            <a:extLst xmlns:a="http://schemas.openxmlformats.org/drawingml/2006/main">
              <a:ext uri="{FF2B5EF4-FFF2-40B4-BE49-F238E27FC236}">
                <a16:creationId xmlns:a16="http://schemas.microsoft.com/office/drawing/2014/main" id="{B9AB239F-668A-48CD-933C-0DAD1D6C970C}"/>
              </a:ext>
            </a:extLst>
          </p:cNvPr>
          <p:cNvSpPr>
            <a:spLocks xmlns:a="http://schemas.openxmlformats.org/drawingml/2006/main" noGrp="1"/>
          </p:cNvSpPr>
          <p:nvPr/>
        </p:nvSpPr>
        <p:spPr>
          <a:xfrm xmlns:a="http://schemas.openxmlformats.org/drawingml/2006/main">
            <a:off x="2905125" y="367665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F4F7F5"/>
                </a:solidFill>
                <a:latin typeface="Arial"/>
                <a:ea typeface="Arial"/>
                <a:cs typeface="Arial"/>
              </a:defRPr>
            </a:defPPr>
            <a:lvl1pPr algn="ctr">
              <a:buNone/>
              <a:defRPr sz="1500" b="1" i="0">
                <a:solidFill>
                  <a:srgbClr val="F4F7F5"/>
                </a:solidFill>
                <a:latin typeface="Arial"/>
                <a:ea typeface="Arial"/>
                <a:cs typeface="Arial"/>
              </a:defRPr>
            </a:lvl1pPr>
            <a:lvl2pPr algn="ctr">
              <a:buNone/>
              <a:defRPr sz="1500" b="1" i="0">
                <a:solidFill>
                  <a:srgbClr val="F4F7F5"/>
                </a:solidFill>
                <a:latin typeface="Arial"/>
                <a:ea typeface="Arial"/>
                <a:cs typeface="Arial"/>
              </a:defRPr>
            </a:lvl2pPr>
            <a:lvl3pPr algn="ctr">
              <a:buNone/>
              <a:defRPr sz="1500" b="1" i="0">
                <a:solidFill>
                  <a:srgbClr val="F4F7F5"/>
                </a:solidFill>
                <a:latin typeface="Arial"/>
                <a:ea typeface="Arial"/>
                <a:cs typeface="Arial"/>
              </a:defRPr>
            </a:lvl3pPr>
            <a:lvl4pPr algn="ctr">
              <a:buNone/>
              <a:defRPr sz="1500" b="1" i="0">
                <a:solidFill>
                  <a:srgbClr val="F4F7F5"/>
                </a:solidFill>
                <a:latin typeface="Arial"/>
                <a:ea typeface="Arial"/>
                <a:cs typeface="Arial"/>
              </a:defRPr>
            </a:lvl4pPr>
            <a:lvl5pPr algn="ctr">
              <a:buNone/>
              <a:defRPr sz="1500" b="1" i="0">
                <a:solidFill>
                  <a:srgbClr val="F4F7F5"/>
                </a:solidFill>
                <a:latin typeface="Arial"/>
                <a:ea typeface="Arial"/>
                <a:cs typeface="Arial"/>
              </a:defRPr>
            </a:lvl5pPr>
            <a:lvl6pPr algn="ctr">
              <a:buNone/>
              <a:defRPr sz="1500" b="1" i="0">
                <a:solidFill>
                  <a:srgbClr val="F4F7F5"/>
                </a:solidFill>
                <a:latin typeface="Arial"/>
                <a:ea typeface="Arial"/>
                <a:cs typeface="Arial"/>
              </a:defRPr>
            </a:lvl6pPr>
            <a:lvl7pPr algn="ctr">
              <a:buNone/>
              <a:defRPr sz="1500" b="1" i="0">
                <a:solidFill>
                  <a:srgbClr val="F4F7F5"/>
                </a:solidFill>
                <a:latin typeface="Arial"/>
                <a:ea typeface="Arial"/>
                <a:cs typeface="Arial"/>
              </a:defRPr>
            </a:lvl7pPr>
            <a:lvl8pPr algn="ctr">
              <a:buNone/>
              <a:defRPr sz="1500" b="1" i="0">
                <a:solidFill>
                  <a:srgbClr val="F4F7F5"/>
                </a:solidFill>
                <a:latin typeface="Arial"/>
                <a:ea typeface="Arial"/>
                <a:cs typeface="Arial"/>
              </a:defRPr>
            </a:lvl8pPr>
            <a:lvl9pPr algn="ctr">
              <a:buNone/>
              <a:defRPr sz="1500" b="1" i="0">
                <a:solidFill>
                  <a:srgbClr val="F4F7F5"/>
                </a:solidFill>
                <a:latin typeface="Arial"/>
                <a:ea typeface="Arial"/>
                <a:cs typeface="Arial"/>
              </a:defRPr>
            </a:lvl9pPr>
          </a:lstStyle>
          <a:p xmlns:a="http://schemas.openxmlformats.org/drawingml/2006/main">
            <a:pPr algn="ctr">
              <a:buNone/>
              <a:defRPr sz="1500" b="1" i="0">
                <a:solidFill>
                  <a:srgbClr val="F4F7F5"/>
                </a:solidFill>
                <a:latin typeface="Arial"/>
                <a:ea typeface="Arial"/>
                <a:cs typeface="Arial"/>
              </a:defRPr>
            </a:pPr>
            <a:r>
              <a:rPr sz="1500" b="1" i="0">
                <a:solidFill>
                  <a:srgbClr val="F4F7F5"/>
                </a:solidFill>
                <a:latin typeface="Arial"/>
                <a:ea typeface="Arial"/>
                <a:cs typeface="Arial"/>
              </a:rPr>
              <a:t>SynLinker</a:t>
            </a:r>
          </a:p>
        </p:txBody>
      </p:sp>
      <p:sp>
        <p:nvSpPr>
          <p:cNvPr id="16" name="Rectangle 15">
            <a:extLst xmlns:a="http://schemas.openxmlformats.org/drawingml/2006/main">
              <a:ext uri="{FF2B5EF4-FFF2-40B4-BE49-F238E27FC236}">
                <a16:creationId xmlns:a16="http://schemas.microsoft.com/office/drawing/2014/main" id="{37BEDD6A-4214-432F-87DD-F05A2E1C9112}"/>
              </a:ext>
            </a:extLst>
          </p:cNvPr>
          <p:cNvSpPr>
            <a:spLocks xmlns:a="http://schemas.openxmlformats.org/drawingml/2006/main" noGrp="1"/>
          </p:cNvSpPr>
          <p:nvPr/>
        </p:nvSpPr>
        <p:spPr>
          <a:xfrm xmlns:a="http://schemas.openxmlformats.org/drawingml/2006/main">
            <a:off x="2733675" y="4067175"/>
            <a:ext cx="1885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125" b="0" i="0">
                <a:solidFill>
                  <a:srgbClr val="AFC0B8"/>
                </a:solidFill>
                <a:latin typeface="Arial"/>
                <a:ea typeface="Arial"/>
                <a:cs typeface="Arial"/>
              </a:defRPr>
            </a:defPPr>
            <a:lvl1pPr algn="ctr">
              <a:buNone/>
              <a:defRPr sz="1125" b="0" i="0">
                <a:solidFill>
                  <a:srgbClr val="AFC0B8"/>
                </a:solidFill>
                <a:latin typeface="Arial"/>
                <a:ea typeface="Arial"/>
                <a:cs typeface="Arial"/>
              </a:defRPr>
            </a:lvl1pPr>
            <a:lvl2pPr algn="ctr">
              <a:buNone/>
              <a:defRPr sz="1125" b="0" i="0">
                <a:solidFill>
                  <a:srgbClr val="AFC0B8"/>
                </a:solidFill>
                <a:latin typeface="Arial"/>
                <a:ea typeface="Arial"/>
                <a:cs typeface="Arial"/>
              </a:defRPr>
            </a:lvl2pPr>
            <a:lvl3pPr algn="ctr">
              <a:buNone/>
              <a:defRPr sz="1125" b="0" i="0">
                <a:solidFill>
                  <a:srgbClr val="AFC0B8"/>
                </a:solidFill>
                <a:latin typeface="Arial"/>
                <a:ea typeface="Arial"/>
                <a:cs typeface="Arial"/>
              </a:defRPr>
            </a:lvl3pPr>
            <a:lvl4pPr algn="ctr">
              <a:buNone/>
              <a:defRPr sz="1125" b="0" i="0">
                <a:solidFill>
                  <a:srgbClr val="AFC0B8"/>
                </a:solidFill>
                <a:latin typeface="Arial"/>
                <a:ea typeface="Arial"/>
                <a:cs typeface="Arial"/>
              </a:defRPr>
            </a:lvl4pPr>
            <a:lvl5pPr algn="ctr">
              <a:buNone/>
              <a:defRPr sz="1125" b="0" i="0">
                <a:solidFill>
                  <a:srgbClr val="AFC0B8"/>
                </a:solidFill>
                <a:latin typeface="Arial"/>
                <a:ea typeface="Arial"/>
                <a:cs typeface="Arial"/>
              </a:defRPr>
            </a:lvl5pPr>
            <a:lvl6pPr algn="ctr">
              <a:buNone/>
              <a:defRPr sz="1125" b="0" i="0">
                <a:solidFill>
                  <a:srgbClr val="AFC0B8"/>
                </a:solidFill>
                <a:latin typeface="Arial"/>
                <a:ea typeface="Arial"/>
                <a:cs typeface="Arial"/>
              </a:defRPr>
            </a:lvl6pPr>
            <a:lvl7pPr algn="ctr">
              <a:buNone/>
              <a:defRPr sz="1125" b="0" i="0">
                <a:solidFill>
                  <a:srgbClr val="AFC0B8"/>
                </a:solidFill>
                <a:latin typeface="Arial"/>
                <a:ea typeface="Arial"/>
                <a:cs typeface="Arial"/>
              </a:defRPr>
            </a:lvl7pPr>
            <a:lvl8pPr algn="ctr">
              <a:buNone/>
              <a:defRPr sz="1125" b="0" i="0">
                <a:solidFill>
                  <a:srgbClr val="AFC0B8"/>
                </a:solidFill>
                <a:latin typeface="Arial"/>
                <a:ea typeface="Arial"/>
                <a:cs typeface="Arial"/>
              </a:defRPr>
            </a:lvl8pPr>
            <a:lvl9pPr algn="ctr">
              <a:buNone/>
              <a:defRPr sz="1125" b="0" i="0">
                <a:solidFill>
                  <a:srgbClr val="AFC0B8"/>
                </a:solidFill>
                <a:latin typeface="Arial"/>
                <a:ea typeface="Arial"/>
                <a:cs typeface="Arial"/>
              </a:defRPr>
            </a:lvl9pPr>
          </a:lstStyle>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2,260 linkers +</a:t>
            </a:r>
          </a:p>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fusion construction</a:t>
            </a:r>
          </a:p>
        </p:txBody>
      </p:sp>
      <p:sp>
        <p:nvSpPr>
          <p:cNvPr id="17" name="Oval 16">
            <a:extLst xmlns:a="http://schemas.openxmlformats.org/drawingml/2006/main">
              <a:ext uri="{FF2B5EF4-FFF2-40B4-BE49-F238E27FC236}">
                <a16:creationId xmlns:a16="http://schemas.microsoft.com/office/drawing/2014/main" id="{D294CAE0-CEC1-4DBD-8C1C-1135F039D852}"/>
              </a:ext>
            </a:extLst>
          </p:cNvPr>
          <p:cNvSpPr>
            <a:spLocks xmlns:a="http://schemas.openxmlformats.org/drawingml/2006/main" noGrp="1"/>
          </p:cNvSpPr>
          <p:nvPr/>
        </p:nvSpPr>
        <p:spPr>
          <a:xfrm xmlns:a="http://schemas.openxmlformats.org/drawingml/2006/main">
            <a:off x="5962650" y="2952750"/>
            <a:ext cx="438150" cy="438150"/>
          </a:xfrm>
          <a:prstGeom xmlns:a="http://schemas.openxmlformats.org/drawingml/2006/main" prst="ellipse">
            <a:avLst/>
          </a:prstGeom>
          <a:solidFill xmlns:a="http://schemas.openxmlformats.org/drawingml/2006/main">
            <a:srgbClr val="E84AAB"/>
          </a:solidFill>
          <a:ln xmlns:a="http://schemas.openxmlformats.org/drawingml/2006/main" w="19050">
            <a:solidFill>
              <a:srgbClr val="FFFFFF"/>
            </a:solidFill>
            <a:prstDash val="solid"/>
          </a:ln>
        </p:spPr>
      </p:sp>
      <p:sp>
        <p:nvSpPr>
          <p:cNvPr id="18" name="Rectangle 17">
            <a:extLst xmlns:a="http://schemas.openxmlformats.org/drawingml/2006/main">
              <a:ext uri="{FF2B5EF4-FFF2-40B4-BE49-F238E27FC236}">
                <a16:creationId xmlns:a16="http://schemas.microsoft.com/office/drawing/2014/main" id="{491D1317-B88F-4EA1-8BA4-B001CD35FBB2}"/>
              </a:ext>
            </a:extLst>
          </p:cNvPr>
          <p:cNvSpPr>
            <a:spLocks xmlns:a="http://schemas.openxmlformats.org/drawingml/2006/main" noGrp="1"/>
          </p:cNvSpPr>
          <p:nvPr/>
        </p:nvSpPr>
        <p:spPr>
          <a:xfrm xmlns:a="http://schemas.openxmlformats.org/drawingml/2006/main">
            <a:off x="5867400" y="24669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E84AAB"/>
                </a:solidFill>
                <a:latin typeface="Arial"/>
                <a:ea typeface="Arial"/>
                <a:cs typeface="Arial"/>
              </a:defRPr>
            </a:defPPr>
            <a:lvl1pPr algn="ctr">
              <a:buNone/>
              <a:defRPr sz="1275" b="1" i="0">
                <a:solidFill>
                  <a:srgbClr val="E84AAB"/>
                </a:solidFill>
                <a:latin typeface="Arial"/>
                <a:ea typeface="Arial"/>
                <a:cs typeface="Arial"/>
              </a:defRPr>
            </a:lvl1pPr>
            <a:lvl2pPr algn="ctr">
              <a:buNone/>
              <a:defRPr sz="1275" b="1" i="0">
                <a:solidFill>
                  <a:srgbClr val="E84AAB"/>
                </a:solidFill>
                <a:latin typeface="Arial"/>
                <a:ea typeface="Arial"/>
                <a:cs typeface="Arial"/>
              </a:defRPr>
            </a:lvl2pPr>
            <a:lvl3pPr algn="ctr">
              <a:buNone/>
              <a:defRPr sz="1275" b="1" i="0">
                <a:solidFill>
                  <a:srgbClr val="E84AAB"/>
                </a:solidFill>
                <a:latin typeface="Arial"/>
                <a:ea typeface="Arial"/>
                <a:cs typeface="Arial"/>
              </a:defRPr>
            </a:lvl3pPr>
            <a:lvl4pPr algn="ctr">
              <a:buNone/>
              <a:defRPr sz="1275" b="1" i="0">
                <a:solidFill>
                  <a:srgbClr val="E84AAB"/>
                </a:solidFill>
                <a:latin typeface="Arial"/>
                <a:ea typeface="Arial"/>
                <a:cs typeface="Arial"/>
              </a:defRPr>
            </a:lvl4pPr>
            <a:lvl5pPr algn="ctr">
              <a:buNone/>
              <a:defRPr sz="1275" b="1" i="0">
                <a:solidFill>
                  <a:srgbClr val="E84AAB"/>
                </a:solidFill>
                <a:latin typeface="Arial"/>
                <a:ea typeface="Arial"/>
                <a:cs typeface="Arial"/>
              </a:defRPr>
            </a:lvl5pPr>
            <a:lvl6pPr algn="ctr">
              <a:buNone/>
              <a:defRPr sz="1275" b="1" i="0">
                <a:solidFill>
                  <a:srgbClr val="E84AAB"/>
                </a:solidFill>
                <a:latin typeface="Arial"/>
                <a:ea typeface="Arial"/>
                <a:cs typeface="Arial"/>
              </a:defRPr>
            </a:lvl6pPr>
            <a:lvl7pPr algn="ctr">
              <a:buNone/>
              <a:defRPr sz="1275" b="1" i="0">
                <a:solidFill>
                  <a:srgbClr val="E84AAB"/>
                </a:solidFill>
                <a:latin typeface="Arial"/>
                <a:ea typeface="Arial"/>
                <a:cs typeface="Arial"/>
              </a:defRPr>
            </a:lvl7pPr>
            <a:lvl8pPr algn="ctr">
              <a:buNone/>
              <a:defRPr sz="1275" b="1" i="0">
                <a:solidFill>
                  <a:srgbClr val="E84AAB"/>
                </a:solidFill>
                <a:latin typeface="Arial"/>
                <a:ea typeface="Arial"/>
                <a:cs typeface="Arial"/>
              </a:defRPr>
            </a:lvl8pPr>
            <a:lvl9pPr algn="ctr">
              <a:buNone/>
              <a:defRPr sz="1275" b="1" i="0">
                <a:solidFill>
                  <a:srgbClr val="E84AAB"/>
                </a:solidFill>
                <a:latin typeface="Arial"/>
                <a:ea typeface="Arial"/>
                <a:cs typeface="Arial"/>
              </a:defRPr>
            </a:lvl9pPr>
          </a:lstStyle>
          <a:p xmlns:a="http://schemas.openxmlformats.org/drawingml/2006/main">
            <a:pPr algn="ctr">
              <a:buNone/>
              <a:defRPr sz="1275" b="1" i="0">
                <a:solidFill>
                  <a:srgbClr val="E84AAB"/>
                </a:solidFill>
                <a:latin typeface="Arial"/>
                <a:ea typeface="Arial"/>
                <a:cs typeface="Arial"/>
              </a:defRPr>
            </a:pPr>
            <a:r>
              <a:rPr sz="1275" b="1" i="0">
                <a:solidFill>
                  <a:srgbClr val="E84AAB"/>
                </a:solidFill>
                <a:latin typeface="Arial"/>
                <a:ea typeface="Arial"/>
                <a:cs typeface="Arial"/>
              </a:rPr>
              <a:t>2016</a:t>
            </a:r>
          </a:p>
        </p:txBody>
      </p:sp>
      <p:sp>
        <p:nvSpPr>
          <p:cNvPr id="19" name="Rectangle 18">
            <a:extLst xmlns:a="http://schemas.openxmlformats.org/drawingml/2006/main">
              <a:ext uri="{FF2B5EF4-FFF2-40B4-BE49-F238E27FC236}">
                <a16:creationId xmlns:a16="http://schemas.microsoft.com/office/drawing/2014/main" id="{3C9E48FE-E859-49DF-A32C-ED851161EA9F}"/>
              </a:ext>
            </a:extLst>
          </p:cNvPr>
          <p:cNvSpPr>
            <a:spLocks xmlns:a="http://schemas.openxmlformats.org/drawingml/2006/main" noGrp="1"/>
          </p:cNvSpPr>
          <p:nvPr/>
        </p:nvSpPr>
        <p:spPr>
          <a:xfrm xmlns:a="http://schemas.openxmlformats.org/drawingml/2006/main">
            <a:off x="5410200" y="367665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F4F7F5"/>
                </a:solidFill>
                <a:latin typeface="Arial"/>
                <a:ea typeface="Arial"/>
                <a:cs typeface="Arial"/>
              </a:defRPr>
            </a:defPPr>
            <a:lvl1pPr algn="ctr">
              <a:buNone/>
              <a:defRPr sz="1500" b="1" i="0">
                <a:solidFill>
                  <a:srgbClr val="F4F7F5"/>
                </a:solidFill>
                <a:latin typeface="Arial"/>
                <a:ea typeface="Arial"/>
                <a:cs typeface="Arial"/>
              </a:defRPr>
            </a:lvl1pPr>
            <a:lvl2pPr algn="ctr">
              <a:buNone/>
              <a:defRPr sz="1500" b="1" i="0">
                <a:solidFill>
                  <a:srgbClr val="F4F7F5"/>
                </a:solidFill>
                <a:latin typeface="Arial"/>
                <a:ea typeface="Arial"/>
                <a:cs typeface="Arial"/>
              </a:defRPr>
            </a:lvl2pPr>
            <a:lvl3pPr algn="ctr">
              <a:buNone/>
              <a:defRPr sz="1500" b="1" i="0">
                <a:solidFill>
                  <a:srgbClr val="F4F7F5"/>
                </a:solidFill>
                <a:latin typeface="Arial"/>
                <a:ea typeface="Arial"/>
                <a:cs typeface="Arial"/>
              </a:defRPr>
            </a:lvl3pPr>
            <a:lvl4pPr algn="ctr">
              <a:buNone/>
              <a:defRPr sz="1500" b="1" i="0">
                <a:solidFill>
                  <a:srgbClr val="F4F7F5"/>
                </a:solidFill>
                <a:latin typeface="Arial"/>
                <a:ea typeface="Arial"/>
                <a:cs typeface="Arial"/>
              </a:defRPr>
            </a:lvl4pPr>
            <a:lvl5pPr algn="ctr">
              <a:buNone/>
              <a:defRPr sz="1500" b="1" i="0">
                <a:solidFill>
                  <a:srgbClr val="F4F7F5"/>
                </a:solidFill>
                <a:latin typeface="Arial"/>
                <a:ea typeface="Arial"/>
                <a:cs typeface="Arial"/>
              </a:defRPr>
            </a:lvl5pPr>
            <a:lvl6pPr algn="ctr">
              <a:buNone/>
              <a:defRPr sz="1500" b="1" i="0">
                <a:solidFill>
                  <a:srgbClr val="F4F7F5"/>
                </a:solidFill>
                <a:latin typeface="Arial"/>
                <a:ea typeface="Arial"/>
                <a:cs typeface="Arial"/>
              </a:defRPr>
            </a:lvl6pPr>
            <a:lvl7pPr algn="ctr">
              <a:buNone/>
              <a:defRPr sz="1500" b="1" i="0">
                <a:solidFill>
                  <a:srgbClr val="F4F7F5"/>
                </a:solidFill>
                <a:latin typeface="Arial"/>
                <a:ea typeface="Arial"/>
                <a:cs typeface="Arial"/>
              </a:defRPr>
            </a:lvl7pPr>
            <a:lvl8pPr algn="ctr">
              <a:buNone/>
              <a:defRPr sz="1500" b="1" i="0">
                <a:solidFill>
                  <a:srgbClr val="F4F7F5"/>
                </a:solidFill>
                <a:latin typeface="Arial"/>
                <a:ea typeface="Arial"/>
                <a:cs typeface="Arial"/>
              </a:defRPr>
            </a:lvl8pPr>
            <a:lvl9pPr algn="ctr">
              <a:buNone/>
              <a:defRPr sz="1500" b="1" i="0">
                <a:solidFill>
                  <a:srgbClr val="F4F7F5"/>
                </a:solidFill>
                <a:latin typeface="Arial"/>
                <a:ea typeface="Arial"/>
                <a:cs typeface="Arial"/>
              </a:defRPr>
            </a:lvl9pPr>
          </a:lstStyle>
          <a:p xmlns:a="http://schemas.openxmlformats.org/drawingml/2006/main">
            <a:pPr algn="ctr">
              <a:buNone/>
              <a:defRPr sz="1500" b="1" i="0">
                <a:solidFill>
                  <a:srgbClr val="F4F7F5"/>
                </a:solidFill>
                <a:latin typeface="Arial"/>
                <a:ea typeface="Arial"/>
                <a:cs typeface="Arial"/>
              </a:defRPr>
            </a:pPr>
            <a:r>
              <a:rPr sz="1500" b="1" i="0">
                <a:solidFill>
                  <a:srgbClr val="F4F7F5"/>
                </a:solidFill>
                <a:latin typeface="Arial"/>
                <a:ea typeface="Arial"/>
                <a:cs typeface="Arial"/>
              </a:rPr>
              <a:t>DFLpred</a:t>
            </a:r>
          </a:p>
        </p:txBody>
      </p:sp>
      <p:sp>
        <p:nvSpPr>
          <p:cNvPr id="20" name="Rectangle 19">
            <a:extLst xmlns:a="http://schemas.openxmlformats.org/drawingml/2006/main">
              <a:ext uri="{FF2B5EF4-FFF2-40B4-BE49-F238E27FC236}">
                <a16:creationId xmlns:a16="http://schemas.microsoft.com/office/drawing/2014/main" id="{52BBA912-8A55-409F-8AF7-C4D0C0EEFD0F}"/>
              </a:ext>
            </a:extLst>
          </p:cNvPr>
          <p:cNvSpPr>
            <a:spLocks xmlns:a="http://schemas.openxmlformats.org/drawingml/2006/main" noGrp="1"/>
          </p:cNvSpPr>
          <p:nvPr/>
        </p:nvSpPr>
        <p:spPr>
          <a:xfrm xmlns:a="http://schemas.openxmlformats.org/drawingml/2006/main">
            <a:off x="5238750" y="4067175"/>
            <a:ext cx="1885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125" b="0" i="0">
                <a:solidFill>
                  <a:srgbClr val="AFC0B8"/>
                </a:solidFill>
                <a:latin typeface="Arial"/>
                <a:ea typeface="Arial"/>
                <a:cs typeface="Arial"/>
              </a:defRPr>
            </a:defPPr>
            <a:lvl1pPr algn="ctr">
              <a:buNone/>
              <a:defRPr sz="1125" b="0" i="0">
                <a:solidFill>
                  <a:srgbClr val="AFC0B8"/>
                </a:solidFill>
                <a:latin typeface="Arial"/>
                <a:ea typeface="Arial"/>
                <a:cs typeface="Arial"/>
              </a:defRPr>
            </a:lvl1pPr>
            <a:lvl2pPr algn="ctr">
              <a:buNone/>
              <a:defRPr sz="1125" b="0" i="0">
                <a:solidFill>
                  <a:srgbClr val="AFC0B8"/>
                </a:solidFill>
                <a:latin typeface="Arial"/>
                <a:ea typeface="Arial"/>
                <a:cs typeface="Arial"/>
              </a:defRPr>
            </a:lvl2pPr>
            <a:lvl3pPr algn="ctr">
              <a:buNone/>
              <a:defRPr sz="1125" b="0" i="0">
                <a:solidFill>
                  <a:srgbClr val="AFC0B8"/>
                </a:solidFill>
                <a:latin typeface="Arial"/>
                <a:ea typeface="Arial"/>
                <a:cs typeface="Arial"/>
              </a:defRPr>
            </a:lvl3pPr>
            <a:lvl4pPr algn="ctr">
              <a:buNone/>
              <a:defRPr sz="1125" b="0" i="0">
                <a:solidFill>
                  <a:srgbClr val="AFC0B8"/>
                </a:solidFill>
                <a:latin typeface="Arial"/>
                <a:ea typeface="Arial"/>
                <a:cs typeface="Arial"/>
              </a:defRPr>
            </a:lvl4pPr>
            <a:lvl5pPr algn="ctr">
              <a:buNone/>
              <a:defRPr sz="1125" b="0" i="0">
                <a:solidFill>
                  <a:srgbClr val="AFC0B8"/>
                </a:solidFill>
                <a:latin typeface="Arial"/>
                <a:ea typeface="Arial"/>
                <a:cs typeface="Arial"/>
              </a:defRPr>
            </a:lvl5pPr>
            <a:lvl6pPr algn="ctr">
              <a:buNone/>
              <a:defRPr sz="1125" b="0" i="0">
                <a:solidFill>
                  <a:srgbClr val="AFC0B8"/>
                </a:solidFill>
                <a:latin typeface="Arial"/>
                <a:ea typeface="Arial"/>
                <a:cs typeface="Arial"/>
              </a:defRPr>
            </a:lvl6pPr>
            <a:lvl7pPr algn="ctr">
              <a:buNone/>
              <a:defRPr sz="1125" b="0" i="0">
                <a:solidFill>
                  <a:srgbClr val="AFC0B8"/>
                </a:solidFill>
                <a:latin typeface="Arial"/>
                <a:ea typeface="Arial"/>
                <a:cs typeface="Arial"/>
              </a:defRPr>
            </a:lvl7pPr>
            <a:lvl8pPr algn="ctr">
              <a:buNone/>
              <a:defRPr sz="1125" b="0" i="0">
                <a:solidFill>
                  <a:srgbClr val="AFC0B8"/>
                </a:solidFill>
                <a:latin typeface="Arial"/>
                <a:ea typeface="Arial"/>
                <a:cs typeface="Arial"/>
              </a:defRPr>
            </a:lvl8pPr>
            <a:lvl9pPr algn="ctr">
              <a:buNone/>
              <a:defRPr sz="1125" b="0" i="0">
                <a:solidFill>
                  <a:srgbClr val="AFC0B8"/>
                </a:solidFill>
                <a:latin typeface="Arial"/>
                <a:ea typeface="Arial"/>
                <a:cs typeface="Arial"/>
              </a:defRPr>
            </a:lvl9pPr>
          </a:lstStyle>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Per-residue</a:t>
            </a:r>
          </a:p>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DFL propensity</a:t>
            </a:r>
          </a:p>
        </p:txBody>
      </p:sp>
      <p:sp>
        <p:nvSpPr>
          <p:cNvPr id="21" name="Oval 20">
            <a:extLst xmlns:a="http://schemas.openxmlformats.org/drawingml/2006/main">
              <a:ext uri="{FF2B5EF4-FFF2-40B4-BE49-F238E27FC236}">
                <a16:creationId xmlns:a16="http://schemas.microsoft.com/office/drawing/2014/main" id="{B534BC54-6ADC-4ED1-8E82-00DFBFF20ABA}"/>
              </a:ext>
            </a:extLst>
          </p:cNvPr>
          <p:cNvSpPr>
            <a:spLocks xmlns:a="http://schemas.openxmlformats.org/drawingml/2006/main" noGrp="1"/>
          </p:cNvSpPr>
          <p:nvPr/>
        </p:nvSpPr>
        <p:spPr>
          <a:xfrm xmlns:a="http://schemas.openxmlformats.org/drawingml/2006/main">
            <a:off x="8467725" y="2952750"/>
            <a:ext cx="438150" cy="438150"/>
          </a:xfrm>
          <a:prstGeom xmlns:a="http://schemas.openxmlformats.org/drawingml/2006/main" prst="ellipse">
            <a:avLst/>
          </a:prstGeom>
          <a:solidFill xmlns:a="http://schemas.openxmlformats.org/drawingml/2006/main">
            <a:srgbClr val="3FC6D6"/>
          </a:solidFill>
          <a:ln xmlns:a="http://schemas.openxmlformats.org/drawingml/2006/main" w="19050">
            <a:solidFill>
              <a:srgbClr val="FFFFFF"/>
            </a:solidFill>
            <a:prstDash val="solid"/>
          </a:ln>
        </p:spPr>
      </p:sp>
      <p:sp>
        <p:nvSpPr>
          <p:cNvPr id="22" name="Rectangle 21">
            <a:extLst xmlns:a="http://schemas.openxmlformats.org/drawingml/2006/main">
              <a:ext uri="{FF2B5EF4-FFF2-40B4-BE49-F238E27FC236}">
                <a16:creationId xmlns:a16="http://schemas.microsoft.com/office/drawing/2014/main" id="{5F1CED1E-E250-4943-9FD6-3C0875B438CE}"/>
              </a:ext>
            </a:extLst>
          </p:cNvPr>
          <p:cNvSpPr>
            <a:spLocks xmlns:a="http://schemas.openxmlformats.org/drawingml/2006/main" noGrp="1"/>
          </p:cNvSpPr>
          <p:nvPr/>
        </p:nvSpPr>
        <p:spPr>
          <a:xfrm xmlns:a="http://schemas.openxmlformats.org/drawingml/2006/main">
            <a:off x="8372475" y="24669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3FC6D6"/>
                </a:solidFill>
                <a:latin typeface="Arial"/>
                <a:ea typeface="Arial"/>
                <a:cs typeface="Arial"/>
              </a:defRPr>
            </a:defPPr>
            <a:lvl1pPr algn="ctr">
              <a:buNone/>
              <a:defRPr sz="1275" b="1" i="0">
                <a:solidFill>
                  <a:srgbClr val="3FC6D6"/>
                </a:solidFill>
                <a:latin typeface="Arial"/>
                <a:ea typeface="Arial"/>
                <a:cs typeface="Arial"/>
              </a:defRPr>
            </a:lvl1pPr>
            <a:lvl2pPr algn="ctr">
              <a:buNone/>
              <a:defRPr sz="1275" b="1" i="0">
                <a:solidFill>
                  <a:srgbClr val="3FC6D6"/>
                </a:solidFill>
                <a:latin typeface="Arial"/>
                <a:ea typeface="Arial"/>
                <a:cs typeface="Arial"/>
              </a:defRPr>
            </a:lvl2pPr>
            <a:lvl3pPr algn="ctr">
              <a:buNone/>
              <a:defRPr sz="1275" b="1" i="0">
                <a:solidFill>
                  <a:srgbClr val="3FC6D6"/>
                </a:solidFill>
                <a:latin typeface="Arial"/>
                <a:ea typeface="Arial"/>
                <a:cs typeface="Arial"/>
              </a:defRPr>
            </a:lvl3pPr>
            <a:lvl4pPr algn="ctr">
              <a:buNone/>
              <a:defRPr sz="1275" b="1" i="0">
                <a:solidFill>
                  <a:srgbClr val="3FC6D6"/>
                </a:solidFill>
                <a:latin typeface="Arial"/>
                <a:ea typeface="Arial"/>
                <a:cs typeface="Arial"/>
              </a:defRPr>
            </a:lvl4pPr>
            <a:lvl5pPr algn="ctr">
              <a:buNone/>
              <a:defRPr sz="1275" b="1" i="0">
                <a:solidFill>
                  <a:srgbClr val="3FC6D6"/>
                </a:solidFill>
                <a:latin typeface="Arial"/>
                <a:ea typeface="Arial"/>
                <a:cs typeface="Arial"/>
              </a:defRPr>
            </a:lvl5pPr>
            <a:lvl6pPr algn="ctr">
              <a:buNone/>
              <a:defRPr sz="1275" b="1" i="0">
                <a:solidFill>
                  <a:srgbClr val="3FC6D6"/>
                </a:solidFill>
                <a:latin typeface="Arial"/>
                <a:ea typeface="Arial"/>
                <a:cs typeface="Arial"/>
              </a:defRPr>
            </a:lvl6pPr>
            <a:lvl7pPr algn="ctr">
              <a:buNone/>
              <a:defRPr sz="1275" b="1" i="0">
                <a:solidFill>
                  <a:srgbClr val="3FC6D6"/>
                </a:solidFill>
                <a:latin typeface="Arial"/>
                <a:ea typeface="Arial"/>
                <a:cs typeface="Arial"/>
              </a:defRPr>
            </a:lvl7pPr>
            <a:lvl8pPr algn="ctr">
              <a:buNone/>
              <a:defRPr sz="1275" b="1" i="0">
                <a:solidFill>
                  <a:srgbClr val="3FC6D6"/>
                </a:solidFill>
                <a:latin typeface="Arial"/>
                <a:ea typeface="Arial"/>
                <a:cs typeface="Arial"/>
              </a:defRPr>
            </a:lvl8pPr>
            <a:lvl9pPr algn="ctr">
              <a:buNone/>
              <a:defRPr sz="1275" b="1" i="0">
                <a:solidFill>
                  <a:srgbClr val="3FC6D6"/>
                </a:solidFill>
                <a:latin typeface="Arial"/>
                <a:ea typeface="Arial"/>
                <a:cs typeface="Arial"/>
              </a:defRPr>
            </a:lvl9pPr>
          </a:lstStyle>
          <a:p xmlns:a="http://schemas.openxmlformats.org/drawingml/2006/main">
            <a:pPr algn="ctr">
              <a:buNone/>
              <a:defRPr sz="1275" b="1" i="0">
                <a:solidFill>
                  <a:srgbClr val="3FC6D6"/>
                </a:solidFill>
                <a:latin typeface="Arial"/>
                <a:ea typeface="Arial"/>
                <a:cs typeface="Arial"/>
              </a:defRPr>
            </a:pPr>
            <a:r>
              <a:rPr sz="1275" b="1" i="0">
                <a:solidFill>
                  <a:srgbClr val="3FC6D6"/>
                </a:solidFill>
                <a:latin typeface="Arial"/>
                <a:ea typeface="Arial"/>
                <a:cs typeface="Arial"/>
              </a:rPr>
              <a:t>2023</a:t>
            </a:r>
          </a:p>
        </p:txBody>
      </p:sp>
      <p:sp>
        <p:nvSpPr>
          <p:cNvPr id="23" name="Rectangle 22">
            <a:extLst xmlns:a="http://schemas.openxmlformats.org/drawingml/2006/main">
              <a:ext uri="{FF2B5EF4-FFF2-40B4-BE49-F238E27FC236}">
                <a16:creationId xmlns:a16="http://schemas.microsoft.com/office/drawing/2014/main" id="{5B855996-02DA-4CDB-8D38-E473CB4570EC}"/>
              </a:ext>
            </a:extLst>
          </p:cNvPr>
          <p:cNvSpPr>
            <a:spLocks xmlns:a="http://schemas.openxmlformats.org/drawingml/2006/main" noGrp="1"/>
          </p:cNvSpPr>
          <p:nvPr/>
        </p:nvSpPr>
        <p:spPr>
          <a:xfrm xmlns:a="http://schemas.openxmlformats.org/drawingml/2006/main">
            <a:off x="7915275" y="367665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F4F7F5"/>
                </a:solidFill>
                <a:latin typeface="Arial"/>
                <a:ea typeface="Arial"/>
                <a:cs typeface="Arial"/>
              </a:defRPr>
            </a:defPPr>
            <a:lvl1pPr algn="ctr">
              <a:buNone/>
              <a:defRPr sz="1500" b="1" i="0">
                <a:solidFill>
                  <a:srgbClr val="F4F7F5"/>
                </a:solidFill>
                <a:latin typeface="Arial"/>
                <a:ea typeface="Arial"/>
                <a:cs typeface="Arial"/>
              </a:defRPr>
            </a:lvl1pPr>
            <a:lvl2pPr algn="ctr">
              <a:buNone/>
              <a:defRPr sz="1500" b="1" i="0">
                <a:solidFill>
                  <a:srgbClr val="F4F7F5"/>
                </a:solidFill>
                <a:latin typeface="Arial"/>
                <a:ea typeface="Arial"/>
                <a:cs typeface="Arial"/>
              </a:defRPr>
            </a:lvl2pPr>
            <a:lvl3pPr algn="ctr">
              <a:buNone/>
              <a:defRPr sz="1500" b="1" i="0">
                <a:solidFill>
                  <a:srgbClr val="F4F7F5"/>
                </a:solidFill>
                <a:latin typeface="Arial"/>
                <a:ea typeface="Arial"/>
                <a:cs typeface="Arial"/>
              </a:defRPr>
            </a:lvl3pPr>
            <a:lvl4pPr algn="ctr">
              <a:buNone/>
              <a:defRPr sz="1500" b="1" i="0">
                <a:solidFill>
                  <a:srgbClr val="F4F7F5"/>
                </a:solidFill>
                <a:latin typeface="Arial"/>
                <a:ea typeface="Arial"/>
                <a:cs typeface="Arial"/>
              </a:defRPr>
            </a:lvl4pPr>
            <a:lvl5pPr algn="ctr">
              <a:buNone/>
              <a:defRPr sz="1500" b="1" i="0">
                <a:solidFill>
                  <a:srgbClr val="F4F7F5"/>
                </a:solidFill>
                <a:latin typeface="Arial"/>
                <a:ea typeface="Arial"/>
                <a:cs typeface="Arial"/>
              </a:defRPr>
            </a:lvl5pPr>
            <a:lvl6pPr algn="ctr">
              <a:buNone/>
              <a:defRPr sz="1500" b="1" i="0">
                <a:solidFill>
                  <a:srgbClr val="F4F7F5"/>
                </a:solidFill>
                <a:latin typeface="Arial"/>
                <a:ea typeface="Arial"/>
                <a:cs typeface="Arial"/>
              </a:defRPr>
            </a:lvl6pPr>
            <a:lvl7pPr algn="ctr">
              <a:buNone/>
              <a:defRPr sz="1500" b="1" i="0">
                <a:solidFill>
                  <a:srgbClr val="F4F7F5"/>
                </a:solidFill>
                <a:latin typeface="Arial"/>
                <a:ea typeface="Arial"/>
                <a:cs typeface="Arial"/>
              </a:defRPr>
            </a:lvl7pPr>
            <a:lvl8pPr algn="ctr">
              <a:buNone/>
              <a:defRPr sz="1500" b="1" i="0">
                <a:solidFill>
                  <a:srgbClr val="F4F7F5"/>
                </a:solidFill>
                <a:latin typeface="Arial"/>
                <a:ea typeface="Arial"/>
                <a:cs typeface="Arial"/>
              </a:defRPr>
            </a:lvl8pPr>
            <a:lvl9pPr algn="ctr">
              <a:buNone/>
              <a:defRPr sz="1500" b="1" i="0">
                <a:solidFill>
                  <a:srgbClr val="F4F7F5"/>
                </a:solidFill>
                <a:latin typeface="Arial"/>
                <a:ea typeface="Arial"/>
                <a:cs typeface="Arial"/>
              </a:defRPr>
            </a:lvl9pPr>
          </a:lstStyle>
          <a:p xmlns:a="http://schemas.openxmlformats.org/drawingml/2006/main">
            <a:pPr algn="ctr">
              <a:buNone/>
              <a:defRPr sz="1500" b="1" i="0">
                <a:solidFill>
                  <a:srgbClr val="F4F7F5"/>
                </a:solidFill>
                <a:latin typeface="Arial"/>
                <a:ea typeface="Arial"/>
                <a:cs typeface="Arial"/>
              </a:defRPr>
            </a:pPr>
            <a:r>
              <a:rPr sz="1500" b="1" i="0">
                <a:solidFill>
                  <a:srgbClr val="F4F7F5"/>
                </a:solidFill>
                <a:latin typeface="Arial"/>
                <a:ea typeface="Arial"/>
                <a:cs typeface="Arial"/>
              </a:rPr>
              <a:t>TransDFL</a:t>
            </a:r>
          </a:p>
        </p:txBody>
      </p:sp>
      <p:sp>
        <p:nvSpPr>
          <p:cNvPr id="24" name="Rectangle 23">
            <a:extLst xmlns:a="http://schemas.openxmlformats.org/drawingml/2006/main">
              <a:ext uri="{FF2B5EF4-FFF2-40B4-BE49-F238E27FC236}">
                <a16:creationId xmlns:a16="http://schemas.microsoft.com/office/drawing/2014/main" id="{E420E45D-3C5F-4DF0-873B-2D1ADC0D39B4}"/>
              </a:ext>
            </a:extLst>
          </p:cNvPr>
          <p:cNvSpPr>
            <a:spLocks xmlns:a="http://schemas.openxmlformats.org/drawingml/2006/main" noGrp="1"/>
          </p:cNvSpPr>
          <p:nvPr/>
        </p:nvSpPr>
        <p:spPr>
          <a:xfrm xmlns:a="http://schemas.openxmlformats.org/drawingml/2006/main">
            <a:off x="7743825" y="4067175"/>
            <a:ext cx="1885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125" b="0" i="0">
                <a:solidFill>
                  <a:srgbClr val="AFC0B8"/>
                </a:solidFill>
                <a:latin typeface="Arial"/>
                <a:ea typeface="Arial"/>
                <a:cs typeface="Arial"/>
              </a:defRPr>
            </a:defPPr>
            <a:lvl1pPr algn="ctr">
              <a:buNone/>
              <a:defRPr sz="1125" b="0" i="0">
                <a:solidFill>
                  <a:srgbClr val="AFC0B8"/>
                </a:solidFill>
                <a:latin typeface="Arial"/>
                <a:ea typeface="Arial"/>
                <a:cs typeface="Arial"/>
              </a:defRPr>
            </a:lvl1pPr>
            <a:lvl2pPr algn="ctr">
              <a:buNone/>
              <a:defRPr sz="1125" b="0" i="0">
                <a:solidFill>
                  <a:srgbClr val="AFC0B8"/>
                </a:solidFill>
                <a:latin typeface="Arial"/>
                <a:ea typeface="Arial"/>
                <a:cs typeface="Arial"/>
              </a:defRPr>
            </a:lvl2pPr>
            <a:lvl3pPr algn="ctr">
              <a:buNone/>
              <a:defRPr sz="1125" b="0" i="0">
                <a:solidFill>
                  <a:srgbClr val="AFC0B8"/>
                </a:solidFill>
                <a:latin typeface="Arial"/>
                <a:ea typeface="Arial"/>
                <a:cs typeface="Arial"/>
              </a:defRPr>
            </a:lvl3pPr>
            <a:lvl4pPr algn="ctr">
              <a:buNone/>
              <a:defRPr sz="1125" b="0" i="0">
                <a:solidFill>
                  <a:srgbClr val="AFC0B8"/>
                </a:solidFill>
                <a:latin typeface="Arial"/>
                <a:ea typeface="Arial"/>
                <a:cs typeface="Arial"/>
              </a:defRPr>
            </a:lvl4pPr>
            <a:lvl5pPr algn="ctr">
              <a:buNone/>
              <a:defRPr sz="1125" b="0" i="0">
                <a:solidFill>
                  <a:srgbClr val="AFC0B8"/>
                </a:solidFill>
                <a:latin typeface="Arial"/>
                <a:ea typeface="Arial"/>
                <a:cs typeface="Arial"/>
              </a:defRPr>
            </a:lvl5pPr>
            <a:lvl6pPr algn="ctr">
              <a:buNone/>
              <a:defRPr sz="1125" b="0" i="0">
                <a:solidFill>
                  <a:srgbClr val="AFC0B8"/>
                </a:solidFill>
                <a:latin typeface="Arial"/>
                <a:ea typeface="Arial"/>
                <a:cs typeface="Arial"/>
              </a:defRPr>
            </a:lvl6pPr>
            <a:lvl7pPr algn="ctr">
              <a:buNone/>
              <a:defRPr sz="1125" b="0" i="0">
                <a:solidFill>
                  <a:srgbClr val="AFC0B8"/>
                </a:solidFill>
                <a:latin typeface="Arial"/>
                <a:ea typeface="Arial"/>
                <a:cs typeface="Arial"/>
              </a:defRPr>
            </a:lvl7pPr>
            <a:lvl8pPr algn="ctr">
              <a:buNone/>
              <a:defRPr sz="1125" b="0" i="0">
                <a:solidFill>
                  <a:srgbClr val="AFC0B8"/>
                </a:solidFill>
                <a:latin typeface="Arial"/>
                <a:ea typeface="Arial"/>
                <a:cs typeface="Arial"/>
              </a:defRPr>
            </a:lvl8pPr>
            <a:lvl9pPr algn="ctr">
              <a:buNone/>
              <a:defRPr sz="1125" b="0" i="0">
                <a:solidFill>
                  <a:srgbClr val="AFC0B8"/>
                </a:solidFill>
                <a:latin typeface="Arial"/>
                <a:ea typeface="Arial"/>
                <a:cs typeface="Arial"/>
              </a:defRPr>
            </a:lvl9pPr>
          </a:lstStyle>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Transfer-learning</a:t>
            </a:r>
          </a:p>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DFL identification</a:t>
            </a:r>
          </a:p>
        </p:txBody>
      </p:sp>
      <p:sp>
        <p:nvSpPr>
          <p:cNvPr id="25" name="Oval 24">
            <a:extLst xmlns:a="http://schemas.openxmlformats.org/drawingml/2006/main">
              <a:ext uri="{FF2B5EF4-FFF2-40B4-BE49-F238E27FC236}">
                <a16:creationId xmlns:a16="http://schemas.microsoft.com/office/drawing/2014/main" id="{83765B29-E2FB-4A49-9AE4-31FB14D84798}"/>
              </a:ext>
            </a:extLst>
          </p:cNvPr>
          <p:cNvSpPr>
            <a:spLocks xmlns:a="http://schemas.openxmlformats.org/drawingml/2006/main" noGrp="1"/>
          </p:cNvSpPr>
          <p:nvPr/>
        </p:nvSpPr>
        <p:spPr>
          <a:xfrm xmlns:a="http://schemas.openxmlformats.org/drawingml/2006/main">
            <a:off x="10972800" y="2952750"/>
            <a:ext cx="438150" cy="438150"/>
          </a:xfrm>
          <a:prstGeom xmlns:a="http://schemas.openxmlformats.org/drawingml/2006/main" prst="ellipse">
            <a:avLst/>
          </a:prstGeom>
          <a:solidFill xmlns:a="http://schemas.openxmlformats.org/drawingml/2006/main">
            <a:srgbClr val="E46760"/>
          </a:solidFill>
          <a:ln xmlns:a="http://schemas.openxmlformats.org/drawingml/2006/main" w="19050">
            <a:solidFill>
              <a:srgbClr val="FFFFFF"/>
            </a:solidFill>
            <a:prstDash val="solid"/>
          </a:ln>
        </p:spPr>
      </p:sp>
      <p:sp>
        <p:nvSpPr>
          <p:cNvPr id="26" name="Rectangle 25">
            <a:extLst xmlns:a="http://schemas.openxmlformats.org/drawingml/2006/main">
              <a:ext uri="{FF2B5EF4-FFF2-40B4-BE49-F238E27FC236}">
                <a16:creationId xmlns:a16="http://schemas.microsoft.com/office/drawing/2014/main" id="{0B2009A1-0503-47E8-B276-777FE4C274D2}"/>
              </a:ext>
            </a:extLst>
          </p:cNvPr>
          <p:cNvSpPr>
            <a:spLocks xmlns:a="http://schemas.openxmlformats.org/drawingml/2006/main" noGrp="1"/>
          </p:cNvSpPr>
          <p:nvPr/>
        </p:nvSpPr>
        <p:spPr>
          <a:xfrm xmlns:a="http://schemas.openxmlformats.org/drawingml/2006/main">
            <a:off x="10877550" y="24669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E46760"/>
                </a:solidFill>
                <a:latin typeface="Arial"/>
                <a:ea typeface="Arial"/>
                <a:cs typeface="Arial"/>
              </a:defRPr>
            </a:defPPr>
            <a:lvl1pPr algn="ctr">
              <a:buNone/>
              <a:defRPr sz="1275" b="1" i="0">
                <a:solidFill>
                  <a:srgbClr val="E46760"/>
                </a:solidFill>
                <a:latin typeface="Arial"/>
                <a:ea typeface="Arial"/>
                <a:cs typeface="Arial"/>
              </a:defRPr>
            </a:lvl1pPr>
            <a:lvl2pPr algn="ctr">
              <a:buNone/>
              <a:defRPr sz="1275" b="1" i="0">
                <a:solidFill>
                  <a:srgbClr val="E46760"/>
                </a:solidFill>
                <a:latin typeface="Arial"/>
                <a:ea typeface="Arial"/>
                <a:cs typeface="Arial"/>
              </a:defRPr>
            </a:lvl2pPr>
            <a:lvl3pPr algn="ctr">
              <a:buNone/>
              <a:defRPr sz="1275" b="1" i="0">
                <a:solidFill>
                  <a:srgbClr val="E46760"/>
                </a:solidFill>
                <a:latin typeface="Arial"/>
                <a:ea typeface="Arial"/>
                <a:cs typeface="Arial"/>
              </a:defRPr>
            </a:lvl3pPr>
            <a:lvl4pPr algn="ctr">
              <a:buNone/>
              <a:defRPr sz="1275" b="1" i="0">
                <a:solidFill>
                  <a:srgbClr val="E46760"/>
                </a:solidFill>
                <a:latin typeface="Arial"/>
                <a:ea typeface="Arial"/>
                <a:cs typeface="Arial"/>
              </a:defRPr>
            </a:lvl4pPr>
            <a:lvl5pPr algn="ctr">
              <a:buNone/>
              <a:defRPr sz="1275" b="1" i="0">
                <a:solidFill>
                  <a:srgbClr val="E46760"/>
                </a:solidFill>
                <a:latin typeface="Arial"/>
                <a:ea typeface="Arial"/>
                <a:cs typeface="Arial"/>
              </a:defRPr>
            </a:lvl5pPr>
            <a:lvl6pPr algn="ctr">
              <a:buNone/>
              <a:defRPr sz="1275" b="1" i="0">
                <a:solidFill>
                  <a:srgbClr val="E46760"/>
                </a:solidFill>
                <a:latin typeface="Arial"/>
                <a:ea typeface="Arial"/>
                <a:cs typeface="Arial"/>
              </a:defRPr>
            </a:lvl6pPr>
            <a:lvl7pPr algn="ctr">
              <a:buNone/>
              <a:defRPr sz="1275" b="1" i="0">
                <a:solidFill>
                  <a:srgbClr val="E46760"/>
                </a:solidFill>
                <a:latin typeface="Arial"/>
                <a:ea typeface="Arial"/>
                <a:cs typeface="Arial"/>
              </a:defRPr>
            </a:lvl7pPr>
            <a:lvl8pPr algn="ctr">
              <a:buNone/>
              <a:defRPr sz="1275" b="1" i="0">
                <a:solidFill>
                  <a:srgbClr val="E46760"/>
                </a:solidFill>
                <a:latin typeface="Arial"/>
                <a:ea typeface="Arial"/>
                <a:cs typeface="Arial"/>
              </a:defRPr>
            </a:lvl8pPr>
            <a:lvl9pPr algn="ctr">
              <a:buNone/>
              <a:defRPr sz="1275" b="1" i="0">
                <a:solidFill>
                  <a:srgbClr val="E46760"/>
                </a:solidFill>
                <a:latin typeface="Arial"/>
                <a:ea typeface="Arial"/>
                <a:cs typeface="Arial"/>
              </a:defRPr>
            </a:lvl9pPr>
          </a:lstStyle>
          <a:p xmlns:a="http://schemas.openxmlformats.org/drawingml/2006/main">
            <a:pPr algn="ctr">
              <a:buNone/>
              <a:defRPr sz="1275" b="1" i="0">
                <a:solidFill>
                  <a:srgbClr val="E46760"/>
                </a:solidFill>
                <a:latin typeface="Arial"/>
                <a:ea typeface="Arial"/>
                <a:cs typeface="Arial"/>
              </a:defRPr>
            </a:pPr>
            <a:r>
              <a:rPr sz="1275" b="1" i="0">
                <a:solidFill>
                  <a:srgbClr val="E46760"/>
                </a:solidFill>
                <a:latin typeface="Arial"/>
                <a:ea typeface="Arial"/>
                <a:cs typeface="Arial"/>
              </a:rPr>
              <a:t>2026</a:t>
            </a:r>
          </a:p>
        </p:txBody>
      </p:sp>
      <p:sp>
        <p:nvSpPr>
          <p:cNvPr id="27" name="Rectangle 26">
            <a:extLst xmlns:a="http://schemas.openxmlformats.org/drawingml/2006/main">
              <a:ext uri="{FF2B5EF4-FFF2-40B4-BE49-F238E27FC236}">
                <a16:creationId xmlns:a16="http://schemas.microsoft.com/office/drawing/2014/main" id="{83FC075A-A29C-420E-A8FF-E23073E06114}"/>
              </a:ext>
            </a:extLst>
          </p:cNvPr>
          <p:cNvSpPr>
            <a:spLocks xmlns:a="http://schemas.openxmlformats.org/drawingml/2006/main" noGrp="1"/>
          </p:cNvSpPr>
          <p:nvPr/>
        </p:nvSpPr>
        <p:spPr>
          <a:xfrm xmlns:a="http://schemas.openxmlformats.org/drawingml/2006/main">
            <a:off x="10420350" y="367665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F4F7F5"/>
                </a:solidFill>
                <a:latin typeface="Arial"/>
                <a:ea typeface="Arial"/>
                <a:cs typeface="Arial"/>
              </a:defRPr>
            </a:defPPr>
            <a:lvl1pPr algn="ctr">
              <a:buNone/>
              <a:defRPr sz="1500" b="1" i="0">
                <a:solidFill>
                  <a:srgbClr val="F4F7F5"/>
                </a:solidFill>
                <a:latin typeface="Arial"/>
                <a:ea typeface="Arial"/>
                <a:cs typeface="Arial"/>
              </a:defRPr>
            </a:lvl1pPr>
            <a:lvl2pPr algn="ctr">
              <a:buNone/>
              <a:defRPr sz="1500" b="1" i="0">
                <a:solidFill>
                  <a:srgbClr val="F4F7F5"/>
                </a:solidFill>
                <a:latin typeface="Arial"/>
                <a:ea typeface="Arial"/>
                <a:cs typeface="Arial"/>
              </a:defRPr>
            </a:lvl2pPr>
            <a:lvl3pPr algn="ctr">
              <a:buNone/>
              <a:defRPr sz="1500" b="1" i="0">
                <a:solidFill>
                  <a:srgbClr val="F4F7F5"/>
                </a:solidFill>
                <a:latin typeface="Arial"/>
                <a:ea typeface="Arial"/>
                <a:cs typeface="Arial"/>
              </a:defRPr>
            </a:lvl3pPr>
            <a:lvl4pPr algn="ctr">
              <a:buNone/>
              <a:defRPr sz="1500" b="1" i="0">
                <a:solidFill>
                  <a:srgbClr val="F4F7F5"/>
                </a:solidFill>
                <a:latin typeface="Arial"/>
                <a:ea typeface="Arial"/>
                <a:cs typeface="Arial"/>
              </a:defRPr>
            </a:lvl4pPr>
            <a:lvl5pPr algn="ctr">
              <a:buNone/>
              <a:defRPr sz="1500" b="1" i="0">
                <a:solidFill>
                  <a:srgbClr val="F4F7F5"/>
                </a:solidFill>
                <a:latin typeface="Arial"/>
                <a:ea typeface="Arial"/>
                <a:cs typeface="Arial"/>
              </a:defRPr>
            </a:lvl5pPr>
            <a:lvl6pPr algn="ctr">
              <a:buNone/>
              <a:defRPr sz="1500" b="1" i="0">
                <a:solidFill>
                  <a:srgbClr val="F4F7F5"/>
                </a:solidFill>
                <a:latin typeface="Arial"/>
                <a:ea typeface="Arial"/>
                <a:cs typeface="Arial"/>
              </a:defRPr>
            </a:lvl6pPr>
            <a:lvl7pPr algn="ctr">
              <a:buNone/>
              <a:defRPr sz="1500" b="1" i="0">
                <a:solidFill>
                  <a:srgbClr val="F4F7F5"/>
                </a:solidFill>
                <a:latin typeface="Arial"/>
                <a:ea typeface="Arial"/>
                <a:cs typeface="Arial"/>
              </a:defRPr>
            </a:lvl7pPr>
            <a:lvl8pPr algn="ctr">
              <a:buNone/>
              <a:defRPr sz="1500" b="1" i="0">
                <a:solidFill>
                  <a:srgbClr val="F4F7F5"/>
                </a:solidFill>
                <a:latin typeface="Arial"/>
                <a:ea typeface="Arial"/>
                <a:cs typeface="Arial"/>
              </a:defRPr>
            </a:lvl8pPr>
            <a:lvl9pPr algn="ctr">
              <a:buNone/>
              <a:defRPr sz="1500" b="1" i="0">
                <a:solidFill>
                  <a:srgbClr val="F4F7F5"/>
                </a:solidFill>
                <a:latin typeface="Arial"/>
                <a:ea typeface="Arial"/>
                <a:cs typeface="Arial"/>
              </a:defRPr>
            </a:lvl9pPr>
          </a:lstStyle>
          <a:p xmlns:a="http://schemas.openxmlformats.org/drawingml/2006/main">
            <a:pPr algn="ctr">
              <a:buNone/>
              <a:defRPr sz="1500" b="1" i="0">
                <a:solidFill>
                  <a:srgbClr val="F4F7F5"/>
                </a:solidFill>
                <a:latin typeface="Arial"/>
                <a:ea typeface="Arial"/>
                <a:cs typeface="Arial"/>
              </a:defRPr>
            </a:pPr>
            <a:r>
              <a:rPr sz="1500" b="1" i="0">
                <a:solidFill>
                  <a:srgbClr val="F4F7F5"/>
                </a:solidFill>
                <a:latin typeface="Arial"/>
                <a:ea typeface="Arial"/>
                <a:cs typeface="Arial"/>
              </a:rPr>
              <a:t>Li et al.</a:t>
            </a:r>
          </a:p>
        </p:txBody>
      </p:sp>
      <p:sp>
        <p:nvSpPr>
          <p:cNvPr id="28" name="Rectangle 27">
            <a:extLst xmlns:a="http://schemas.openxmlformats.org/drawingml/2006/main">
              <a:ext uri="{FF2B5EF4-FFF2-40B4-BE49-F238E27FC236}">
                <a16:creationId xmlns:a16="http://schemas.microsoft.com/office/drawing/2014/main" id="{E7F2A9D7-C32C-42C6-8830-0BCE22BAB52C}"/>
              </a:ext>
            </a:extLst>
          </p:cNvPr>
          <p:cNvSpPr>
            <a:spLocks xmlns:a="http://schemas.openxmlformats.org/drawingml/2006/main" noGrp="1"/>
          </p:cNvSpPr>
          <p:nvPr/>
        </p:nvSpPr>
        <p:spPr>
          <a:xfrm xmlns:a="http://schemas.openxmlformats.org/drawingml/2006/main">
            <a:off x="10248900" y="4067175"/>
            <a:ext cx="1885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125" b="0" i="0">
                <a:solidFill>
                  <a:srgbClr val="AFC0B8"/>
                </a:solidFill>
                <a:latin typeface="Arial"/>
                <a:ea typeface="Arial"/>
                <a:cs typeface="Arial"/>
              </a:defRPr>
            </a:defPPr>
            <a:lvl1pPr algn="ctr">
              <a:buNone/>
              <a:defRPr sz="1125" b="0" i="0">
                <a:solidFill>
                  <a:srgbClr val="AFC0B8"/>
                </a:solidFill>
                <a:latin typeface="Arial"/>
                <a:ea typeface="Arial"/>
                <a:cs typeface="Arial"/>
              </a:defRPr>
            </a:lvl1pPr>
            <a:lvl2pPr algn="ctr">
              <a:buNone/>
              <a:defRPr sz="1125" b="0" i="0">
                <a:solidFill>
                  <a:srgbClr val="AFC0B8"/>
                </a:solidFill>
                <a:latin typeface="Arial"/>
                <a:ea typeface="Arial"/>
                <a:cs typeface="Arial"/>
              </a:defRPr>
            </a:lvl2pPr>
            <a:lvl3pPr algn="ctr">
              <a:buNone/>
              <a:defRPr sz="1125" b="0" i="0">
                <a:solidFill>
                  <a:srgbClr val="AFC0B8"/>
                </a:solidFill>
                <a:latin typeface="Arial"/>
                <a:ea typeface="Arial"/>
                <a:cs typeface="Arial"/>
              </a:defRPr>
            </a:lvl3pPr>
            <a:lvl4pPr algn="ctr">
              <a:buNone/>
              <a:defRPr sz="1125" b="0" i="0">
                <a:solidFill>
                  <a:srgbClr val="AFC0B8"/>
                </a:solidFill>
                <a:latin typeface="Arial"/>
                <a:ea typeface="Arial"/>
                <a:cs typeface="Arial"/>
              </a:defRPr>
            </a:lvl4pPr>
            <a:lvl5pPr algn="ctr">
              <a:buNone/>
              <a:defRPr sz="1125" b="0" i="0">
                <a:solidFill>
                  <a:srgbClr val="AFC0B8"/>
                </a:solidFill>
                <a:latin typeface="Arial"/>
                <a:ea typeface="Arial"/>
                <a:cs typeface="Arial"/>
              </a:defRPr>
            </a:lvl5pPr>
            <a:lvl6pPr algn="ctr">
              <a:buNone/>
              <a:defRPr sz="1125" b="0" i="0">
                <a:solidFill>
                  <a:srgbClr val="AFC0B8"/>
                </a:solidFill>
                <a:latin typeface="Arial"/>
                <a:ea typeface="Arial"/>
                <a:cs typeface="Arial"/>
              </a:defRPr>
            </a:lvl6pPr>
            <a:lvl7pPr algn="ctr">
              <a:buNone/>
              <a:defRPr sz="1125" b="0" i="0">
                <a:solidFill>
                  <a:srgbClr val="AFC0B8"/>
                </a:solidFill>
                <a:latin typeface="Arial"/>
                <a:ea typeface="Arial"/>
                <a:cs typeface="Arial"/>
              </a:defRPr>
            </a:lvl7pPr>
            <a:lvl8pPr algn="ctr">
              <a:buNone/>
              <a:defRPr sz="1125" b="0" i="0">
                <a:solidFill>
                  <a:srgbClr val="AFC0B8"/>
                </a:solidFill>
                <a:latin typeface="Arial"/>
                <a:ea typeface="Arial"/>
                <a:cs typeface="Arial"/>
              </a:defRPr>
            </a:lvl8pPr>
            <a:lvl9pPr algn="ctr">
              <a:buNone/>
              <a:defRPr sz="1125" b="0" i="0">
                <a:solidFill>
                  <a:srgbClr val="AFC0B8"/>
                </a:solidFill>
                <a:latin typeface="Arial"/>
                <a:ea typeface="Arial"/>
                <a:cs typeface="Arial"/>
              </a:defRPr>
            </a:lvl9pPr>
          </a:lstStyle>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370-linker functional</a:t>
            </a:r>
          </a:p>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model for one fusion</a:t>
            </a:r>
          </a:p>
        </p:txBody>
      </p:sp>
      <p:sp>
        <p:nvSpPr>
          <p:cNvPr id="29" name="Straight Connector 28">
            <a:extLst xmlns:a="http://schemas.openxmlformats.org/drawingml/2006/main">
              <a:ext uri="{FF2B5EF4-FFF2-40B4-BE49-F238E27FC236}">
                <a16:creationId xmlns:a16="http://schemas.microsoft.com/office/drawing/2014/main" id="{0C0F1DC8-F415-4F52-BD0F-0059638BCE4A}"/>
              </a:ext>
            </a:extLst>
          </p:cNvPr>
          <p:cNvSpPr>
            <a:spLocks xmlns:a="http://schemas.openxmlformats.org/drawingml/2006/main" noGrp="1"/>
          </p:cNvSpPr>
          <p:nvPr/>
        </p:nvSpPr>
        <p:spPr>
          <a:xfrm xmlns:a="http://schemas.openxmlformats.org/drawingml/2006/main">
            <a:off x="1352550" y="5391150"/>
            <a:ext cx="9486900"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30" name="Rectangle 29">
            <a:extLst xmlns:a="http://schemas.openxmlformats.org/drawingml/2006/main">
              <a:ext uri="{FF2B5EF4-FFF2-40B4-BE49-F238E27FC236}">
                <a16:creationId xmlns:a16="http://schemas.microsoft.com/office/drawing/2014/main" id="{73E317F2-7DEB-452F-B39C-C9D175589C5A}"/>
              </a:ext>
            </a:extLst>
          </p:cNvPr>
          <p:cNvSpPr>
            <a:spLocks xmlns:a="http://schemas.openxmlformats.org/drawingml/2006/main" noGrp="1"/>
          </p:cNvSpPr>
          <p:nvPr/>
        </p:nvSpPr>
        <p:spPr>
          <a:xfrm xmlns:a="http://schemas.openxmlformats.org/drawingml/2006/main">
            <a:off x="1685925" y="5524500"/>
            <a:ext cx="882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913"/>
          </a:bodyPr>
          <a:lstStyle xmlns:a="http://schemas.openxmlformats.org/drawingml/2006/main">
            <a:defPPr algn="ctr">
              <a:defRPr sz="1425" b="1" i="0">
                <a:solidFill>
                  <a:srgbClr val="3FC6D6"/>
                </a:solidFill>
                <a:latin typeface="Arial"/>
                <a:ea typeface="Arial"/>
                <a:cs typeface="Arial"/>
              </a:defRPr>
            </a:defPPr>
            <a:lvl1pPr algn="ctr">
              <a:buNone/>
              <a:defRPr sz="1425" b="1" i="0">
                <a:solidFill>
                  <a:srgbClr val="3FC6D6"/>
                </a:solidFill>
                <a:latin typeface="Arial"/>
                <a:ea typeface="Arial"/>
                <a:cs typeface="Arial"/>
              </a:defRPr>
            </a:lvl1pPr>
            <a:lvl2pPr algn="ctr">
              <a:buNone/>
              <a:defRPr sz="1425" b="1" i="0">
                <a:solidFill>
                  <a:srgbClr val="3FC6D6"/>
                </a:solidFill>
                <a:latin typeface="Arial"/>
                <a:ea typeface="Arial"/>
                <a:cs typeface="Arial"/>
              </a:defRPr>
            </a:lvl2pPr>
            <a:lvl3pPr algn="ctr">
              <a:buNone/>
              <a:defRPr sz="1425" b="1" i="0">
                <a:solidFill>
                  <a:srgbClr val="3FC6D6"/>
                </a:solidFill>
                <a:latin typeface="Arial"/>
                <a:ea typeface="Arial"/>
                <a:cs typeface="Arial"/>
              </a:defRPr>
            </a:lvl3pPr>
            <a:lvl4pPr algn="ctr">
              <a:buNone/>
              <a:defRPr sz="1425" b="1" i="0">
                <a:solidFill>
                  <a:srgbClr val="3FC6D6"/>
                </a:solidFill>
                <a:latin typeface="Arial"/>
                <a:ea typeface="Arial"/>
                <a:cs typeface="Arial"/>
              </a:defRPr>
            </a:lvl4pPr>
            <a:lvl5pPr algn="ctr">
              <a:buNone/>
              <a:defRPr sz="1425" b="1" i="0">
                <a:solidFill>
                  <a:srgbClr val="3FC6D6"/>
                </a:solidFill>
                <a:latin typeface="Arial"/>
                <a:ea typeface="Arial"/>
                <a:cs typeface="Arial"/>
              </a:defRPr>
            </a:lvl5pPr>
            <a:lvl6pPr algn="ctr">
              <a:buNone/>
              <a:defRPr sz="1425" b="1" i="0">
                <a:solidFill>
                  <a:srgbClr val="3FC6D6"/>
                </a:solidFill>
                <a:latin typeface="Arial"/>
                <a:ea typeface="Arial"/>
                <a:cs typeface="Arial"/>
              </a:defRPr>
            </a:lvl6pPr>
            <a:lvl7pPr algn="ctr">
              <a:buNone/>
              <a:defRPr sz="1425" b="1" i="0">
                <a:solidFill>
                  <a:srgbClr val="3FC6D6"/>
                </a:solidFill>
                <a:latin typeface="Arial"/>
                <a:ea typeface="Arial"/>
                <a:cs typeface="Arial"/>
              </a:defRPr>
            </a:lvl7pPr>
            <a:lvl8pPr algn="ctr">
              <a:buNone/>
              <a:defRPr sz="1425" b="1" i="0">
                <a:solidFill>
                  <a:srgbClr val="3FC6D6"/>
                </a:solidFill>
                <a:latin typeface="Arial"/>
                <a:ea typeface="Arial"/>
                <a:cs typeface="Arial"/>
              </a:defRPr>
            </a:lvl8pPr>
            <a:lvl9pPr algn="ctr">
              <a:buNone/>
              <a:defRPr sz="1425" b="1" i="0">
                <a:solidFill>
                  <a:srgbClr val="3FC6D6"/>
                </a:solidFill>
                <a:latin typeface="Arial"/>
                <a:ea typeface="Arial"/>
                <a:cs typeface="Arial"/>
              </a:defRPr>
            </a:lvl9pPr>
          </a:lstStyle>
          <a:p xmlns:a="http://schemas.openxmlformats.org/drawingml/2006/main">
            <a:pPr algn="ctr">
              <a:buNone/>
              <a:defRPr sz="1425" b="1" i="0">
                <a:solidFill>
                  <a:srgbClr val="3FC6D6"/>
                </a:solidFill>
                <a:latin typeface="Arial"/>
                <a:ea typeface="Arial"/>
                <a:cs typeface="Arial"/>
              </a:defRPr>
            </a:pPr>
            <a:r>
              <a:rPr sz="1425" b="1" i="0">
                <a:solidFill>
                  <a:srgbClr val="3FC6D6"/>
                </a:solidFill>
                <a:latin typeface="Arial"/>
                <a:ea typeface="Arial"/>
                <a:cs typeface="Arial"/>
              </a:rPr>
              <a:t>Residue detection, candidate generation, functional prediction, and pair-specific ranking require different evidence.</a:t>
            </a:r>
          </a:p>
        </p:txBody>
      </p:sp>
    </p:spTree>
    <p:extLst>
      <p:ext uri="{BB962C8B-B14F-4D97-AF65-F5344CB8AC3E}">
        <p14:creationId xmlns:p14="http://schemas.microsoft.com/office/powerpoint/2010/main" val="1893482095"/>
      </p:ext>
    </p:extLst>
  </p:cSld>
</p:sld>
</file>

<file path=ppt/slides/slide5.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5" name="Rectangle 24">
            <a:extLst xmlns:a="http://schemas.openxmlformats.org/drawingml/2006/main">
              <a:ext uri="{FF2B5EF4-FFF2-40B4-BE49-F238E27FC236}">
                <a16:creationId xmlns:a16="http://schemas.microsoft.com/office/drawing/2014/main" id="{5FEE9711-AC3C-4E94-954B-CAFF2C7DAE3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CA1771B-DFDD-464C-8F3C-78FCCB5CA6AF}"/>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31E89887-D14D-4ADE-9B09-2B9FEFC7437F}"/>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PUBLISHED EVIDENCE</a:t>
            </a:r>
          </a:p>
        </p:txBody>
      </p:sp>
      <p:sp>
        <p:nvSpPr>
          <p:cNvPr id="4" name="Rectangle 3">
            <a:extLst xmlns:a="http://schemas.openxmlformats.org/drawingml/2006/main">
              <a:ext uri="{FF2B5EF4-FFF2-40B4-BE49-F238E27FC236}">
                <a16:creationId xmlns:a16="http://schemas.microsoft.com/office/drawing/2014/main" id="{3F550257-3A33-498B-B854-09D2A2F7923B}"/>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Short quotations from LINKER (2000), SynLinker (2015), Li et al. (2026), and McBride et al. (2026)</a:t>
            </a:r>
          </a:p>
        </p:txBody>
      </p:sp>
      <p:sp>
        <p:nvSpPr>
          <p:cNvPr id="5" name="Rectangle 4">
            <a:extLst xmlns:a="http://schemas.openxmlformats.org/drawingml/2006/main">
              <a:ext uri="{FF2B5EF4-FFF2-40B4-BE49-F238E27FC236}">
                <a16:creationId xmlns:a16="http://schemas.microsoft.com/office/drawing/2014/main" id="{1056FB5D-99A2-4175-B8F3-EB06B801A9F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05</a:t>
            </a:r>
          </a:p>
        </p:txBody>
      </p:sp>
      <p:sp>
        <p:nvSpPr>
          <p:cNvPr id="6" name="Rectangle 5">
            <a:extLst xmlns:a="http://schemas.openxmlformats.org/drawingml/2006/main">
              <a:ext uri="{FF2B5EF4-FFF2-40B4-BE49-F238E27FC236}">
                <a16:creationId xmlns:a16="http://schemas.microsoft.com/office/drawing/2014/main" id="{E3BC7343-6965-4A04-884A-0D8F0DE3B136}"/>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The literature defines the remaining problem</a:t>
            </a:r>
          </a:p>
        </p:txBody>
      </p:sp>
      <p:sp>
        <p:nvSpPr>
          <p:cNvPr id="7" name="Rectangle 6">
            <a:extLst xmlns:a="http://schemas.openxmlformats.org/drawingml/2006/main">
              <a:ext uri="{FF2B5EF4-FFF2-40B4-BE49-F238E27FC236}">
                <a16:creationId xmlns:a16="http://schemas.microsoft.com/office/drawing/2014/main" id="{3D467BD1-360C-43A5-BA1F-76E8727887C0}"/>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Selection moved from intuition toward functional models, while cross-pair evidence remains limited</a:t>
            </a:r>
          </a:p>
        </p:txBody>
      </p:sp>
      <p:sp>
        <p:nvSpPr>
          <p:cNvPr id="8" name="Rectangle 7">
            <a:extLst xmlns:a="http://schemas.openxmlformats.org/drawingml/2006/main">
              <a:ext uri="{FF2B5EF4-FFF2-40B4-BE49-F238E27FC236}">
                <a16:creationId xmlns:a16="http://schemas.microsoft.com/office/drawing/2014/main" id="{D54E5216-0DDF-4D64-B4EE-AD31D6064F30}"/>
              </a:ext>
            </a:extLst>
          </p:cNvPr>
          <p:cNvSpPr>
            <a:spLocks xmlns:a="http://schemas.openxmlformats.org/drawingml/2006/main" noGrp="1"/>
          </p:cNvSpPr>
          <p:nvPr/>
        </p:nvSpPr>
        <p:spPr>
          <a:xfrm xmlns:a="http://schemas.openxmlformats.org/drawingml/2006/main">
            <a:off x="638175" y="16859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4E9BEC"/>
                </a:solidFill>
                <a:latin typeface="Arial"/>
                <a:ea typeface="Arial"/>
                <a:cs typeface="Arial"/>
              </a:defRPr>
            </a:defPPr>
            <a:lvl1pPr algn="l">
              <a:buNone/>
              <a:defRPr sz="1050" b="1" i="0">
                <a:solidFill>
                  <a:srgbClr val="4E9BEC"/>
                </a:solidFill>
                <a:latin typeface="Arial"/>
                <a:ea typeface="Arial"/>
                <a:cs typeface="Arial"/>
              </a:defRPr>
            </a:lvl1pPr>
            <a:lvl2pPr algn="l">
              <a:buNone/>
              <a:defRPr sz="1050" b="1" i="0">
                <a:solidFill>
                  <a:srgbClr val="4E9BEC"/>
                </a:solidFill>
                <a:latin typeface="Arial"/>
                <a:ea typeface="Arial"/>
                <a:cs typeface="Arial"/>
              </a:defRPr>
            </a:lvl2pPr>
            <a:lvl3pPr algn="l">
              <a:buNone/>
              <a:defRPr sz="1050" b="1" i="0">
                <a:solidFill>
                  <a:srgbClr val="4E9BEC"/>
                </a:solidFill>
                <a:latin typeface="Arial"/>
                <a:ea typeface="Arial"/>
                <a:cs typeface="Arial"/>
              </a:defRPr>
            </a:lvl3pPr>
            <a:lvl4pPr algn="l">
              <a:buNone/>
              <a:defRPr sz="1050" b="1" i="0">
                <a:solidFill>
                  <a:srgbClr val="4E9BEC"/>
                </a:solidFill>
                <a:latin typeface="Arial"/>
                <a:ea typeface="Arial"/>
                <a:cs typeface="Arial"/>
              </a:defRPr>
            </a:lvl4pPr>
            <a:lvl5pPr algn="l">
              <a:buNone/>
              <a:defRPr sz="1050" b="1" i="0">
                <a:solidFill>
                  <a:srgbClr val="4E9BEC"/>
                </a:solidFill>
                <a:latin typeface="Arial"/>
                <a:ea typeface="Arial"/>
                <a:cs typeface="Arial"/>
              </a:defRPr>
            </a:lvl5pPr>
            <a:lvl6pPr algn="l">
              <a:buNone/>
              <a:defRPr sz="1050" b="1" i="0">
                <a:solidFill>
                  <a:srgbClr val="4E9BEC"/>
                </a:solidFill>
                <a:latin typeface="Arial"/>
                <a:ea typeface="Arial"/>
                <a:cs typeface="Arial"/>
              </a:defRPr>
            </a:lvl6pPr>
            <a:lvl7pPr algn="l">
              <a:buNone/>
              <a:defRPr sz="1050" b="1" i="0">
                <a:solidFill>
                  <a:srgbClr val="4E9BEC"/>
                </a:solidFill>
                <a:latin typeface="Arial"/>
                <a:ea typeface="Arial"/>
                <a:cs typeface="Arial"/>
              </a:defRPr>
            </a:lvl7pPr>
            <a:lvl8pPr algn="l">
              <a:buNone/>
              <a:defRPr sz="1050" b="1" i="0">
                <a:solidFill>
                  <a:srgbClr val="4E9BEC"/>
                </a:solidFill>
                <a:latin typeface="Arial"/>
                <a:ea typeface="Arial"/>
                <a:cs typeface="Arial"/>
              </a:defRPr>
            </a:lvl8pPr>
            <a:lvl9pPr algn="l">
              <a:buNone/>
              <a:defRPr sz="1050" b="1" i="0">
                <a:solidFill>
                  <a:srgbClr val="4E9BEC"/>
                </a:solidFill>
                <a:latin typeface="Arial"/>
                <a:ea typeface="Arial"/>
                <a:cs typeface="Arial"/>
              </a:defRPr>
            </a:lvl9pPr>
          </a:lstStyle>
          <a:p xmlns:a="http://schemas.openxmlformats.org/drawingml/2006/main">
            <a:pPr algn="l">
              <a:buNone/>
              <a:defRPr sz="1050" b="1" i="0">
                <a:solidFill>
                  <a:srgbClr val="4E9BEC"/>
                </a:solidFill>
                <a:latin typeface="Arial"/>
                <a:ea typeface="Arial"/>
                <a:cs typeface="Arial"/>
              </a:defRPr>
            </a:pPr>
            <a:r>
              <a:rPr sz="1050" b="1" i="0">
                <a:solidFill>
                  <a:srgbClr val="4E9BEC"/>
                </a:solidFill>
                <a:latin typeface="Arial"/>
                <a:ea typeface="Arial"/>
                <a:cs typeface="Arial"/>
              </a:rPr>
              <a:t>2000 · LINKER</a:t>
            </a:r>
          </a:p>
        </p:txBody>
      </p:sp>
      <p:sp>
        <p:nvSpPr>
          <p:cNvPr id="9" name="Rectangle 8">
            <a:extLst xmlns:a="http://schemas.openxmlformats.org/drawingml/2006/main">
              <a:ext uri="{FF2B5EF4-FFF2-40B4-BE49-F238E27FC236}">
                <a16:creationId xmlns:a16="http://schemas.microsoft.com/office/drawing/2014/main" id="{65C98A5B-699F-45EB-99EE-285E99DD55E7}"/>
              </a:ext>
            </a:extLst>
          </p:cNvPr>
          <p:cNvSpPr>
            <a:spLocks xmlns:a="http://schemas.openxmlformats.org/drawingml/2006/main" noGrp="1"/>
          </p:cNvSpPr>
          <p:nvPr/>
        </p:nvSpPr>
        <p:spPr>
          <a:xfrm xmlns:a="http://schemas.openxmlformats.org/drawingml/2006/main">
            <a:off x="2914650" y="16573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“Linker sequences are generally selected based on intuition.”</a:t>
            </a:r>
          </a:p>
        </p:txBody>
      </p:sp>
      <p:sp>
        <p:nvSpPr>
          <p:cNvPr id="10" name="Rectangle 9">
            <a:extLst xmlns:a="http://schemas.openxmlformats.org/drawingml/2006/main">
              <a:ext uri="{FF2B5EF4-FFF2-40B4-BE49-F238E27FC236}">
                <a16:creationId xmlns:a16="http://schemas.microsoft.com/office/drawing/2014/main" id="{461F800F-17B7-40B1-9CE5-7994E8175888}"/>
              </a:ext>
            </a:extLst>
          </p:cNvPr>
          <p:cNvSpPr>
            <a:spLocks xmlns:a="http://schemas.openxmlformats.org/drawingml/2006/main" noGrp="1"/>
          </p:cNvSpPr>
          <p:nvPr/>
        </p:nvSpPr>
        <p:spPr>
          <a:xfrm xmlns:a="http://schemas.openxmlformats.org/drawingml/2006/main">
            <a:off x="2924175" y="22383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Crasto &amp; Feng · DOI 10.1093/protein/13.5.309</a:t>
            </a:r>
          </a:p>
        </p:txBody>
      </p:sp>
      <p:sp>
        <p:nvSpPr>
          <p:cNvPr id="11" name="Straight Connector 10">
            <a:extLst xmlns:a="http://schemas.openxmlformats.org/drawingml/2006/main">
              <a:ext uri="{FF2B5EF4-FFF2-40B4-BE49-F238E27FC236}">
                <a16:creationId xmlns:a16="http://schemas.microsoft.com/office/drawing/2014/main" id="{28E4FA55-C998-4F67-99E5-2EFA9B2CEE15}"/>
              </a:ext>
            </a:extLst>
          </p:cNvPr>
          <p:cNvSpPr>
            <a:spLocks xmlns:a="http://schemas.openxmlformats.org/drawingml/2006/main" noGrp="1"/>
          </p:cNvSpPr>
          <p:nvPr/>
        </p:nvSpPr>
        <p:spPr>
          <a:xfrm xmlns:a="http://schemas.openxmlformats.org/drawingml/2006/main">
            <a:off x="638175" y="2552700"/>
            <a:ext cx="106965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2" name="Rectangle 11">
            <a:extLst xmlns:a="http://schemas.openxmlformats.org/drawingml/2006/main">
              <a:ext uri="{FF2B5EF4-FFF2-40B4-BE49-F238E27FC236}">
                <a16:creationId xmlns:a16="http://schemas.microsoft.com/office/drawing/2014/main" id="{ECCC4320-F7F8-44BA-A8C4-751297BFA88A}"/>
              </a:ext>
            </a:extLst>
          </p:cNvPr>
          <p:cNvSpPr>
            <a:spLocks xmlns:a="http://schemas.openxmlformats.org/drawingml/2006/main" noGrp="1"/>
          </p:cNvSpPr>
          <p:nvPr/>
        </p:nvSpPr>
        <p:spPr>
          <a:xfrm xmlns:a="http://schemas.openxmlformats.org/drawingml/2006/main">
            <a:off x="638175" y="27527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2DBD73"/>
                </a:solidFill>
                <a:latin typeface="Arial"/>
                <a:ea typeface="Arial"/>
                <a:cs typeface="Arial"/>
              </a:defRPr>
            </a:defPPr>
            <a:lvl1pPr algn="l">
              <a:buNone/>
              <a:defRPr sz="1050" b="1" i="0">
                <a:solidFill>
                  <a:srgbClr val="2DBD73"/>
                </a:solidFill>
                <a:latin typeface="Arial"/>
                <a:ea typeface="Arial"/>
                <a:cs typeface="Arial"/>
              </a:defRPr>
            </a:lvl1pPr>
            <a:lvl2pPr algn="l">
              <a:buNone/>
              <a:defRPr sz="1050" b="1" i="0">
                <a:solidFill>
                  <a:srgbClr val="2DBD73"/>
                </a:solidFill>
                <a:latin typeface="Arial"/>
                <a:ea typeface="Arial"/>
                <a:cs typeface="Arial"/>
              </a:defRPr>
            </a:lvl2pPr>
            <a:lvl3pPr algn="l">
              <a:buNone/>
              <a:defRPr sz="1050" b="1" i="0">
                <a:solidFill>
                  <a:srgbClr val="2DBD73"/>
                </a:solidFill>
                <a:latin typeface="Arial"/>
                <a:ea typeface="Arial"/>
                <a:cs typeface="Arial"/>
              </a:defRPr>
            </a:lvl3pPr>
            <a:lvl4pPr algn="l">
              <a:buNone/>
              <a:defRPr sz="1050" b="1" i="0">
                <a:solidFill>
                  <a:srgbClr val="2DBD73"/>
                </a:solidFill>
                <a:latin typeface="Arial"/>
                <a:ea typeface="Arial"/>
                <a:cs typeface="Arial"/>
              </a:defRPr>
            </a:lvl4pPr>
            <a:lvl5pPr algn="l">
              <a:buNone/>
              <a:defRPr sz="1050" b="1" i="0">
                <a:solidFill>
                  <a:srgbClr val="2DBD73"/>
                </a:solidFill>
                <a:latin typeface="Arial"/>
                <a:ea typeface="Arial"/>
                <a:cs typeface="Arial"/>
              </a:defRPr>
            </a:lvl5pPr>
            <a:lvl6pPr algn="l">
              <a:buNone/>
              <a:defRPr sz="1050" b="1" i="0">
                <a:solidFill>
                  <a:srgbClr val="2DBD73"/>
                </a:solidFill>
                <a:latin typeface="Arial"/>
                <a:ea typeface="Arial"/>
                <a:cs typeface="Arial"/>
              </a:defRPr>
            </a:lvl6pPr>
            <a:lvl7pPr algn="l">
              <a:buNone/>
              <a:defRPr sz="1050" b="1" i="0">
                <a:solidFill>
                  <a:srgbClr val="2DBD73"/>
                </a:solidFill>
                <a:latin typeface="Arial"/>
                <a:ea typeface="Arial"/>
                <a:cs typeface="Arial"/>
              </a:defRPr>
            </a:lvl7pPr>
            <a:lvl8pPr algn="l">
              <a:buNone/>
              <a:defRPr sz="1050" b="1" i="0">
                <a:solidFill>
                  <a:srgbClr val="2DBD73"/>
                </a:solidFill>
                <a:latin typeface="Arial"/>
                <a:ea typeface="Arial"/>
                <a:cs typeface="Arial"/>
              </a:defRPr>
            </a:lvl8pPr>
            <a:lvl9pPr algn="l">
              <a:buNone/>
              <a:defRPr sz="1050" b="1" i="0">
                <a:solidFill>
                  <a:srgbClr val="2DBD73"/>
                </a:solidFill>
                <a:latin typeface="Arial"/>
                <a:ea typeface="Arial"/>
                <a:cs typeface="Arial"/>
              </a:defRPr>
            </a:lvl9pPr>
          </a:lstStyle>
          <a:p xmlns:a="http://schemas.openxmlformats.org/drawingml/2006/main">
            <a:pPr algn="l">
              <a:buNone/>
              <a:defRPr sz="1050" b="1" i="0">
                <a:solidFill>
                  <a:srgbClr val="2DBD73"/>
                </a:solidFill>
                <a:latin typeface="Arial"/>
                <a:ea typeface="Arial"/>
                <a:cs typeface="Arial"/>
              </a:defRPr>
            </a:pPr>
            <a:r>
              <a:rPr sz="1050" b="1" i="0">
                <a:solidFill>
                  <a:srgbClr val="2DBD73"/>
                </a:solidFill>
                <a:latin typeface="Arial"/>
                <a:ea typeface="Arial"/>
                <a:cs typeface="Arial"/>
              </a:rPr>
              <a:t>2015 · SynLinker</a:t>
            </a:r>
          </a:p>
        </p:txBody>
      </p:sp>
      <p:sp>
        <p:nvSpPr>
          <p:cNvPr id="13" name="Rectangle 12">
            <a:extLst xmlns:a="http://schemas.openxmlformats.org/drawingml/2006/main">
              <a:ext uri="{FF2B5EF4-FFF2-40B4-BE49-F238E27FC236}">
                <a16:creationId xmlns:a16="http://schemas.microsoft.com/office/drawing/2014/main" id="{CFFE5A77-2B2E-495D-951D-7C175102627E}"/>
              </a:ext>
            </a:extLst>
          </p:cNvPr>
          <p:cNvSpPr>
            <a:spLocks xmlns:a="http://schemas.openxmlformats.org/drawingml/2006/main" noGrp="1"/>
          </p:cNvSpPr>
          <p:nvPr/>
        </p:nvSpPr>
        <p:spPr>
          <a:xfrm xmlns:a="http://schemas.openxmlformats.org/drawingml/2006/main">
            <a:off x="2914650" y="27241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539"/>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“The linker selection is done mostly ad hoc and still based on random test in experiments.”</a:t>
            </a:r>
          </a:p>
        </p:txBody>
      </p:sp>
      <p:sp>
        <p:nvSpPr>
          <p:cNvPr id="14" name="Rectangle 13">
            <a:extLst xmlns:a="http://schemas.openxmlformats.org/drawingml/2006/main">
              <a:ext uri="{FF2B5EF4-FFF2-40B4-BE49-F238E27FC236}">
                <a16:creationId xmlns:a16="http://schemas.microsoft.com/office/drawing/2014/main" id="{69F185B2-1975-4ABA-936B-D82EB34A332D}"/>
              </a:ext>
            </a:extLst>
          </p:cNvPr>
          <p:cNvSpPr>
            <a:spLocks xmlns:a="http://schemas.openxmlformats.org/drawingml/2006/main" noGrp="1"/>
          </p:cNvSpPr>
          <p:nvPr/>
        </p:nvSpPr>
        <p:spPr>
          <a:xfrm xmlns:a="http://schemas.openxmlformats.org/drawingml/2006/main">
            <a:off x="2924175" y="33051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Liu, Chin &amp; Lee · DOI 10.1093/bioinformatics/btv447</a:t>
            </a:r>
          </a:p>
        </p:txBody>
      </p:sp>
      <p:sp>
        <p:nvSpPr>
          <p:cNvPr id="15" name="Straight Connector 14">
            <a:extLst xmlns:a="http://schemas.openxmlformats.org/drawingml/2006/main">
              <a:ext uri="{FF2B5EF4-FFF2-40B4-BE49-F238E27FC236}">
                <a16:creationId xmlns:a16="http://schemas.microsoft.com/office/drawing/2014/main" id="{D8D9D3D2-B9DE-4174-AFA5-FBCDEE07771D}"/>
              </a:ext>
            </a:extLst>
          </p:cNvPr>
          <p:cNvSpPr>
            <a:spLocks xmlns:a="http://schemas.openxmlformats.org/drawingml/2006/main" noGrp="1"/>
          </p:cNvSpPr>
          <p:nvPr/>
        </p:nvSpPr>
        <p:spPr>
          <a:xfrm xmlns:a="http://schemas.openxmlformats.org/drawingml/2006/main">
            <a:off x="638175" y="3619500"/>
            <a:ext cx="106965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6" name="Rectangle 15">
            <a:extLst xmlns:a="http://schemas.openxmlformats.org/drawingml/2006/main">
              <a:ext uri="{FF2B5EF4-FFF2-40B4-BE49-F238E27FC236}">
                <a16:creationId xmlns:a16="http://schemas.microsoft.com/office/drawing/2014/main" id="{ED3D596D-EE1D-4C85-B637-391916502F63}"/>
              </a:ext>
            </a:extLst>
          </p:cNvPr>
          <p:cNvSpPr>
            <a:spLocks xmlns:a="http://schemas.openxmlformats.org/drawingml/2006/main" noGrp="1"/>
          </p:cNvSpPr>
          <p:nvPr/>
        </p:nvSpPr>
        <p:spPr>
          <a:xfrm xmlns:a="http://schemas.openxmlformats.org/drawingml/2006/main">
            <a:off x="638175" y="38195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E84AAB"/>
                </a:solidFill>
                <a:latin typeface="Arial"/>
                <a:ea typeface="Arial"/>
                <a:cs typeface="Arial"/>
              </a:defRPr>
            </a:defPPr>
            <a:lvl1pPr algn="l">
              <a:buNone/>
              <a:defRPr sz="1050" b="1" i="0">
                <a:solidFill>
                  <a:srgbClr val="E84AAB"/>
                </a:solidFill>
                <a:latin typeface="Arial"/>
                <a:ea typeface="Arial"/>
                <a:cs typeface="Arial"/>
              </a:defRPr>
            </a:lvl1pPr>
            <a:lvl2pPr algn="l">
              <a:buNone/>
              <a:defRPr sz="1050" b="1" i="0">
                <a:solidFill>
                  <a:srgbClr val="E84AAB"/>
                </a:solidFill>
                <a:latin typeface="Arial"/>
                <a:ea typeface="Arial"/>
                <a:cs typeface="Arial"/>
              </a:defRPr>
            </a:lvl2pPr>
            <a:lvl3pPr algn="l">
              <a:buNone/>
              <a:defRPr sz="1050" b="1" i="0">
                <a:solidFill>
                  <a:srgbClr val="E84AAB"/>
                </a:solidFill>
                <a:latin typeface="Arial"/>
                <a:ea typeface="Arial"/>
                <a:cs typeface="Arial"/>
              </a:defRPr>
            </a:lvl3pPr>
            <a:lvl4pPr algn="l">
              <a:buNone/>
              <a:defRPr sz="1050" b="1" i="0">
                <a:solidFill>
                  <a:srgbClr val="E84AAB"/>
                </a:solidFill>
                <a:latin typeface="Arial"/>
                <a:ea typeface="Arial"/>
                <a:cs typeface="Arial"/>
              </a:defRPr>
            </a:lvl4pPr>
            <a:lvl5pPr algn="l">
              <a:buNone/>
              <a:defRPr sz="1050" b="1" i="0">
                <a:solidFill>
                  <a:srgbClr val="E84AAB"/>
                </a:solidFill>
                <a:latin typeface="Arial"/>
                <a:ea typeface="Arial"/>
                <a:cs typeface="Arial"/>
              </a:defRPr>
            </a:lvl5pPr>
            <a:lvl6pPr algn="l">
              <a:buNone/>
              <a:defRPr sz="1050" b="1" i="0">
                <a:solidFill>
                  <a:srgbClr val="E84AAB"/>
                </a:solidFill>
                <a:latin typeface="Arial"/>
                <a:ea typeface="Arial"/>
                <a:cs typeface="Arial"/>
              </a:defRPr>
            </a:lvl6pPr>
            <a:lvl7pPr algn="l">
              <a:buNone/>
              <a:defRPr sz="1050" b="1" i="0">
                <a:solidFill>
                  <a:srgbClr val="E84AAB"/>
                </a:solidFill>
                <a:latin typeface="Arial"/>
                <a:ea typeface="Arial"/>
                <a:cs typeface="Arial"/>
              </a:defRPr>
            </a:lvl7pPr>
            <a:lvl8pPr algn="l">
              <a:buNone/>
              <a:defRPr sz="1050" b="1" i="0">
                <a:solidFill>
                  <a:srgbClr val="E84AAB"/>
                </a:solidFill>
                <a:latin typeface="Arial"/>
                <a:ea typeface="Arial"/>
                <a:cs typeface="Arial"/>
              </a:defRPr>
            </a:lvl8pPr>
            <a:lvl9pPr algn="l">
              <a:buNone/>
              <a:defRPr sz="1050" b="1" i="0">
                <a:solidFill>
                  <a:srgbClr val="E84AAB"/>
                </a:solidFill>
                <a:latin typeface="Arial"/>
                <a:ea typeface="Arial"/>
                <a:cs typeface="Arial"/>
              </a:defRPr>
            </a:lvl9pPr>
          </a:lstStyle>
          <a:p xmlns:a="http://schemas.openxmlformats.org/drawingml/2006/main">
            <a:pPr algn="l">
              <a:buNone/>
              <a:defRPr sz="1050" b="1" i="0">
                <a:solidFill>
                  <a:srgbClr val="E84AAB"/>
                </a:solidFill>
                <a:latin typeface="Arial"/>
                <a:ea typeface="Arial"/>
                <a:cs typeface="Arial"/>
              </a:defRPr>
            </a:pPr>
            <a:r>
              <a:rPr sz="1050" b="1" i="0">
                <a:solidFill>
                  <a:srgbClr val="E84AAB"/>
                </a:solidFill>
                <a:latin typeface="Arial"/>
                <a:ea typeface="Arial"/>
                <a:cs typeface="Arial"/>
              </a:rPr>
              <a:t>2026 · Li et al.</a:t>
            </a:r>
          </a:p>
        </p:txBody>
      </p:sp>
      <p:sp>
        <p:nvSpPr>
          <p:cNvPr id="17" name="Rectangle 16">
            <a:extLst xmlns:a="http://schemas.openxmlformats.org/drawingml/2006/main">
              <a:ext uri="{FF2B5EF4-FFF2-40B4-BE49-F238E27FC236}">
                <a16:creationId xmlns:a16="http://schemas.microsoft.com/office/drawing/2014/main" id="{5F228B99-D313-4B36-BC4C-20A20478179B}"/>
              </a:ext>
            </a:extLst>
          </p:cNvPr>
          <p:cNvSpPr>
            <a:spLocks xmlns:a="http://schemas.openxmlformats.org/drawingml/2006/main" noGrp="1"/>
          </p:cNvSpPr>
          <p:nvPr/>
        </p:nvSpPr>
        <p:spPr>
          <a:xfrm xmlns:a="http://schemas.openxmlformats.org/drawingml/2006/main">
            <a:off x="2914650" y="37909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879"/>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“the context-dependent nature of linker performance ... necessitates customization for each unique protein pair.”</a:t>
            </a:r>
          </a:p>
        </p:txBody>
      </p:sp>
      <p:sp>
        <p:nvSpPr>
          <p:cNvPr id="18" name="Rectangle 17">
            <a:extLst xmlns:a="http://schemas.openxmlformats.org/drawingml/2006/main">
              <a:ext uri="{FF2B5EF4-FFF2-40B4-BE49-F238E27FC236}">
                <a16:creationId xmlns:a16="http://schemas.microsoft.com/office/drawing/2014/main" id="{C23AC476-68BD-48F4-9E29-384A2AACEE51}"/>
              </a:ext>
            </a:extLst>
          </p:cNvPr>
          <p:cNvSpPr>
            <a:spLocks xmlns:a="http://schemas.openxmlformats.org/drawingml/2006/main" noGrp="1"/>
          </p:cNvSpPr>
          <p:nvPr/>
        </p:nvSpPr>
        <p:spPr>
          <a:xfrm xmlns:a="http://schemas.openxmlformats.org/drawingml/2006/main">
            <a:off x="2924175" y="43719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Li et al. · DOI 10.1016/j.synbio.2026.02.003</a:t>
            </a:r>
          </a:p>
        </p:txBody>
      </p:sp>
      <p:sp>
        <p:nvSpPr>
          <p:cNvPr id="19" name="Straight Connector 18">
            <a:extLst xmlns:a="http://schemas.openxmlformats.org/drawingml/2006/main">
              <a:ext uri="{FF2B5EF4-FFF2-40B4-BE49-F238E27FC236}">
                <a16:creationId xmlns:a16="http://schemas.microsoft.com/office/drawing/2014/main" id="{A3BABD20-7BBF-4A20-8576-B800C717C958}"/>
              </a:ext>
            </a:extLst>
          </p:cNvPr>
          <p:cNvSpPr>
            <a:spLocks xmlns:a="http://schemas.openxmlformats.org/drawingml/2006/main" noGrp="1"/>
          </p:cNvSpPr>
          <p:nvPr/>
        </p:nvSpPr>
        <p:spPr>
          <a:xfrm xmlns:a="http://schemas.openxmlformats.org/drawingml/2006/main">
            <a:off x="638175" y="4686300"/>
            <a:ext cx="106965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0" name="Rectangle 19">
            <a:extLst xmlns:a="http://schemas.openxmlformats.org/drawingml/2006/main">
              <a:ext uri="{FF2B5EF4-FFF2-40B4-BE49-F238E27FC236}">
                <a16:creationId xmlns:a16="http://schemas.microsoft.com/office/drawing/2014/main" id="{7C37EA97-0C77-42CC-A2EA-4E789ED63CE5}"/>
              </a:ext>
            </a:extLst>
          </p:cNvPr>
          <p:cNvSpPr>
            <a:spLocks xmlns:a="http://schemas.openxmlformats.org/drawingml/2006/main" noGrp="1"/>
          </p:cNvSpPr>
          <p:nvPr/>
        </p:nvSpPr>
        <p:spPr>
          <a:xfrm xmlns:a="http://schemas.openxmlformats.org/drawingml/2006/main">
            <a:off x="638175" y="48863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E46760"/>
                </a:solidFill>
                <a:latin typeface="Arial"/>
                <a:ea typeface="Arial"/>
                <a:cs typeface="Arial"/>
              </a:defRPr>
            </a:defPPr>
            <a:lvl1pPr algn="l">
              <a:buNone/>
              <a:defRPr sz="1050" b="1" i="0">
                <a:solidFill>
                  <a:srgbClr val="E46760"/>
                </a:solidFill>
                <a:latin typeface="Arial"/>
                <a:ea typeface="Arial"/>
                <a:cs typeface="Arial"/>
              </a:defRPr>
            </a:lvl1pPr>
            <a:lvl2pPr algn="l">
              <a:buNone/>
              <a:defRPr sz="1050" b="1" i="0">
                <a:solidFill>
                  <a:srgbClr val="E46760"/>
                </a:solidFill>
                <a:latin typeface="Arial"/>
                <a:ea typeface="Arial"/>
                <a:cs typeface="Arial"/>
              </a:defRPr>
            </a:lvl2pPr>
            <a:lvl3pPr algn="l">
              <a:buNone/>
              <a:defRPr sz="1050" b="1" i="0">
                <a:solidFill>
                  <a:srgbClr val="E46760"/>
                </a:solidFill>
                <a:latin typeface="Arial"/>
                <a:ea typeface="Arial"/>
                <a:cs typeface="Arial"/>
              </a:defRPr>
            </a:lvl3pPr>
            <a:lvl4pPr algn="l">
              <a:buNone/>
              <a:defRPr sz="1050" b="1" i="0">
                <a:solidFill>
                  <a:srgbClr val="E46760"/>
                </a:solidFill>
                <a:latin typeface="Arial"/>
                <a:ea typeface="Arial"/>
                <a:cs typeface="Arial"/>
              </a:defRPr>
            </a:lvl4pPr>
            <a:lvl5pPr algn="l">
              <a:buNone/>
              <a:defRPr sz="1050" b="1" i="0">
                <a:solidFill>
                  <a:srgbClr val="E46760"/>
                </a:solidFill>
                <a:latin typeface="Arial"/>
                <a:ea typeface="Arial"/>
                <a:cs typeface="Arial"/>
              </a:defRPr>
            </a:lvl5pPr>
            <a:lvl6pPr algn="l">
              <a:buNone/>
              <a:defRPr sz="1050" b="1" i="0">
                <a:solidFill>
                  <a:srgbClr val="E46760"/>
                </a:solidFill>
                <a:latin typeface="Arial"/>
                <a:ea typeface="Arial"/>
                <a:cs typeface="Arial"/>
              </a:defRPr>
            </a:lvl6pPr>
            <a:lvl7pPr algn="l">
              <a:buNone/>
              <a:defRPr sz="1050" b="1" i="0">
                <a:solidFill>
                  <a:srgbClr val="E46760"/>
                </a:solidFill>
                <a:latin typeface="Arial"/>
                <a:ea typeface="Arial"/>
                <a:cs typeface="Arial"/>
              </a:defRPr>
            </a:lvl7pPr>
            <a:lvl8pPr algn="l">
              <a:buNone/>
              <a:defRPr sz="1050" b="1" i="0">
                <a:solidFill>
                  <a:srgbClr val="E46760"/>
                </a:solidFill>
                <a:latin typeface="Arial"/>
                <a:ea typeface="Arial"/>
                <a:cs typeface="Arial"/>
              </a:defRPr>
            </a:lvl8pPr>
            <a:lvl9pPr algn="l">
              <a:buNone/>
              <a:defRPr sz="1050" b="1" i="0">
                <a:solidFill>
                  <a:srgbClr val="E46760"/>
                </a:solidFill>
                <a:latin typeface="Arial"/>
                <a:ea typeface="Arial"/>
                <a:cs typeface="Arial"/>
              </a:defRPr>
            </a:lvl9pPr>
          </a:lstStyle>
          <a:p xmlns:a="http://schemas.openxmlformats.org/drawingml/2006/main">
            <a:pPr algn="l">
              <a:buNone/>
              <a:defRPr sz="1050" b="1" i="0">
                <a:solidFill>
                  <a:srgbClr val="E46760"/>
                </a:solidFill>
                <a:latin typeface="Arial"/>
                <a:ea typeface="Arial"/>
                <a:cs typeface="Arial"/>
              </a:defRPr>
            </a:pPr>
            <a:r>
              <a:rPr sz="1050" b="1" i="0">
                <a:solidFill>
                  <a:srgbClr val="E46760"/>
                </a:solidFill>
                <a:latin typeface="Arial"/>
                <a:ea typeface="Arial"/>
                <a:cs typeface="Arial"/>
              </a:rPr>
              <a:t>2026 · CASP16 pose study</a:t>
            </a:r>
          </a:p>
        </p:txBody>
      </p:sp>
      <p:sp>
        <p:nvSpPr>
          <p:cNvPr id="21" name="Rectangle 20">
            <a:extLst xmlns:a="http://schemas.openxmlformats.org/drawingml/2006/main">
              <a:ext uri="{FF2B5EF4-FFF2-40B4-BE49-F238E27FC236}">
                <a16:creationId xmlns:a16="http://schemas.microsoft.com/office/drawing/2014/main" id="{B1E734EE-8CB4-4CD9-B51C-AE81DE1B81D7}"/>
              </a:ext>
            </a:extLst>
          </p:cNvPr>
          <p:cNvSpPr>
            <a:spLocks xmlns:a="http://schemas.openxmlformats.org/drawingml/2006/main" noGrp="1"/>
          </p:cNvSpPr>
          <p:nvPr/>
        </p:nvSpPr>
        <p:spPr>
          <a:xfrm xmlns:a="http://schemas.openxmlformats.org/drawingml/2006/main">
            <a:off x="2914650" y="48577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“none were close fits to the combined NMR and SAXS data.”</a:t>
            </a:r>
          </a:p>
        </p:txBody>
      </p:sp>
      <p:sp>
        <p:nvSpPr>
          <p:cNvPr id="22" name="Rectangle 21">
            <a:extLst xmlns:a="http://schemas.openxmlformats.org/drawingml/2006/main">
              <a:ext uri="{FF2B5EF4-FFF2-40B4-BE49-F238E27FC236}">
                <a16:creationId xmlns:a16="http://schemas.microsoft.com/office/drawing/2014/main" id="{912C6409-6D55-4F3E-B6BA-14111753B4ED}"/>
              </a:ext>
            </a:extLst>
          </p:cNvPr>
          <p:cNvSpPr>
            <a:spLocks xmlns:a="http://schemas.openxmlformats.org/drawingml/2006/main" noGrp="1"/>
          </p:cNvSpPr>
          <p:nvPr/>
        </p:nvSpPr>
        <p:spPr>
          <a:xfrm xmlns:a="http://schemas.openxmlformats.org/drawingml/2006/main">
            <a:off x="2924175" y="54387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McBride et al. · DOI 10.1002/prot.70062</a:t>
            </a:r>
          </a:p>
        </p:txBody>
      </p:sp>
      <p:sp>
        <p:nvSpPr>
          <p:cNvPr id="23" name="Straight Connector 22">
            <a:extLst xmlns:a="http://schemas.openxmlformats.org/drawingml/2006/main">
              <a:ext uri="{FF2B5EF4-FFF2-40B4-BE49-F238E27FC236}">
                <a16:creationId xmlns:a16="http://schemas.microsoft.com/office/drawing/2014/main" id="{570CAB07-6E3A-43BF-A6E1-FE4ECE72AB24}"/>
              </a:ext>
            </a:extLst>
          </p:cNvPr>
          <p:cNvSpPr>
            <a:spLocks xmlns:a="http://schemas.openxmlformats.org/drawingml/2006/main" noGrp="1"/>
          </p:cNvSpPr>
          <p:nvPr/>
        </p:nvSpPr>
        <p:spPr>
          <a:xfrm xmlns:a="http://schemas.openxmlformats.org/drawingml/2006/main">
            <a:off x="638175" y="5981700"/>
            <a:ext cx="10696575"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0A35D32B-3657-4159-ACBB-B69E88004E78}"/>
              </a:ext>
            </a:extLst>
          </p:cNvPr>
          <p:cNvSpPr>
            <a:spLocks xmlns:a="http://schemas.openxmlformats.org/drawingml/2006/main" noGrp="1"/>
          </p:cNvSpPr>
          <p:nvPr/>
        </p:nvSpPr>
        <p:spPr>
          <a:xfrm xmlns:a="http://schemas.openxmlformats.org/drawingml/2006/main">
            <a:off x="885825" y="6096000"/>
            <a:ext cx="1019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ctr">
              <a:defRPr sz="1125" b="1" i="0">
                <a:solidFill>
                  <a:srgbClr val="3FC6D6"/>
                </a:solidFill>
                <a:latin typeface="Arial"/>
                <a:ea typeface="Arial"/>
                <a:cs typeface="Arial"/>
              </a:defRPr>
            </a:defPPr>
            <a:lvl1pPr algn="ctr">
              <a:buNone/>
              <a:defRPr sz="1125" b="1" i="0">
                <a:solidFill>
                  <a:srgbClr val="3FC6D6"/>
                </a:solidFill>
                <a:latin typeface="Arial"/>
                <a:ea typeface="Arial"/>
                <a:cs typeface="Arial"/>
              </a:defRPr>
            </a:lvl1pPr>
            <a:lvl2pPr algn="ctr">
              <a:buNone/>
              <a:defRPr sz="1125" b="1" i="0">
                <a:solidFill>
                  <a:srgbClr val="3FC6D6"/>
                </a:solidFill>
                <a:latin typeface="Arial"/>
                <a:ea typeface="Arial"/>
                <a:cs typeface="Arial"/>
              </a:defRPr>
            </a:lvl2pPr>
            <a:lvl3pPr algn="ctr">
              <a:buNone/>
              <a:defRPr sz="1125" b="1" i="0">
                <a:solidFill>
                  <a:srgbClr val="3FC6D6"/>
                </a:solidFill>
                <a:latin typeface="Arial"/>
                <a:ea typeface="Arial"/>
                <a:cs typeface="Arial"/>
              </a:defRPr>
            </a:lvl3pPr>
            <a:lvl4pPr algn="ctr">
              <a:buNone/>
              <a:defRPr sz="1125" b="1" i="0">
                <a:solidFill>
                  <a:srgbClr val="3FC6D6"/>
                </a:solidFill>
                <a:latin typeface="Arial"/>
                <a:ea typeface="Arial"/>
                <a:cs typeface="Arial"/>
              </a:defRPr>
            </a:lvl4pPr>
            <a:lvl5pPr algn="ctr">
              <a:buNone/>
              <a:defRPr sz="1125" b="1" i="0">
                <a:solidFill>
                  <a:srgbClr val="3FC6D6"/>
                </a:solidFill>
                <a:latin typeface="Arial"/>
                <a:ea typeface="Arial"/>
                <a:cs typeface="Arial"/>
              </a:defRPr>
            </a:lvl5pPr>
            <a:lvl6pPr algn="ctr">
              <a:buNone/>
              <a:defRPr sz="1125" b="1" i="0">
                <a:solidFill>
                  <a:srgbClr val="3FC6D6"/>
                </a:solidFill>
                <a:latin typeface="Arial"/>
                <a:ea typeface="Arial"/>
                <a:cs typeface="Arial"/>
              </a:defRPr>
            </a:lvl6pPr>
            <a:lvl7pPr algn="ctr">
              <a:buNone/>
              <a:defRPr sz="1125" b="1" i="0">
                <a:solidFill>
                  <a:srgbClr val="3FC6D6"/>
                </a:solidFill>
                <a:latin typeface="Arial"/>
                <a:ea typeface="Arial"/>
                <a:cs typeface="Arial"/>
              </a:defRPr>
            </a:lvl7pPr>
            <a:lvl8pPr algn="ctr">
              <a:buNone/>
              <a:defRPr sz="1125" b="1" i="0">
                <a:solidFill>
                  <a:srgbClr val="3FC6D6"/>
                </a:solidFill>
                <a:latin typeface="Arial"/>
                <a:ea typeface="Arial"/>
                <a:cs typeface="Arial"/>
              </a:defRPr>
            </a:lvl8pPr>
            <a:lvl9pPr algn="ctr">
              <a:buNone/>
              <a:defRPr sz="1125" b="1" i="0">
                <a:solidFill>
                  <a:srgbClr val="3FC6D6"/>
                </a:solidFill>
                <a:latin typeface="Arial"/>
                <a:ea typeface="Arial"/>
                <a:cs typeface="Arial"/>
              </a:defRPr>
            </a:lvl9pPr>
          </a:lstStyle>
          <a:p xmlns:a="http://schemas.openxmlformats.org/drawingml/2006/main">
            <a:pPr algn="ctr">
              <a:buNone/>
              <a:defRPr sz="1125" b="1" i="0">
                <a:solidFill>
                  <a:srgbClr val="3FC6D6"/>
                </a:solidFill>
                <a:latin typeface="Arial"/>
                <a:ea typeface="Arial"/>
                <a:cs typeface="Arial"/>
              </a:defRPr>
            </a:pPr>
            <a:r>
              <a:rPr sz="1125" b="1" i="0">
                <a:solidFill>
                  <a:srgbClr val="3FC6D6"/>
                </a:solidFill>
                <a:latin typeface="Arial"/>
                <a:ea typeface="Arial"/>
                <a:cs typeface="Arial"/>
              </a:rPr>
              <a:t>Implication: a credible general model needs outcome data from multiple domain pairs and a family-disjoint test.</a:t>
            </a:r>
          </a:p>
        </p:txBody>
      </p:sp>
    </p:spTree>
    <p:extLst>
      <p:ext uri="{BB962C8B-B14F-4D97-AF65-F5344CB8AC3E}">
        <p14:creationId xmlns:p14="http://schemas.microsoft.com/office/powerpoint/2010/main" val="56009378"/>
      </p:ext>
    </p:extLst>
  </p:cSld>
</p:sld>
</file>

<file path=ppt/slides/slide6.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EF8ED68D-0443-4655-9995-BB727115884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7FFEB337-947B-4535-9BFC-D75D21452916}"/>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5A1A0B51-C551-4826-BD2C-15372B5BFFAD}"/>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EVIDENCE INTERPRETATION</a:t>
            </a:r>
          </a:p>
        </p:txBody>
      </p:sp>
      <p:sp>
        <p:nvSpPr>
          <p:cNvPr id="4" name="Rectangle 3">
            <a:extLst xmlns:a="http://schemas.openxmlformats.org/drawingml/2006/main">
              <a:ext uri="{FF2B5EF4-FFF2-40B4-BE49-F238E27FC236}">
                <a16:creationId xmlns:a16="http://schemas.microsoft.com/office/drawing/2014/main" id="{C062E347-7199-4B6C-8135-AEB965E9D997}"/>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Primary articles are quoted on slide 5; interpretation is limited to each paper's task and dataset</a:t>
            </a:r>
          </a:p>
        </p:txBody>
      </p:sp>
      <p:sp>
        <p:nvSpPr>
          <p:cNvPr id="5" name="Rectangle 4">
            <a:extLst xmlns:a="http://schemas.openxmlformats.org/drawingml/2006/main">
              <a:ext uri="{FF2B5EF4-FFF2-40B4-BE49-F238E27FC236}">
                <a16:creationId xmlns:a16="http://schemas.microsoft.com/office/drawing/2014/main" id="{2F972104-B122-4317-B83F-EB146B06980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06</a:t>
            </a:r>
          </a:p>
        </p:txBody>
      </p:sp>
      <p:sp>
        <p:nvSpPr>
          <p:cNvPr id="6" name="Rectangle 5">
            <a:extLst xmlns:a="http://schemas.openxmlformats.org/drawingml/2006/main">
              <a:ext uri="{FF2B5EF4-FFF2-40B4-BE49-F238E27FC236}">
                <a16:creationId xmlns:a16="http://schemas.microsoft.com/office/drawing/2014/main" id="{E90F076A-22FF-4373-BE70-3BDB247ABBEB}"/>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What the literature quotations establish</a:t>
            </a:r>
          </a:p>
        </p:txBody>
      </p:sp>
      <p:sp>
        <p:nvSpPr>
          <p:cNvPr id="7" name="Rectangle 6">
            <a:extLst xmlns:a="http://schemas.openxmlformats.org/drawingml/2006/main">
              <a:ext uri="{FF2B5EF4-FFF2-40B4-BE49-F238E27FC236}">
                <a16:creationId xmlns:a16="http://schemas.microsoft.com/office/drawing/2014/main" id="{6488562B-691F-42E8-8BFF-20824EAEF0B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quotation supports one part of the research gap. None proves LinkerForge performance</a:t>
            </a:r>
          </a:p>
        </p:txBody>
      </p:sp>
      <p:graphicFrame>
        <p:nvGraphicFramePr>
          <p:cNvPr id="8" name="Table 7">
            <a:extLst xmlns:a="http://schemas.openxmlformats.org/drawingml/2006/main">
              <a:ext uri="{FF2B5EF4-FFF2-40B4-BE49-F238E27FC236}">
                <a16:creationId xmlns:a16="http://schemas.microsoft.com/office/drawing/2014/main" id="{4E3CA7EE-7EA7-4556-A574-DB35CF34A671}"/>
              </a:ext>
            </a:extLst>
          </p:cNvPr>
          <p:cNvGraphicFramePr/>
          <p:nvPr/>
        </p:nvGraphicFramePr>
        <p:xfrm>
          <a:off xmlns:a="http://schemas.openxmlformats.org/drawingml/2006/main" x="495300" y="1581150"/>
          <a:ext xmlns:a="http://schemas.openxmlformats.org/drawingml/2006/main" cx="11201400" cy="4267200"/>
        </p:xfrm>
        <a:graphic xmlns:a="http://schemas.openxmlformats.org/drawingml/2006/main">
          <a:graphicData uri="http://schemas.openxmlformats.org/drawingml/2006/table">
            <a:tbl>
              <a:tblPr/>
              <a:tblGrid>
                <a:gridCol w="1714500"/>
                <a:gridCol w="3048000"/>
                <a:gridCol w="3219450"/>
                <a:gridCol w="3219450"/>
              </a:tblGrid>
              <a:tr h="853440">
                <a:tc>
                  <a:txBody>
                    <a:bodyPr/>
                    <a:lstStyle/>
                    <a:p>
                      <a:r>
                        <a:rPr sz="975" b="1">
                          <a:solidFill>
                            <a:srgbClr val="3FC6D6"/>
                          </a:solidFill>
                          <a:latin typeface="Arial"/>
                          <a:ea typeface="Arial"/>
                          <a:cs typeface="Arial"/>
                        </a:rPr>
                        <a:t>Source</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Study context</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Supported inference</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What it does not establish</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LINKER (2000)</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Generated extended linker sequences from experimentally observed PDB and NMR loops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Linker selection lacked reliable general criteria and often relied on intuition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That loop-derived sequences work for every engineered fusion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SynLinker (2015)</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Searchable database with 2,150 natural and 110 artificial or empirical linkers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Candidate retrieval improved, while experimental selection remained largely ad hoc</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A learned pair-specific compatibility score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Li et al. (2026)</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370 randomized 18-aa linkers in one nanobody–sfGFP architecture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Function depends on fusion context; sequence and predicted local structure can carry useful signal</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Generalization across unrelated domain families or linker lengths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McBride et al. (2026)</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CASP16 ensembles tested against NMR and SAXS for flexible two-domain targets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Correct domain folds do not guarantee the correct interdomain ensemble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That one structure predictor or one static model captures linker dynamics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bl>
          </a:graphicData>
        </a:graphic>
      </p:graphicFrame>
      <p:sp>
        <p:nvSpPr>
          <p:cNvPr id="9" name="Rectangle 8">
            <a:extLst xmlns:a="http://schemas.openxmlformats.org/drawingml/2006/main">
              <a:ext uri="{FF2B5EF4-FFF2-40B4-BE49-F238E27FC236}">
                <a16:creationId xmlns:a16="http://schemas.microsoft.com/office/drawing/2014/main" id="{40D8EE5B-83E7-4AD7-84DE-45054BB12D97}"/>
              </a:ext>
            </a:extLst>
          </p:cNvPr>
          <p:cNvSpPr>
            <a:spLocks xmlns:a="http://schemas.openxmlformats.org/drawingml/2006/main" noGrp="1"/>
          </p:cNvSpPr>
          <p:nvPr/>
        </p:nvSpPr>
        <p:spPr>
          <a:xfrm xmlns:a="http://schemas.openxmlformats.org/drawingml/2006/main">
            <a:off x="638175" y="599122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l">
              <a:defRPr sz="1050" b="1" i="0">
                <a:solidFill>
                  <a:srgbClr val="E84AAB"/>
                </a:solidFill>
                <a:latin typeface="Arial"/>
                <a:ea typeface="Arial"/>
                <a:cs typeface="Arial"/>
              </a:defRPr>
            </a:defPPr>
            <a:lvl1pPr algn="l">
              <a:buNone/>
              <a:defRPr sz="1050" b="1" i="0">
                <a:solidFill>
                  <a:srgbClr val="E84AAB"/>
                </a:solidFill>
                <a:latin typeface="Arial"/>
                <a:ea typeface="Arial"/>
                <a:cs typeface="Arial"/>
              </a:defRPr>
            </a:lvl1pPr>
            <a:lvl2pPr algn="l">
              <a:buNone/>
              <a:defRPr sz="1050" b="1" i="0">
                <a:solidFill>
                  <a:srgbClr val="E84AAB"/>
                </a:solidFill>
                <a:latin typeface="Arial"/>
                <a:ea typeface="Arial"/>
                <a:cs typeface="Arial"/>
              </a:defRPr>
            </a:lvl2pPr>
            <a:lvl3pPr algn="l">
              <a:buNone/>
              <a:defRPr sz="1050" b="1" i="0">
                <a:solidFill>
                  <a:srgbClr val="E84AAB"/>
                </a:solidFill>
                <a:latin typeface="Arial"/>
                <a:ea typeface="Arial"/>
                <a:cs typeface="Arial"/>
              </a:defRPr>
            </a:lvl3pPr>
            <a:lvl4pPr algn="l">
              <a:buNone/>
              <a:defRPr sz="1050" b="1" i="0">
                <a:solidFill>
                  <a:srgbClr val="E84AAB"/>
                </a:solidFill>
                <a:latin typeface="Arial"/>
                <a:ea typeface="Arial"/>
                <a:cs typeface="Arial"/>
              </a:defRPr>
            </a:lvl4pPr>
            <a:lvl5pPr algn="l">
              <a:buNone/>
              <a:defRPr sz="1050" b="1" i="0">
                <a:solidFill>
                  <a:srgbClr val="E84AAB"/>
                </a:solidFill>
                <a:latin typeface="Arial"/>
                <a:ea typeface="Arial"/>
                <a:cs typeface="Arial"/>
              </a:defRPr>
            </a:lvl5pPr>
            <a:lvl6pPr algn="l">
              <a:buNone/>
              <a:defRPr sz="1050" b="1" i="0">
                <a:solidFill>
                  <a:srgbClr val="E84AAB"/>
                </a:solidFill>
                <a:latin typeface="Arial"/>
                <a:ea typeface="Arial"/>
                <a:cs typeface="Arial"/>
              </a:defRPr>
            </a:lvl6pPr>
            <a:lvl7pPr algn="l">
              <a:buNone/>
              <a:defRPr sz="1050" b="1" i="0">
                <a:solidFill>
                  <a:srgbClr val="E84AAB"/>
                </a:solidFill>
                <a:latin typeface="Arial"/>
                <a:ea typeface="Arial"/>
                <a:cs typeface="Arial"/>
              </a:defRPr>
            </a:lvl7pPr>
            <a:lvl8pPr algn="l">
              <a:buNone/>
              <a:defRPr sz="1050" b="1" i="0">
                <a:solidFill>
                  <a:srgbClr val="E84AAB"/>
                </a:solidFill>
                <a:latin typeface="Arial"/>
                <a:ea typeface="Arial"/>
                <a:cs typeface="Arial"/>
              </a:defRPr>
            </a:lvl8pPr>
            <a:lvl9pPr algn="l">
              <a:buNone/>
              <a:defRPr sz="1050" b="1" i="0">
                <a:solidFill>
                  <a:srgbClr val="E84AAB"/>
                </a:solidFill>
                <a:latin typeface="Arial"/>
                <a:ea typeface="Arial"/>
                <a:cs typeface="Arial"/>
              </a:defRPr>
            </a:lvl9pPr>
          </a:lstStyle>
          <a:p xmlns:a="http://schemas.openxmlformats.org/drawingml/2006/main">
            <a:pPr algn="l">
              <a:buNone/>
              <a:defRPr sz="1050" b="1" i="0">
                <a:solidFill>
                  <a:srgbClr val="E84AAB"/>
                </a:solidFill>
                <a:latin typeface="Arial"/>
                <a:ea typeface="Arial"/>
                <a:cs typeface="Arial"/>
              </a:defRPr>
            </a:pPr>
            <a:r>
              <a:rPr sz="1050" b="1" i="0">
                <a:solidFill>
                  <a:srgbClr val="E84AAB"/>
                </a:solidFill>
                <a:latin typeface="Arial"/>
                <a:ea typeface="Arial"/>
                <a:cs typeface="Arial"/>
              </a:rPr>
              <a:t>Synthesis</a:t>
            </a:r>
          </a:p>
        </p:txBody>
      </p:sp>
      <p:sp>
        <p:nvSpPr>
          <p:cNvPr id="10" name="Rectangle 9">
            <a:extLst xmlns:a="http://schemas.openxmlformats.org/drawingml/2006/main">
              <a:ext uri="{FF2B5EF4-FFF2-40B4-BE49-F238E27FC236}">
                <a16:creationId xmlns:a16="http://schemas.microsoft.com/office/drawing/2014/main" id="{BE585CD1-2E4D-4F38-92D0-71D13F37C7E5}"/>
              </a:ext>
            </a:extLst>
          </p:cNvPr>
          <p:cNvSpPr>
            <a:spLocks xmlns:a="http://schemas.openxmlformats.org/drawingml/2006/main" noGrp="1"/>
          </p:cNvSpPr>
          <p:nvPr/>
        </p:nvSpPr>
        <p:spPr>
          <a:xfrm xmlns:a="http://schemas.openxmlformats.org/drawingml/2006/main">
            <a:off x="1847850" y="5962650"/>
            <a:ext cx="9601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550"/>
          </a:bodyPr>
          <a:lstStyle xmlns:a="http://schemas.openxmlformats.org/drawingml/2006/main">
            <a:defPPr algn="l">
              <a:defRPr sz="1275" b="1" i="0">
                <a:solidFill>
                  <a:srgbClr val="F4F7F5"/>
                </a:solidFill>
                <a:latin typeface="Arial"/>
                <a:ea typeface="Arial"/>
                <a:cs typeface="Arial"/>
              </a:defRPr>
            </a:defPPr>
            <a:lvl1pPr algn="l">
              <a:buNone/>
              <a:defRPr sz="1275" b="1" i="0">
                <a:solidFill>
                  <a:srgbClr val="F4F7F5"/>
                </a:solidFill>
                <a:latin typeface="Arial"/>
                <a:ea typeface="Arial"/>
                <a:cs typeface="Arial"/>
              </a:defRPr>
            </a:lvl1pPr>
            <a:lvl2pPr algn="l">
              <a:buNone/>
              <a:defRPr sz="1275" b="1" i="0">
                <a:solidFill>
                  <a:srgbClr val="F4F7F5"/>
                </a:solidFill>
                <a:latin typeface="Arial"/>
                <a:ea typeface="Arial"/>
                <a:cs typeface="Arial"/>
              </a:defRPr>
            </a:lvl2pPr>
            <a:lvl3pPr algn="l">
              <a:buNone/>
              <a:defRPr sz="1275" b="1" i="0">
                <a:solidFill>
                  <a:srgbClr val="F4F7F5"/>
                </a:solidFill>
                <a:latin typeface="Arial"/>
                <a:ea typeface="Arial"/>
                <a:cs typeface="Arial"/>
              </a:defRPr>
            </a:lvl3pPr>
            <a:lvl4pPr algn="l">
              <a:buNone/>
              <a:defRPr sz="1275" b="1" i="0">
                <a:solidFill>
                  <a:srgbClr val="F4F7F5"/>
                </a:solidFill>
                <a:latin typeface="Arial"/>
                <a:ea typeface="Arial"/>
                <a:cs typeface="Arial"/>
              </a:defRPr>
            </a:lvl4pPr>
            <a:lvl5pPr algn="l">
              <a:buNone/>
              <a:defRPr sz="1275" b="1" i="0">
                <a:solidFill>
                  <a:srgbClr val="F4F7F5"/>
                </a:solidFill>
                <a:latin typeface="Arial"/>
                <a:ea typeface="Arial"/>
                <a:cs typeface="Arial"/>
              </a:defRPr>
            </a:lvl5pPr>
            <a:lvl6pPr algn="l">
              <a:buNone/>
              <a:defRPr sz="1275" b="1" i="0">
                <a:solidFill>
                  <a:srgbClr val="F4F7F5"/>
                </a:solidFill>
                <a:latin typeface="Arial"/>
                <a:ea typeface="Arial"/>
                <a:cs typeface="Arial"/>
              </a:defRPr>
            </a:lvl6pPr>
            <a:lvl7pPr algn="l">
              <a:buNone/>
              <a:defRPr sz="1275" b="1" i="0">
                <a:solidFill>
                  <a:srgbClr val="F4F7F5"/>
                </a:solidFill>
                <a:latin typeface="Arial"/>
                <a:ea typeface="Arial"/>
                <a:cs typeface="Arial"/>
              </a:defRPr>
            </a:lvl7pPr>
            <a:lvl8pPr algn="l">
              <a:buNone/>
              <a:defRPr sz="1275" b="1" i="0">
                <a:solidFill>
                  <a:srgbClr val="F4F7F5"/>
                </a:solidFill>
                <a:latin typeface="Arial"/>
                <a:ea typeface="Arial"/>
                <a:cs typeface="Arial"/>
              </a:defRPr>
            </a:lvl8pPr>
            <a:lvl9pPr algn="l">
              <a:buNone/>
              <a:defRPr sz="1275" b="1" i="0">
                <a:solidFill>
                  <a:srgbClr val="F4F7F5"/>
                </a:solidFill>
                <a:latin typeface="Arial"/>
                <a:ea typeface="Arial"/>
                <a:cs typeface="Arial"/>
              </a:defRPr>
            </a:lvl9pPr>
          </a:lstStyle>
          <a:p xmlns:a="http://schemas.openxmlformats.org/drawingml/2006/main">
            <a:pPr algn="l">
              <a:buNone/>
              <a:defRPr sz="1275" b="1" i="0">
                <a:solidFill>
                  <a:srgbClr val="F4F7F5"/>
                </a:solidFill>
                <a:latin typeface="Arial"/>
                <a:ea typeface="Arial"/>
                <a:cs typeface="Arial"/>
              </a:defRPr>
            </a:pPr>
            <a:r>
              <a:rPr sz="1275" b="1" i="0">
                <a:solidFill>
                  <a:srgbClr val="F4F7F5"/>
                </a:solidFill>
                <a:latin typeface="Arial"/>
                <a:ea typeface="Arial"/>
                <a:cs typeface="Arial"/>
              </a:rPr>
              <a:t>The missing evidence is a reproducible, family-disjoint test of pair-conditioned linker ranking across multiple domain pairs.</a:t>
            </a:r>
          </a:p>
        </p:txBody>
      </p:sp>
    </p:spTree>
    <p:extLst>
      <p:ext uri="{BB962C8B-B14F-4D97-AF65-F5344CB8AC3E}">
        <p14:creationId xmlns:p14="http://schemas.microsoft.com/office/powerpoint/2010/main" val="305865667"/>
      </p:ext>
    </p:extLst>
  </p:cSld>
</p:sld>
</file>

<file path=ppt/slides/slide7.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0786E8C6-1020-4821-B712-ED0B0ADB3B0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B185B87F-2B57-407A-9BDA-86E5DCB7EA6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76349E0C-2FCE-4866-A012-F9B00030FEAD}"/>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MODEL COMPARISON</a:t>
            </a:r>
          </a:p>
        </p:txBody>
      </p:sp>
      <p:sp>
        <p:nvSpPr>
          <p:cNvPr id="4" name="Rectangle 3">
            <a:extLst xmlns:a="http://schemas.openxmlformats.org/drawingml/2006/main">
              <a:ext uri="{FF2B5EF4-FFF2-40B4-BE49-F238E27FC236}">
                <a16:creationId xmlns:a16="http://schemas.microsoft.com/office/drawing/2014/main" id="{50A2B6F8-AFFA-4181-AD06-41AEC558A3A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Comparison by scientific task and evidence scope; no common superiority benchmark is available</a:t>
            </a:r>
          </a:p>
        </p:txBody>
      </p:sp>
      <p:sp>
        <p:nvSpPr>
          <p:cNvPr id="5" name="Rectangle 4">
            <a:extLst xmlns:a="http://schemas.openxmlformats.org/drawingml/2006/main">
              <a:ext uri="{FF2B5EF4-FFF2-40B4-BE49-F238E27FC236}">
                <a16:creationId xmlns:a16="http://schemas.microsoft.com/office/drawing/2014/main" id="{B0AE1FDA-B90F-4467-92E0-E1BD60CFCA1D}"/>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07</a:t>
            </a:r>
          </a:p>
        </p:txBody>
      </p:sp>
      <p:sp>
        <p:nvSpPr>
          <p:cNvPr id="6" name="Rectangle 5">
            <a:extLst xmlns:a="http://schemas.openxmlformats.org/drawingml/2006/main">
              <a:ext uri="{FF2B5EF4-FFF2-40B4-BE49-F238E27FC236}">
                <a16:creationId xmlns:a16="http://schemas.microsoft.com/office/drawing/2014/main" id="{88B490BA-E54E-4B03-B945-9A8144C2A5F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Current models and the LinkerForge target</a:t>
            </a:r>
          </a:p>
        </p:txBody>
      </p:sp>
      <p:sp>
        <p:nvSpPr>
          <p:cNvPr id="7" name="Rectangle 6">
            <a:extLst xmlns:a="http://schemas.openxmlformats.org/drawingml/2006/main">
              <a:ext uri="{FF2B5EF4-FFF2-40B4-BE49-F238E27FC236}">
                <a16:creationId xmlns:a16="http://schemas.microsoft.com/office/drawing/2014/main" id="{0D149A23-3780-483A-BF93-4FA42FEFB5DF}"/>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Broader evidence integration is proposed. Predictive superiority has not been demonstrated</a:t>
            </a:r>
          </a:p>
        </p:txBody>
      </p:sp>
      <p:graphicFrame>
        <p:nvGraphicFramePr>
          <p:cNvPr id="8" name="Table 7">
            <a:extLst xmlns:a="http://schemas.openxmlformats.org/drawingml/2006/main">
              <a:ext uri="{FF2B5EF4-FFF2-40B4-BE49-F238E27FC236}">
                <a16:creationId xmlns:a16="http://schemas.microsoft.com/office/drawing/2014/main" id="{10E6E362-8136-4222-8395-3A2D31B0072F}"/>
              </a:ext>
            </a:extLst>
          </p:cNvPr>
          <p:cNvGraphicFramePr/>
          <p:nvPr/>
        </p:nvGraphicFramePr>
        <p:xfrm>
          <a:off xmlns:a="http://schemas.openxmlformats.org/drawingml/2006/main" x="514350" y="1581150"/>
          <a:ext xmlns:a="http://schemas.openxmlformats.org/drawingml/2006/main" cx="11163300" cy="3943350"/>
        </p:xfrm>
        <a:graphic xmlns:a="http://schemas.openxmlformats.org/drawingml/2006/main">
          <a:graphicData uri="http://schemas.openxmlformats.org/drawingml/2006/table">
            <a:tbl>
              <a:tblPr/>
              <a:tblGrid>
                <a:gridCol w="2095500"/>
                <a:gridCol w="2381250"/>
                <a:gridCol w="3048000"/>
                <a:gridCol w="3638550"/>
              </a:tblGrid>
              <a:tr h="657225">
                <a:tc>
                  <a:txBody>
                    <a:bodyPr/>
                    <a:lstStyle/>
                    <a:p>
                      <a:r>
                        <a:rPr sz="975" b="1">
                          <a:solidFill>
                            <a:srgbClr val="3FC6D6"/>
                          </a:solidFill>
                          <a:latin typeface="Arial"/>
                          <a:ea typeface="Arial"/>
                          <a:cs typeface="Arial"/>
                        </a:rPr>
                        <a:t>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Primary output</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Context represented</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Evidence boundary</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F4F7F5"/>
                          </a:solidFill>
                          <a:latin typeface="Arial"/>
                          <a:ea typeface="Arial"/>
                          <a:cs typeface="Arial"/>
                        </a:rPr>
                        <a:t>LINKER / SynLinker</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Generated or retrieved linker candidates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Linker properties and curated templates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No learned outcome for a selected domain pair</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F4F7F5"/>
                          </a:solidFill>
                          <a:latin typeface="Arial"/>
                          <a:ea typeface="Arial"/>
                          <a:cs typeface="Arial"/>
                        </a:rPr>
                        <a:t>DFLpred / APOD / TransDFL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Per-residue DFL score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One protein sequence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Detection does not rank engineered fusions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F4F7F5"/>
                          </a:solidFill>
                          <a:latin typeface="Arial"/>
                          <a:ea typeface="Arial"/>
                          <a:cs typeface="Arial"/>
                        </a:rPr>
                        <a:t>Li et al. (2026)</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Fluorescence prediction and linker customization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370 linkers in one sfGFP–nanobody system plus AF2 features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Strong task-specific evidence; cross-pair generalization remains untested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F4F7F5"/>
                          </a:solidFill>
                          <a:latin typeface="Arial"/>
                          <a:ea typeface="Arial"/>
                          <a:cs typeface="Arial"/>
                        </a:rPr>
                        <a:t>AlphaFold2 / ColabFold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Structure model and confidence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Complete supplied sequence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Structure confidence alone does not establish expression or activity</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3FC6D6"/>
                          </a:solidFill>
                          <a:latin typeface="Arial"/>
                          <a:ea typeface="Arial"/>
                          <a:cs typeface="Arial"/>
                        </a:rPr>
                        <a:t>LinkerForge target</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2352B"/>
                    </a:solidFill>
                  </a:tcPr>
                </a:tc>
                <a:tc>
                  <a:txBody>
                    <a:bodyPr/>
                    <a:lstStyle/>
                    <a:p>
                      <a:r>
                        <a:rPr sz="975" b="1">
                          <a:solidFill>
                            <a:srgbClr val="F4F7F5"/>
                          </a:solidFill>
                          <a:latin typeface="Arial"/>
                          <a:ea typeface="Arial"/>
                          <a:cs typeface="Arial"/>
                        </a:rPr>
                        <a:t>Pair-conditioned ranking with a matched evidence bundle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2352B"/>
                    </a:solidFill>
                  </a:tcPr>
                </a:tc>
                <a:tc>
                  <a:txBody>
                    <a:bodyPr/>
                    <a:lstStyle/>
                    <a:p>
                      <a:r>
                        <a:rPr sz="975" b="1">
                          <a:solidFill>
                            <a:srgbClr val="F4F7F5"/>
                          </a:solidFill>
                          <a:latin typeface="Arial"/>
                          <a:ea typeface="Arial"/>
                          <a:cs typeface="Arial"/>
                        </a:rPr>
                        <a:t>Both domains, attachment context, candidate, and full fusion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2352B"/>
                    </a:solidFill>
                  </a:tcPr>
                </a:tc>
                <a:tc>
                  <a:txBody>
                    <a:bodyPr/>
                    <a:lstStyle/>
                    <a:p>
                      <a:r>
                        <a:rPr sz="975" b="1">
                          <a:solidFill>
                            <a:srgbClr val="F4F7F5"/>
                          </a:solidFill>
                          <a:latin typeface="Arial"/>
                          <a:ea typeface="Arial"/>
                          <a:cs typeface="Arial"/>
                        </a:rPr>
                        <a:t>Ranker training and family-disjoint validation remain incomplete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2352B"/>
                    </a:solidFill>
                  </a:tcPr>
                </a:tc>
              </a:tr>
            </a:tbl>
          </a:graphicData>
        </a:graphic>
      </p:graphicFrame>
      <p:sp>
        <p:nvSpPr>
          <p:cNvPr id="9" name="Straight Connector 8">
            <a:extLst xmlns:a="http://schemas.openxmlformats.org/drawingml/2006/main">
              <a:ext uri="{FF2B5EF4-FFF2-40B4-BE49-F238E27FC236}">
                <a16:creationId xmlns:a16="http://schemas.microsoft.com/office/drawing/2014/main" id="{C5D9A431-C91C-40AE-A8C2-834E0091C684}"/>
              </a:ext>
            </a:extLst>
          </p:cNvPr>
          <p:cNvSpPr>
            <a:spLocks xmlns:a="http://schemas.openxmlformats.org/drawingml/2006/main" noGrp="1"/>
          </p:cNvSpPr>
          <p:nvPr/>
        </p:nvSpPr>
        <p:spPr>
          <a:xfrm xmlns:a="http://schemas.openxmlformats.org/drawingml/2006/main">
            <a:off x="628650" y="5810250"/>
            <a:ext cx="1093470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10" name="Rectangle 9">
            <a:extLst xmlns:a="http://schemas.openxmlformats.org/drawingml/2006/main">
              <a:ext uri="{FF2B5EF4-FFF2-40B4-BE49-F238E27FC236}">
                <a16:creationId xmlns:a16="http://schemas.microsoft.com/office/drawing/2014/main" id="{5132D014-7B54-4EAA-A0C8-631DE5D1BF99}"/>
              </a:ext>
            </a:extLst>
          </p:cNvPr>
          <p:cNvSpPr>
            <a:spLocks xmlns:a="http://schemas.openxmlformats.org/drawingml/2006/main" noGrp="1"/>
          </p:cNvSpPr>
          <p:nvPr/>
        </p:nvSpPr>
        <p:spPr>
          <a:xfrm xmlns:a="http://schemas.openxmlformats.org/drawingml/2006/main">
            <a:off x="638175" y="5924550"/>
            <a:ext cx="1571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Distinctive scope</a:t>
            </a:r>
          </a:p>
        </p:txBody>
      </p:sp>
      <p:sp>
        <p:nvSpPr>
          <p:cNvPr id="11" name="Rectangle 10">
            <a:extLst xmlns:a="http://schemas.openxmlformats.org/drawingml/2006/main">
              <a:ext uri="{FF2B5EF4-FFF2-40B4-BE49-F238E27FC236}">
                <a16:creationId xmlns:a16="http://schemas.microsoft.com/office/drawing/2014/main" id="{6CDB952E-D27E-445E-9C6F-856D199B213E}"/>
              </a:ext>
            </a:extLst>
          </p:cNvPr>
          <p:cNvSpPr>
            <a:spLocks xmlns:a="http://schemas.openxmlformats.org/drawingml/2006/main" noGrp="1"/>
          </p:cNvSpPr>
          <p:nvPr/>
        </p:nvSpPr>
        <p:spPr>
          <a:xfrm xmlns:a="http://schemas.openxmlformats.org/drawingml/2006/main">
            <a:off x="2257425" y="5886450"/>
            <a:ext cx="91725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691"/>
          </a:bodyPr>
          <a:lstStyle xmlns:a="http://schemas.openxmlformats.org/drawingml/2006/main">
            <a:defPPr algn="l">
              <a:defRPr sz="1275" b="1" i="0">
                <a:solidFill>
                  <a:srgbClr val="F4F7F5"/>
                </a:solidFill>
                <a:latin typeface="Arial"/>
                <a:ea typeface="Arial"/>
                <a:cs typeface="Arial"/>
              </a:defRPr>
            </a:defPPr>
            <a:lvl1pPr algn="l">
              <a:buNone/>
              <a:defRPr sz="1275" b="1" i="0">
                <a:solidFill>
                  <a:srgbClr val="F4F7F5"/>
                </a:solidFill>
                <a:latin typeface="Arial"/>
                <a:ea typeface="Arial"/>
                <a:cs typeface="Arial"/>
              </a:defRPr>
            </a:lvl1pPr>
            <a:lvl2pPr algn="l">
              <a:buNone/>
              <a:defRPr sz="1275" b="1" i="0">
                <a:solidFill>
                  <a:srgbClr val="F4F7F5"/>
                </a:solidFill>
                <a:latin typeface="Arial"/>
                <a:ea typeface="Arial"/>
                <a:cs typeface="Arial"/>
              </a:defRPr>
            </a:lvl2pPr>
            <a:lvl3pPr algn="l">
              <a:buNone/>
              <a:defRPr sz="1275" b="1" i="0">
                <a:solidFill>
                  <a:srgbClr val="F4F7F5"/>
                </a:solidFill>
                <a:latin typeface="Arial"/>
                <a:ea typeface="Arial"/>
                <a:cs typeface="Arial"/>
              </a:defRPr>
            </a:lvl3pPr>
            <a:lvl4pPr algn="l">
              <a:buNone/>
              <a:defRPr sz="1275" b="1" i="0">
                <a:solidFill>
                  <a:srgbClr val="F4F7F5"/>
                </a:solidFill>
                <a:latin typeface="Arial"/>
                <a:ea typeface="Arial"/>
                <a:cs typeface="Arial"/>
              </a:defRPr>
            </a:lvl4pPr>
            <a:lvl5pPr algn="l">
              <a:buNone/>
              <a:defRPr sz="1275" b="1" i="0">
                <a:solidFill>
                  <a:srgbClr val="F4F7F5"/>
                </a:solidFill>
                <a:latin typeface="Arial"/>
                <a:ea typeface="Arial"/>
                <a:cs typeface="Arial"/>
              </a:defRPr>
            </a:lvl5pPr>
            <a:lvl6pPr algn="l">
              <a:buNone/>
              <a:defRPr sz="1275" b="1" i="0">
                <a:solidFill>
                  <a:srgbClr val="F4F7F5"/>
                </a:solidFill>
                <a:latin typeface="Arial"/>
                <a:ea typeface="Arial"/>
                <a:cs typeface="Arial"/>
              </a:defRPr>
            </a:lvl6pPr>
            <a:lvl7pPr algn="l">
              <a:buNone/>
              <a:defRPr sz="1275" b="1" i="0">
                <a:solidFill>
                  <a:srgbClr val="F4F7F5"/>
                </a:solidFill>
                <a:latin typeface="Arial"/>
                <a:ea typeface="Arial"/>
                <a:cs typeface="Arial"/>
              </a:defRPr>
            </a:lvl7pPr>
            <a:lvl8pPr algn="l">
              <a:buNone/>
              <a:defRPr sz="1275" b="1" i="0">
                <a:solidFill>
                  <a:srgbClr val="F4F7F5"/>
                </a:solidFill>
                <a:latin typeface="Arial"/>
                <a:ea typeface="Arial"/>
                <a:cs typeface="Arial"/>
              </a:defRPr>
            </a:lvl8pPr>
            <a:lvl9pPr algn="l">
              <a:buNone/>
              <a:defRPr sz="1275" b="1" i="0">
                <a:solidFill>
                  <a:srgbClr val="F4F7F5"/>
                </a:solidFill>
                <a:latin typeface="Arial"/>
                <a:ea typeface="Arial"/>
                <a:cs typeface="Arial"/>
              </a:defRPr>
            </a:lvl9pPr>
          </a:lstStyle>
          <a:p xmlns:a="http://schemas.openxmlformats.org/drawingml/2006/main">
            <a:pPr algn="l">
              <a:buNone/>
              <a:defRPr sz="1275" b="1" i="0">
                <a:solidFill>
                  <a:srgbClr val="F4F7F5"/>
                </a:solidFill>
                <a:latin typeface="Arial"/>
                <a:ea typeface="Arial"/>
                <a:cs typeface="Arial"/>
              </a:defRPr>
            </a:pPr>
            <a:r>
              <a:rPr sz="1275" b="1" i="0">
                <a:solidFill>
                  <a:srgbClr val="F4F7F5"/>
                </a:solidFill>
                <a:latin typeface="Arial"/>
                <a:ea typeface="Arial"/>
                <a:cs typeface="Arial"/>
              </a:rPr>
              <a:t>One contract links candidate selection, full-fusion checks, rejection rules, and provenance. A performance advantage remains a hypothesis.</a:t>
            </a:r>
          </a:p>
        </p:txBody>
      </p:sp>
    </p:spTree>
    <p:extLst>
      <p:ext uri="{BB962C8B-B14F-4D97-AF65-F5344CB8AC3E}">
        <p14:creationId xmlns:p14="http://schemas.microsoft.com/office/powerpoint/2010/main" val="427038992"/>
      </p:ext>
    </p:extLst>
  </p:cSld>
</p:sld>
</file>

<file path=ppt/slides/slide8.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2" name="Rectangle 31">
            <a:extLst xmlns:a="http://schemas.openxmlformats.org/drawingml/2006/main">
              <a:ext uri="{FF2B5EF4-FFF2-40B4-BE49-F238E27FC236}">
                <a16:creationId xmlns:a16="http://schemas.microsoft.com/office/drawing/2014/main" id="{8220F486-7099-4C8B-919D-548EC80559A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4A02FE9F-3BDD-416E-8E22-DA3C0784E94E}"/>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F56FDD4B-DB9A-4A96-937C-5DCCB48F8C97}"/>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GAP</a:t>
            </a:r>
          </a:p>
        </p:txBody>
      </p:sp>
      <p:sp>
        <p:nvSpPr>
          <p:cNvPr id="4" name="Rectangle 3">
            <a:extLst xmlns:a="http://schemas.openxmlformats.org/drawingml/2006/main">
              <a:ext uri="{FF2B5EF4-FFF2-40B4-BE49-F238E27FC236}">
                <a16:creationId xmlns:a16="http://schemas.microsoft.com/office/drawing/2014/main" id="{8A5E43E7-27D2-43F9-93C5-BE18741B955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Literature synthesis plus local prior-art audit: literature/REVIEW_STATUS.md</a:t>
            </a:r>
          </a:p>
        </p:txBody>
      </p:sp>
      <p:sp>
        <p:nvSpPr>
          <p:cNvPr id="5" name="Rectangle 4">
            <a:extLst xmlns:a="http://schemas.openxmlformats.org/drawingml/2006/main">
              <a:ext uri="{FF2B5EF4-FFF2-40B4-BE49-F238E27FC236}">
                <a16:creationId xmlns:a16="http://schemas.microsoft.com/office/drawing/2014/main" id="{B2951D6F-EF00-4F1F-AC59-0BE1E00E8F4C}"/>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08</a:t>
            </a:r>
          </a:p>
        </p:txBody>
      </p:sp>
      <p:sp>
        <p:nvSpPr>
          <p:cNvPr id="6" name="Rectangle 5">
            <a:extLst xmlns:a="http://schemas.openxmlformats.org/drawingml/2006/main">
              <a:ext uri="{FF2B5EF4-FFF2-40B4-BE49-F238E27FC236}">
                <a16:creationId xmlns:a16="http://schemas.microsoft.com/office/drawing/2014/main" id="{1C9342F1-7B97-4BF8-9854-34B12266B47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Research gap and present scope</a:t>
            </a:r>
          </a:p>
        </p:txBody>
      </p:sp>
      <p:sp>
        <p:nvSpPr>
          <p:cNvPr id="7" name="Rectangle 6">
            <a:extLst xmlns:a="http://schemas.openxmlformats.org/drawingml/2006/main">
              <a:ext uri="{FF2B5EF4-FFF2-40B4-BE49-F238E27FC236}">
                <a16:creationId xmlns:a16="http://schemas.microsoft.com/office/drawing/2014/main" id="{38635D9F-AA71-41A9-BDA4-81BFB80054B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Reliable ranking across unrelated domain pairs remains untested</a:t>
            </a:r>
          </a:p>
        </p:txBody>
      </p:sp>
      <p:sp>
        <p:nvSpPr>
          <p:cNvPr id="8" name="Rectangle 7">
            <a:extLst xmlns:a="http://schemas.openxmlformats.org/drawingml/2006/main">
              <a:ext uri="{FF2B5EF4-FFF2-40B4-BE49-F238E27FC236}">
                <a16:creationId xmlns:a16="http://schemas.microsoft.com/office/drawing/2014/main" id="{8108CB20-0721-427A-B8CC-9EAC7D36716B}"/>
              </a:ext>
            </a:extLst>
          </p:cNvPr>
          <p:cNvSpPr>
            <a:spLocks xmlns:a="http://schemas.openxmlformats.org/drawingml/2006/main" noGrp="1"/>
          </p:cNvSpPr>
          <p:nvPr/>
        </p:nvSpPr>
        <p:spPr>
          <a:xfrm xmlns:a="http://schemas.openxmlformats.org/drawingml/2006/main">
            <a:off x="628650"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4E9BEC"/>
                </a:solidFill>
                <a:latin typeface="Arial"/>
                <a:ea typeface="Arial"/>
                <a:cs typeface="Arial"/>
              </a:defRPr>
            </a:defPPr>
            <a:lvl1pPr algn="l">
              <a:buNone/>
              <a:defRPr sz="975" b="1" i="0">
                <a:solidFill>
                  <a:srgbClr val="4E9BEC"/>
                </a:solidFill>
                <a:latin typeface="Arial"/>
                <a:ea typeface="Arial"/>
                <a:cs typeface="Arial"/>
              </a:defRPr>
            </a:lvl1pPr>
            <a:lvl2pPr algn="l">
              <a:buNone/>
              <a:defRPr sz="975" b="1" i="0">
                <a:solidFill>
                  <a:srgbClr val="4E9BEC"/>
                </a:solidFill>
                <a:latin typeface="Arial"/>
                <a:ea typeface="Arial"/>
                <a:cs typeface="Arial"/>
              </a:defRPr>
            </a:lvl2pPr>
            <a:lvl3pPr algn="l">
              <a:buNone/>
              <a:defRPr sz="975" b="1" i="0">
                <a:solidFill>
                  <a:srgbClr val="4E9BEC"/>
                </a:solidFill>
                <a:latin typeface="Arial"/>
                <a:ea typeface="Arial"/>
                <a:cs typeface="Arial"/>
              </a:defRPr>
            </a:lvl3pPr>
            <a:lvl4pPr algn="l">
              <a:buNone/>
              <a:defRPr sz="975" b="1" i="0">
                <a:solidFill>
                  <a:srgbClr val="4E9BEC"/>
                </a:solidFill>
                <a:latin typeface="Arial"/>
                <a:ea typeface="Arial"/>
                <a:cs typeface="Arial"/>
              </a:defRPr>
            </a:lvl4pPr>
            <a:lvl5pPr algn="l">
              <a:buNone/>
              <a:defRPr sz="975" b="1" i="0">
                <a:solidFill>
                  <a:srgbClr val="4E9BEC"/>
                </a:solidFill>
                <a:latin typeface="Arial"/>
                <a:ea typeface="Arial"/>
                <a:cs typeface="Arial"/>
              </a:defRPr>
            </a:lvl5pPr>
            <a:lvl6pPr algn="l">
              <a:buNone/>
              <a:defRPr sz="975" b="1" i="0">
                <a:solidFill>
                  <a:srgbClr val="4E9BEC"/>
                </a:solidFill>
                <a:latin typeface="Arial"/>
                <a:ea typeface="Arial"/>
                <a:cs typeface="Arial"/>
              </a:defRPr>
            </a:lvl6pPr>
            <a:lvl7pPr algn="l">
              <a:buNone/>
              <a:defRPr sz="975" b="1" i="0">
                <a:solidFill>
                  <a:srgbClr val="4E9BEC"/>
                </a:solidFill>
                <a:latin typeface="Arial"/>
                <a:ea typeface="Arial"/>
                <a:cs typeface="Arial"/>
              </a:defRPr>
            </a:lvl7pPr>
            <a:lvl8pPr algn="l">
              <a:buNone/>
              <a:defRPr sz="975" b="1" i="0">
                <a:solidFill>
                  <a:srgbClr val="4E9BEC"/>
                </a:solidFill>
                <a:latin typeface="Arial"/>
                <a:ea typeface="Arial"/>
                <a:cs typeface="Arial"/>
              </a:defRPr>
            </a:lvl8pPr>
            <a:lvl9pPr algn="l">
              <a:buNone/>
              <a:defRPr sz="975" b="1" i="0">
                <a:solidFill>
                  <a:srgbClr val="4E9BEC"/>
                </a:solidFill>
                <a:latin typeface="Arial"/>
                <a:ea typeface="Arial"/>
                <a:cs typeface="Arial"/>
              </a:defRPr>
            </a:lvl9pPr>
          </a:lstStyle>
          <a:p xmlns:a="http://schemas.openxmlformats.org/drawingml/2006/main">
            <a:pPr algn="l">
              <a:buNone/>
              <a:defRPr sz="975" b="1" i="0">
                <a:solidFill>
                  <a:srgbClr val="4E9BEC"/>
                </a:solidFill>
                <a:latin typeface="Arial"/>
                <a:ea typeface="Arial"/>
                <a:cs typeface="Arial"/>
              </a:defRPr>
            </a:pPr>
            <a:r>
              <a:rPr sz="975" b="1" i="0">
                <a:solidFill>
                  <a:srgbClr val="4E9BEC"/>
                </a:solidFill>
                <a:latin typeface="Arial"/>
                <a:ea typeface="Arial"/>
                <a:cs typeface="Arial"/>
              </a:rPr>
              <a:t>PUBLISHED EVIDENCE</a:t>
            </a:r>
          </a:p>
        </p:txBody>
      </p:sp>
      <p:sp>
        <p:nvSpPr>
          <p:cNvPr id="9" name="Straight Connector 8">
            <a:extLst xmlns:a="http://schemas.openxmlformats.org/drawingml/2006/main">
              <a:ext uri="{FF2B5EF4-FFF2-40B4-BE49-F238E27FC236}">
                <a16:creationId xmlns:a16="http://schemas.microsoft.com/office/drawing/2014/main" id="{789FD07C-7810-485A-A309-14D321A4572C}"/>
              </a:ext>
            </a:extLst>
          </p:cNvPr>
          <p:cNvSpPr>
            <a:spLocks xmlns:a="http://schemas.openxmlformats.org/drawingml/2006/main" noGrp="1"/>
          </p:cNvSpPr>
          <p:nvPr/>
        </p:nvSpPr>
        <p:spPr>
          <a:xfrm xmlns:a="http://schemas.openxmlformats.org/drawingml/2006/main">
            <a:off x="628650" y="2076450"/>
            <a:ext cx="3333750" cy="0"/>
          </a:xfrm>
          <a:prstGeom xmlns:a="http://schemas.openxmlformats.org/drawingml/2006/main" prst="line">
            <a:avLst/>
          </a:prstGeom>
          <a:noFill xmlns:a="http://schemas.openxmlformats.org/drawingml/2006/main"/>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77670CE9-B1F8-4E7C-AF00-CA88AFF2EF80}"/>
              </a:ext>
            </a:extLst>
          </p:cNvPr>
          <p:cNvSpPr>
            <a:spLocks xmlns:a="http://schemas.openxmlformats.org/drawingml/2006/main" noGrp="1"/>
          </p:cNvSpPr>
          <p:nvPr/>
        </p:nvSpPr>
        <p:spPr>
          <a:xfrm xmlns:a="http://schemas.openxmlformats.org/drawingml/2006/main">
            <a:off x="628650"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Candidate generation and retrieval</a:t>
            </a:r>
          </a:p>
        </p:txBody>
      </p:sp>
      <p:sp>
        <p:nvSpPr>
          <p:cNvPr id="11" name="Rectangle 10">
            <a:extLst xmlns:a="http://schemas.openxmlformats.org/drawingml/2006/main">
              <a:ext uri="{FF2B5EF4-FFF2-40B4-BE49-F238E27FC236}">
                <a16:creationId xmlns:a16="http://schemas.microsoft.com/office/drawing/2014/main" id="{AE002E7F-AF01-40FB-B354-AB3A013197A0}"/>
              </a:ext>
            </a:extLst>
          </p:cNvPr>
          <p:cNvSpPr>
            <a:spLocks xmlns:a="http://schemas.openxmlformats.org/drawingml/2006/main" noGrp="1"/>
          </p:cNvSpPr>
          <p:nvPr/>
        </p:nvSpPr>
        <p:spPr>
          <a:xfrm xmlns:a="http://schemas.openxmlformats.org/drawingml/2006/main">
            <a:off x="628650"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Residue-level DFL detection</a:t>
            </a:r>
          </a:p>
        </p:txBody>
      </p:sp>
      <p:sp>
        <p:nvSpPr>
          <p:cNvPr id="12" name="Rectangle 11">
            <a:extLst xmlns:a="http://schemas.openxmlformats.org/drawingml/2006/main">
              <a:ext uri="{FF2B5EF4-FFF2-40B4-BE49-F238E27FC236}">
                <a16:creationId xmlns:a16="http://schemas.microsoft.com/office/drawing/2014/main" id="{4F4C1362-E549-424F-9FBB-15414858592C}"/>
              </a:ext>
            </a:extLst>
          </p:cNvPr>
          <p:cNvSpPr>
            <a:spLocks xmlns:a="http://schemas.openxmlformats.org/drawingml/2006/main" noGrp="1"/>
          </p:cNvSpPr>
          <p:nvPr/>
        </p:nvSpPr>
        <p:spPr>
          <a:xfrm xmlns:a="http://schemas.openxmlformats.org/drawingml/2006/main">
            <a:off x="628650"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One-system functional prediction</a:t>
            </a:r>
          </a:p>
        </p:txBody>
      </p:sp>
      <p:sp>
        <p:nvSpPr>
          <p:cNvPr id="13" name="Rectangle 12">
            <a:extLst xmlns:a="http://schemas.openxmlformats.org/drawingml/2006/main">
              <a:ext uri="{FF2B5EF4-FFF2-40B4-BE49-F238E27FC236}">
                <a16:creationId xmlns:a16="http://schemas.microsoft.com/office/drawing/2014/main" id="{01E7262E-0CCF-4AD1-8A11-A666D4E6F75F}"/>
              </a:ext>
            </a:extLst>
          </p:cNvPr>
          <p:cNvSpPr>
            <a:spLocks xmlns:a="http://schemas.openxmlformats.org/drawingml/2006/main" noGrp="1"/>
          </p:cNvSpPr>
          <p:nvPr/>
        </p:nvSpPr>
        <p:spPr>
          <a:xfrm xmlns:a="http://schemas.openxmlformats.org/drawingml/2006/main">
            <a:off x="628650"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Full-chain structure confidence</a:t>
            </a:r>
          </a:p>
        </p:txBody>
      </p:sp>
      <p:sp>
        <p:nvSpPr>
          <p:cNvPr id="14" name="Straight Connector 13">
            <a:extLst xmlns:a="http://schemas.openxmlformats.org/drawingml/2006/main">
              <a:ext uri="{FF2B5EF4-FFF2-40B4-BE49-F238E27FC236}">
                <a16:creationId xmlns:a16="http://schemas.microsoft.com/office/drawing/2014/main" id="{D5689DAB-3EA9-4B89-B6B1-0B8FC22B624F}"/>
              </a:ext>
            </a:extLst>
          </p:cNvPr>
          <p:cNvSpPr>
            <a:spLocks xmlns:a="http://schemas.openxmlformats.org/drawingml/2006/main" noGrp="1"/>
          </p:cNvSpPr>
          <p:nvPr/>
        </p:nvSpPr>
        <p:spPr>
          <a:xfrm xmlns:a="http://schemas.openxmlformats.org/drawingml/2006/main">
            <a:off x="4191000" y="1752600"/>
            <a:ext cx="0" cy="270510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5" name="Rectangle 14">
            <a:extLst xmlns:a="http://schemas.openxmlformats.org/drawingml/2006/main">
              <a:ext uri="{FF2B5EF4-FFF2-40B4-BE49-F238E27FC236}">
                <a16:creationId xmlns:a16="http://schemas.microsoft.com/office/drawing/2014/main" id="{C70A8FF4-4E0E-4D30-A0A4-A0C59776898F}"/>
              </a:ext>
            </a:extLst>
          </p:cNvPr>
          <p:cNvSpPr>
            <a:spLocks xmlns:a="http://schemas.openxmlformats.org/drawingml/2006/main" noGrp="1"/>
          </p:cNvSpPr>
          <p:nvPr/>
        </p:nvSpPr>
        <p:spPr>
          <a:xfrm xmlns:a="http://schemas.openxmlformats.org/drawingml/2006/main">
            <a:off x="4429125"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E84AAB"/>
                </a:solidFill>
                <a:latin typeface="Arial"/>
                <a:ea typeface="Arial"/>
                <a:cs typeface="Arial"/>
              </a:defRPr>
            </a:defPPr>
            <a:lvl1pPr algn="l">
              <a:buNone/>
              <a:defRPr sz="975" b="1" i="0">
                <a:solidFill>
                  <a:srgbClr val="E84AAB"/>
                </a:solidFill>
                <a:latin typeface="Arial"/>
                <a:ea typeface="Arial"/>
                <a:cs typeface="Arial"/>
              </a:defRPr>
            </a:lvl1pPr>
            <a:lvl2pPr algn="l">
              <a:buNone/>
              <a:defRPr sz="975" b="1" i="0">
                <a:solidFill>
                  <a:srgbClr val="E84AAB"/>
                </a:solidFill>
                <a:latin typeface="Arial"/>
                <a:ea typeface="Arial"/>
                <a:cs typeface="Arial"/>
              </a:defRPr>
            </a:lvl2pPr>
            <a:lvl3pPr algn="l">
              <a:buNone/>
              <a:defRPr sz="975" b="1" i="0">
                <a:solidFill>
                  <a:srgbClr val="E84AAB"/>
                </a:solidFill>
                <a:latin typeface="Arial"/>
                <a:ea typeface="Arial"/>
                <a:cs typeface="Arial"/>
              </a:defRPr>
            </a:lvl3pPr>
            <a:lvl4pPr algn="l">
              <a:buNone/>
              <a:defRPr sz="975" b="1" i="0">
                <a:solidFill>
                  <a:srgbClr val="E84AAB"/>
                </a:solidFill>
                <a:latin typeface="Arial"/>
                <a:ea typeface="Arial"/>
                <a:cs typeface="Arial"/>
              </a:defRPr>
            </a:lvl4pPr>
            <a:lvl5pPr algn="l">
              <a:buNone/>
              <a:defRPr sz="975" b="1" i="0">
                <a:solidFill>
                  <a:srgbClr val="E84AAB"/>
                </a:solidFill>
                <a:latin typeface="Arial"/>
                <a:ea typeface="Arial"/>
                <a:cs typeface="Arial"/>
              </a:defRPr>
            </a:lvl5pPr>
            <a:lvl6pPr algn="l">
              <a:buNone/>
              <a:defRPr sz="975" b="1" i="0">
                <a:solidFill>
                  <a:srgbClr val="E84AAB"/>
                </a:solidFill>
                <a:latin typeface="Arial"/>
                <a:ea typeface="Arial"/>
                <a:cs typeface="Arial"/>
              </a:defRPr>
            </a:lvl6pPr>
            <a:lvl7pPr algn="l">
              <a:buNone/>
              <a:defRPr sz="975" b="1" i="0">
                <a:solidFill>
                  <a:srgbClr val="E84AAB"/>
                </a:solidFill>
                <a:latin typeface="Arial"/>
                <a:ea typeface="Arial"/>
                <a:cs typeface="Arial"/>
              </a:defRPr>
            </a:lvl7pPr>
            <a:lvl8pPr algn="l">
              <a:buNone/>
              <a:defRPr sz="975" b="1" i="0">
                <a:solidFill>
                  <a:srgbClr val="E84AAB"/>
                </a:solidFill>
                <a:latin typeface="Arial"/>
                <a:ea typeface="Arial"/>
                <a:cs typeface="Arial"/>
              </a:defRPr>
            </a:lvl8pPr>
            <a:lvl9pPr algn="l">
              <a:buNone/>
              <a:defRPr sz="975" b="1" i="0">
                <a:solidFill>
                  <a:srgbClr val="E84AAB"/>
                </a:solidFill>
                <a:latin typeface="Arial"/>
                <a:ea typeface="Arial"/>
                <a:cs typeface="Arial"/>
              </a:defRPr>
            </a:lvl9pPr>
          </a:lstStyle>
          <a:p xmlns:a="http://schemas.openxmlformats.org/drawingml/2006/main">
            <a:pPr algn="l">
              <a:buNone/>
              <a:defRPr sz="975" b="1" i="0">
                <a:solidFill>
                  <a:srgbClr val="E84AAB"/>
                </a:solidFill>
                <a:latin typeface="Arial"/>
                <a:ea typeface="Arial"/>
                <a:cs typeface="Arial"/>
              </a:defRPr>
            </a:pPr>
            <a:r>
              <a:rPr sz="975" b="1" i="0">
                <a:solidFill>
                  <a:srgbClr val="E84AAB"/>
                </a:solidFill>
                <a:latin typeface="Arial"/>
                <a:ea typeface="Arial"/>
                <a:cs typeface="Arial"/>
              </a:rPr>
              <a:t>EVIDENCE STILL NEEDED</a:t>
            </a:r>
          </a:p>
        </p:txBody>
      </p:sp>
      <p:sp>
        <p:nvSpPr>
          <p:cNvPr id="16" name="Straight Connector 15">
            <a:extLst xmlns:a="http://schemas.openxmlformats.org/drawingml/2006/main">
              <a:ext uri="{FF2B5EF4-FFF2-40B4-BE49-F238E27FC236}">
                <a16:creationId xmlns:a16="http://schemas.microsoft.com/office/drawing/2014/main" id="{048E00B7-AB9A-4107-80A1-E1F8EB8FA22E}"/>
              </a:ext>
            </a:extLst>
          </p:cNvPr>
          <p:cNvSpPr>
            <a:spLocks xmlns:a="http://schemas.openxmlformats.org/drawingml/2006/main" noGrp="1"/>
          </p:cNvSpPr>
          <p:nvPr/>
        </p:nvSpPr>
        <p:spPr>
          <a:xfrm xmlns:a="http://schemas.openxmlformats.org/drawingml/2006/main">
            <a:off x="4429125" y="2076450"/>
            <a:ext cx="333375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17" name="Rectangle 16">
            <a:extLst xmlns:a="http://schemas.openxmlformats.org/drawingml/2006/main">
              <a:ext uri="{FF2B5EF4-FFF2-40B4-BE49-F238E27FC236}">
                <a16:creationId xmlns:a16="http://schemas.microsoft.com/office/drawing/2014/main" id="{2D6EC446-AD15-4BC0-AC20-A514FC8A8856}"/>
              </a:ext>
            </a:extLst>
          </p:cNvPr>
          <p:cNvSpPr>
            <a:spLocks xmlns:a="http://schemas.openxmlformats.org/drawingml/2006/main" noGrp="1"/>
          </p:cNvSpPr>
          <p:nvPr/>
        </p:nvSpPr>
        <p:spPr>
          <a:xfrm xmlns:a="http://schemas.openxmlformats.org/drawingml/2006/main">
            <a:off x="4429125"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Outcome data across domain pairs</a:t>
            </a:r>
          </a:p>
        </p:txBody>
      </p:sp>
      <p:sp>
        <p:nvSpPr>
          <p:cNvPr id="18" name="Rectangle 17">
            <a:extLst xmlns:a="http://schemas.openxmlformats.org/drawingml/2006/main">
              <a:ext uri="{FF2B5EF4-FFF2-40B4-BE49-F238E27FC236}">
                <a16:creationId xmlns:a16="http://schemas.microsoft.com/office/drawing/2014/main" id="{596F2F7B-2869-4E8B-9AFF-A8A1F9DE1AC0}"/>
              </a:ext>
            </a:extLst>
          </p:cNvPr>
          <p:cNvSpPr>
            <a:spLocks xmlns:a="http://schemas.openxmlformats.org/drawingml/2006/main" noGrp="1"/>
          </p:cNvSpPr>
          <p:nvPr/>
        </p:nvSpPr>
        <p:spPr>
          <a:xfrm xmlns:a="http://schemas.openxmlformats.org/drawingml/2006/main">
            <a:off x="4429125"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A family-disjoint ranking benchmark</a:t>
            </a:r>
          </a:p>
        </p:txBody>
      </p:sp>
      <p:sp>
        <p:nvSpPr>
          <p:cNvPr id="19" name="Rectangle 18">
            <a:extLst xmlns:a="http://schemas.openxmlformats.org/drawingml/2006/main">
              <a:ext uri="{FF2B5EF4-FFF2-40B4-BE49-F238E27FC236}">
                <a16:creationId xmlns:a16="http://schemas.microsoft.com/office/drawing/2014/main" id="{47F46309-13CF-47FA-9465-60AFDFAB1638}"/>
              </a:ext>
            </a:extLst>
          </p:cNvPr>
          <p:cNvSpPr>
            <a:spLocks xmlns:a="http://schemas.openxmlformats.org/drawingml/2006/main" noGrp="1"/>
          </p:cNvSpPr>
          <p:nvPr/>
        </p:nvSpPr>
        <p:spPr>
          <a:xfrm xmlns:a="http://schemas.openxmlformats.org/drawingml/2006/main">
            <a:off x="4429125"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Prospective calibration</a:t>
            </a:r>
          </a:p>
        </p:txBody>
      </p:sp>
      <p:sp>
        <p:nvSpPr>
          <p:cNvPr id="20" name="Rectangle 19">
            <a:extLst xmlns:a="http://schemas.openxmlformats.org/drawingml/2006/main">
              <a:ext uri="{FF2B5EF4-FFF2-40B4-BE49-F238E27FC236}">
                <a16:creationId xmlns:a16="http://schemas.microsoft.com/office/drawing/2014/main" id="{7DA5B21C-43CA-4322-AD6C-86DB2FFA57EC}"/>
              </a:ext>
            </a:extLst>
          </p:cNvPr>
          <p:cNvSpPr>
            <a:spLocks xmlns:a="http://schemas.openxmlformats.org/drawingml/2006/main" noGrp="1"/>
          </p:cNvSpPr>
          <p:nvPr/>
        </p:nvSpPr>
        <p:spPr>
          <a:xfrm xmlns:a="http://schemas.openxmlformats.org/drawingml/2006/main">
            <a:off x="4429125"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Measured link between rank and function</a:t>
            </a:r>
          </a:p>
        </p:txBody>
      </p:sp>
      <p:sp>
        <p:nvSpPr>
          <p:cNvPr id="21" name="Straight Connector 20">
            <a:extLst xmlns:a="http://schemas.openxmlformats.org/drawingml/2006/main">
              <a:ext uri="{FF2B5EF4-FFF2-40B4-BE49-F238E27FC236}">
                <a16:creationId xmlns:a16="http://schemas.microsoft.com/office/drawing/2014/main" id="{9F4500C4-0305-43CC-80F3-30FA96EBB073}"/>
              </a:ext>
            </a:extLst>
          </p:cNvPr>
          <p:cNvSpPr>
            <a:spLocks xmlns:a="http://schemas.openxmlformats.org/drawingml/2006/main" noGrp="1"/>
          </p:cNvSpPr>
          <p:nvPr/>
        </p:nvSpPr>
        <p:spPr>
          <a:xfrm xmlns:a="http://schemas.openxmlformats.org/drawingml/2006/main">
            <a:off x="7991475" y="1752600"/>
            <a:ext cx="0" cy="270510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2" name="Rectangle 21">
            <a:extLst xmlns:a="http://schemas.openxmlformats.org/drawingml/2006/main">
              <a:ext uri="{FF2B5EF4-FFF2-40B4-BE49-F238E27FC236}">
                <a16:creationId xmlns:a16="http://schemas.microsoft.com/office/drawing/2014/main" id="{34A43B78-9CB7-4845-8F4F-14A60CDA665B}"/>
              </a:ext>
            </a:extLst>
          </p:cNvPr>
          <p:cNvSpPr>
            <a:spLocks xmlns:a="http://schemas.openxmlformats.org/drawingml/2006/main" noGrp="1"/>
          </p:cNvSpPr>
          <p:nvPr/>
        </p:nvSpPr>
        <p:spPr>
          <a:xfrm xmlns:a="http://schemas.openxmlformats.org/drawingml/2006/main">
            <a:off x="8229600"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LINKERFORGE PROVIDES NOW</a:t>
            </a:r>
          </a:p>
        </p:txBody>
      </p:sp>
      <p:sp>
        <p:nvSpPr>
          <p:cNvPr id="23" name="Straight Connector 22">
            <a:extLst xmlns:a="http://schemas.openxmlformats.org/drawingml/2006/main">
              <a:ext uri="{FF2B5EF4-FFF2-40B4-BE49-F238E27FC236}">
                <a16:creationId xmlns:a16="http://schemas.microsoft.com/office/drawing/2014/main" id="{13051033-7544-4A95-BB70-120238010040}"/>
              </a:ext>
            </a:extLst>
          </p:cNvPr>
          <p:cNvSpPr>
            <a:spLocks xmlns:a="http://schemas.openxmlformats.org/drawingml/2006/main" noGrp="1"/>
          </p:cNvSpPr>
          <p:nvPr/>
        </p:nvSpPr>
        <p:spPr>
          <a:xfrm xmlns:a="http://schemas.openxmlformats.org/drawingml/2006/main">
            <a:off x="8229600" y="2076450"/>
            <a:ext cx="3333750"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B12AA146-7881-44A3-AE4A-9E3E573EE1DC}"/>
              </a:ext>
            </a:extLst>
          </p:cNvPr>
          <p:cNvSpPr>
            <a:spLocks xmlns:a="http://schemas.openxmlformats.org/drawingml/2006/main" noGrp="1"/>
          </p:cNvSpPr>
          <p:nvPr/>
        </p:nvSpPr>
        <p:spPr>
          <a:xfrm xmlns:a="http://schemas.openxmlformats.org/drawingml/2006/main">
            <a:off x="8229600"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Constrained candidates and controls</a:t>
            </a:r>
          </a:p>
        </p:txBody>
      </p:sp>
      <p:sp>
        <p:nvSpPr>
          <p:cNvPr id="25" name="Rectangle 24">
            <a:extLst xmlns:a="http://schemas.openxmlformats.org/drawingml/2006/main">
              <a:ext uri="{FF2B5EF4-FFF2-40B4-BE49-F238E27FC236}">
                <a16:creationId xmlns:a16="http://schemas.microsoft.com/office/drawing/2014/main" id="{9766968B-8B8A-4C9E-BC06-0135B68172E0}"/>
              </a:ext>
            </a:extLst>
          </p:cNvPr>
          <p:cNvSpPr>
            <a:spLocks xmlns:a="http://schemas.openxmlformats.org/drawingml/2006/main" noGrp="1"/>
          </p:cNvSpPr>
          <p:nvPr/>
        </p:nvSpPr>
        <p:spPr>
          <a:xfrm xmlns:a="http://schemas.openxmlformats.org/drawingml/2006/main">
            <a:off x="8229600"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Matched full-fusion evidence</a:t>
            </a:r>
          </a:p>
        </p:txBody>
      </p:sp>
      <p:sp>
        <p:nvSpPr>
          <p:cNvPr id="26" name="Rectangle 25">
            <a:extLst xmlns:a="http://schemas.openxmlformats.org/drawingml/2006/main">
              <a:ext uri="{FF2B5EF4-FFF2-40B4-BE49-F238E27FC236}">
                <a16:creationId xmlns:a16="http://schemas.microsoft.com/office/drawing/2014/main" id="{579FD03E-E023-46CB-8F31-4A2102E6180F}"/>
              </a:ext>
            </a:extLst>
          </p:cNvPr>
          <p:cNvSpPr>
            <a:spLocks xmlns:a="http://schemas.openxmlformats.org/drawingml/2006/main" noGrp="1"/>
          </p:cNvSpPr>
          <p:nvPr/>
        </p:nvSpPr>
        <p:spPr>
          <a:xfrm xmlns:a="http://schemas.openxmlformats.org/drawingml/2006/main">
            <a:off x="8229600"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Declared rejection rules</a:t>
            </a:r>
          </a:p>
        </p:txBody>
      </p:sp>
      <p:sp>
        <p:nvSpPr>
          <p:cNvPr id="27" name="Rectangle 26">
            <a:extLst xmlns:a="http://schemas.openxmlformats.org/drawingml/2006/main">
              <a:ext uri="{FF2B5EF4-FFF2-40B4-BE49-F238E27FC236}">
                <a16:creationId xmlns:a16="http://schemas.microsoft.com/office/drawing/2014/main" id="{EA137877-74FB-4861-B3E6-1EDDEA5F75EB}"/>
              </a:ext>
            </a:extLst>
          </p:cNvPr>
          <p:cNvSpPr>
            <a:spLocks xmlns:a="http://schemas.openxmlformats.org/drawingml/2006/main" noGrp="1"/>
          </p:cNvSpPr>
          <p:nvPr/>
        </p:nvSpPr>
        <p:spPr>
          <a:xfrm xmlns:a="http://schemas.openxmlformats.org/drawingml/2006/main">
            <a:off x="8229600"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Versioned provenance and exports</a:t>
            </a:r>
          </a:p>
        </p:txBody>
      </p:sp>
      <p:sp>
        <p:nvSpPr>
          <p:cNvPr id="28" name="Straight Connector 27">
            <a:extLst xmlns:a="http://schemas.openxmlformats.org/drawingml/2006/main">
              <a:ext uri="{FF2B5EF4-FFF2-40B4-BE49-F238E27FC236}">
                <a16:creationId xmlns:a16="http://schemas.microsoft.com/office/drawing/2014/main" id="{64BC6473-66B4-4307-9530-88D9511A9799}"/>
              </a:ext>
            </a:extLst>
          </p:cNvPr>
          <p:cNvSpPr>
            <a:spLocks xmlns:a="http://schemas.openxmlformats.org/drawingml/2006/main" noGrp="1"/>
          </p:cNvSpPr>
          <p:nvPr/>
        </p:nvSpPr>
        <p:spPr>
          <a:xfrm xmlns:a="http://schemas.openxmlformats.org/drawingml/2006/main">
            <a:off x="628650" y="4895850"/>
            <a:ext cx="10934700" cy="0"/>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29" name="Rectangle 28">
            <a:extLst xmlns:a="http://schemas.openxmlformats.org/drawingml/2006/main">
              <a:ext uri="{FF2B5EF4-FFF2-40B4-BE49-F238E27FC236}">
                <a16:creationId xmlns:a16="http://schemas.microsoft.com/office/drawing/2014/main" id="{C79340D4-2C6D-4EE7-B2D2-AB18154D1844}"/>
              </a:ext>
            </a:extLst>
          </p:cNvPr>
          <p:cNvSpPr>
            <a:spLocks xmlns:a="http://schemas.openxmlformats.org/drawingml/2006/main" noGrp="1"/>
          </p:cNvSpPr>
          <p:nvPr/>
        </p:nvSpPr>
        <p:spPr>
          <a:xfrm xmlns:a="http://schemas.openxmlformats.org/drawingml/2006/main">
            <a:off x="638175" y="51054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125" b="1" i="0">
                <a:solidFill>
                  <a:srgbClr val="2DBD73"/>
                </a:solidFill>
                <a:latin typeface="Arial"/>
                <a:ea typeface="Arial"/>
                <a:cs typeface="Arial"/>
              </a:defRPr>
            </a:defPPr>
            <a:lvl1pPr algn="l">
              <a:buNone/>
              <a:defRPr sz="1125" b="1" i="0">
                <a:solidFill>
                  <a:srgbClr val="2DBD73"/>
                </a:solidFill>
                <a:latin typeface="Arial"/>
                <a:ea typeface="Arial"/>
                <a:cs typeface="Arial"/>
              </a:defRPr>
            </a:lvl1pPr>
            <a:lvl2pPr algn="l">
              <a:buNone/>
              <a:defRPr sz="1125" b="1" i="0">
                <a:solidFill>
                  <a:srgbClr val="2DBD73"/>
                </a:solidFill>
                <a:latin typeface="Arial"/>
                <a:ea typeface="Arial"/>
                <a:cs typeface="Arial"/>
              </a:defRPr>
            </a:lvl2pPr>
            <a:lvl3pPr algn="l">
              <a:buNone/>
              <a:defRPr sz="1125" b="1" i="0">
                <a:solidFill>
                  <a:srgbClr val="2DBD73"/>
                </a:solidFill>
                <a:latin typeface="Arial"/>
                <a:ea typeface="Arial"/>
                <a:cs typeface="Arial"/>
              </a:defRPr>
            </a:lvl3pPr>
            <a:lvl4pPr algn="l">
              <a:buNone/>
              <a:defRPr sz="1125" b="1" i="0">
                <a:solidFill>
                  <a:srgbClr val="2DBD73"/>
                </a:solidFill>
                <a:latin typeface="Arial"/>
                <a:ea typeface="Arial"/>
                <a:cs typeface="Arial"/>
              </a:defRPr>
            </a:lvl4pPr>
            <a:lvl5pPr algn="l">
              <a:buNone/>
              <a:defRPr sz="1125" b="1" i="0">
                <a:solidFill>
                  <a:srgbClr val="2DBD73"/>
                </a:solidFill>
                <a:latin typeface="Arial"/>
                <a:ea typeface="Arial"/>
                <a:cs typeface="Arial"/>
              </a:defRPr>
            </a:lvl5pPr>
            <a:lvl6pPr algn="l">
              <a:buNone/>
              <a:defRPr sz="1125" b="1" i="0">
                <a:solidFill>
                  <a:srgbClr val="2DBD73"/>
                </a:solidFill>
                <a:latin typeface="Arial"/>
                <a:ea typeface="Arial"/>
                <a:cs typeface="Arial"/>
              </a:defRPr>
            </a:lvl6pPr>
            <a:lvl7pPr algn="l">
              <a:buNone/>
              <a:defRPr sz="1125" b="1" i="0">
                <a:solidFill>
                  <a:srgbClr val="2DBD73"/>
                </a:solidFill>
                <a:latin typeface="Arial"/>
                <a:ea typeface="Arial"/>
                <a:cs typeface="Arial"/>
              </a:defRPr>
            </a:lvl7pPr>
            <a:lvl8pPr algn="l">
              <a:buNone/>
              <a:defRPr sz="1125" b="1" i="0">
                <a:solidFill>
                  <a:srgbClr val="2DBD73"/>
                </a:solidFill>
                <a:latin typeface="Arial"/>
                <a:ea typeface="Arial"/>
                <a:cs typeface="Arial"/>
              </a:defRPr>
            </a:lvl8pPr>
            <a:lvl9pPr algn="l">
              <a:buNone/>
              <a:defRPr sz="1125" b="1" i="0">
                <a:solidFill>
                  <a:srgbClr val="2DBD73"/>
                </a:solidFill>
                <a:latin typeface="Arial"/>
                <a:ea typeface="Arial"/>
                <a:cs typeface="Arial"/>
              </a:defRPr>
            </a:lvl9pPr>
          </a:lstStyle>
          <a:p xmlns:a="http://schemas.openxmlformats.org/drawingml/2006/main">
            <a:pPr algn="l">
              <a:buNone/>
              <a:defRPr sz="1125" b="1" i="0">
                <a:solidFill>
                  <a:srgbClr val="2DBD73"/>
                </a:solidFill>
                <a:latin typeface="Arial"/>
                <a:ea typeface="Arial"/>
                <a:cs typeface="Arial"/>
              </a:defRPr>
            </a:pPr>
            <a:r>
              <a:rPr sz="1125" b="1" i="0">
                <a:solidFill>
                  <a:srgbClr val="2DBD73"/>
                </a:solidFill>
                <a:latin typeface="Arial"/>
                <a:ea typeface="Arial"/>
                <a:cs typeface="Arial"/>
              </a:rPr>
              <a:t>Planned scientific test</a:t>
            </a:r>
          </a:p>
        </p:txBody>
      </p:sp>
      <p:sp>
        <p:nvSpPr>
          <p:cNvPr id="30" name="Rectangle 29">
            <a:extLst xmlns:a="http://schemas.openxmlformats.org/drawingml/2006/main">
              <a:ext uri="{FF2B5EF4-FFF2-40B4-BE49-F238E27FC236}">
                <a16:creationId xmlns:a16="http://schemas.microsoft.com/office/drawing/2014/main" id="{06A4CA93-4097-4311-B231-406369181145}"/>
              </a:ext>
            </a:extLst>
          </p:cNvPr>
          <p:cNvSpPr>
            <a:spLocks xmlns:a="http://schemas.openxmlformats.org/drawingml/2006/main" noGrp="1"/>
          </p:cNvSpPr>
          <p:nvPr/>
        </p:nvSpPr>
        <p:spPr>
          <a:xfrm xmlns:a="http://schemas.openxmlformats.org/drawingml/2006/main">
            <a:off x="638175" y="54387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339"/>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Train a pair-conditioned ranker, then compare it with fixed, random, geometry, retrieval, and classical baselines on untouched families.</a:t>
            </a:r>
          </a:p>
        </p:txBody>
      </p:sp>
      <p:sp>
        <p:nvSpPr>
          <p:cNvPr id="31" name="Rectangle 30">
            <a:extLst xmlns:a="http://schemas.openxmlformats.org/drawingml/2006/main">
              <a:ext uri="{FF2B5EF4-FFF2-40B4-BE49-F238E27FC236}">
                <a16:creationId xmlns:a16="http://schemas.microsoft.com/office/drawing/2014/main" id="{0FDAB54E-375B-4705-BFFC-727D61DE7F85}"/>
              </a:ext>
            </a:extLst>
          </p:cNvPr>
          <p:cNvSpPr>
            <a:spLocks xmlns:a="http://schemas.openxmlformats.org/drawingml/2006/main" noGrp="1"/>
          </p:cNvSpPr>
          <p:nvPr/>
        </p:nvSpPr>
        <p:spPr>
          <a:xfrm xmlns:a="http://schemas.openxmlformats.org/drawingml/2006/main">
            <a:off x="638175" y="6048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defPPr algn="l">
              <a:defRPr sz="1200" b="0" i="0">
                <a:solidFill>
                  <a:srgbClr val="AFC0B8"/>
                </a:solidFill>
                <a:latin typeface="Arial"/>
                <a:ea typeface="Arial"/>
                <a:cs typeface="Arial"/>
              </a:defRPr>
            </a:defPPr>
            <a:lvl1pPr algn="l">
              <a:buNone/>
              <a:defRPr sz="1200" b="0" i="0">
                <a:solidFill>
                  <a:srgbClr val="AFC0B8"/>
                </a:solidFill>
                <a:latin typeface="Arial"/>
                <a:ea typeface="Arial"/>
                <a:cs typeface="Arial"/>
              </a:defRPr>
            </a:lvl1pPr>
            <a:lvl2pPr algn="l">
              <a:buNone/>
              <a:defRPr sz="1200" b="0" i="0">
                <a:solidFill>
                  <a:srgbClr val="AFC0B8"/>
                </a:solidFill>
                <a:latin typeface="Arial"/>
                <a:ea typeface="Arial"/>
                <a:cs typeface="Arial"/>
              </a:defRPr>
            </a:lvl2pPr>
            <a:lvl3pPr algn="l">
              <a:buNone/>
              <a:defRPr sz="1200" b="0" i="0">
                <a:solidFill>
                  <a:srgbClr val="AFC0B8"/>
                </a:solidFill>
                <a:latin typeface="Arial"/>
                <a:ea typeface="Arial"/>
                <a:cs typeface="Arial"/>
              </a:defRPr>
            </a:lvl3pPr>
            <a:lvl4pPr algn="l">
              <a:buNone/>
              <a:defRPr sz="1200" b="0" i="0">
                <a:solidFill>
                  <a:srgbClr val="AFC0B8"/>
                </a:solidFill>
                <a:latin typeface="Arial"/>
                <a:ea typeface="Arial"/>
                <a:cs typeface="Arial"/>
              </a:defRPr>
            </a:lvl4pPr>
            <a:lvl5pPr algn="l">
              <a:buNone/>
              <a:defRPr sz="1200" b="0" i="0">
                <a:solidFill>
                  <a:srgbClr val="AFC0B8"/>
                </a:solidFill>
                <a:latin typeface="Arial"/>
                <a:ea typeface="Arial"/>
                <a:cs typeface="Arial"/>
              </a:defRPr>
            </a:lvl5pPr>
            <a:lvl6pPr algn="l">
              <a:buNone/>
              <a:defRPr sz="1200" b="0" i="0">
                <a:solidFill>
                  <a:srgbClr val="AFC0B8"/>
                </a:solidFill>
                <a:latin typeface="Arial"/>
                <a:ea typeface="Arial"/>
                <a:cs typeface="Arial"/>
              </a:defRPr>
            </a:lvl6pPr>
            <a:lvl7pPr algn="l">
              <a:buNone/>
              <a:defRPr sz="1200" b="0" i="0">
                <a:solidFill>
                  <a:srgbClr val="AFC0B8"/>
                </a:solidFill>
                <a:latin typeface="Arial"/>
                <a:ea typeface="Arial"/>
                <a:cs typeface="Arial"/>
              </a:defRPr>
            </a:lvl7pPr>
            <a:lvl8pPr algn="l">
              <a:buNone/>
              <a:defRPr sz="1200" b="0" i="0">
                <a:solidFill>
                  <a:srgbClr val="AFC0B8"/>
                </a:solidFill>
                <a:latin typeface="Arial"/>
                <a:ea typeface="Arial"/>
                <a:cs typeface="Arial"/>
              </a:defRPr>
            </a:lvl8pPr>
            <a:lvl9pPr algn="l">
              <a:buNone/>
              <a:defRPr sz="1200" b="0" i="0">
                <a:solidFill>
                  <a:srgbClr val="AFC0B8"/>
                </a:solidFill>
                <a:latin typeface="Arial"/>
                <a:ea typeface="Arial"/>
                <a:cs typeface="Arial"/>
              </a:defRPr>
            </a:lvl9pPr>
          </a:lstStyle>
          <a:p xmlns:a="http://schemas.openxmlformats.org/drawingml/2006/main">
            <a:pPr algn="l">
              <a:buNone/>
              <a:defRPr sz="1200" b="0" i="0">
                <a:solidFill>
                  <a:srgbClr val="AFC0B8"/>
                </a:solidFill>
                <a:latin typeface="Arial"/>
                <a:ea typeface="Arial"/>
                <a:cs typeface="Arial"/>
              </a:defRPr>
            </a:pPr>
            <a:r>
              <a:rPr sz="1200" b="0" i="0">
                <a:solidFill>
                  <a:srgbClr val="AFC0B8"/>
                </a:solidFill>
                <a:latin typeface="Arial"/>
                <a:ea typeface="Arial"/>
                <a:cs typeface="Arial"/>
              </a:rPr>
              <a:t>Current detector and workflow results do not establish that ranking performance.</a:t>
            </a:r>
          </a:p>
        </p:txBody>
      </p:sp>
    </p:spTree>
    <p:extLst>
      <p:ext uri="{BB962C8B-B14F-4D97-AF65-F5344CB8AC3E}">
        <p14:creationId xmlns:p14="http://schemas.microsoft.com/office/powerpoint/2010/main" val="2059327202"/>
      </p:ext>
    </p:extLst>
  </p:cSld>
</p:sld>
</file>

<file path=ppt/slides/slide9.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1D698D82-0FDC-4EF3-B94C-9EF16B5AC8A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7D0C5D1F-A99B-458C-86B7-7FF59063FA4C}"/>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696D97D-FB4E-43C1-B93F-DC8210A2F805}"/>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QUESTION</a:t>
            </a:r>
          </a:p>
        </p:txBody>
      </p:sp>
      <p:sp>
        <p:nvSpPr>
          <p:cNvPr id="4" name="Rectangle 3">
            <a:extLst xmlns:a="http://schemas.openxmlformats.org/drawingml/2006/main">
              <a:ext uri="{FF2B5EF4-FFF2-40B4-BE49-F238E27FC236}">
                <a16:creationId xmlns:a16="http://schemas.microsoft.com/office/drawing/2014/main" id="{FE32AF3C-6312-49EF-AF75-FB56F59A9F5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Canonical scope and frozen decisions: README.md</a:t>
            </a:r>
          </a:p>
        </p:txBody>
      </p:sp>
      <p:sp>
        <p:nvSpPr>
          <p:cNvPr id="5" name="Rectangle 4">
            <a:extLst xmlns:a="http://schemas.openxmlformats.org/drawingml/2006/main">
              <a:ext uri="{FF2B5EF4-FFF2-40B4-BE49-F238E27FC236}">
                <a16:creationId xmlns:a16="http://schemas.microsoft.com/office/drawing/2014/main" id="{DC94A2B4-1B9D-4D1B-B273-D98B233A447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09</a:t>
            </a:r>
          </a:p>
        </p:txBody>
      </p:sp>
      <p:sp>
        <p:nvSpPr>
          <p:cNvPr id="6" name="Rectangle 5">
            <a:extLst xmlns:a="http://schemas.openxmlformats.org/drawingml/2006/main">
              <a:ext uri="{FF2B5EF4-FFF2-40B4-BE49-F238E27FC236}">
                <a16:creationId xmlns:a16="http://schemas.microsoft.com/office/drawing/2014/main" id="{E3BFDD2F-B4E8-4FBC-B1E2-F8789CB6D4B6}"/>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Research question and evidence stages</a:t>
            </a:r>
          </a:p>
        </p:txBody>
      </p:sp>
      <p:sp>
        <p:nvSpPr>
          <p:cNvPr id="7" name="Rectangle 6">
            <a:extLst xmlns:a="http://schemas.openxmlformats.org/drawingml/2006/main">
              <a:ext uri="{FF2B5EF4-FFF2-40B4-BE49-F238E27FC236}">
                <a16:creationId xmlns:a16="http://schemas.microsoft.com/office/drawing/2014/main" id="{8A996F41-0E94-4CD2-AFAF-271DC4A44AC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stage has a different evidence threshold</a:t>
            </a:r>
          </a:p>
        </p:txBody>
      </p:sp>
      <p:sp>
        <p:nvSpPr>
          <p:cNvPr id="8" name="Rectangle 7">
            <a:extLst xmlns:a="http://schemas.openxmlformats.org/drawingml/2006/main">
              <a:ext uri="{FF2B5EF4-FFF2-40B4-BE49-F238E27FC236}">
                <a16:creationId xmlns:a16="http://schemas.microsoft.com/office/drawing/2014/main" id="{A92F5BDF-CB73-4640-A0A6-0BCE145B78D7}"/>
              </a:ext>
            </a:extLst>
          </p:cNvPr>
          <p:cNvSpPr>
            <a:spLocks xmlns:a="http://schemas.openxmlformats.org/drawingml/2006/main" noGrp="1"/>
          </p:cNvSpPr>
          <p:nvPr/>
        </p:nvSpPr>
        <p:spPr>
          <a:xfrm xmlns:a="http://schemas.openxmlformats.org/drawingml/2006/main">
            <a:off x="666750" y="17716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2DBD73"/>
                </a:solidFill>
                <a:latin typeface="Arial"/>
                <a:ea typeface="Arial"/>
                <a:cs typeface="Arial"/>
              </a:defRPr>
            </a:defPPr>
            <a:lvl1pPr algn="l">
              <a:buNone/>
              <a:defRPr sz="2100" b="1" i="0">
                <a:solidFill>
                  <a:srgbClr val="2DBD73"/>
                </a:solidFill>
                <a:latin typeface="Arial"/>
                <a:ea typeface="Arial"/>
                <a:cs typeface="Arial"/>
              </a:defRPr>
            </a:lvl1pPr>
            <a:lvl2pPr algn="l">
              <a:buNone/>
              <a:defRPr sz="2100" b="1" i="0">
                <a:solidFill>
                  <a:srgbClr val="2DBD73"/>
                </a:solidFill>
                <a:latin typeface="Arial"/>
                <a:ea typeface="Arial"/>
                <a:cs typeface="Arial"/>
              </a:defRPr>
            </a:lvl2pPr>
            <a:lvl3pPr algn="l">
              <a:buNone/>
              <a:defRPr sz="2100" b="1" i="0">
                <a:solidFill>
                  <a:srgbClr val="2DBD73"/>
                </a:solidFill>
                <a:latin typeface="Arial"/>
                <a:ea typeface="Arial"/>
                <a:cs typeface="Arial"/>
              </a:defRPr>
            </a:lvl3pPr>
            <a:lvl4pPr algn="l">
              <a:buNone/>
              <a:defRPr sz="2100" b="1" i="0">
                <a:solidFill>
                  <a:srgbClr val="2DBD73"/>
                </a:solidFill>
                <a:latin typeface="Arial"/>
                <a:ea typeface="Arial"/>
                <a:cs typeface="Arial"/>
              </a:defRPr>
            </a:lvl4pPr>
            <a:lvl5pPr algn="l">
              <a:buNone/>
              <a:defRPr sz="2100" b="1" i="0">
                <a:solidFill>
                  <a:srgbClr val="2DBD73"/>
                </a:solidFill>
                <a:latin typeface="Arial"/>
                <a:ea typeface="Arial"/>
                <a:cs typeface="Arial"/>
              </a:defRPr>
            </a:lvl5pPr>
            <a:lvl6pPr algn="l">
              <a:buNone/>
              <a:defRPr sz="2100" b="1" i="0">
                <a:solidFill>
                  <a:srgbClr val="2DBD73"/>
                </a:solidFill>
                <a:latin typeface="Arial"/>
                <a:ea typeface="Arial"/>
                <a:cs typeface="Arial"/>
              </a:defRPr>
            </a:lvl6pPr>
            <a:lvl7pPr algn="l">
              <a:buNone/>
              <a:defRPr sz="2100" b="1" i="0">
                <a:solidFill>
                  <a:srgbClr val="2DBD73"/>
                </a:solidFill>
                <a:latin typeface="Arial"/>
                <a:ea typeface="Arial"/>
                <a:cs typeface="Arial"/>
              </a:defRPr>
            </a:lvl7pPr>
            <a:lvl8pPr algn="l">
              <a:buNone/>
              <a:defRPr sz="2100" b="1" i="0">
                <a:solidFill>
                  <a:srgbClr val="2DBD73"/>
                </a:solidFill>
                <a:latin typeface="Arial"/>
                <a:ea typeface="Arial"/>
                <a:cs typeface="Arial"/>
              </a:defRPr>
            </a:lvl8pPr>
            <a:lvl9pPr algn="l">
              <a:buNone/>
              <a:defRPr sz="2100" b="1" i="0">
                <a:solidFill>
                  <a:srgbClr val="2DBD73"/>
                </a:solidFill>
                <a:latin typeface="Arial"/>
                <a:ea typeface="Arial"/>
                <a:cs typeface="Arial"/>
              </a:defRPr>
            </a:lvl9pPr>
          </a:lstStyle>
          <a:p xmlns:a="http://schemas.openxmlformats.org/drawingml/2006/main">
            <a:pPr algn="l">
              <a:buNone/>
              <a:defRPr sz="2100" b="1" i="0">
                <a:solidFill>
                  <a:srgbClr val="2DBD73"/>
                </a:solidFill>
                <a:latin typeface="Arial"/>
                <a:ea typeface="Arial"/>
                <a:cs typeface="Arial"/>
              </a:defRPr>
            </a:pPr>
            <a:r>
              <a:rPr sz="2100" b="1" i="0">
                <a:solidFill>
                  <a:srgbClr val="2DBD73"/>
                </a:solidFill>
                <a:latin typeface="Arial"/>
                <a:ea typeface="Arial"/>
                <a:cs typeface="Arial"/>
              </a:rPr>
              <a:t>01</a:t>
            </a:r>
          </a:p>
        </p:txBody>
      </p:sp>
      <p:sp>
        <p:nvSpPr>
          <p:cNvPr id="9" name="Rectangle 8">
            <a:extLst xmlns:a="http://schemas.openxmlformats.org/drawingml/2006/main">
              <a:ext uri="{FF2B5EF4-FFF2-40B4-BE49-F238E27FC236}">
                <a16:creationId xmlns:a16="http://schemas.microsoft.com/office/drawing/2014/main" id="{ECD4E1C8-92EC-43AC-9CE7-BE12F50AA4C2}"/>
              </a:ext>
            </a:extLst>
          </p:cNvPr>
          <p:cNvSpPr>
            <a:spLocks xmlns:a="http://schemas.openxmlformats.org/drawingml/2006/main" noGrp="1"/>
          </p:cNvSpPr>
          <p:nvPr/>
        </p:nvSpPr>
        <p:spPr>
          <a:xfrm xmlns:a="http://schemas.openxmlformats.org/drawingml/2006/main">
            <a:off x="1438275" y="16954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2DBD73"/>
                </a:solidFill>
                <a:latin typeface="Arial"/>
                <a:ea typeface="Arial"/>
                <a:cs typeface="Arial"/>
              </a:defRPr>
            </a:defPPr>
            <a:lvl1pPr algn="l">
              <a:buNone/>
              <a:defRPr sz="975" b="1" i="0">
                <a:solidFill>
                  <a:srgbClr val="2DBD73"/>
                </a:solidFill>
                <a:latin typeface="Arial"/>
                <a:ea typeface="Arial"/>
                <a:cs typeface="Arial"/>
              </a:defRPr>
            </a:lvl1pPr>
            <a:lvl2pPr algn="l">
              <a:buNone/>
              <a:defRPr sz="975" b="1" i="0">
                <a:solidFill>
                  <a:srgbClr val="2DBD73"/>
                </a:solidFill>
                <a:latin typeface="Arial"/>
                <a:ea typeface="Arial"/>
                <a:cs typeface="Arial"/>
              </a:defRPr>
            </a:lvl2pPr>
            <a:lvl3pPr algn="l">
              <a:buNone/>
              <a:defRPr sz="975" b="1" i="0">
                <a:solidFill>
                  <a:srgbClr val="2DBD73"/>
                </a:solidFill>
                <a:latin typeface="Arial"/>
                <a:ea typeface="Arial"/>
                <a:cs typeface="Arial"/>
              </a:defRPr>
            </a:lvl3pPr>
            <a:lvl4pPr algn="l">
              <a:buNone/>
              <a:defRPr sz="975" b="1" i="0">
                <a:solidFill>
                  <a:srgbClr val="2DBD73"/>
                </a:solidFill>
                <a:latin typeface="Arial"/>
                <a:ea typeface="Arial"/>
                <a:cs typeface="Arial"/>
              </a:defRPr>
            </a:lvl4pPr>
            <a:lvl5pPr algn="l">
              <a:buNone/>
              <a:defRPr sz="975" b="1" i="0">
                <a:solidFill>
                  <a:srgbClr val="2DBD73"/>
                </a:solidFill>
                <a:latin typeface="Arial"/>
                <a:ea typeface="Arial"/>
                <a:cs typeface="Arial"/>
              </a:defRPr>
            </a:lvl5pPr>
            <a:lvl6pPr algn="l">
              <a:buNone/>
              <a:defRPr sz="975" b="1" i="0">
                <a:solidFill>
                  <a:srgbClr val="2DBD73"/>
                </a:solidFill>
                <a:latin typeface="Arial"/>
                <a:ea typeface="Arial"/>
                <a:cs typeface="Arial"/>
              </a:defRPr>
            </a:lvl6pPr>
            <a:lvl7pPr algn="l">
              <a:buNone/>
              <a:defRPr sz="975" b="1" i="0">
                <a:solidFill>
                  <a:srgbClr val="2DBD73"/>
                </a:solidFill>
                <a:latin typeface="Arial"/>
                <a:ea typeface="Arial"/>
                <a:cs typeface="Arial"/>
              </a:defRPr>
            </a:lvl7pPr>
            <a:lvl8pPr algn="l">
              <a:buNone/>
              <a:defRPr sz="975" b="1" i="0">
                <a:solidFill>
                  <a:srgbClr val="2DBD73"/>
                </a:solidFill>
                <a:latin typeface="Arial"/>
                <a:ea typeface="Arial"/>
                <a:cs typeface="Arial"/>
              </a:defRPr>
            </a:lvl8pPr>
            <a:lvl9pPr algn="l">
              <a:buNone/>
              <a:defRPr sz="975" b="1" i="0">
                <a:solidFill>
                  <a:srgbClr val="2DBD73"/>
                </a:solidFill>
                <a:latin typeface="Arial"/>
                <a:ea typeface="Arial"/>
                <a:cs typeface="Arial"/>
              </a:defRPr>
            </a:lvl9pPr>
          </a:lstStyle>
          <a:p xmlns:a="http://schemas.openxmlformats.org/drawingml/2006/main">
            <a:pPr algn="l">
              <a:buNone/>
              <a:defRPr sz="975" b="1" i="0">
                <a:solidFill>
                  <a:srgbClr val="2DBD73"/>
                </a:solidFill>
                <a:latin typeface="Arial"/>
                <a:ea typeface="Arial"/>
                <a:cs typeface="Arial"/>
              </a:defRPr>
            </a:pPr>
            <a:r>
              <a:rPr sz="975" b="1" i="0">
                <a:solidFill>
                  <a:srgbClr val="2DBD73"/>
                </a:solidFill>
                <a:latin typeface="Arial"/>
                <a:ea typeface="Arial"/>
                <a:cs typeface="Arial"/>
              </a:rPr>
              <a:t>IMPLEMENTED</a:t>
            </a:r>
          </a:p>
        </p:txBody>
      </p:sp>
      <p:sp>
        <p:nvSpPr>
          <p:cNvPr id="10" name="Rectangle 9">
            <a:extLst xmlns:a="http://schemas.openxmlformats.org/drawingml/2006/main">
              <a:ext uri="{FF2B5EF4-FFF2-40B4-BE49-F238E27FC236}">
                <a16:creationId xmlns:a16="http://schemas.microsoft.com/office/drawing/2014/main" id="{41B024DD-23EB-441B-BCCC-B0AA4B029987}"/>
              </a:ext>
            </a:extLst>
          </p:cNvPr>
          <p:cNvSpPr>
            <a:spLocks xmlns:a="http://schemas.openxmlformats.org/drawingml/2006/main" noGrp="1"/>
          </p:cNvSpPr>
          <p:nvPr/>
        </p:nvSpPr>
        <p:spPr>
          <a:xfrm xmlns:a="http://schemas.openxmlformats.org/drawingml/2006/main">
            <a:off x="1438275" y="19907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we enumerate constrained candidate and control linkers reproducibly?</a:t>
            </a:r>
          </a:p>
        </p:txBody>
      </p:sp>
      <p:sp>
        <p:nvSpPr>
          <p:cNvPr id="11" name="Straight Connector 10">
            <a:extLst xmlns:a="http://schemas.openxmlformats.org/drawingml/2006/main">
              <a:ext uri="{FF2B5EF4-FFF2-40B4-BE49-F238E27FC236}">
                <a16:creationId xmlns:a16="http://schemas.microsoft.com/office/drawing/2014/main" id="{EAE62162-998A-47B9-8F02-091FEF788AA6}"/>
              </a:ext>
            </a:extLst>
          </p:cNvPr>
          <p:cNvSpPr>
            <a:spLocks xmlns:a="http://schemas.openxmlformats.org/drawingml/2006/main" noGrp="1"/>
          </p:cNvSpPr>
          <p:nvPr/>
        </p:nvSpPr>
        <p:spPr>
          <a:xfrm xmlns:a="http://schemas.openxmlformats.org/drawingml/2006/main">
            <a:off x="1438275" y="2695575"/>
            <a:ext cx="95154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2" name="Rectangle 11">
            <a:extLst xmlns:a="http://schemas.openxmlformats.org/drawingml/2006/main">
              <a:ext uri="{FF2B5EF4-FFF2-40B4-BE49-F238E27FC236}">
                <a16:creationId xmlns:a16="http://schemas.microsoft.com/office/drawing/2014/main" id="{3FA28A7D-2FA5-40E9-85C6-A1F082D521D4}"/>
              </a:ext>
            </a:extLst>
          </p:cNvPr>
          <p:cNvSpPr>
            <a:spLocks xmlns:a="http://schemas.openxmlformats.org/drawingml/2006/main" noGrp="1"/>
          </p:cNvSpPr>
          <p:nvPr/>
        </p:nvSpPr>
        <p:spPr>
          <a:xfrm xmlns:a="http://schemas.openxmlformats.org/drawingml/2006/main">
            <a:off x="666750" y="30670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3FC6D6"/>
                </a:solidFill>
                <a:latin typeface="Arial"/>
                <a:ea typeface="Arial"/>
                <a:cs typeface="Arial"/>
              </a:defRPr>
            </a:defPPr>
            <a:lvl1pPr algn="l">
              <a:buNone/>
              <a:defRPr sz="2100" b="1" i="0">
                <a:solidFill>
                  <a:srgbClr val="3FC6D6"/>
                </a:solidFill>
                <a:latin typeface="Arial"/>
                <a:ea typeface="Arial"/>
                <a:cs typeface="Arial"/>
              </a:defRPr>
            </a:lvl1pPr>
            <a:lvl2pPr algn="l">
              <a:buNone/>
              <a:defRPr sz="2100" b="1" i="0">
                <a:solidFill>
                  <a:srgbClr val="3FC6D6"/>
                </a:solidFill>
                <a:latin typeface="Arial"/>
                <a:ea typeface="Arial"/>
                <a:cs typeface="Arial"/>
              </a:defRPr>
            </a:lvl2pPr>
            <a:lvl3pPr algn="l">
              <a:buNone/>
              <a:defRPr sz="2100" b="1" i="0">
                <a:solidFill>
                  <a:srgbClr val="3FC6D6"/>
                </a:solidFill>
                <a:latin typeface="Arial"/>
                <a:ea typeface="Arial"/>
                <a:cs typeface="Arial"/>
              </a:defRPr>
            </a:lvl3pPr>
            <a:lvl4pPr algn="l">
              <a:buNone/>
              <a:defRPr sz="2100" b="1" i="0">
                <a:solidFill>
                  <a:srgbClr val="3FC6D6"/>
                </a:solidFill>
                <a:latin typeface="Arial"/>
                <a:ea typeface="Arial"/>
                <a:cs typeface="Arial"/>
              </a:defRPr>
            </a:lvl4pPr>
            <a:lvl5pPr algn="l">
              <a:buNone/>
              <a:defRPr sz="2100" b="1" i="0">
                <a:solidFill>
                  <a:srgbClr val="3FC6D6"/>
                </a:solidFill>
                <a:latin typeface="Arial"/>
                <a:ea typeface="Arial"/>
                <a:cs typeface="Arial"/>
              </a:defRPr>
            </a:lvl5pPr>
            <a:lvl6pPr algn="l">
              <a:buNone/>
              <a:defRPr sz="2100" b="1" i="0">
                <a:solidFill>
                  <a:srgbClr val="3FC6D6"/>
                </a:solidFill>
                <a:latin typeface="Arial"/>
                <a:ea typeface="Arial"/>
                <a:cs typeface="Arial"/>
              </a:defRPr>
            </a:lvl6pPr>
            <a:lvl7pPr algn="l">
              <a:buNone/>
              <a:defRPr sz="2100" b="1" i="0">
                <a:solidFill>
                  <a:srgbClr val="3FC6D6"/>
                </a:solidFill>
                <a:latin typeface="Arial"/>
                <a:ea typeface="Arial"/>
                <a:cs typeface="Arial"/>
              </a:defRPr>
            </a:lvl7pPr>
            <a:lvl8pPr algn="l">
              <a:buNone/>
              <a:defRPr sz="2100" b="1" i="0">
                <a:solidFill>
                  <a:srgbClr val="3FC6D6"/>
                </a:solidFill>
                <a:latin typeface="Arial"/>
                <a:ea typeface="Arial"/>
                <a:cs typeface="Arial"/>
              </a:defRPr>
            </a:lvl8pPr>
            <a:lvl9pPr algn="l">
              <a:buNone/>
              <a:defRPr sz="2100" b="1" i="0">
                <a:solidFill>
                  <a:srgbClr val="3FC6D6"/>
                </a:solidFill>
                <a:latin typeface="Arial"/>
                <a:ea typeface="Arial"/>
                <a:cs typeface="Arial"/>
              </a:defRPr>
            </a:lvl9pPr>
          </a:lstStyle>
          <a:p xmlns:a="http://schemas.openxmlformats.org/drawingml/2006/main">
            <a:pPr algn="l">
              <a:buNone/>
              <a:defRPr sz="2100" b="1" i="0">
                <a:solidFill>
                  <a:srgbClr val="3FC6D6"/>
                </a:solidFill>
                <a:latin typeface="Arial"/>
                <a:ea typeface="Arial"/>
                <a:cs typeface="Arial"/>
              </a:defRPr>
            </a:pPr>
            <a:r>
              <a:rPr sz="2100" b="1" i="0">
                <a:solidFill>
                  <a:srgbClr val="3FC6D6"/>
                </a:solidFill>
                <a:latin typeface="Arial"/>
                <a:ea typeface="Arial"/>
                <a:cs typeface="Arial"/>
              </a:rPr>
              <a:t>02</a:t>
            </a:r>
          </a:p>
        </p:txBody>
      </p:sp>
      <p:sp>
        <p:nvSpPr>
          <p:cNvPr id="13" name="Rectangle 12">
            <a:extLst xmlns:a="http://schemas.openxmlformats.org/drawingml/2006/main">
              <a:ext uri="{FF2B5EF4-FFF2-40B4-BE49-F238E27FC236}">
                <a16:creationId xmlns:a16="http://schemas.microsoft.com/office/drawing/2014/main" id="{C42CA576-C383-4A73-9AE6-EA25E5308712}"/>
              </a:ext>
            </a:extLst>
          </p:cNvPr>
          <p:cNvSpPr>
            <a:spLocks xmlns:a="http://schemas.openxmlformats.org/drawingml/2006/main" noGrp="1"/>
          </p:cNvSpPr>
          <p:nvPr/>
        </p:nvSpPr>
        <p:spPr>
          <a:xfrm xmlns:a="http://schemas.openxmlformats.org/drawingml/2006/main">
            <a:off x="1438275" y="29908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TESTED</a:t>
            </a:r>
          </a:p>
        </p:txBody>
      </p:sp>
      <p:sp>
        <p:nvSpPr>
          <p:cNvPr id="14" name="Rectangle 13">
            <a:extLst xmlns:a="http://schemas.openxmlformats.org/drawingml/2006/main">
              <a:ext uri="{FF2B5EF4-FFF2-40B4-BE49-F238E27FC236}">
                <a16:creationId xmlns:a16="http://schemas.microsoft.com/office/drawing/2014/main" id="{6E0E3676-742D-42CC-A02A-D62500D421EB}"/>
              </a:ext>
            </a:extLst>
          </p:cNvPr>
          <p:cNvSpPr>
            <a:spLocks xmlns:a="http://schemas.openxmlformats.org/drawingml/2006/main" noGrp="1"/>
          </p:cNvSpPr>
          <p:nvPr/>
        </p:nvSpPr>
        <p:spPr>
          <a:xfrm xmlns:a="http://schemas.openxmlformats.org/drawingml/2006/main">
            <a:off x="1438275" y="32861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we run full-chain prediction, ingest confidence, and compare matched constructs?</a:t>
            </a:r>
          </a:p>
        </p:txBody>
      </p:sp>
      <p:sp>
        <p:nvSpPr>
          <p:cNvPr id="15" name="Straight Connector 14">
            <a:extLst xmlns:a="http://schemas.openxmlformats.org/drawingml/2006/main">
              <a:ext uri="{FF2B5EF4-FFF2-40B4-BE49-F238E27FC236}">
                <a16:creationId xmlns:a16="http://schemas.microsoft.com/office/drawing/2014/main" id="{8A7FFE78-8709-4925-8C76-92D48641729F}"/>
              </a:ext>
            </a:extLst>
          </p:cNvPr>
          <p:cNvSpPr>
            <a:spLocks xmlns:a="http://schemas.openxmlformats.org/drawingml/2006/main" noGrp="1"/>
          </p:cNvSpPr>
          <p:nvPr/>
        </p:nvSpPr>
        <p:spPr>
          <a:xfrm xmlns:a="http://schemas.openxmlformats.org/drawingml/2006/main">
            <a:off x="1438275" y="3990975"/>
            <a:ext cx="95154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6" name="Rectangle 15">
            <a:extLst xmlns:a="http://schemas.openxmlformats.org/drawingml/2006/main">
              <a:ext uri="{FF2B5EF4-FFF2-40B4-BE49-F238E27FC236}">
                <a16:creationId xmlns:a16="http://schemas.microsoft.com/office/drawing/2014/main" id="{E217A325-216F-415F-8236-B8B7426C493D}"/>
              </a:ext>
            </a:extLst>
          </p:cNvPr>
          <p:cNvSpPr>
            <a:spLocks xmlns:a="http://schemas.openxmlformats.org/drawingml/2006/main" noGrp="1"/>
          </p:cNvSpPr>
          <p:nvPr/>
        </p:nvSpPr>
        <p:spPr>
          <a:xfrm xmlns:a="http://schemas.openxmlformats.org/drawingml/2006/main">
            <a:off x="666750" y="43624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E84AAB"/>
                </a:solidFill>
                <a:latin typeface="Arial"/>
                <a:ea typeface="Arial"/>
                <a:cs typeface="Arial"/>
              </a:defRPr>
            </a:defPPr>
            <a:lvl1pPr algn="l">
              <a:buNone/>
              <a:defRPr sz="2100" b="1" i="0">
                <a:solidFill>
                  <a:srgbClr val="E84AAB"/>
                </a:solidFill>
                <a:latin typeface="Arial"/>
                <a:ea typeface="Arial"/>
                <a:cs typeface="Arial"/>
              </a:defRPr>
            </a:lvl1pPr>
            <a:lvl2pPr algn="l">
              <a:buNone/>
              <a:defRPr sz="2100" b="1" i="0">
                <a:solidFill>
                  <a:srgbClr val="E84AAB"/>
                </a:solidFill>
                <a:latin typeface="Arial"/>
                <a:ea typeface="Arial"/>
                <a:cs typeface="Arial"/>
              </a:defRPr>
            </a:lvl2pPr>
            <a:lvl3pPr algn="l">
              <a:buNone/>
              <a:defRPr sz="2100" b="1" i="0">
                <a:solidFill>
                  <a:srgbClr val="E84AAB"/>
                </a:solidFill>
                <a:latin typeface="Arial"/>
                <a:ea typeface="Arial"/>
                <a:cs typeface="Arial"/>
              </a:defRPr>
            </a:lvl3pPr>
            <a:lvl4pPr algn="l">
              <a:buNone/>
              <a:defRPr sz="2100" b="1" i="0">
                <a:solidFill>
                  <a:srgbClr val="E84AAB"/>
                </a:solidFill>
                <a:latin typeface="Arial"/>
                <a:ea typeface="Arial"/>
                <a:cs typeface="Arial"/>
              </a:defRPr>
            </a:lvl4pPr>
            <a:lvl5pPr algn="l">
              <a:buNone/>
              <a:defRPr sz="2100" b="1" i="0">
                <a:solidFill>
                  <a:srgbClr val="E84AAB"/>
                </a:solidFill>
                <a:latin typeface="Arial"/>
                <a:ea typeface="Arial"/>
                <a:cs typeface="Arial"/>
              </a:defRPr>
            </a:lvl5pPr>
            <a:lvl6pPr algn="l">
              <a:buNone/>
              <a:defRPr sz="2100" b="1" i="0">
                <a:solidFill>
                  <a:srgbClr val="E84AAB"/>
                </a:solidFill>
                <a:latin typeface="Arial"/>
                <a:ea typeface="Arial"/>
                <a:cs typeface="Arial"/>
              </a:defRPr>
            </a:lvl6pPr>
            <a:lvl7pPr algn="l">
              <a:buNone/>
              <a:defRPr sz="2100" b="1" i="0">
                <a:solidFill>
                  <a:srgbClr val="E84AAB"/>
                </a:solidFill>
                <a:latin typeface="Arial"/>
                <a:ea typeface="Arial"/>
                <a:cs typeface="Arial"/>
              </a:defRPr>
            </a:lvl7pPr>
            <a:lvl8pPr algn="l">
              <a:buNone/>
              <a:defRPr sz="2100" b="1" i="0">
                <a:solidFill>
                  <a:srgbClr val="E84AAB"/>
                </a:solidFill>
                <a:latin typeface="Arial"/>
                <a:ea typeface="Arial"/>
                <a:cs typeface="Arial"/>
              </a:defRPr>
            </a:lvl8pPr>
            <a:lvl9pPr algn="l">
              <a:buNone/>
              <a:defRPr sz="2100" b="1" i="0">
                <a:solidFill>
                  <a:srgbClr val="E84AAB"/>
                </a:solidFill>
                <a:latin typeface="Arial"/>
                <a:ea typeface="Arial"/>
                <a:cs typeface="Arial"/>
              </a:defRPr>
            </a:lvl9pPr>
          </a:lstStyle>
          <a:p xmlns:a="http://schemas.openxmlformats.org/drawingml/2006/main">
            <a:pPr algn="l">
              <a:buNone/>
              <a:defRPr sz="2100" b="1" i="0">
                <a:solidFill>
                  <a:srgbClr val="E84AAB"/>
                </a:solidFill>
                <a:latin typeface="Arial"/>
                <a:ea typeface="Arial"/>
                <a:cs typeface="Arial"/>
              </a:defRPr>
            </a:pPr>
            <a:r>
              <a:rPr sz="2100" b="1" i="0">
                <a:solidFill>
                  <a:srgbClr val="E84AAB"/>
                </a:solidFill>
                <a:latin typeface="Arial"/>
                <a:ea typeface="Arial"/>
                <a:cs typeface="Arial"/>
              </a:rPr>
              <a:t>03</a:t>
            </a:r>
          </a:p>
        </p:txBody>
      </p:sp>
      <p:sp>
        <p:nvSpPr>
          <p:cNvPr id="17" name="Rectangle 16">
            <a:extLst xmlns:a="http://schemas.openxmlformats.org/drawingml/2006/main">
              <a:ext uri="{FF2B5EF4-FFF2-40B4-BE49-F238E27FC236}">
                <a16:creationId xmlns:a16="http://schemas.microsoft.com/office/drawing/2014/main" id="{57020A15-259F-4F41-9678-693C23DF49BC}"/>
              </a:ext>
            </a:extLst>
          </p:cNvPr>
          <p:cNvSpPr>
            <a:spLocks xmlns:a="http://schemas.openxmlformats.org/drawingml/2006/main" noGrp="1"/>
          </p:cNvSpPr>
          <p:nvPr/>
        </p:nvSpPr>
        <p:spPr>
          <a:xfrm xmlns:a="http://schemas.openxmlformats.org/drawingml/2006/main">
            <a:off x="1438275" y="42862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E84AAB"/>
                </a:solidFill>
                <a:latin typeface="Arial"/>
                <a:ea typeface="Arial"/>
                <a:cs typeface="Arial"/>
              </a:defRPr>
            </a:defPPr>
            <a:lvl1pPr algn="l">
              <a:buNone/>
              <a:defRPr sz="975" b="1" i="0">
                <a:solidFill>
                  <a:srgbClr val="E84AAB"/>
                </a:solidFill>
                <a:latin typeface="Arial"/>
                <a:ea typeface="Arial"/>
                <a:cs typeface="Arial"/>
              </a:defRPr>
            </a:lvl1pPr>
            <a:lvl2pPr algn="l">
              <a:buNone/>
              <a:defRPr sz="975" b="1" i="0">
                <a:solidFill>
                  <a:srgbClr val="E84AAB"/>
                </a:solidFill>
                <a:latin typeface="Arial"/>
                <a:ea typeface="Arial"/>
                <a:cs typeface="Arial"/>
              </a:defRPr>
            </a:lvl2pPr>
            <a:lvl3pPr algn="l">
              <a:buNone/>
              <a:defRPr sz="975" b="1" i="0">
                <a:solidFill>
                  <a:srgbClr val="E84AAB"/>
                </a:solidFill>
                <a:latin typeface="Arial"/>
                <a:ea typeface="Arial"/>
                <a:cs typeface="Arial"/>
              </a:defRPr>
            </a:lvl3pPr>
            <a:lvl4pPr algn="l">
              <a:buNone/>
              <a:defRPr sz="975" b="1" i="0">
                <a:solidFill>
                  <a:srgbClr val="E84AAB"/>
                </a:solidFill>
                <a:latin typeface="Arial"/>
                <a:ea typeface="Arial"/>
                <a:cs typeface="Arial"/>
              </a:defRPr>
            </a:lvl4pPr>
            <a:lvl5pPr algn="l">
              <a:buNone/>
              <a:defRPr sz="975" b="1" i="0">
                <a:solidFill>
                  <a:srgbClr val="E84AAB"/>
                </a:solidFill>
                <a:latin typeface="Arial"/>
                <a:ea typeface="Arial"/>
                <a:cs typeface="Arial"/>
              </a:defRPr>
            </a:lvl5pPr>
            <a:lvl6pPr algn="l">
              <a:buNone/>
              <a:defRPr sz="975" b="1" i="0">
                <a:solidFill>
                  <a:srgbClr val="E84AAB"/>
                </a:solidFill>
                <a:latin typeface="Arial"/>
                <a:ea typeface="Arial"/>
                <a:cs typeface="Arial"/>
              </a:defRPr>
            </a:lvl6pPr>
            <a:lvl7pPr algn="l">
              <a:buNone/>
              <a:defRPr sz="975" b="1" i="0">
                <a:solidFill>
                  <a:srgbClr val="E84AAB"/>
                </a:solidFill>
                <a:latin typeface="Arial"/>
                <a:ea typeface="Arial"/>
                <a:cs typeface="Arial"/>
              </a:defRPr>
            </a:lvl7pPr>
            <a:lvl8pPr algn="l">
              <a:buNone/>
              <a:defRPr sz="975" b="1" i="0">
                <a:solidFill>
                  <a:srgbClr val="E84AAB"/>
                </a:solidFill>
                <a:latin typeface="Arial"/>
                <a:ea typeface="Arial"/>
                <a:cs typeface="Arial"/>
              </a:defRPr>
            </a:lvl8pPr>
            <a:lvl9pPr algn="l">
              <a:buNone/>
              <a:defRPr sz="975" b="1" i="0">
                <a:solidFill>
                  <a:srgbClr val="E84AAB"/>
                </a:solidFill>
                <a:latin typeface="Arial"/>
                <a:ea typeface="Arial"/>
                <a:cs typeface="Arial"/>
              </a:defRPr>
            </a:lvl9pPr>
          </a:lstStyle>
          <a:p xmlns:a="http://schemas.openxmlformats.org/drawingml/2006/main">
            <a:pPr algn="l">
              <a:buNone/>
              <a:defRPr sz="975" b="1" i="0">
                <a:solidFill>
                  <a:srgbClr val="E84AAB"/>
                </a:solidFill>
                <a:latin typeface="Arial"/>
                <a:ea typeface="Arial"/>
                <a:cs typeface="Arial"/>
              </a:defRPr>
            </a:pPr>
            <a:r>
              <a:rPr sz="975" b="1" i="0">
                <a:solidFill>
                  <a:srgbClr val="E84AAB"/>
                </a:solidFill>
                <a:latin typeface="Arial"/>
                <a:ea typeface="Arial"/>
                <a:cs typeface="Arial"/>
              </a:rPr>
              <a:t>FUTURE HYPOTHESIS</a:t>
            </a:r>
          </a:p>
        </p:txBody>
      </p:sp>
      <p:sp>
        <p:nvSpPr>
          <p:cNvPr id="18" name="Rectangle 17">
            <a:extLst xmlns:a="http://schemas.openxmlformats.org/drawingml/2006/main">
              <a:ext uri="{FF2B5EF4-FFF2-40B4-BE49-F238E27FC236}">
                <a16:creationId xmlns:a16="http://schemas.microsoft.com/office/drawing/2014/main" id="{2B63A99B-C7D2-42F6-88AE-96FB3BC069B6}"/>
              </a:ext>
            </a:extLst>
          </p:cNvPr>
          <p:cNvSpPr>
            <a:spLocks xmlns:a="http://schemas.openxmlformats.org/drawingml/2006/main" noGrp="1"/>
          </p:cNvSpPr>
          <p:nvPr/>
        </p:nvSpPr>
        <p:spPr>
          <a:xfrm xmlns:a="http://schemas.openxmlformats.org/drawingml/2006/main">
            <a:off x="1438275" y="45815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pair-conditioned features rank compatible linkers on untouched families?</a:t>
            </a:r>
          </a:p>
        </p:txBody>
      </p:sp>
      <p:sp>
        <p:nvSpPr>
          <p:cNvPr id="19" name="Rectangle: Rounded Corners 18">
            <a:extLst xmlns:a="http://schemas.openxmlformats.org/drawingml/2006/main">
              <a:ext uri="{FF2B5EF4-FFF2-40B4-BE49-F238E27FC236}">
                <a16:creationId xmlns:a16="http://schemas.microsoft.com/office/drawing/2014/main" id="{4236ABB1-5C05-4267-BE76-49EF3F1D5DD0}"/>
              </a:ext>
            </a:extLst>
          </p:cNvPr>
          <p:cNvSpPr>
            <a:spLocks xmlns:a="http://schemas.openxmlformats.org/drawingml/2006/main" noGrp="1"/>
          </p:cNvSpPr>
          <p:nvPr/>
        </p:nvSpPr>
        <p:spPr>
          <a:xfrm xmlns:a="http://schemas.openxmlformats.org/drawingml/2006/main">
            <a:off x="1438275" y="5667375"/>
            <a:ext cx="9496425" cy="533400"/>
          </a:xfrm>
          <a:prstGeom xmlns:a="http://schemas.openxmlformats.org/drawingml/2006/main" prst="roundRect">
            <a:avLst>
              <a:gd name="adj" fmla="val 14286"/>
            </a:avLst>
          </a:prstGeom>
          <a:solidFill xmlns:a="http://schemas.openxmlformats.org/drawingml/2006/main">
            <a:srgbClr val="FFF4C8"/>
          </a:solidFill>
          <a:ln xmlns:a="http://schemas.openxmlformats.org/drawingml/2006/main" w="9525">
            <a:solidFill>
              <a:srgbClr val="F1C84B"/>
            </a:solidFill>
            <a:prstDash val="solid"/>
          </a:ln>
        </p:spPr>
      </p:sp>
      <p:sp>
        <p:nvSpPr>
          <p:cNvPr id="20" name="Rectangle 19">
            <a:extLst xmlns:a="http://schemas.openxmlformats.org/drawingml/2006/main">
              <a:ext uri="{FF2B5EF4-FFF2-40B4-BE49-F238E27FC236}">
                <a16:creationId xmlns:a16="http://schemas.microsoft.com/office/drawing/2014/main" id="{59923287-290C-4C21-A56D-5427C17DFE2F}"/>
              </a:ext>
            </a:extLst>
          </p:cNvPr>
          <p:cNvSpPr>
            <a:spLocks xmlns:a="http://schemas.openxmlformats.org/drawingml/2006/main" noGrp="1"/>
          </p:cNvSpPr>
          <p:nvPr/>
        </p:nvSpPr>
        <p:spPr>
          <a:xfrm xmlns:a="http://schemas.openxmlformats.org/drawingml/2006/main">
            <a:off x="1714500" y="5781675"/>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103"/>
          </a:bodyPr>
          <a:lstStyle xmlns:a="http://schemas.openxmlformats.org/drawingml/2006/main">
            <a:defPPr algn="ctr">
              <a:defRPr sz="1275" b="1" i="0">
                <a:solidFill>
                  <a:srgbClr val="5A4800"/>
                </a:solidFill>
                <a:latin typeface="Arial"/>
                <a:ea typeface="Arial"/>
                <a:cs typeface="Arial"/>
              </a:defRPr>
            </a:defPPr>
            <a:lvl1pPr algn="ctr">
              <a:buNone/>
              <a:defRPr sz="1275" b="1" i="0">
                <a:solidFill>
                  <a:srgbClr val="5A4800"/>
                </a:solidFill>
                <a:latin typeface="Arial"/>
                <a:ea typeface="Arial"/>
                <a:cs typeface="Arial"/>
              </a:defRPr>
            </a:lvl1pPr>
            <a:lvl2pPr algn="ctr">
              <a:buNone/>
              <a:defRPr sz="1275" b="1" i="0">
                <a:solidFill>
                  <a:srgbClr val="5A4800"/>
                </a:solidFill>
                <a:latin typeface="Arial"/>
                <a:ea typeface="Arial"/>
                <a:cs typeface="Arial"/>
              </a:defRPr>
            </a:lvl2pPr>
            <a:lvl3pPr algn="ctr">
              <a:buNone/>
              <a:defRPr sz="1275" b="1" i="0">
                <a:solidFill>
                  <a:srgbClr val="5A4800"/>
                </a:solidFill>
                <a:latin typeface="Arial"/>
                <a:ea typeface="Arial"/>
                <a:cs typeface="Arial"/>
              </a:defRPr>
            </a:lvl3pPr>
            <a:lvl4pPr algn="ctr">
              <a:buNone/>
              <a:defRPr sz="1275" b="1" i="0">
                <a:solidFill>
                  <a:srgbClr val="5A4800"/>
                </a:solidFill>
                <a:latin typeface="Arial"/>
                <a:ea typeface="Arial"/>
                <a:cs typeface="Arial"/>
              </a:defRPr>
            </a:lvl4pPr>
            <a:lvl5pPr algn="ctr">
              <a:buNone/>
              <a:defRPr sz="1275" b="1" i="0">
                <a:solidFill>
                  <a:srgbClr val="5A4800"/>
                </a:solidFill>
                <a:latin typeface="Arial"/>
                <a:ea typeface="Arial"/>
                <a:cs typeface="Arial"/>
              </a:defRPr>
            </a:lvl5pPr>
            <a:lvl6pPr algn="ctr">
              <a:buNone/>
              <a:defRPr sz="1275" b="1" i="0">
                <a:solidFill>
                  <a:srgbClr val="5A4800"/>
                </a:solidFill>
                <a:latin typeface="Arial"/>
                <a:ea typeface="Arial"/>
                <a:cs typeface="Arial"/>
              </a:defRPr>
            </a:lvl6pPr>
            <a:lvl7pPr algn="ctr">
              <a:buNone/>
              <a:defRPr sz="1275" b="1" i="0">
                <a:solidFill>
                  <a:srgbClr val="5A4800"/>
                </a:solidFill>
                <a:latin typeface="Arial"/>
                <a:ea typeface="Arial"/>
                <a:cs typeface="Arial"/>
              </a:defRPr>
            </a:lvl7pPr>
            <a:lvl8pPr algn="ctr">
              <a:buNone/>
              <a:defRPr sz="1275" b="1" i="0">
                <a:solidFill>
                  <a:srgbClr val="5A4800"/>
                </a:solidFill>
                <a:latin typeface="Arial"/>
                <a:ea typeface="Arial"/>
                <a:cs typeface="Arial"/>
              </a:defRPr>
            </a:lvl8pPr>
            <a:lvl9pPr algn="ctr">
              <a:buNone/>
              <a:defRPr sz="1275" b="1" i="0">
                <a:solidFill>
                  <a:srgbClr val="5A4800"/>
                </a:solidFill>
                <a:latin typeface="Arial"/>
                <a:ea typeface="Arial"/>
                <a:cs typeface="Arial"/>
              </a:defRPr>
            </a:lvl9pPr>
          </a:lstStyle>
          <a:p xmlns:a="http://schemas.openxmlformats.org/drawingml/2006/main">
            <a:pPr algn="ctr">
              <a:buNone/>
              <a:defRPr sz="1275" b="1" i="0">
                <a:solidFill>
                  <a:srgbClr val="5A4800"/>
                </a:solidFill>
                <a:latin typeface="Arial"/>
                <a:ea typeface="Arial"/>
                <a:cs typeface="Arial"/>
              </a:defRPr>
            </a:pPr>
            <a:r>
              <a:rPr sz="1275" b="1" i="0">
                <a:solidFill>
                  <a:srgbClr val="5A4800"/>
                </a:solidFill>
                <a:latin typeface="Arial"/>
                <a:ea typeface="Arial"/>
                <a:cs typeface="Arial"/>
              </a:rPr>
              <a:t>Allowed output claim: computational candidate with matched structural evidence. No experimental or optimality claim.</a:t>
            </a:r>
          </a:p>
        </p:txBody>
      </p:sp>
    </p:spTree>
    <p:extLst>
      <p:ext uri="{BB962C8B-B14F-4D97-AF65-F5344CB8AC3E}">
        <p14:creationId xmlns:p14="http://schemas.microsoft.com/office/powerpoint/2010/main" val="545890182"/>
      </p:ext>
    </p:extLst>
  </p:cSld>
</p:sld>
</file>

<file path=ppt/slides/slide10.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43" name="Rectangle 42">
            <a:extLst xmlns:a="http://schemas.openxmlformats.org/drawingml/2006/main">
              <a:ext uri="{FF2B5EF4-FFF2-40B4-BE49-F238E27FC236}">
                <a16:creationId xmlns:a16="http://schemas.microsoft.com/office/drawing/2014/main" id="{20CC6734-D7F6-4ADB-8B47-C175925F26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3EAF02AF-2DF7-44C7-9396-0108003193A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40CEA53F-38BF-461C-80E8-260FDA03CF59}"/>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ARCHITECTURE</a:t>
            </a:r>
          </a:p>
        </p:txBody>
      </p:sp>
      <p:sp>
        <p:nvSpPr>
          <p:cNvPr id="4" name="Rectangle 3">
            <a:extLst xmlns:a="http://schemas.openxmlformats.org/drawingml/2006/main">
              <a:ext uri="{FF2B5EF4-FFF2-40B4-BE49-F238E27FC236}">
                <a16:creationId xmlns:a16="http://schemas.microsoft.com/office/drawing/2014/main" id="{867AF1F2-5DE8-48E1-B5E3-762EC6BDBEE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docs/FULL_FUSION_LOCAL_WORKFLOW.md</a:t>
            </a:r>
          </a:p>
        </p:txBody>
      </p:sp>
      <p:sp>
        <p:nvSpPr>
          <p:cNvPr id="5" name="Rectangle 4">
            <a:extLst xmlns:a="http://schemas.openxmlformats.org/drawingml/2006/main">
              <a:ext uri="{FF2B5EF4-FFF2-40B4-BE49-F238E27FC236}">
                <a16:creationId xmlns:a16="http://schemas.microsoft.com/office/drawing/2014/main" id="{4F9EAACB-94AF-4C5F-BA5E-FE0CCCC32D3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10</a:t>
            </a:r>
          </a:p>
        </p:txBody>
      </p:sp>
      <p:sp>
        <p:nvSpPr>
          <p:cNvPr id="6" name="Rectangle 5">
            <a:extLst xmlns:a="http://schemas.openxmlformats.org/drawingml/2006/main">
              <a:ext uri="{FF2B5EF4-FFF2-40B4-BE49-F238E27FC236}">
                <a16:creationId xmlns:a16="http://schemas.microsoft.com/office/drawing/2014/main" id="{E6F84DF2-5F18-4C8D-A0D6-3A235499B98C}"/>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LinkerForge workflow and provenance</a:t>
            </a:r>
          </a:p>
        </p:txBody>
      </p:sp>
      <p:sp>
        <p:nvSpPr>
          <p:cNvPr id="7" name="Rectangle 6">
            <a:extLst xmlns:a="http://schemas.openxmlformats.org/drawingml/2006/main">
              <a:ext uri="{FF2B5EF4-FFF2-40B4-BE49-F238E27FC236}">
                <a16:creationId xmlns:a16="http://schemas.microsoft.com/office/drawing/2014/main" id="{1D032532-78F3-41D5-BCAF-21096DF38E5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Every output stays linked to the exact sequence and tool configuration</a:t>
            </a:r>
          </a:p>
        </p:txBody>
      </p:sp>
      <p:sp>
        <p:nvSpPr>
          <p:cNvPr id="8" name="Rectangle: Rounded Corners 7">
            <a:extLst xmlns:a="http://schemas.openxmlformats.org/drawingml/2006/main">
              <a:ext uri="{FF2B5EF4-FFF2-40B4-BE49-F238E27FC236}">
                <a16:creationId xmlns:a16="http://schemas.microsoft.com/office/drawing/2014/main" id="{D97866C2-9DCD-4C1A-9537-CA504734EBD3}"/>
              </a:ext>
            </a:extLst>
          </p:cNvPr>
          <p:cNvSpPr>
            <a:spLocks xmlns:a="http://schemas.openxmlformats.org/drawingml/2006/main" noGrp="1"/>
          </p:cNvSpPr>
          <p:nvPr/>
        </p:nvSpPr>
        <p:spPr>
          <a:xfrm xmlns:a="http://schemas.openxmlformats.org/drawingml/2006/main">
            <a:off x="48577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4E9BEC"/>
            </a:solidFill>
            <a:prstDash val="solid"/>
          </a:ln>
        </p:spPr>
      </p:sp>
      <p:sp>
        <p:nvSpPr>
          <p:cNvPr id="9" name="Oval 8">
            <a:extLst xmlns:a="http://schemas.openxmlformats.org/drawingml/2006/main">
              <a:ext uri="{FF2B5EF4-FFF2-40B4-BE49-F238E27FC236}">
                <a16:creationId xmlns:a16="http://schemas.microsoft.com/office/drawing/2014/main" id="{FDEE56A4-70D5-4AFD-8A1E-FB5A6D448AE9}"/>
              </a:ext>
            </a:extLst>
          </p:cNvPr>
          <p:cNvSpPr>
            <a:spLocks xmlns:a="http://schemas.openxmlformats.org/drawingml/2006/main" noGrp="1"/>
          </p:cNvSpPr>
          <p:nvPr/>
        </p:nvSpPr>
        <p:spPr>
          <a:xfrm xmlns:a="http://schemas.openxmlformats.org/drawingml/2006/main">
            <a:off x="657225" y="2257425"/>
            <a:ext cx="361950" cy="361950"/>
          </a:xfrm>
          <a:prstGeom xmlns:a="http://schemas.openxmlformats.org/drawingml/2006/main" prst="ellipse">
            <a:avLst/>
          </a:prstGeom>
          <a:solidFill xmlns:a="http://schemas.openxmlformats.org/drawingml/2006/main">
            <a:srgbClr val="4E9BEC"/>
          </a:solidFill>
          <a:ln xmlns:a="http://schemas.openxmlformats.org/drawingml/2006/main" w="0">
            <a:noFill/>
            <a:prstDash val="solid"/>
          </a:ln>
        </p:spPr>
      </p:sp>
      <p:sp>
        <p:nvSpPr>
          <p:cNvPr id="10" name="Rectangle 9">
            <a:extLst xmlns:a="http://schemas.openxmlformats.org/drawingml/2006/main">
              <a:ext uri="{FF2B5EF4-FFF2-40B4-BE49-F238E27FC236}">
                <a16:creationId xmlns:a16="http://schemas.microsoft.com/office/drawing/2014/main" id="{B5BA3D89-315A-40B5-842F-06D974B6C15F}"/>
              </a:ext>
            </a:extLst>
          </p:cNvPr>
          <p:cNvSpPr>
            <a:spLocks xmlns:a="http://schemas.openxmlformats.org/drawingml/2006/main" noGrp="1"/>
          </p:cNvSpPr>
          <p:nvPr/>
        </p:nvSpPr>
        <p:spPr>
          <a:xfrm xmlns:a="http://schemas.openxmlformats.org/drawingml/2006/main">
            <a:off x="65722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1</a:t>
            </a:r>
          </a:p>
        </p:txBody>
      </p:sp>
      <p:sp>
        <p:nvSpPr>
          <p:cNvPr id="11" name="Rectangle 10">
            <a:extLst xmlns:a="http://schemas.openxmlformats.org/drawingml/2006/main">
              <a:ext uri="{FF2B5EF4-FFF2-40B4-BE49-F238E27FC236}">
                <a16:creationId xmlns:a16="http://schemas.microsoft.com/office/drawing/2014/main" id="{3979AC3D-1DD2-4AC7-A73B-BE07BC836C26}"/>
              </a:ext>
            </a:extLst>
          </p:cNvPr>
          <p:cNvSpPr>
            <a:spLocks xmlns:a="http://schemas.openxmlformats.org/drawingml/2006/main" noGrp="1"/>
          </p:cNvSpPr>
          <p:nvPr/>
        </p:nvSpPr>
        <p:spPr>
          <a:xfrm xmlns:a="http://schemas.openxmlformats.org/drawingml/2006/main">
            <a:off x="65722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Design input</a:t>
            </a:r>
          </a:p>
        </p:txBody>
      </p:sp>
      <p:sp>
        <p:nvSpPr>
          <p:cNvPr id="12" name="Rectangle 11">
            <a:extLst xmlns:a="http://schemas.openxmlformats.org/drawingml/2006/main">
              <a:ext uri="{FF2B5EF4-FFF2-40B4-BE49-F238E27FC236}">
                <a16:creationId xmlns:a16="http://schemas.microsoft.com/office/drawing/2014/main" id="{091C6B4D-D113-4EC8-A1BC-09CD3061B9E5}"/>
              </a:ext>
            </a:extLst>
          </p:cNvPr>
          <p:cNvSpPr>
            <a:spLocks xmlns:a="http://schemas.openxmlformats.org/drawingml/2006/main" noGrp="1"/>
          </p:cNvSpPr>
          <p:nvPr/>
        </p:nvSpPr>
        <p:spPr>
          <a:xfrm xmlns:a="http://schemas.openxmlformats.org/drawingml/2006/main">
            <a:off x="65722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two sequences</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 constraints</a:t>
            </a:r>
          </a:p>
        </p:txBody>
      </p:sp>
      <p:sp>
        <p:nvSpPr>
          <p:cNvPr id="13" name="Straight Connector 12">
            <a:extLst xmlns:a="http://schemas.openxmlformats.org/drawingml/2006/main">
              <a:ext uri="{FF2B5EF4-FFF2-40B4-BE49-F238E27FC236}">
                <a16:creationId xmlns:a16="http://schemas.microsoft.com/office/drawing/2014/main" id="{37172077-BD77-44A4-A6AA-A421F22F75FB}"/>
              </a:ext>
            </a:extLst>
          </p:cNvPr>
          <p:cNvSpPr>
            <a:spLocks xmlns:a="http://schemas.openxmlformats.org/drawingml/2006/main" noGrp="1"/>
          </p:cNvSpPr>
          <p:nvPr/>
        </p:nvSpPr>
        <p:spPr>
          <a:xfrm xmlns:a="http://schemas.openxmlformats.org/drawingml/2006/main">
            <a:off x="2438400"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14" name="Rectangle: Rounded Corners 13">
            <a:extLst xmlns:a="http://schemas.openxmlformats.org/drawingml/2006/main">
              <a:ext uri="{FF2B5EF4-FFF2-40B4-BE49-F238E27FC236}">
                <a16:creationId xmlns:a16="http://schemas.microsoft.com/office/drawing/2014/main" id="{4585852B-43F8-468E-8298-7B5C1498E981}"/>
              </a:ext>
            </a:extLst>
          </p:cNvPr>
          <p:cNvSpPr>
            <a:spLocks xmlns:a="http://schemas.openxmlformats.org/drawingml/2006/main" noGrp="1"/>
          </p:cNvSpPr>
          <p:nvPr/>
        </p:nvSpPr>
        <p:spPr>
          <a:xfrm xmlns:a="http://schemas.openxmlformats.org/drawingml/2006/main">
            <a:off x="2819400"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2DBD73"/>
            </a:solidFill>
            <a:prstDash val="solid"/>
          </a:ln>
        </p:spPr>
      </p:sp>
      <p:sp>
        <p:nvSpPr>
          <p:cNvPr id="15" name="Oval 14">
            <a:extLst xmlns:a="http://schemas.openxmlformats.org/drawingml/2006/main">
              <a:ext uri="{FF2B5EF4-FFF2-40B4-BE49-F238E27FC236}">
                <a16:creationId xmlns:a16="http://schemas.microsoft.com/office/drawing/2014/main" id="{B6E04E0F-7A34-45B0-BE6A-A857D7D4EE5F}"/>
              </a:ext>
            </a:extLst>
          </p:cNvPr>
          <p:cNvSpPr>
            <a:spLocks xmlns:a="http://schemas.openxmlformats.org/drawingml/2006/main" noGrp="1"/>
          </p:cNvSpPr>
          <p:nvPr/>
        </p:nvSpPr>
        <p:spPr>
          <a:xfrm xmlns:a="http://schemas.openxmlformats.org/drawingml/2006/main">
            <a:off x="2990850" y="2257425"/>
            <a:ext cx="361950" cy="361950"/>
          </a:xfrm>
          <a:prstGeom xmlns:a="http://schemas.openxmlformats.org/drawingml/2006/main" prst="ellipse">
            <a:avLst/>
          </a:prstGeom>
          <a:solidFill xmlns:a="http://schemas.openxmlformats.org/drawingml/2006/main">
            <a:srgbClr val="2DBD73"/>
          </a:solidFill>
          <a:ln xmlns:a="http://schemas.openxmlformats.org/drawingml/2006/main" w="0">
            <a:noFill/>
            <a:prstDash val="solid"/>
          </a:ln>
        </p:spPr>
      </p:sp>
      <p:sp>
        <p:nvSpPr>
          <p:cNvPr id="16" name="Rectangle 15">
            <a:extLst xmlns:a="http://schemas.openxmlformats.org/drawingml/2006/main">
              <a:ext uri="{FF2B5EF4-FFF2-40B4-BE49-F238E27FC236}">
                <a16:creationId xmlns:a16="http://schemas.microsoft.com/office/drawing/2014/main" id="{77215215-495E-4794-8F50-D787A455CA4F}"/>
              </a:ext>
            </a:extLst>
          </p:cNvPr>
          <p:cNvSpPr>
            <a:spLocks xmlns:a="http://schemas.openxmlformats.org/drawingml/2006/main" noGrp="1"/>
          </p:cNvSpPr>
          <p:nvPr/>
        </p:nvSpPr>
        <p:spPr>
          <a:xfrm xmlns:a="http://schemas.openxmlformats.org/drawingml/2006/main">
            <a:off x="2990850"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2</a:t>
            </a:r>
          </a:p>
        </p:txBody>
      </p:sp>
      <p:sp>
        <p:nvSpPr>
          <p:cNvPr id="17" name="Rectangle 16">
            <a:extLst xmlns:a="http://schemas.openxmlformats.org/drawingml/2006/main">
              <a:ext uri="{FF2B5EF4-FFF2-40B4-BE49-F238E27FC236}">
                <a16:creationId xmlns:a16="http://schemas.microsoft.com/office/drawing/2014/main" id="{5D460735-AEC7-45C5-89E9-D5902C1B279D}"/>
              </a:ext>
            </a:extLst>
          </p:cNvPr>
          <p:cNvSpPr>
            <a:spLocks xmlns:a="http://schemas.openxmlformats.org/drawingml/2006/main" noGrp="1"/>
          </p:cNvSpPr>
          <p:nvPr/>
        </p:nvSpPr>
        <p:spPr>
          <a:xfrm xmlns:a="http://schemas.openxmlformats.org/drawingml/2006/main">
            <a:off x="2990850"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Candidates</a:t>
            </a:r>
          </a:p>
        </p:txBody>
      </p:sp>
      <p:sp>
        <p:nvSpPr>
          <p:cNvPr id="18" name="Rectangle 17">
            <a:extLst xmlns:a="http://schemas.openxmlformats.org/drawingml/2006/main">
              <a:ext uri="{FF2B5EF4-FFF2-40B4-BE49-F238E27FC236}">
                <a16:creationId xmlns:a16="http://schemas.microsoft.com/office/drawing/2014/main" id="{ED525CB3-1F93-4B49-BFCE-FD68C5F1F755}"/>
              </a:ext>
            </a:extLst>
          </p:cNvPr>
          <p:cNvSpPr>
            <a:spLocks xmlns:a="http://schemas.openxmlformats.org/drawingml/2006/main" noGrp="1"/>
          </p:cNvSpPr>
          <p:nvPr/>
        </p:nvSpPr>
        <p:spPr>
          <a:xfrm xmlns:a="http://schemas.openxmlformats.org/drawingml/2006/main">
            <a:off x="2990850"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GS-rich · rigid</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cleavable · controls</a:t>
            </a:r>
          </a:p>
        </p:txBody>
      </p:sp>
      <p:sp>
        <p:nvSpPr>
          <p:cNvPr id="19" name="Straight Connector 18">
            <a:extLst xmlns:a="http://schemas.openxmlformats.org/drawingml/2006/main">
              <a:ext uri="{FF2B5EF4-FFF2-40B4-BE49-F238E27FC236}">
                <a16:creationId xmlns:a16="http://schemas.microsoft.com/office/drawing/2014/main" id="{C4205D1C-C786-4094-A73A-9E63E0E88E02}"/>
              </a:ext>
            </a:extLst>
          </p:cNvPr>
          <p:cNvSpPr>
            <a:spLocks xmlns:a="http://schemas.openxmlformats.org/drawingml/2006/main" noGrp="1"/>
          </p:cNvSpPr>
          <p:nvPr/>
        </p:nvSpPr>
        <p:spPr>
          <a:xfrm xmlns:a="http://schemas.openxmlformats.org/drawingml/2006/main">
            <a:off x="4772025"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20" name="Rectangle: Rounded Corners 19">
            <a:extLst xmlns:a="http://schemas.openxmlformats.org/drawingml/2006/main">
              <a:ext uri="{FF2B5EF4-FFF2-40B4-BE49-F238E27FC236}">
                <a16:creationId xmlns:a16="http://schemas.microsoft.com/office/drawing/2014/main" id="{1CFFD222-072A-4191-A10A-17066ED69092}"/>
              </a:ext>
            </a:extLst>
          </p:cNvPr>
          <p:cNvSpPr>
            <a:spLocks xmlns:a="http://schemas.openxmlformats.org/drawingml/2006/main" noGrp="1"/>
          </p:cNvSpPr>
          <p:nvPr/>
        </p:nvSpPr>
        <p:spPr>
          <a:xfrm xmlns:a="http://schemas.openxmlformats.org/drawingml/2006/main">
            <a:off x="515302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E84AAB"/>
            </a:solidFill>
            <a:prstDash val="solid"/>
          </a:ln>
        </p:spPr>
      </p:sp>
      <p:sp>
        <p:nvSpPr>
          <p:cNvPr id="21" name="Oval 20">
            <a:extLst xmlns:a="http://schemas.openxmlformats.org/drawingml/2006/main">
              <a:ext uri="{FF2B5EF4-FFF2-40B4-BE49-F238E27FC236}">
                <a16:creationId xmlns:a16="http://schemas.microsoft.com/office/drawing/2014/main" id="{45D946E5-0C35-44D8-8F98-8321AF3702B0}"/>
              </a:ext>
            </a:extLst>
          </p:cNvPr>
          <p:cNvSpPr>
            <a:spLocks xmlns:a="http://schemas.openxmlformats.org/drawingml/2006/main" noGrp="1"/>
          </p:cNvSpPr>
          <p:nvPr/>
        </p:nvSpPr>
        <p:spPr>
          <a:xfrm xmlns:a="http://schemas.openxmlformats.org/drawingml/2006/main">
            <a:off x="5324475" y="2257425"/>
            <a:ext cx="361950" cy="3619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22" name="Rectangle 21">
            <a:extLst xmlns:a="http://schemas.openxmlformats.org/drawingml/2006/main">
              <a:ext uri="{FF2B5EF4-FFF2-40B4-BE49-F238E27FC236}">
                <a16:creationId xmlns:a16="http://schemas.microsoft.com/office/drawing/2014/main" id="{858E086C-812B-44AB-A4C4-84D68B284547}"/>
              </a:ext>
            </a:extLst>
          </p:cNvPr>
          <p:cNvSpPr>
            <a:spLocks xmlns:a="http://schemas.openxmlformats.org/drawingml/2006/main" noGrp="1"/>
          </p:cNvSpPr>
          <p:nvPr/>
        </p:nvSpPr>
        <p:spPr>
          <a:xfrm xmlns:a="http://schemas.openxmlformats.org/drawingml/2006/main">
            <a:off x="532447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3</a:t>
            </a:r>
          </a:p>
        </p:txBody>
      </p:sp>
      <p:sp>
        <p:nvSpPr>
          <p:cNvPr id="23" name="Rectangle 22">
            <a:extLst xmlns:a="http://schemas.openxmlformats.org/drawingml/2006/main">
              <a:ext uri="{FF2B5EF4-FFF2-40B4-BE49-F238E27FC236}">
                <a16:creationId xmlns:a16="http://schemas.microsoft.com/office/drawing/2014/main" id="{D82A0C26-CEEA-4869-8E11-3B1AC53B0626}"/>
              </a:ext>
            </a:extLst>
          </p:cNvPr>
          <p:cNvSpPr>
            <a:spLocks xmlns:a="http://schemas.openxmlformats.org/drawingml/2006/main" noGrp="1"/>
          </p:cNvSpPr>
          <p:nvPr/>
        </p:nvSpPr>
        <p:spPr>
          <a:xfrm xmlns:a="http://schemas.openxmlformats.org/drawingml/2006/main">
            <a:off x="532447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ColabFold</a:t>
            </a:r>
          </a:p>
        </p:txBody>
      </p:sp>
      <p:sp>
        <p:nvSpPr>
          <p:cNvPr id="24" name="Rectangle 23">
            <a:extLst xmlns:a="http://schemas.openxmlformats.org/drawingml/2006/main">
              <a:ext uri="{FF2B5EF4-FFF2-40B4-BE49-F238E27FC236}">
                <a16:creationId xmlns:a16="http://schemas.microsoft.com/office/drawing/2014/main" id="{29F0BBEE-95F2-4B11-8618-847736EF03EF}"/>
              </a:ext>
            </a:extLst>
          </p:cNvPr>
          <p:cNvSpPr>
            <a:spLocks xmlns:a="http://schemas.openxmlformats.org/drawingml/2006/main" noGrp="1"/>
          </p:cNvSpPr>
          <p:nvPr/>
        </p:nvSpPr>
        <p:spPr>
          <a:xfrm xmlns:a="http://schemas.openxmlformats.org/drawingml/2006/main">
            <a:off x="532447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full-chain AF2-ptm</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confidence files</a:t>
            </a:r>
          </a:p>
        </p:txBody>
      </p:sp>
      <p:sp>
        <p:nvSpPr>
          <p:cNvPr id="25" name="Straight Connector 24">
            <a:extLst xmlns:a="http://schemas.openxmlformats.org/drawingml/2006/main">
              <a:ext uri="{FF2B5EF4-FFF2-40B4-BE49-F238E27FC236}">
                <a16:creationId xmlns:a16="http://schemas.microsoft.com/office/drawing/2014/main" id="{43F62091-0960-4C3E-8E53-561DF64D8CF6}"/>
              </a:ext>
            </a:extLst>
          </p:cNvPr>
          <p:cNvSpPr>
            <a:spLocks xmlns:a="http://schemas.openxmlformats.org/drawingml/2006/main" noGrp="1"/>
          </p:cNvSpPr>
          <p:nvPr/>
        </p:nvSpPr>
        <p:spPr>
          <a:xfrm xmlns:a="http://schemas.openxmlformats.org/drawingml/2006/main">
            <a:off x="7105650"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26" name="Rectangle: Rounded Corners 25">
            <a:extLst xmlns:a="http://schemas.openxmlformats.org/drawingml/2006/main">
              <a:ext uri="{FF2B5EF4-FFF2-40B4-BE49-F238E27FC236}">
                <a16:creationId xmlns:a16="http://schemas.microsoft.com/office/drawing/2014/main" id="{A2E44B4F-6788-40A2-BAA9-9D988A41A214}"/>
              </a:ext>
            </a:extLst>
          </p:cNvPr>
          <p:cNvSpPr>
            <a:spLocks xmlns:a="http://schemas.openxmlformats.org/drawingml/2006/main" noGrp="1"/>
          </p:cNvSpPr>
          <p:nvPr/>
        </p:nvSpPr>
        <p:spPr>
          <a:xfrm xmlns:a="http://schemas.openxmlformats.org/drawingml/2006/main">
            <a:off x="7486650"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3FC6D6"/>
            </a:solidFill>
            <a:prstDash val="solid"/>
          </a:ln>
        </p:spPr>
      </p:sp>
      <p:sp>
        <p:nvSpPr>
          <p:cNvPr id="27" name="Oval 26">
            <a:extLst xmlns:a="http://schemas.openxmlformats.org/drawingml/2006/main">
              <a:ext uri="{FF2B5EF4-FFF2-40B4-BE49-F238E27FC236}">
                <a16:creationId xmlns:a16="http://schemas.microsoft.com/office/drawing/2014/main" id="{B32FF889-DAAC-4B5C-9AD9-F7712EBAE414}"/>
              </a:ext>
            </a:extLst>
          </p:cNvPr>
          <p:cNvSpPr>
            <a:spLocks xmlns:a="http://schemas.openxmlformats.org/drawingml/2006/main" noGrp="1"/>
          </p:cNvSpPr>
          <p:nvPr/>
        </p:nvSpPr>
        <p:spPr>
          <a:xfrm xmlns:a="http://schemas.openxmlformats.org/drawingml/2006/main">
            <a:off x="7658100" y="2257425"/>
            <a:ext cx="361950" cy="3619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8" name="Rectangle 27">
            <a:extLst xmlns:a="http://schemas.openxmlformats.org/drawingml/2006/main">
              <a:ext uri="{FF2B5EF4-FFF2-40B4-BE49-F238E27FC236}">
                <a16:creationId xmlns:a16="http://schemas.microsoft.com/office/drawing/2014/main" id="{DDD4FBAE-9AA1-4231-80B1-761D7DECD31B}"/>
              </a:ext>
            </a:extLst>
          </p:cNvPr>
          <p:cNvSpPr>
            <a:spLocks xmlns:a="http://schemas.openxmlformats.org/drawingml/2006/main" noGrp="1"/>
          </p:cNvSpPr>
          <p:nvPr/>
        </p:nvSpPr>
        <p:spPr>
          <a:xfrm xmlns:a="http://schemas.openxmlformats.org/drawingml/2006/main">
            <a:off x="7658100"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4</a:t>
            </a:r>
          </a:p>
        </p:txBody>
      </p:sp>
      <p:sp>
        <p:nvSpPr>
          <p:cNvPr id="29" name="Rectangle 28">
            <a:extLst xmlns:a="http://schemas.openxmlformats.org/drawingml/2006/main">
              <a:ext uri="{FF2B5EF4-FFF2-40B4-BE49-F238E27FC236}">
                <a16:creationId xmlns:a16="http://schemas.microsoft.com/office/drawing/2014/main" id="{C938FE03-46F0-4A5A-A7B4-A469C807779E}"/>
              </a:ext>
            </a:extLst>
          </p:cNvPr>
          <p:cNvSpPr>
            <a:spLocks xmlns:a="http://schemas.openxmlformats.org/drawingml/2006/main" noGrp="1"/>
          </p:cNvSpPr>
          <p:nvPr/>
        </p:nvSpPr>
        <p:spPr>
          <a:xfrm xmlns:a="http://schemas.openxmlformats.org/drawingml/2006/main">
            <a:off x="7658100"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Evidence</a:t>
            </a:r>
          </a:p>
        </p:txBody>
      </p:sp>
      <p:sp>
        <p:nvSpPr>
          <p:cNvPr id="30" name="Rectangle 29">
            <a:extLst xmlns:a="http://schemas.openxmlformats.org/drawingml/2006/main">
              <a:ext uri="{FF2B5EF4-FFF2-40B4-BE49-F238E27FC236}">
                <a16:creationId xmlns:a16="http://schemas.microsoft.com/office/drawing/2014/main" id="{7FEDDFD4-09CE-4778-8FAF-993429A2A84B}"/>
              </a:ext>
            </a:extLst>
          </p:cNvPr>
          <p:cNvSpPr>
            <a:spLocks xmlns:a="http://schemas.openxmlformats.org/drawingml/2006/main" noGrp="1"/>
          </p:cNvSpPr>
          <p:nvPr/>
        </p:nvSpPr>
        <p:spPr>
          <a:xfrm xmlns:a="http://schemas.openxmlformats.org/drawingml/2006/main">
            <a:off x="7658100"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pLDDT · PAE · pTM</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RMSD · protected sites</a:t>
            </a:r>
          </a:p>
        </p:txBody>
      </p:sp>
      <p:sp>
        <p:nvSpPr>
          <p:cNvPr id="31" name="Straight Connector 30">
            <a:extLst xmlns:a="http://schemas.openxmlformats.org/drawingml/2006/main">
              <a:ext uri="{FF2B5EF4-FFF2-40B4-BE49-F238E27FC236}">
                <a16:creationId xmlns:a16="http://schemas.microsoft.com/office/drawing/2014/main" id="{5B9EAD3A-F162-4D43-9E77-3685D098340F}"/>
              </a:ext>
            </a:extLst>
          </p:cNvPr>
          <p:cNvSpPr>
            <a:spLocks xmlns:a="http://schemas.openxmlformats.org/drawingml/2006/main" noGrp="1"/>
          </p:cNvSpPr>
          <p:nvPr/>
        </p:nvSpPr>
        <p:spPr>
          <a:xfrm xmlns:a="http://schemas.openxmlformats.org/drawingml/2006/main">
            <a:off x="9439275"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32" name="Rectangle: Rounded Corners 31">
            <a:extLst xmlns:a="http://schemas.openxmlformats.org/drawingml/2006/main">
              <a:ext uri="{FF2B5EF4-FFF2-40B4-BE49-F238E27FC236}">
                <a16:creationId xmlns:a16="http://schemas.microsoft.com/office/drawing/2014/main" id="{7CAF063E-8C26-4B28-85F2-21875C81928F}"/>
              </a:ext>
            </a:extLst>
          </p:cNvPr>
          <p:cNvSpPr>
            <a:spLocks xmlns:a="http://schemas.openxmlformats.org/drawingml/2006/main" noGrp="1"/>
          </p:cNvSpPr>
          <p:nvPr/>
        </p:nvSpPr>
        <p:spPr>
          <a:xfrm xmlns:a="http://schemas.openxmlformats.org/drawingml/2006/main">
            <a:off x="982027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E46760"/>
            </a:solidFill>
            <a:prstDash val="solid"/>
          </a:ln>
        </p:spPr>
      </p:sp>
      <p:sp>
        <p:nvSpPr>
          <p:cNvPr id="33" name="Oval 32">
            <a:extLst xmlns:a="http://schemas.openxmlformats.org/drawingml/2006/main">
              <a:ext uri="{FF2B5EF4-FFF2-40B4-BE49-F238E27FC236}">
                <a16:creationId xmlns:a16="http://schemas.microsoft.com/office/drawing/2014/main" id="{3AAA0B9D-410B-41E9-B4A7-66B48239FA17}"/>
              </a:ext>
            </a:extLst>
          </p:cNvPr>
          <p:cNvSpPr>
            <a:spLocks xmlns:a="http://schemas.openxmlformats.org/drawingml/2006/main" noGrp="1"/>
          </p:cNvSpPr>
          <p:nvPr/>
        </p:nvSpPr>
        <p:spPr>
          <a:xfrm xmlns:a="http://schemas.openxmlformats.org/drawingml/2006/main">
            <a:off x="9991725" y="2257425"/>
            <a:ext cx="361950" cy="361950"/>
          </a:xfrm>
          <a:prstGeom xmlns:a="http://schemas.openxmlformats.org/drawingml/2006/main" prst="ellipse">
            <a:avLst/>
          </a:prstGeom>
          <a:solidFill xmlns:a="http://schemas.openxmlformats.org/drawingml/2006/main">
            <a:srgbClr val="E46760"/>
          </a:solidFill>
          <a:ln xmlns:a="http://schemas.openxmlformats.org/drawingml/2006/main" w="0">
            <a:noFill/>
            <a:prstDash val="solid"/>
          </a:ln>
        </p:spPr>
      </p:sp>
      <p:sp>
        <p:nvSpPr>
          <p:cNvPr id="34" name="Rectangle 33">
            <a:extLst xmlns:a="http://schemas.openxmlformats.org/drawingml/2006/main">
              <a:ext uri="{FF2B5EF4-FFF2-40B4-BE49-F238E27FC236}">
                <a16:creationId xmlns:a16="http://schemas.microsoft.com/office/drawing/2014/main" id="{1A413704-7DA6-4AFB-A326-83393AF5147C}"/>
              </a:ext>
            </a:extLst>
          </p:cNvPr>
          <p:cNvSpPr>
            <a:spLocks xmlns:a="http://schemas.openxmlformats.org/drawingml/2006/main" noGrp="1"/>
          </p:cNvSpPr>
          <p:nvPr/>
        </p:nvSpPr>
        <p:spPr>
          <a:xfrm xmlns:a="http://schemas.openxmlformats.org/drawingml/2006/main">
            <a:off x="999172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5</a:t>
            </a:r>
          </a:p>
        </p:txBody>
      </p:sp>
      <p:sp>
        <p:nvSpPr>
          <p:cNvPr id="35" name="Rectangle 34">
            <a:extLst xmlns:a="http://schemas.openxmlformats.org/drawingml/2006/main">
              <a:ext uri="{FF2B5EF4-FFF2-40B4-BE49-F238E27FC236}">
                <a16:creationId xmlns:a16="http://schemas.microsoft.com/office/drawing/2014/main" id="{6974E358-85F5-4216-89C2-B3744AD65C46}"/>
              </a:ext>
            </a:extLst>
          </p:cNvPr>
          <p:cNvSpPr>
            <a:spLocks xmlns:a="http://schemas.openxmlformats.org/drawingml/2006/main" noGrp="1"/>
          </p:cNvSpPr>
          <p:nvPr/>
        </p:nvSpPr>
        <p:spPr>
          <a:xfrm xmlns:a="http://schemas.openxmlformats.org/drawingml/2006/main">
            <a:off x="999172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062"/>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Research bundle</a:t>
            </a:r>
          </a:p>
        </p:txBody>
      </p:sp>
      <p:sp>
        <p:nvSpPr>
          <p:cNvPr id="36" name="Rectangle 35">
            <a:extLst xmlns:a="http://schemas.openxmlformats.org/drawingml/2006/main">
              <a:ext uri="{FF2B5EF4-FFF2-40B4-BE49-F238E27FC236}">
                <a16:creationId xmlns:a16="http://schemas.microsoft.com/office/drawing/2014/main" id="{FCE93AAA-541D-4A4A-92CE-446CAFE7C544}"/>
              </a:ext>
            </a:extLst>
          </p:cNvPr>
          <p:cNvSpPr>
            <a:spLocks xmlns:a="http://schemas.openxmlformats.org/drawingml/2006/main" noGrp="1"/>
          </p:cNvSpPr>
          <p:nvPr/>
        </p:nvSpPr>
        <p:spPr>
          <a:xfrm xmlns:a="http://schemas.openxmlformats.org/drawingml/2006/main">
            <a:off x="999172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JSON schemas</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checksums · run history</a:t>
            </a:r>
          </a:p>
        </p:txBody>
      </p:sp>
      <p:sp>
        <p:nvSpPr>
          <p:cNvPr id="37" name="Rectangle 36">
            <a:extLst xmlns:a="http://schemas.openxmlformats.org/drawingml/2006/main">
              <a:ext uri="{FF2B5EF4-FFF2-40B4-BE49-F238E27FC236}">
                <a16:creationId xmlns:a16="http://schemas.microsoft.com/office/drawing/2014/main" id="{091062D5-E2FF-45FD-ABF1-5C63C2AFC896}"/>
              </a:ext>
            </a:extLst>
          </p:cNvPr>
          <p:cNvSpPr>
            <a:spLocks xmlns:a="http://schemas.openxmlformats.org/drawingml/2006/main" noGrp="1"/>
          </p:cNvSpPr>
          <p:nvPr/>
        </p:nvSpPr>
        <p:spPr>
          <a:xfrm xmlns:a="http://schemas.openxmlformats.org/drawingml/2006/main">
            <a:off x="638175" y="43243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AFC0B8"/>
                </a:solidFill>
                <a:latin typeface="Arial"/>
                <a:ea typeface="Arial"/>
                <a:cs typeface="Arial"/>
              </a:defRPr>
            </a:defPPr>
            <a:lvl1pPr algn="l">
              <a:buNone/>
              <a:defRPr sz="975" b="1" i="0">
                <a:solidFill>
                  <a:srgbClr val="AFC0B8"/>
                </a:solidFill>
                <a:latin typeface="Arial"/>
                <a:ea typeface="Arial"/>
                <a:cs typeface="Arial"/>
              </a:defRPr>
            </a:lvl1pPr>
            <a:lvl2pPr algn="l">
              <a:buNone/>
              <a:defRPr sz="975" b="1" i="0">
                <a:solidFill>
                  <a:srgbClr val="AFC0B8"/>
                </a:solidFill>
                <a:latin typeface="Arial"/>
                <a:ea typeface="Arial"/>
                <a:cs typeface="Arial"/>
              </a:defRPr>
            </a:lvl2pPr>
            <a:lvl3pPr algn="l">
              <a:buNone/>
              <a:defRPr sz="975" b="1" i="0">
                <a:solidFill>
                  <a:srgbClr val="AFC0B8"/>
                </a:solidFill>
                <a:latin typeface="Arial"/>
                <a:ea typeface="Arial"/>
                <a:cs typeface="Arial"/>
              </a:defRPr>
            </a:lvl3pPr>
            <a:lvl4pPr algn="l">
              <a:buNone/>
              <a:defRPr sz="975" b="1" i="0">
                <a:solidFill>
                  <a:srgbClr val="AFC0B8"/>
                </a:solidFill>
                <a:latin typeface="Arial"/>
                <a:ea typeface="Arial"/>
                <a:cs typeface="Arial"/>
              </a:defRPr>
            </a:lvl4pPr>
            <a:lvl5pPr algn="l">
              <a:buNone/>
              <a:defRPr sz="975" b="1" i="0">
                <a:solidFill>
                  <a:srgbClr val="AFC0B8"/>
                </a:solidFill>
                <a:latin typeface="Arial"/>
                <a:ea typeface="Arial"/>
                <a:cs typeface="Arial"/>
              </a:defRPr>
            </a:lvl5pPr>
            <a:lvl6pPr algn="l">
              <a:buNone/>
              <a:defRPr sz="975" b="1" i="0">
                <a:solidFill>
                  <a:srgbClr val="AFC0B8"/>
                </a:solidFill>
                <a:latin typeface="Arial"/>
                <a:ea typeface="Arial"/>
                <a:cs typeface="Arial"/>
              </a:defRPr>
            </a:lvl6pPr>
            <a:lvl7pPr algn="l">
              <a:buNone/>
              <a:defRPr sz="975" b="1" i="0">
                <a:solidFill>
                  <a:srgbClr val="AFC0B8"/>
                </a:solidFill>
                <a:latin typeface="Arial"/>
                <a:ea typeface="Arial"/>
                <a:cs typeface="Arial"/>
              </a:defRPr>
            </a:lvl7pPr>
            <a:lvl8pPr algn="l">
              <a:buNone/>
              <a:defRPr sz="975" b="1" i="0">
                <a:solidFill>
                  <a:srgbClr val="AFC0B8"/>
                </a:solidFill>
                <a:latin typeface="Arial"/>
                <a:ea typeface="Arial"/>
                <a:cs typeface="Arial"/>
              </a:defRPr>
            </a:lvl8pPr>
            <a:lvl9pPr algn="l">
              <a:buNone/>
              <a:defRPr sz="975" b="1" i="0">
                <a:solidFill>
                  <a:srgbClr val="AFC0B8"/>
                </a:solidFill>
                <a:latin typeface="Arial"/>
                <a:ea typeface="Arial"/>
                <a:cs typeface="Arial"/>
              </a:defRPr>
            </a:lvl9pPr>
          </a:lstStyle>
          <a:p xmlns:a="http://schemas.openxmlformats.org/drawingml/2006/main">
            <a:pPr algn="l">
              <a:buNone/>
              <a:defRPr sz="975" b="1" i="0">
                <a:solidFill>
                  <a:srgbClr val="AFC0B8"/>
                </a:solidFill>
                <a:latin typeface="Arial"/>
                <a:ea typeface="Arial"/>
                <a:cs typeface="Arial"/>
              </a:defRPr>
            </a:pPr>
            <a:r>
              <a:rPr sz="975" b="1" i="0">
                <a:solidFill>
                  <a:srgbClr val="AFC0B8"/>
                </a:solidFill>
                <a:latin typeface="Arial"/>
                <a:ea typeface="Arial"/>
                <a:cs typeface="Arial"/>
              </a:rPr>
              <a:t>OPTIONAL STRUCTURAL FUNNEL</a:t>
            </a:r>
          </a:p>
        </p:txBody>
      </p:sp>
      <p:sp>
        <p:nvSpPr>
          <p:cNvPr id="38" name="Rectangle: Rounded Corners 37">
            <a:extLst xmlns:a="http://schemas.openxmlformats.org/drawingml/2006/main">
              <a:ext uri="{FF2B5EF4-FFF2-40B4-BE49-F238E27FC236}">
                <a16:creationId xmlns:a16="http://schemas.microsoft.com/office/drawing/2014/main" id="{0E0AE250-3697-46DD-896F-1EF0B7F40469}"/>
              </a:ext>
            </a:extLst>
          </p:cNvPr>
          <p:cNvSpPr>
            <a:spLocks xmlns:a="http://schemas.openxmlformats.org/drawingml/2006/main" noGrp="1"/>
          </p:cNvSpPr>
          <p:nvPr/>
        </p:nvSpPr>
        <p:spPr>
          <a:xfrm xmlns:a="http://schemas.openxmlformats.org/drawingml/2006/main">
            <a:off x="647700" y="4724400"/>
            <a:ext cx="2381250" cy="285750"/>
          </a:xfrm>
          <a:prstGeom xmlns:a="http://schemas.openxmlformats.org/drawingml/2006/main" prst="roundRect">
            <a:avLst>
              <a:gd name="adj" fmla="val 26667"/>
            </a:avLst>
          </a:prstGeom>
          <a:solidFill xmlns:a="http://schemas.openxmlformats.org/drawingml/2006/main">
            <a:srgbClr val="FBECEB"/>
          </a:solidFill>
          <a:ln xmlns:a="http://schemas.openxmlformats.org/drawingml/2006/main" w="9525">
            <a:solidFill>
              <a:srgbClr val="E46760"/>
            </a:solidFill>
            <a:prstDash val="solid"/>
          </a:ln>
        </p:spPr>
        <p:txBody>
          <a:bodyPr xmlns:a="http://schemas.openxmlformats.org/drawingml/2006/main" anchor="ctr">
            <a:normAutofit/>
          </a:bodyPr>
          <a:lstStyle xmlns:a="http://schemas.openxmlformats.org/drawingml/2006/main">
            <a:defPPr algn="ctr">
              <a:defRPr sz="900" b="1">
                <a:solidFill>
                  <a:srgbClr val="E46760"/>
                </a:solidFill>
                <a:latin typeface="Arial"/>
                <a:ea typeface="Arial"/>
                <a:cs typeface="Arial"/>
              </a:defRPr>
            </a:defPPr>
            <a:lvl1pPr algn="ctr">
              <a:buNone/>
              <a:defRPr sz="900" b="1">
                <a:solidFill>
                  <a:srgbClr val="E46760"/>
                </a:solidFill>
                <a:latin typeface="Arial"/>
                <a:ea typeface="Arial"/>
                <a:cs typeface="Arial"/>
              </a:defRPr>
            </a:lvl1pPr>
            <a:lvl2pPr algn="ctr">
              <a:buNone/>
              <a:defRPr sz="900" b="1">
                <a:solidFill>
                  <a:srgbClr val="E46760"/>
                </a:solidFill>
                <a:latin typeface="Arial"/>
                <a:ea typeface="Arial"/>
                <a:cs typeface="Arial"/>
              </a:defRPr>
            </a:lvl2pPr>
            <a:lvl3pPr algn="ctr">
              <a:buNone/>
              <a:defRPr sz="900" b="1">
                <a:solidFill>
                  <a:srgbClr val="E46760"/>
                </a:solidFill>
                <a:latin typeface="Arial"/>
                <a:ea typeface="Arial"/>
                <a:cs typeface="Arial"/>
              </a:defRPr>
            </a:lvl3pPr>
            <a:lvl4pPr algn="ctr">
              <a:buNone/>
              <a:defRPr sz="900" b="1">
                <a:solidFill>
                  <a:srgbClr val="E46760"/>
                </a:solidFill>
                <a:latin typeface="Arial"/>
                <a:ea typeface="Arial"/>
                <a:cs typeface="Arial"/>
              </a:defRPr>
            </a:lvl4pPr>
            <a:lvl5pPr algn="ctr">
              <a:buNone/>
              <a:defRPr sz="900" b="1">
                <a:solidFill>
                  <a:srgbClr val="E46760"/>
                </a:solidFill>
                <a:latin typeface="Arial"/>
                <a:ea typeface="Arial"/>
                <a:cs typeface="Arial"/>
              </a:defRPr>
            </a:lvl5pPr>
            <a:lvl6pPr algn="ctr">
              <a:buNone/>
              <a:defRPr sz="900" b="1">
                <a:solidFill>
                  <a:srgbClr val="E46760"/>
                </a:solidFill>
                <a:latin typeface="Arial"/>
                <a:ea typeface="Arial"/>
                <a:cs typeface="Arial"/>
              </a:defRPr>
            </a:lvl6pPr>
            <a:lvl7pPr algn="ctr">
              <a:buNone/>
              <a:defRPr sz="900" b="1">
                <a:solidFill>
                  <a:srgbClr val="E46760"/>
                </a:solidFill>
                <a:latin typeface="Arial"/>
                <a:ea typeface="Arial"/>
                <a:cs typeface="Arial"/>
              </a:defRPr>
            </a:lvl7pPr>
            <a:lvl8pPr algn="ctr">
              <a:buNone/>
              <a:defRPr sz="900" b="1">
                <a:solidFill>
                  <a:srgbClr val="E46760"/>
                </a:solidFill>
                <a:latin typeface="Arial"/>
                <a:ea typeface="Arial"/>
                <a:cs typeface="Arial"/>
              </a:defRPr>
            </a:lvl8pPr>
            <a:lvl9pPr algn="ctr">
              <a:buNone/>
              <a:defRPr sz="900" b="1">
                <a:solidFill>
                  <a:srgbClr val="E46760"/>
                </a:solidFill>
                <a:latin typeface="Arial"/>
                <a:ea typeface="Arial"/>
                <a:cs typeface="Arial"/>
              </a:defRPr>
            </a:lvl9pPr>
          </a:lstStyle>
          <a:p xmlns:a="http://schemas.openxmlformats.org/drawingml/2006/main">
            <a:pPr algn="ctr">
              <a:buNone/>
              <a:defRPr sz="900" b="1">
                <a:solidFill>
                  <a:srgbClr val="E46760"/>
                </a:solidFill>
                <a:latin typeface="Arial"/>
                <a:ea typeface="Arial"/>
                <a:cs typeface="Arial"/>
              </a:defRPr>
            </a:pPr>
            <a:r>
              <a:rPr sz="900" b="1">
                <a:solidFill>
                  <a:srgbClr val="E46760"/>
                </a:solidFill>
                <a:latin typeface="Arial"/>
                <a:ea typeface="Arial"/>
                <a:cs typeface="Arial"/>
              </a:rPr>
              <a:t>Rosetta: fail-closed, not run</a:t>
            </a:r>
          </a:p>
        </p:txBody>
      </p:sp>
      <p:sp>
        <p:nvSpPr>
          <p:cNvPr id="39" name="Rectangle: Rounded Corners 38">
            <a:extLst xmlns:a="http://schemas.openxmlformats.org/drawingml/2006/main">
              <a:ext uri="{FF2B5EF4-FFF2-40B4-BE49-F238E27FC236}">
                <a16:creationId xmlns:a16="http://schemas.microsoft.com/office/drawing/2014/main" id="{303A84C0-6E60-4017-A01C-97B221652F5F}"/>
              </a:ext>
            </a:extLst>
          </p:cNvPr>
          <p:cNvSpPr>
            <a:spLocks xmlns:a="http://schemas.openxmlformats.org/drawingml/2006/main" noGrp="1"/>
          </p:cNvSpPr>
          <p:nvPr/>
        </p:nvSpPr>
        <p:spPr>
          <a:xfrm xmlns:a="http://schemas.openxmlformats.org/drawingml/2006/main">
            <a:off x="3267075" y="4724400"/>
            <a:ext cx="2428875" cy="285750"/>
          </a:xfrm>
          <a:prstGeom xmlns:a="http://schemas.openxmlformats.org/drawingml/2006/main" prst="roundRect">
            <a:avLst>
              <a:gd name="adj" fmla="val 26667"/>
            </a:avLst>
          </a:prstGeom>
          <a:solidFill xmlns:a="http://schemas.openxmlformats.org/drawingml/2006/main">
            <a:srgbClr val="E8F8EF"/>
          </a:solidFill>
          <a:ln xmlns:a="http://schemas.openxmlformats.org/drawingml/2006/main" w="9525">
            <a:solidFill>
              <a:srgbClr val="2DBD73"/>
            </a:solidFill>
            <a:prstDash val="solid"/>
          </a:ln>
        </p:spPr>
        <p:txBody>
          <a:bodyPr xmlns:a="http://schemas.openxmlformats.org/drawingml/2006/main" anchor="ctr">
            <a:normAutofit/>
          </a:bodyPr>
          <a:lstStyle xmlns:a="http://schemas.openxmlformats.org/drawingml/2006/main">
            <a:defPPr algn="ctr">
              <a:defRPr sz="900" b="1">
                <a:solidFill>
                  <a:srgbClr val="2DBD73"/>
                </a:solidFill>
                <a:latin typeface="Arial"/>
                <a:ea typeface="Arial"/>
                <a:cs typeface="Arial"/>
              </a:defRPr>
            </a:defPPr>
            <a:lvl1pPr algn="ctr">
              <a:buNone/>
              <a:defRPr sz="900" b="1">
                <a:solidFill>
                  <a:srgbClr val="2DBD73"/>
                </a:solidFill>
                <a:latin typeface="Arial"/>
                <a:ea typeface="Arial"/>
                <a:cs typeface="Arial"/>
              </a:defRPr>
            </a:lvl1pPr>
            <a:lvl2pPr algn="ctr">
              <a:buNone/>
              <a:defRPr sz="900" b="1">
                <a:solidFill>
                  <a:srgbClr val="2DBD73"/>
                </a:solidFill>
                <a:latin typeface="Arial"/>
                <a:ea typeface="Arial"/>
                <a:cs typeface="Arial"/>
              </a:defRPr>
            </a:lvl2pPr>
            <a:lvl3pPr algn="ctr">
              <a:buNone/>
              <a:defRPr sz="900" b="1">
                <a:solidFill>
                  <a:srgbClr val="2DBD73"/>
                </a:solidFill>
                <a:latin typeface="Arial"/>
                <a:ea typeface="Arial"/>
                <a:cs typeface="Arial"/>
              </a:defRPr>
            </a:lvl3pPr>
            <a:lvl4pPr algn="ctr">
              <a:buNone/>
              <a:defRPr sz="900" b="1">
                <a:solidFill>
                  <a:srgbClr val="2DBD73"/>
                </a:solidFill>
                <a:latin typeface="Arial"/>
                <a:ea typeface="Arial"/>
                <a:cs typeface="Arial"/>
              </a:defRPr>
            </a:lvl4pPr>
            <a:lvl5pPr algn="ctr">
              <a:buNone/>
              <a:defRPr sz="900" b="1">
                <a:solidFill>
                  <a:srgbClr val="2DBD73"/>
                </a:solidFill>
                <a:latin typeface="Arial"/>
                <a:ea typeface="Arial"/>
                <a:cs typeface="Arial"/>
              </a:defRPr>
            </a:lvl5pPr>
            <a:lvl6pPr algn="ctr">
              <a:buNone/>
              <a:defRPr sz="900" b="1">
                <a:solidFill>
                  <a:srgbClr val="2DBD73"/>
                </a:solidFill>
                <a:latin typeface="Arial"/>
                <a:ea typeface="Arial"/>
                <a:cs typeface="Arial"/>
              </a:defRPr>
            </a:lvl6pPr>
            <a:lvl7pPr algn="ctr">
              <a:buNone/>
              <a:defRPr sz="900" b="1">
                <a:solidFill>
                  <a:srgbClr val="2DBD73"/>
                </a:solidFill>
                <a:latin typeface="Arial"/>
                <a:ea typeface="Arial"/>
                <a:cs typeface="Arial"/>
              </a:defRPr>
            </a:lvl7pPr>
            <a:lvl8pPr algn="ctr">
              <a:buNone/>
              <a:defRPr sz="900" b="1">
                <a:solidFill>
                  <a:srgbClr val="2DBD73"/>
                </a:solidFill>
                <a:latin typeface="Arial"/>
                <a:ea typeface="Arial"/>
                <a:cs typeface="Arial"/>
              </a:defRPr>
            </a:lvl8pPr>
            <a:lvl9pPr algn="ctr">
              <a:buNone/>
              <a:defRPr sz="900" b="1">
                <a:solidFill>
                  <a:srgbClr val="2DBD73"/>
                </a:solidFill>
                <a:latin typeface="Arial"/>
                <a:ea typeface="Arial"/>
                <a:cs typeface="Arial"/>
              </a:defRPr>
            </a:lvl9pPr>
          </a:lstStyle>
          <a:p xmlns:a="http://schemas.openxmlformats.org/drawingml/2006/main">
            <a:pPr algn="ctr">
              <a:buNone/>
              <a:defRPr sz="900" b="1">
                <a:solidFill>
                  <a:srgbClr val="2DBD73"/>
                </a:solidFill>
                <a:latin typeface="Arial"/>
                <a:ea typeface="Arial"/>
                <a:cs typeface="Arial"/>
              </a:defRPr>
            </a:pPr>
            <a:r>
              <a:rPr sz="900" b="1">
                <a:solidFill>
                  <a:srgbClr val="2DBD73"/>
                </a:solidFill>
                <a:latin typeface="Arial"/>
                <a:ea typeface="Arial"/>
                <a:cs typeface="Arial"/>
              </a:rPr>
              <a:t>OpenMM: smoke test completed</a:t>
            </a:r>
          </a:p>
        </p:txBody>
      </p:sp>
      <p:sp>
        <p:nvSpPr>
          <p:cNvPr id="40" name="Rectangle: Rounded Corners 39">
            <a:extLst xmlns:a="http://schemas.openxmlformats.org/drawingml/2006/main">
              <a:ext uri="{FF2B5EF4-FFF2-40B4-BE49-F238E27FC236}">
                <a16:creationId xmlns:a16="http://schemas.microsoft.com/office/drawing/2014/main" id="{FFDC83DE-A739-4053-9877-B9CCCA51D19E}"/>
              </a:ext>
            </a:extLst>
          </p:cNvPr>
          <p:cNvSpPr>
            <a:spLocks xmlns:a="http://schemas.openxmlformats.org/drawingml/2006/main" noGrp="1"/>
          </p:cNvSpPr>
          <p:nvPr/>
        </p:nvSpPr>
        <p:spPr>
          <a:xfrm xmlns:a="http://schemas.openxmlformats.org/drawingml/2006/main">
            <a:off x="5934075" y="4724400"/>
            <a:ext cx="2476500" cy="285750"/>
          </a:xfrm>
          <a:prstGeom xmlns:a="http://schemas.openxmlformats.org/drawingml/2006/main" prst="roundRect">
            <a:avLst>
              <a:gd name="adj" fmla="val 26667"/>
            </a:avLst>
          </a:prstGeom>
          <a:solidFill xmlns:a="http://schemas.openxmlformats.org/drawingml/2006/main">
            <a:srgbClr val="EAF7F8"/>
          </a:solidFill>
          <a:ln xmlns:a="http://schemas.openxmlformats.org/drawingml/2006/main" w="9525">
            <a:solidFill>
              <a:srgbClr val="167D89"/>
            </a:solidFill>
            <a:prstDash val="solid"/>
          </a:ln>
        </p:spPr>
        <p:txBody>
          <a:bodyPr xmlns:a="http://schemas.openxmlformats.org/drawingml/2006/main" anchor="ctr">
            <a:normAutofit/>
          </a:bodyPr>
          <a:lstStyle xmlns:a="http://schemas.openxmlformats.org/drawingml/2006/main">
            <a:defPPr algn="ctr">
              <a:defRPr sz="900" b="1">
                <a:solidFill>
                  <a:srgbClr val="167D89"/>
                </a:solidFill>
                <a:latin typeface="Arial"/>
                <a:ea typeface="Arial"/>
                <a:cs typeface="Arial"/>
              </a:defRPr>
            </a:defPPr>
            <a:lvl1pPr algn="ctr">
              <a:buNone/>
              <a:defRPr sz="900" b="1">
                <a:solidFill>
                  <a:srgbClr val="167D89"/>
                </a:solidFill>
                <a:latin typeface="Arial"/>
                <a:ea typeface="Arial"/>
                <a:cs typeface="Arial"/>
              </a:defRPr>
            </a:lvl1pPr>
            <a:lvl2pPr algn="ctr">
              <a:buNone/>
              <a:defRPr sz="900" b="1">
                <a:solidFill>
                  <a:srgbClr val="167D89"/>
                </a:solidFill>
                <a:latin typeface="Arial"/>
                <a:ea typeface="Arial"/>
                <a:cs typeface="Arial"/>
              </a:defRPr>
            </a:lvl2pPr>
            <a:lvl3pPr algn="ctr">
              <a:buNone/>
              <a:defRPr sz="900" b="1">
                <a:solidFill>
                  <a:srgbClr val="167D89"/>
                </a:solidFill>
                <a:latin typeface="Arial"/>
                <a:ea typeface="Arial"/>
                <a:cs typeface="Arial"/>
              </a:defRPr>
            </a:lvl3pPr>
            <a:lvl4pPr algn="ctr">
              <a:buNone/>
              <a:defRPr sz="900" b="1">
                <a:solidFill>
                  <a:srgbClr val="167D89"/>
                </a:solidFill>
                <a:latin typeface="Arial"/>
                <a:ea typeface="Arial"/>
                <a:cs typeface="Arial"/>
              </a:defRPr>
            </a:lvl4pPr>
            <a:lvl5pPr algn="ctr">
              <a:buNone/>
              <a:defRPr sz="900" b="1">
                <a:solidFill>
                  <a:srgbClr val="167D89"/>
                </a:solidFill>
                <a:latin typeface="Arial"/>
                <a:ea typeface="Arial"/>
                <a:cs typeface="Arial"/>
              </a:defRPr>
            </a:lvl5pPr>
            <a:lvl6pPr algn="ctr">
              <a:buNone/>
              <a:defRPr sz="900" b="1">
                <a:solidFill>
                  <a:srgbClr val="167D89"/>
                </a:solidFill>
                <a:latin typeface="Arial"/>
                <a:ea typeface="Arial"/>
                <a:cs typeface="Arial"/>
              </a:defRPr>
            </a:lvl6pPr>
            <a:lvl7pPr algn="ctr">
              <a:buNone/>
              <a:defRPr sz="900" b="1">
                <a:solidFill>
                  <a:srgbClr val="167D89"/>
                </a:solidFill>
                <a:latin typeface="Arial"/>
                <a:ea typeface="Arial"/>
                <a:cs typeface="Arial"/>
              </a:defRPr>
            </a:lvl7pPr>
            <a:lvl8pPr algn="ctr">
              <a:buNone/>
              <a:defRPr sz="900" b="1">
                <a:solidFill>
                  <a:srgbClr val="167D89"/>
                </a:solidFill>
                <a:latin typeface="Arial"/>
                <a:ea typeface="Arial"/>
                <a:cs typeface="Arial"/>
              </a:defRPr>
            </a:lvl8pPr>
            <a:lvl9pPr algn="ctr">
              <a:buNone/>
              <a:defRPr sz="900" b="1">
                <a:solidFill>
                  <a:srgbClr val="167D89"/>
                </a:solidFill>
                <a:latin typeface="Arial"/>
                <a:ea typeface="Arial"/>
                <a:cs typeface="Arial"/>
              </a:defRPr>
            </a:lvl9pPr>
          </a:lstStyle>
          <a:p xmlns:a="http://schemas.openxmlformats.org/drawingml/2006/main">
            <a:pPr algn="ctr">
              <a:buNone/>
              <a:defRPr sz="900" b="1">
                <a:solidFill>
                  <a:srgbClr val="167D89"/>
                </a:solidFill>
                <a:latin typeface="Arial"/>
                <a:ea typeface="Arial"/>
                <a:cs typeface="Arial"/>
              </a:defRPr>
            </a:pPr>
            <a:r>
              <a:rPr sz="900" b="1">
                <a:solidFill>
                  <a:srgbClr val="167D89"/>
                </a:solidFill>
                <a:latin typeface="Arial"/>
                <a:ea typeface="Arial"/>
                <a:cs typeface="Arial"/>
              </a:rPr>
              <a:t>PyMOL: inspection and figures</a:t>
            </a:r>
          </a:p>
        </p:txBody>
      </p:sp>
      <p:sp>
        <p:nvSpPr>
          <p:cNvPr id="41" name="Rectangle: Rounded Corners 40">
            <a:extLst xmlns:a="http://schemas.openxmlformats.org/drawingml/2006/main">
              <a:ext uri="{FF2B5EF4-FFF2-40B4-BE49-F238E27FC236}">
                <a16:creationId xmlns:a16="http://schemas.microsoft.com/office/drawing/2014/main" id="{F9EA9D4B-776B-4A1A-A015-B8164D341F4F}"/>
              </a:ext>
            </a:extLst>
          </p:cNvPr>
          <p:cNvSpPr>
            <a:spLocks xmlns:a="http://schemas.openxmlformats.org/drawingml/2006/main" noGrp="1"/>
          </p:cNvSpPr>
          <p:nvPr/>
        </p:nvSpPr>
        <p:spPr>
          <a:xfrm xmlns:a="http://schemas.openxmlformats.org/drawingml/2006/main">
            <a:off x="8648700" y="4724400"/>
            <a:ext cx="2095500" cy="285750"/>
          </a:xfrm>
          <a:prstGeom xmlns:a="http://schemas.openxmlformats.org/drawingml/2006/main" prst="roundRect">
            <a:avLst>
              <a:gd name="adj" fmla="val 26667"/>
            </a:avLst>
          </a:prstGeom>
          <a:solidFill xmlns:a="http://schemas.openxmlformats.org/drawingml/2006/main">
            <a:srgbClr val="EAF1FA"/>
          </a:solidFill>
          <a:ln xmlns:a="http://schemas.openxmlformats.org/drawingml/2006/main" w="9525">
            <a:solidFill>
              <a:srgbClr val="4E9BEC"/>
            </a:solidFill>
            <a:prstDash val="solid"/>
          </a:ln>
        </p:spPr>
        <p:txBody>
          <a:bodyPr xmlns:a="http://schemas.openxmlformats.org/drawingml/2006/main" anchor="ctr">
            <a:normAutofit/>
          </a:bodyPr>
          <a:lstStyle xmlns:a="http://schemas.openxmlformats.org/drawingml/2006/main">
            <a:defPPr algn="ctr">
              <a:defRPr sz="900" b="1">
                <a:solidFill>
                  <a:srgbClr val="4E9BEC"/>
                </a:solidFill>
                <a:latin typeface="Arial"/>
                <a:ea typeface="Arial"/>
                <a:cs typeface="Arial"/>
              </a:defRPr>
            </a:defPPr>
            <a:lvl1pPr algn="ctr">
              <a:buNone/>
              <a:defRPr sz="900" b="1">
                <a:solidFill>
                  <a:srgbClr val="4E9BEC"/>
                </a:solidFill>
                <a:latin typeface="Arial"/>
                <a:ea typeface="Arial"/>
                <a:cs typeface="Arial"/>
              </a:defRPr>
            </a:lvl1pPr>
            <a:lvl2pPr algn="ctr">
              <a:buNone/>
              <a:defRPr sz="900" b="1">
                <a:solidFill>
                  <a:srgbClr val="4E9BEC"/>
                </a:solidFill>
                <a:latin typeface="Arial"/>
                <a:ea typeface="Arial"/>
                <a:cs typeface="Arial"/>
              </a:defRPr>
            </a:lvl2pPr>
            <a:lvl3pPr algn="ctr">
              <a:buNone/>
              <a:defRPr sz="900" b="1">
                <a:solidFill>
                  <a:srgbClr val="4E9BEC"/>
                </a:solidFill>
                <a:latin typeface="Arial"/>
                <a:ea typeface="Arial"/>
                <a:cs typeface="Arial"/>
              </a:defRPr>
            </a:lvl3pPr>
            <a:lvl4pPr algn="ctr">
              <a:buNone/>
              <a:defRPr sz="900" b="1">
                <a:solidFill>
                  <a:srgbClr val="4E9BEC"/>
                </a:solidFill>
                <a:latin typeface="Arial"/>
                <a:ea typeface="Arial"/>
                <a:cs typeface="Arial"/>
              </a:defRPr>
            </a:lvl4pPr>
            <a:lvl5pPr algn="ctr">
              <a:buNone/>
              <a:defRPr sz="900" b="1">
                <a:solidFill>
                  <a:srgbClr val="4E9BEC"/>
                </a:solidFill>
                <a:latin typeface="Arial"/>
                <a:ea typeface="Arial"/>
                <a:cs typeface="Arial"/>
              </a:defRPr>
            </a:lvl5pPr>
            <a:lvl6pPr algn="ctr">
              <a:buNone/>
              <a:defRPr sz="900" b="1">
                <a:solidFill>
                  <a:srgbClr val="4E9BEC"/>
                </a:solidFill>
                <a:latin typeface="Arial"/>
                <a:ea typeface="Arial"/>
                <a:cs typeface="Arial"/>
              </a:defRPr>
            </a:lvl6pPr>
            <a:lvl7pPr algn="ctr">
              <a:buNone/>
              <a:defRPr sz="900" b="1">
                <a:solidFill>
                  <a:srgbClr val="4E9BEC"/>
                </a:solidFill>
                <a:latin typeface="Arial"/>
                <a:ea typeface="Arial"/>
                <a:cs typeface="Arial"/>
              </a:defRPr>
            </a:lvl7pPr>
            <a:lvl8pPr algn="ctr">
              <a:buNone/>
              <a:defRPr sz="900" b="1">
                <a:solidFill>
                  <a:srgbClr val="4E9BEC"/>
                </a:solidFill>
                <a:latin typeface="Arial"/>
                <a:ea typeface="Arial"/>
                <a:cs typeface="Arial"/>
              </a:defRPr>
            </a:lvl8pPr>
            <a:lvl9pPr algn="ctr">
              <a:buNone/>
              <a:defRPr sz="900" b="1">
                <a:solidFill>
                  <a:srgbClr val="4E9BEC"/>
                </a:solidFill>
                <a:latin typeface="Arial"/>
                <a:ea typeface="Arial"/>
                <a:cs typeface="Arial"/>
              </a:defRPr>
            </a:lvl9pPr>
          </a:lstStyle>
          <a:p xmlns:a="http://schemas.openxmlformats.org/drawingml/2006/main">
            <a:pPr algn="ctr">
              <a:buNone/>
              <a:defRPr sz="900" b="1">
                <a:solidFill>
                  <a:srgbClr val="4E9BEC"/>
                </a:solidFill>
                <a:latin typeface="Arial"/>
                <a:ea typeface="Arial"/>
                <a:cs typeface="Arial"/>
              </a:defRPr>
            </a:pPr>
            <a:r>
              <a:rPr sz="900" b="1">
                <a:solidFill>
                  <a:srgbClr val="4E9BEC"/>
                </a:solidFill>
                <a:latin typeface="Arial"/>
                <a:ea typeface="Arial"/>
                <a:cs typeface="Arial"/>
              </a:rPr>
              <a:t>3Dmol: in-app viewing</a:t>
            </a:r>
          </a:p>
        </p:txBody>
      </p:sp>
      <p:sp>
        <p:nvSpPr>
          <p:cNvPr id="42" name="Rectangle 41">
            <a:extLst xmlns:a="http://schemas.openxmlformats.org/drawingml/2006/main">
              <a:ext uri="{FF2B5EF4-FFF2-40B4-BE49-F238E27FC236}">
                <a16:creationId xmlns:a16="http://schemas.microsoft.com/office/drawing/2014/main" id="{7D700530-8E42-4AA0-9843-45ABD757F4A2}"/>
              </a:ext>
            </a:extLst>
          </p:cNvPr>
          <p:cNvSpPr>
            <a:spLocks xmlns:a="http://schemas.openxmlformats.org/drawingml/2006/main" noGrp="1"/>
          </p:cNvSpPr>
          <p:nvPr/>
        </p:nvSpPr>
        <p:spPr>
          <a:xfrm xmlns:a="http://schemas.openxmlformats.org/drawingml/2006/main">
            <a:off x="638175" y="550545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Long prediction and comparison runs are detached, persisted, and checked from status files so they survive chat closure.</a:t>
            </a:r>
          </a:p>
        </p:txBody>
      </p:sp>
    </p:spTree>
    <p:extLst>
      <p:ext uri="{BB962C8B-B14F-4D97-AF65-F5344CB8AC3E}">
        <p14:creationId xmlns:p14="http://schemas.microsoft.com/office/powerpoint/2010/main" val="1215808035"/>
      </p:ext>
    </p:extLst>
  </p:cSld>
</p:sld>
</file>

<file path=ppt/slides/slide11.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0B17B7C5-D423-40B4-BBA2-0D371D9EF5E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F1764D9D-25B1-4BD1-A4CD-02570B1C45F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5F33D57-7043-492B-ADF1-C6E9D65B3E2C}"/>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MODEL ARCHITECTURE</a:t>
            </a:r>
          </a:p>
        </p:txBody>
      </p:sp>
      <p:sp>
        <p:nvSpPr>
          <p:cNvPr id="4" name="Rectangle 3">
            <a:extLst xmlns:a="http://schemas.openxmlformats.org/drawingml/2006/main">
              <a:ext uri="{FF2B5EF4-FFF2-40B4-BE49-F238E27FC236}">
                <a16:creationId xmlns:a16="http://schemas.microsoft.com/office/drawing/2014/main" id="{6DBA71DF-1168-4265-87DB-5D0130CF393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§4; ESM-2: Lin et al. (2023); geometric encoder basis: Jing et al. (2021)</a:t>
            </a:r>
          </a:p>
        </p:txBody>
      </p:sp>
      <p:sp>
        <p:nvSpPr>
          <p:cNvPr id="5" name="Rectangle 4">
            <a:extLst xmlns:a="http://schemas.openxmlformats.org/drawingml/2006/main">
              <a:ext uri="{FF2B5EF4-FFF2-40B4-BE49-F238E27FC236}">
                <a16:creationId xmlns:a16="http://schemas.microsoft.com/office/drawing/2014/main" id="{507C1A3A-21A3-4443-B312-0619B09D9AE1}"/>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11</a:t>
            </a:r>
          </a:p>
        </p:txBody>
      </p:sp>
      <p:sp>
        <p:nvSpPr>
          <p:cNvPr id="6" name="Rectangle 5">
            <a:extLst xmlns:a="http://schemas.openxmlformats.org/drawingml/2006/main">
              <a:ext uri="{FF2B5EF4-FFF2-40B4-BE49-F238E27FC236}">
                <a16:creationId xmlns:a16="http://schemas.microsoft.com/office/drawing/2014/main" id="{E028D820-EE5C-4F34-ACB0-75397B96331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Proposed multimodal compatibility ranker</a:t>
            </a:r>
          </a:p>
        </p:txBody>
      </p:sp>
      <p:sp>
        <p:nvSpPr>
          <p:cNvPr id="7" name="Rectangle 6">
            <a:extLst xmlns:a="http://schemas.openxmlformats.org/drawingml/2006/main">
              <a:ext uri="{FF2B5EF4-FFF2-40B4-BE49-F238E27FC236}">
                <a16:creationId xmlns:a16="http://schemas.microsoft.com/office/drawing/2014/main" id="{235C74B7-E07D-4CDF-A867-42CFB06EE62C}"/>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Three encoders represent the domains, attachment geometry, and candidate linker before multitask scoring</a:t>
            </a:r>
          </a:p>
        </p:txBody>
      </p:sp>
      <p:sp>
        <p:nvSpPr>
          <p:cNvPr id="8" name="Rectangle 7">
            <a:extLst xmlns:a="http://schemas.openxmlformats.org/drawingml/2006/main">
              <a:ext uri="{FF2B5EF4-FFF2-40B4-BE49-F238E27FC236}">
                <a16:creationId xmlns:a16="http://schemas.microsoft.com/office/drawing/2014/main" id="{09428FAB-AF81-45AC-9631-F96B4BDFC81A}"/>
              </a:ext>
            </a:extLst>
          </p:cNvPr>
          <p:cNvSpPr>
            <a:spLocks xmlns:a="http://schemas.openxmlformats.org/drawingml/2006/main" noGrp="1"/>
          </p:cNvSpPr>
          <p:nvPr/>
        </p:nvSpPr>
        <p:spPr>
          <a:xfrm xmlns:a="http://schemas.openxmlformats.org/drawingml/2006/main">
            <a:off x="52387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4E9BEC"/>
                </a:solidFill>
                <a:latin typeface="Arial"/>
                <a:ea typeface="Arial"/>
                <a:cs typeface="Arial"/>
              </a:defRPr>
            </a:defPPr>
            <a:lvl1pPr algn="ctr">
              <a:buNone/>
              <a:defRPr sz="900" b="1" i="0">
                <a:solidFill>
                  <a:srgbClr val="4E9BEC"/>
                </a:solidFill>
                <a:latin typeface="Arial"/>
                <a:ea typeface="Arial"/>
                <a:cs typeface="Arial"/>
              </a:defRPr>
            </a:lvl1pPr>
            <a:lvl2pPr algn="ctr">
              <a:buNone/>
              <a:defRPr sz="900" b="1" i="0">
                <a:solidFill>
                  <a:srgbClr val="4E9BEC"/>
                </a:solidFill>
                <a:latin typeface="Arial"/>
                <a:ea typeface="Arial"/>
                <a:cs typeface="Arial"/>
              </a:defRPr>
            </a:lvl2pPr>
            <a:lvl3pPr algn="ctr">
              <a:buNone/>
              <a:defRPr sz="900" b="1" i="0">
                <a:solidFill>
                  <a:srgbClr val="4E9BEC"/>
                </a:solidFill>
                <a:latin typeface="Arial"/>
                <a:ea typeface="Arial"/>
                <a:cs typeface="Arial"/>
              </a:defRPr>
            </a:lvl3pPr>
            <a:lvl4pPr algn="ctr">
              <a:buNone/>
              <a:defRPr sz="900" b="1" i="0">
                <a:solidFill>
                  <a:srgbClr val="4E9BEC"/>
                </a:solidFill>
                <a:latin typeface="Arial"/>
                <a:ea typeface="Arial"/>
                <a:cs typeface="Arial"/>
              </a:defRPr>
            </a:lvl4pPr>
            <a:lvl5pPr algn="ctr">
              <a:buNone/>
              <a:defRPr sz="900" b="1" i="0">
                <a:solidFill>
                  <a:srgbClr val="4E9BEC"/>
                </a:solidFill>
                <a:latin typeface="Arial"/>
                <a:ea typeface="Arial"/>
                <a:cs typeface="Arial"/>
              </a:defRPr>
            </a:lvl5pPr>
            <a:lvl6pPr algn="ctr">
              <a:buNone/>
              <a:defRPr sz="900" b="1" i="0">
                <a:solidFill>
                  <a:srgbClr val="4E9BEC"/>
                </a:solidFill>
                <a:latin typeface="Arial"/>
                <a:ea typeface="Arial"/>
                <a:cs typeface="Arial"/>
              </a:defRPr>
            </a:lvl6pPr>
            <a:lvl7pPr algn="ctr">
              <a:buNone/>
              <a:defRPr sz="900" b="1" i="0">
                <a:solidFill>
                  <a:srgbClr val="4E9BEC"/>
                </a:solidFill>
                <a:latin typeface="Arial"/>
                <a:ea typeface="Arial"/>
                <a:cs typeface="Arial"/>
              </a:defRPr>
            </a:lvl7pPr>
            <a:lvl8pPr algn="ctr">
              <a:buNone/>
              <a:defRPr sz="900" b="1" i="0">
                <a:solidFill>
                  <a:srgbClr val="4E9BEC"/>
                </a:solidFill>
                <a:latin typeface="Arial"/>
                <a:ea typeface="Arial"/>
                <a:cs typeface="Arial"/>
              </a:defRPr>
            </a:lvl8pPr>
            <a:lvl9pPr algn="ctr">
              <a:buNone/>
              <a:defRPr sz="900" b="1" i="0">
                <a:solidFill>
                  <a:srgbClr val="4E9BEC"/>
                </a:solidFill>
                <a:latin typeface="Arial"/>
                <a:ea typeface="Arial"/>
                <a:cs typeface="Arial"/>
              </a:defRPr>
            </a:lvl9pPr>
          </a:lstStyle>
          <a:p xmlns:a="http://schemas.openxmlformats.org/drawingml/2006/main">
            <a:pPr algn="ctr">
              <a:buNone/>
              <a:defRPr sz="900" b="1" i="0">
                <a:solidFill>
                  <a:srgbClr val="4E9BEC"/>
                </a:solidFill>
                <a:latin typeface="Arial"/>
                <a:ea typeface="Arial"/>
                <a:cs typeface="Arial"/>
              </a:defRPr>
            </a:pPr>
            <a:r>
              <a:rPr sz="900" b="1" i="0">
                <a:solidFill>
                  <a:srgbClr val="4E9BEC"/>
                </a:solidFill>
                <a:latin typeface="Arial"/>
                <a:ea typeface="Arial"/>
                <a:cs typeface="Arial"/>
              </a:rPr>
              <a:t>DOMAIN SEQUENCE</a:t>
            </a:r>
          </a:p>
        </p:txBody>
      </p:sp>
      <p:sp>
        <p:nvSpPr>
          <p:cNvPr id="9" name="Rectangle: Rounded Corners 8">
            <a:extLst xmlns:a="http://schemas.openxmlformats.org/drawingml/2006/main">
              <a:ext uri="{FF2B5EF4-FFF2-40B4-BE49-F238E27FC236}">
                <a16:creationId xmlns:a16="http://schemas.microsoft.com/office/drawing/2014/main" id="{93C63F36-D2B4-41E5-9C8E-C3FDBFCE55AA}"/>
              </a:ext>
            </a:extLst>
          </p:cNvPr>
          <p:cNvSpPr>
            <a:spLocks xmlns:a="http://schemas.openxmlformats.org/drawingml/2006/main" noGrp="1"/>
          </p:cNvSpPr>
          <p:nvPr/>
        </p:nvSpPr>
        <p:spPr>
          <a:xfrm xmlns:a="http://schemas.openxmlformats.org/drawingml/2006/main">
            <a:off x="52387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31F93CBD-615F-4E57-B4C8-FA4E87441F44}"/>
              </a:ext>
            </a:extLst>
          </p:cNvPr>
          <p:cNvSpPr>
            <a:spLocks xmlns:a="http://schemas.openxmlformats.org/drawingml/2006/main" noGrp="1"/>
          </p:cNvSpPr>
          <p:nvPr/>
        </p:nvSpPr>
        <p:spPr>
          <a:xfrm xmlns:a="http://schemas.openxmlformats.org/drawingml/2006/main">
            <a:off x="71437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Frozen ESM-2</a:t>
            </a:r>
          </a:p>
        </p:txBody>
      </p:sp>
      <p:sp>
        <p:nvSpPr>
          <p:cNvPr id="11" name="Rectangle 10">
            <a:extLst xmlns:a="http://schemas.openxmlformats.org/drawingml/2006/main">
              <a:ext uri="{FF2B5EF4-FFF2-40B4-BE49-F238E27FC236}">
                <a16:creationId xmlns:a16="http://schemas.microsoft.com/office/drawing/2014/main" id="{AA9BB20F-CAE3-4480-B184-BED92ACEDFF8}"/>
              </a:ext>
            </a:extLst>
          </p:cNvPr>
          <p:cNvSpPr>
            <a:spLocks xmlns:a="http://schemas.openxmlformats.org/drawingml/2006/main" noGrp="1"/>
          </p:cNvSpPr>
          <p:nvPr/>
        </p:nvSpPr>
        <p:spPr>
          <a:xfrm xmlns:a="http://schemas.openxmlformats.org/drawingml/2006/main">
            <a:off x="76200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Residue embeddings for Domain A and Domain B</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Weights remain fixed during ranker training</a:t>
            </a:r>
          </a:p>
        </p:txBody>
      </p:sp>
      <p:sp>
        <p:nvSpPr>
          <p:cNvPr id="12" name="Straight Connector 11">
            <a:extLst xmlns:a="http://schemas.openxmlformats.org/drawingml/2006/main">
              <a:ext uri="{FF2B5EF4-FFF2-40B4-BE49-F238E27FC236}">
                <a16:creationId xmlns:a16="http://schemas.microsoft.com/office/drawing/2014/main" id="{4AAF95FF-4773-4632-8803-8EAAD14222E5}"/>
              </a:ext>
            </a:extLst>
          </p:cNvPr>
          <p:cNvSpPr>
            <a:spLocks xmlns:a="http://schemas.openxmlformats.org/drawingml/2006/main" noGrp="1"/>
          </p:cNvSpPr>
          <p:nvPr/>
        </p:nvSpPr>
        <p:spPr>
          <a:xfrm xmlns:a="http://schemas.openxmlformats.org/drawingml/2006/main">
            <a:off x="2143125" y="3448050"/>
            <a:ext cx="0" cy="428625"/>
          </a:xfrm>
          <a:prstGeom xmlns:a="http://schemas.openxmlformats.org/drawingml/2006/main" prst="line">
            <a:avLst/>
          </a:prstGeom>
          <a:noFill xmlns:a="http://schemas.openxmlformats.org/drawingml/2006/main"/>
          <a:ln xmlns:a="http://schemas.openxmlformats.org/drawingml/2006/main" w="28575">
            <a:solidFill>
              <a:srgbClr val="4E9BEC"/>
            </a:solidFill>
            <a:prstDash val="solid"/>
          </a:ln>
        </p:spPr>
      </p:sp>
      <p:sp>
        <p:nvSpPr>
          <p:cNvPr id="13" name="Rectangle 12">
            <a:extLst xmlns:a="http://schemas.openxmlformats.org/drawingml/2006/main">
              <a:ext uri="{FF2B5EF4-FFF2-40B4-BE49-F238E27FC236}">
                <a16:creationId xmlns:a16="http://schemas.microsoft.com/office/drawing/2014/main" id="{E69706D8-3DF0-45D8-A717-2B796BEC8556}"/>
              </a:ext>
            </a:extLst>
          </p:cNvPr>
          <p:cNvSpPr>
            <a:spLocks xmlns:a="http://schemas.openxmlformats.org/drawingml/2006/main" noGrp="1"/>
          </p:cNvSpPr>
          <p:nvPr/>
        </p:nvSpPr>
        <p:spPr>
          <a:xfrm xmlns:a="http://schemas.openxmlformats.org/drawingml/2006/main">
            <a:off x="427672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2DBD73"/>
                </a:solidFill>
                <a:latin typeface="Arial"/>
                <a:ea typeface="Arial"/>
                <a:cs typeface="Arial"/>
              </a:defRPr>
            </a:defPPr>
            <a:lvl1pPr algn="ctr">
              <a:buNone/>
              <a:defRPr sz="900" b="1" i="0">
                <a:solidFill>
                  <a:srgbClr val="2DBD73"/>
                </a:solidFill>
                <a:latin typeface="Arial"/>
                <a:ea typeface="Arial"/>
                <a:cs typeface="Arial"/>
              </a:defRPr>
            </a:lvl1pPr>
            <a:lvl2pPr algn="ctr">
              <a:buNone/>
              <a:defRPr sz="900" b="1" i="0">
                <a:solidFill>
                  <a:srgbClr val="2DBD73"/>
                </a:solidFill>
                <a:latin typeface="Arial"/>
                <a:ea typeface="Arial"/>
                <a:cs typeface="Arial"/>
              </a:defRPr>
            </a:lvl2pPr>
            <a:lvl3pPr algn="ctr">
              <a:buNone/>
              <a:defRPr sz="900" b="1" i="0">
                <a:solidFill>
                  <a:srgbClr val="2DBD73"/>
                </a:solidFill>
                <a:latin typeface="Arial"/>
                <a:ea typeface="Arial"/>
                <a:cs typeface="Arial"/>
              </a:defRPr>
            </a:lvl3pPr>
            <a:lvl4pPr algn="ctr">
              <a:buNone/>
              <a:defRPr sz="900" b="1" i="0">
                <a:solidFill>
                  <a:srgbClr val="2DBD73"/>
                </a:solidFill>
                <a:latin typeface="Arial"/>
                <a:ea typeface="Arial"/>
                <a:cs typeface="Arial"/>
              </a:defRPr>
            </a:lvl4pPr>
            <a:lvl5pPr algn="ctr">
              <a:buNone/>
              <a:defRPr sz="900" b="1" i="0">
                <a:solidFill>
                  <a:srgbClr val="2DBD73"/>
                </a:solidFill>
                <a:latin typeface="Arial"/>
                <a:ea typeface="Arial"/>
                <a:cs typeface="Arial"/>
              </a:defRPr>
            </a:lvl5pPr>
            <a:lvl6pPr algn="ctr">
              <a:buNone/>
              <a:defRPr sz="900" b="1" i="0">
                <a:solidFill>
                  <a:srgbClr val="2DBD73"/>
                </a:solidFill>
                <a:latin typeface="Arial"/>
                <a:ea typeface="Arial"/>
                <a:cs typeface="Arial"/>
              </a:defRPr>
            </a:lvl6pPr>
            <a:lvl7pPr algn="ctr">
              <a:buNone/>
              <a:defRPr sz="900" b="1" i="0">
                <a:solidFill>
                  <a:srgbClr val="2DBD73"/>
                </a:solidFill>
                <a:latin typeface="Arial"/>
                <a:ea typeface="Arial"/>
                <a:cs typeface="Arial"/>
              </a:defRPr>
            </a:lvl7pPr>
            <a:lvl8pPr algn="ctr">
              <a:buNone/>
              <a:defRPr sz="900" b="1" i="0">
                <a:solidFill>
                  <a:srgbClr val="2DBD73"/>
                </a:solidFill>
                <a:latin typeface="Arial"/>
                <a:ea typeface="Arial"/>
                <a:cs typeface="Arial"/>
              </a:defRPr>
            </a:lvl8pPr>
            <a:lvl9pPr algn="ctr">
              <a:buNone/>
              <a:defRPr sz="900" b="1" i="0">
                <a:solidFill>
                  <a:srgbClr val="2DBD73"/>
                </a:solidFill>
                <a:latin typeface="Arial"/>
                <a:ea typeface="Arial"/>
                <a:cs typeface="Arial"/>
              </a:defRPr>
            </a:lvl9pPr>
          </a:lstStyle>
          <a:p xmlns:a="http://schemas.openxmlformats.org/drawingml/2006/main">
            <a:pPr algn="ctr">
              <a:buNone/>
              <a:defRPr sz="900" b="1" i="0">
                <a:solidFill>
                  <a:srgbClr val="2DBD73"/>
                </a:solidFill>
                <a:latin typeface="Arial"/>
                <a:ea typeface="Arial"/>
                <a:cs typeface="Arial"/>
              </a:defRPr>
            </a:pPr>
            <a:r>
              <a:rPr sz="900" b="1" i="0">
                <a:solidFill>
                  <a:srgbClr val="2DBD73"/>
                </a:solidFill>
                <a:latin typeface="Arial"/>
                <a:ea typeface="Arial"/>
                <a:cs typeface="Arial"/>
              </a:rPr>
              <a:t>ATTACHMENT GEOMETRY</a:t>
            </a:r>
          </a:p>
        </p:txBody>
      </p:sp>
      <p:sp>
        <p:nvSpPr>
          <p:cNvPr id="14" name="Rectangle: Rounded Corners 13">
            <a:extLst xmlns:a="http://schemas.openxmlformats.org/drawingml/2006/main">
              <a:ext uri="{FF2B5EF4-FFF2-40B4-BE49-F238E27FC236}">
                <a16:creationId xmlns:a16="http://schemas.microsoft.com/office/drawing/2014/main" id="{EA4B49F5-1AD3-4A15-B584-DEE0844511B9}"/>
              </a:ext>
            </a:extLst>
          </p:cNvPr>
          <p:cNvSpPr>
            <a:spLocks xmlns:a="http://schemas.openxmlformats.org/drawingml/2006/main" noGrp="1"/>
          </p:cNvSpPr>
          <p:nvPr/>
        </p:nvSpPr>
        <p:spPr>
          <a:xfrm xmlns:a="http://schemas.openxmlformats.org/drawingml/2006/main">
            <a:off x="427672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2DBD73"/>
            </a:solidFill>
            <a:prstDash val="solid"/>
          </a:ln>
        </p:spPr>
      </p:sp>
      <p:sp>
        <p:nvSpPr>
          <p:cNvPr id="15" name="Rectangle 14">
            <a:extLst xmlns:a="http://schemas.openxmlformats.org/drawingml/2006/main">
              <a:ext uri="{FF2B5EF4-FFF2-40B4-BE49-F238E27FC236}">
                <a16:creationId xmlns:a16="http://schemas.microsoft.com/office/drawing/2014/main" id="{C3C471FE-6E76-4944-B494-AF61B57433C3}"/>
              </a:ext>
            </a:extLst>
          </p:cNvPr>
          <p:cNvSpPr>
            <a:spLocks xmlns:a="http://schemas.openxmlformats.org/drawingml/2006/main" noGrp="1"/>
          </p:cNvSpPr>
          <p:nvPr/>
        </p:nvSpPr>
        <p:spPr>
          <a:xfrm xmlns:a="http://schemas.openxmlformats.org/drawingml/2006/main">
            <a:off x="446722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Local geometric GNN</a:t>
            </a:r>
          </a:p>
        </p:txBody>
      </p:sp>
      <p:sp>
        <p:nvSpPr>
          <p:cNvPr id="16" name="Rectangle 15">
            <a:extLst xmlns:a="http://schemas.openxmlformats.org/drawingml/2006/main">
              <a:ext uri="{FF2B5EF4-FFF2-40B4-BE49-F238E27FC236}">
                <a16:creationId xmlns:a16="http://schemas.microsoft.com/office/drawing/2014/main" id="{AD459994-44F5-4A12-8286-42E9F9638EFE}"/>
              </a:ext>
            </a:extLst>
          </p:cNvPr>
          <p:cNvSpPr>
            <a:spLocks xmlns:a="http://schemas.openxmlformats.org/drawingml/2006/main" noGrp="1"/>
          </p:cNvSpPr>
          <p:nvPr/>
        </p:nvSpPr>
        <p:spPr>
          <a:xfrm xmlns:a="http://schemas.openxmlformats.org/drawingml/2006/main">
            <a:off x="451485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311"/>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Residues near both connection ports</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Coordinates, distances, orientation, exposure</a:t>
            </a:r>
          </a:p>
        </p:txBody>
      </p:sp>
      <p:sp>
        <p:nvSpPr>
          <p:cNvPr id="17" name="Straight Connector 16">
            <a:extLst xmlns:a="http://schemas.openxmlformats.org/drawingml/2006/main">
              <a:ext uri="{FF2B5EF4-FFF2-40B4-BE49-F238E27FC236}">
                <a16:creationId xmlns:a16="http://schemas.microsoft.com/office/drawing/2014/main" id="{55A0F83D-71EF-4570-8313-F6D74A04818C}"/>
              </a:ext>
            </a:extLst>
          </p:cNvPr>
          <p:cNvSpPr>
            <a:spLocks xmlns:a="http://schemas.openxmlformats.org/drawingml/2006/main" noGrp="1"/>
          </p:cNvSpPr>
          <p:nvPr/>
        </p:nvSpPr>
        <p:spPr>
          <a:xfrm xmlns:a="http://schemas.openxmlformats.org/drawingml/2006/main">
            <a:off x="5895975" y="3448050"/>
            <a:ext cx="0" cy="428625"/>
          </a:xfrm>
          <a:prstGeom xmlns:a="http://schemas.openxmlformats.org/drawingml/2006/main" prst="line">
            <a:avLst/>
          </a:prstGeom>
          <a:noFill xmlns:a="http://schemas.openxmlformats.org/drawingml/2006/main"/>
          <a:ln xmlns:a="http://schemas.openxmlformats.org/drawingml/2006/main" w="28575">
            <a:solidFill>
              <a:srgbClr val="2DBD73"/>
            </a:solidFill>
            <a:prstDash val="solid"/>
          </a:ln>
        </p:spPr>
      </p:sp>
      <p:sp>
        <p:nvSpPr>
          <p:cNvPr id="18" name="Rectangle 17">
            <a:extLst xmlns:a="http://schemas.openxmlformats.org/drawingml/2006/main">
              <a:ext uri="{FF2B5EF4-FFF2-40B4-BE49-F238E27FC236}">
                <a16:creationId xmlns:a16="http://schemas.microsoft.com/office/drawing/2014/main" id="{4E1D3BD4-B172-4E40-91C6-6FAC1C6C5166}"/>
              </a:ext>
            </a:extLst>
          </p:cNvPr>
          <p:cNvSpPr>
            <a:spLocks xmlns:a="http://schemas.openxmlformats.org/drawingml/2006/main" noGrp="1"/>
          </p:cNvSpPr>
          <p:nvPr/>
        </p:nvSpPr>
        <p:spPr>
          <a:xfrm xmlns:a="http://schemas.openxmlformats.org/drawingml/2006/main">
            <a:off x="802957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E84AAB"/>
                </a:solidFill>
                <a:latin typeface="Arial"/>
                <a:ea typeface="Arial"/>
                <a:cs typeface="Arial"/>
              </a:defRPr>
            </a:defPPr>
            <a:lvl1pPr algn="ctr">
              <a:buNone/>
              <a:defRPr sz="900" b="1" i="0">
                <a:solidFill>
                  <a:srgbClr val="E84AAB"/>
                </a:solidFill>
                <a:latin typeface="Arial"/>
                <a:ea typeface="Arial"/>
                <a:cs typeface="Arial"/>
              </a:defRPr>
            </a:lvl1pPr>
            <a:lvl2pPr algn="ctr">
              <a:buNone/>
              <a:defRPr sz="900" b="1" i="0">
                <a:solidFill>
                  <a:srgbClr val="E84AAB"/>
                </a:solidFill>
                <a:latin typeface="Arial"/>
                <a:ea typeface="Arial"/>
                <a:cs typeface="Arial"/>
              </a:defRPr>
            </a:lvl2pPr>
            <a:lvl3pPr algn="ctr">
              <a:buNone/>
              <a:defRPr sz="900" b="1" i="0">
                <a:solidFill>
                  <a:srgbClr val="E84AAB"/>
                </a:solidFill>
                <a:latin typeface="Arial"/>
                <a:ea typeface="Arial"/>
                <a:cs typeface="Arial"/>
              </a:defRPr>
            </a:lvl3pPr>
            <a:lvl4pPr algn="ctr">
              <a:buNone/>
              <a:defRPr sz="900" b="1" i="0">
                <a:solidFill>
                  <a:srgbClr val="E84AAB"/>
                </a:solidFill>
                <a:latin typeface="Arial"/>
                <a:ea typeface="Arial"/>
                <a:cs typeface="Arial"/>
              </a:defRPr>
            </a:lvl4pPr>
            <a:lvl5pPr algn="ctr">
              <a:buNone/>
              <a:defRPr sz="900" b="1" i="0">
                <a:solidFill>
                  <a:srgbClr val="E84AAB"/>
                </a:solidFill>
                <a:latin typeface="Arial"/>
                <a:ea typeface="Arial"/>
                <a:cs typeface="Arial"/>
              </a:defRPr>
            </a:lvl5pPr>
            <a:lvl6pPr algn="ctr">
              <a:buNone/>
              <a:defRPr sz="900" b="1" i="0">
                <a:solidFill>
                  <a:srgbClr val="E84AAB"/>
                </a:solidFill>
                <a:latin typeface="Arial"/>
                <a:ea typeface="Arial"/>
                <a:cs typeface="Arial"/>
              </a:defRPr>
            </a:lvl6pPr>
            <a:lvl7pPr algn="ctr">
              <a:buNone/>
              <a:defRPr sz="900" b="1" i="0">
                <a:solidFill>
                  <a:srgbClr val="E84AAB"/>
                </a:solidFill>
                <a:latin typeface="Arial"/>
                <a:ea typeface="Arial"/>
                <a:cs typeface="Arial"/>
              </a:defRPr>
            </a:lvl7pPr>
            <a:lvl8pPr algn="ctr">
              <a:buNone/>
              <a:defRPr sz="900" b="1" i="0">
                <a:solidFill>
                  <a:srgbClr val="E84AAB"/>
                </a:solidFill>
                <a:latin typeface="Arial"/>
                <a:ea typeface="Arial"/>
                <a:cs typeface="Arial"/>
              </a:defRPr>
            </a:lvl8pPr>
            <a:lvl9pPr algn="ctr">
              <a:buNone/>
              <a:defRPr sz="900" b="1" i="0">
                <a:solidFill>
                  <a:srgbClr val="E84AAB"/>
                </a:solidFill>
                <a:latin typeface="Arial"/>
                <a:ea typeface="Arial"/>
                <a:cs typeface="Arial"/>
              </a:defRPr>
            </a:lvl9pPr>
          </a:lstStyle>
          <a:p xmlns:a="http://schemas.openxmlformats.org/drawingml/2006/main">
            <a:pPr algn="ctr">
              <a:buNone/>
              <a:defRPr sz="900" b="1" i="0">
                <a:solidFill>
                  <a:srgbClr val="E84AAB"/>
                </a:solidFill>
                <a:latin typeface="Arial"/>
                <a:ea typeface="Arial"/>
                <a:cs typeface="Arial"/>
              </a:defRPr>
            </a:pPr>
            <a:r>
              <a:rPr sz="900" b="1" i="0">
                <a:solidFill>
                  <a:srgbClr val="E84AAB"/>
                </a:solidFill>
                <a:latin typeface="Arial"/>
                <a:ea typeface="Arial"/>
                <a:cs typeface="Arial"/>
              </a:rPr>
              <a:t>LINKER CANDIDATE</a:t>
            </a:r>
          </a:p>
        </p:txBody>
      </p:sp>
      <p:sp>
        <p:nvSpPr>
          <p:cNvPr id="19" name="Rectangle: Rounded Corners 18">
            <a:extLst xmlns:a="http://schemas.openxmlformats.org/drawingml/2006/main">
              <a:ext uri="{FF2B5EF4-FFF2-40B4-BE49-F238E27FC236}">
                <a16:creationId xmlns:a16="http://schemas.microsoft.com/office/drawing/2014/main" id="{AA53F404-4602-4149-80DB-A42B3D9C0BAD}"/>
              </a:ext>
            </a:extLst>
          </p:cNvPr>
          <p:cNvSpPr>
            <a:spLocks xmlns:a="http://schemas.openxmlformats.org/drawingml/2006/main" noGrp="1"/>
          </p:cNvSpPr>
          <p:nvPr/>
        </p:nvSpPr>
        <p:spPr>
          <a:xfrm xmlns:a="http://schemas.openxmlformats.org/drawingml/2006/main">
            <a:off x="802957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E84AAB"/>
            </a:solidFill>
            <a:prstDash val="solid"/>
          </a:ln>
        </p:spPr>
      </p:sp>
      <p:sp>
        <p:nvSpPr>
          <p:cNvPr id="20" name="Rectangle 19">
            <a:extLst xmlns:a="http://schemas.openxmlformats.org/drawingml/2006/main">
              <a:ext uri="{FF2B5EF4-FFF2-40B4-BE49-F238E27FC236}">
                <a16:creationId xmlns:a16="http://schemas.microsoft.com/office/drawing/2014/main" id="{5A85E630-CA5C-4654-9E69-06357A87B499}"/>
              </a:ext>
            </a:extLst>
          </p:cNvPr>
          <p:cNvSpPr>
            <a:spLocks xmlns:a="http://schemas.openxmlformats.org/drawingml/2006/main" noGrp="1"/>
          </p:cNvSpPr>
          <p:nvPr/>
        </p:nvSpPr>
        <p:spPr>
          <a:xfrm xmlns:a="http://schemas.openxmlformats.org/drawingml/2006/main">
            <a:off x="822007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Small sequence encoder</a:t>
            </a:r>
          </a:p>
        </p:txBody>
      </p:sp>
      <p:sp>
        <p:nvSpPr>
          <p:cNvPr id="21" name="Rectangle 20">
            <a:extLst xmlns:a="http://schemas.openxmlformats.org/drawingml/2006/main">
              <a:ext uri="{FF2B5EF4-FFF2-40B4-BE49-F238E27FC236}">
                <a16:creationId xmlns:a16="http://schemas.microsoft.com/office/drawing/2014/main" id="{BA0946BC-FC0E-4F30-8C34-570B67D67810}"/>
              </a:ext>
            </a:extLst>
          </p:cNvPr>
          <p:cNvSpPr>
            <a:spLocks xmlns:a="http://schemas.openxmlformats.org/drawingml/2006/main" noGrp="1"/>
          </p:cNvSpPr>
          <p:nvPr/>
        </p:nvSpPr>
        <p:spPr>
          <a:xfrm xmlns:a="http://schemas.openxmlformats.org/drawingml/2006/main">
            <a:off x="826770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Transformer, BiLSTM, or 1D CNN</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Sequence, length, composition, class</a:t>
            </a:r>
          </a:p>
        </p:txBody>
      </p:sp>
      <p:sp>
        <p:nvSpPr>
          <p:cNvPr id="22" name="Straight Connector 21">
            <a:extLst xmlns:a="http://schemas.openxmlformats.org/drawingml/2006/main">
              <a:ext uri="{FF2B5EF4-FFF2-40B4-BE49-F238E27FC236}">
                <a16:creationId xmlns:a16="http://schemas.microsoft.com/office/drawing/2014/main" id="{0254E004-0138-41CB-8075-57A8216A4F46}"/>
              </a:ext>
            </a:extLst>
          </p:cNvPr>
          <p:cNvSpPr>
            <a:spLocks xmlns:a="http://schemas.openxmlformats.org/drawingml/2006/main" noGrp="1"/>
          </p:cNvSpPr>
          <p:nvPr/>
        </p:nvSpPr>
        <p:spPr>
          <a:xfrm xmlns:a="http://schemas.openxmlformats.org/drawingml/2006/main">
            <a:off x="9648825" y="3448050"/>
            <a:ext cx="0" cy="428625"/>
          </a:xfrm>
          <a:prstGeom xmlns:a="http://schemas.openxmlformats.org/drawingml/2006/main" prst="line">
            <a:avLst/>
          </a:prstGeom>
          <a:noFill xmlns:a="http://schemas.openxmlformats.org/drawingml/2006/main"/>
          <a:ln xmlns:a="http://schemas.openxmlformats.org/drawingml/2006/main" w="28575">
            <a:solidFill>
              <a:srgbClr val="E84AAB"/>
            </a:solidFill>
            <a:prstDash val="solid"/>
          </a:ln>
        </p:spPr>
      </p:sp>
      <p:sp>
        <p:nvSpPr>
          <p:cNvPr id="23" name="Rectangle: Rounded Corners 22">
            <a:extLst xmlns:a="http://schemas.openxmlformats.org/drawingml/2006/main">
              <a:ext uri="{FF2B5EF4-FFF2-40B4-BE49-F238E27FC236}">
                <a16:creationId xmlns:a16="http://schemas.microsoft.com/office/drawing/2014/main" id="{61DCA902-EA41-44FB-B35E-D1C85B88A973}"/>
              </a:ext>
            </a:extLst>
          </p:cNvPr>
          <p:cNvSpPr>
            <a:spLocks xmlns:a="http://schemas.openxmlformats.org/drawingml/2006/main" noGrp="1"/>
          </p:cNvSpPr>
          <p:nvPr/>
        </p:nvSpPr>
        <p:spPr>
          <a:xfrm xmlns:a="http://schemas.openxmlformats.org/drawingml/2006/main">
            <a:off x="1714500" y="3876675"/>
            <a:ext cx="8763000" cy="666750"/>
          </a:xfrm>
          <a:prstGeom xmlns:a="http://schemas.openxmlformats.org/drawingml/2006/main" prst="roundRect">
            <a:avLst>
              <a:gd name="adj" fmla="val 17143"/>
            </a:avLst>
          </a:prstGeom>
          <a:solidFill xmlns:a="http://schemas.openxmlformats.org/drawingml/2006/main">
            <a:srgbClr val="102720"/>
          </a:solidFill>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6FD2CDE2-C774-4EAD-857E-D1F53B752FAF}"/>
              </a:ext>
            </a:extLst>
          </p:cNvPr>
          <p:cNvSpPr>
            <a:spLocks xmlns:a="http://schemas.openxmlformats.org/drawingml/2006/main" noGrp="1"/>
          </p:cNvSpPr>
          <p:nvPr/>
        </p:nvSpPr>
        <p:spPr>
          <a:xfrm xmlns:a="http://schemas.openxmlformats.org/drawingml/2006/main">
            <a:off x="2038350" y="40100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FUSION NETWORK</a:t>
            </a:r>
          </a:p>
        </p:txBody>
      </p:sp>
      <p:sp>
        <p:nvSpPr>
          <p:cNvPr id="25" name="Rectangle 24">
            <a:extLst xmlns:a="http://schemas.openxmlformats.org/drawingml/2006/main">
              <a:ext uri="{FF2B5EF4-FFF2-40B4-BE49-F238E27FC236}">
                <a16:creationId xmlns:a16="http://schemas.microsoft.com/office/drawing/2014/main" id="{ABBBEC07-331E-4C88-B195-EE32DA9B8205}"/>
              </a:ext>
            </a:extLst>
          </p:cNvPr>
          <p:cNvSpPr>
            <a:spLocks xmlns:a="http://schemas.openxmlformats.org/drawingml/2006/main" noGrp="1"/>
          </p:cNvSpPr>
          <p:nvPr/>
        </p:nvSpPr>
        <p:spPr>
          <a:xfrm xmlns:a="http://schemas.openxmlformats.org/drawingml/2006/main">
            <a:off x="4000500" y="3990975"/>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defPPr algn="ctr">
              <a:defRPr sz="1425" b="1" i="0">
                <a:solidFill>
                  <a:srgbClr val="F4F7F5"/>
                </a:solidFill>
                <a:latin typeface="Arial"/>
                <a:ea typeface="Arial"/>
                <a:cs typeface="Arial"/>
              </a:defRPr>
            </a:defPPr>
            <a:lvl1pPr algn="ctr">
              <a:buNone/>
              <a:defRPr sz="1425" b="1" i="0">
                <a:solidFill>
                  <a:srgbClr val="F4F7F5"/>
                </a:solidFill>
                <a:latin typeface="Arial"/>
                <a:ea typeface="Arial"/>
                <a:cs typeface="Arial"/>
              </a:defRPr>
            </a:lvl1pPr>
            <a:lvl2pPr algn="ctr">
              <a:buNone/>
              <a:defRPr sz="1425" b="1" i="0">
                <a:solidFill>
                  <a:srgbClr val="F4F7F5"/>
                </a:solidFill>
                <a:latin typeface="Arial"/>
                <a:ea typeface="Arial"/>
                <a:cs typeface="Arial"/>
              </a:defRPr>
            </a:lvl2pPr>
            <a:lvl3pPr algn="ctr">
              <a:buNone/>
              <a:defRPr sz="1425" b="1" i="0">
                <a:solidFill>
                  <a:srgbClr val="F4F7F5"/>
                </a:solidFill>
                <a:latin typeface="Arial"/>
                <a:ea typeface="Arial"/>
                <a:cs typeface="Arial"/>
              </a:defRPr>
            </a:lvl3pPr>
            <a:lvl4pPr algn="ctr">
              <a:buNone/>
              <a:defRPr sz="1425" b="1" i="0">
                <a:solidFill>
                  <a:srgbClr val="F4F7F5"/>
                </a:solidFill>
                <a:latin typeface="Arial"/>
                <a:ea typeface="Arial"/>
                <a:cs typeface="Arial"/>
              </a:defRPr>
            </a:lvl4pPr>
            <a:lvl5pPr algn="ctr">
              <a:buNone/>
              <a:defRPr sz="1425" b="1" i="0">
                <a:solidFill>
                  <a:srgbClr val="F4F7F5"/>
                </a:solidFill>
                <a:latin typeface="Arial"/>
                <a:ea typeface="Arial"/>
                <a:cs typeface="Arial"/>
              </a:defRPr>
            </a:lvl5pPr>
            <a:lvl6pPr algn="ctr">
              <a:buNone/>
              <a:defRPr sz="1425" b="1" i="0">
                <a:solidFill>
                  <a:srgbClr val="F4F7F5"/>
                </a:solidFill>
                <a:latin typeface="Arial"/>
                <a:ea typeface="Arial"/>
                <a:cs typeface="Arial"/>
              </a:defRPr>
            </a:lvl6pPr>
            <a:lvl7pPr algn="ctr">
              <a:buNone/>
              <a:defRPr sz="1425" b="1" i="0">
                <a:solidFill>
                  <a:srgbClr val="F4F7F5"/>
                </a:solidFill>
                <a:latin typeface="Arial"/>
                <a:ea typeface="Arial"/>
                <a:cs typeface="Arial"/>
              </a:defRPr>
            </a:lvl7pPr>
            <a:lvl8pPr algn="ctr">
              <a:buNone/>
              <a:defRPr sz="1425" b="1" i="0">
                <a:solidFill>
                  <a:srgbClr val="F4F7F5"/>
                </a:solidFill>
                <a:latin typeface="Arial"/>
                <a:ea typeface="Arial"/>
                <a:cs typeface="Arial"/>
              </a:defRPr>
            </a:lvl8pPr>
            <a:lvl9pPr algn="ctr">
              <a:buNone/>
              <a:defRPr sz="1425" b="1" i="0">
                <a:solidFill>
                  <a:srgbClr val="F4F7F5"/>
                </a:solidFill>
                <a:latin typeface="Arial"/>
                <a:ea typeface="Arial"/>
                <a:cs typeface="Arial"/>
              </a:defRPr>
            </a:lvl9pPr>
          </a:lstStyle>
          <a:p xmlns:a="http://schemas.openxmlformats.org/drawingml/2006/main">
            <a:pPr algn="ctr">
              <a:buNone/>
              <a:defRPr sz="1425" b="1" i="0">
                <a:solidFill>
                  <a:srgbClr val="F4F7F5"/>
                </a:solidFill>
                <a:latin typeface="Arial"/>
                <a:ea typeface="Arial"/>
                <a:cs typeface="Arial"/>
              </a:defRPr>
            </a:pPr>
            <a:r>
              <a:rPr sz="1425" b="1" i="0">
                <a:solidFill>
                  <a:srgbClr val="F4F7F5"/>
                </a:solidFill>
                <a:latin typeface="Arial"/>
                <a:ea typeface="Arial"/>
                <a:cs typeface="Arial"/>
              </a:rPr>
              <a:t>Combines pair context, port geometry, and linker representation</a:t>
            </a:r>
          </a:p>
        </p:txBody>
      </p:sp>
      <p:sp>
        <p:nvSpPr>
          <p:cNvPr id="26" name="Rectangle: Rounded Corners 25">
            <a:extLst xmlns:a="http://schemas.openxmlformats.org/drawingml/2006/main">
              <a:ext uri="{FF2B5EF4-FFF2-40B4-BE49-F238E27FC236}">
                <a16:creationId xmlns:a16="http://schemas.microsoft.com/office/drawing/2014/main" id="{993CD819-79D1-41DC-B41F-41F664F25B93}"/>
              </a:ext>
            </a:extLst>
          </p:cNvPr>
          <p:cNvSpPr>
            <a:spLocks xmlns:a="http://schemas.openxmlformats.org/drawingml/2006/main" noGrp="1"/>
          </p:cNvSpPr>
          <p:nvPr/>
        </p:nvSpPr>
        <p:spPr>
          <a:xfrm xmlns:a="http://schemas.openxmlformats.org/drawingml/2006/main">
            <a:off x="552450"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3FC6D6"/>
            </a:solidFill>
            <a:prstDash val="solid"/>
          </a:ln>
        </p:spPr>
        <p:txBody>
          <a:bodyPr xmlns:a="http://schemas.openxmlformats.org/drawingml/2006/main" anchor="ctr">
            <a:normAutofit/>
          </a:bodyPr>
          <a:lstStyle xmlns:a="http://schemas.openxmlformats.org/drawingml/2006/main">
            <a:defPPr algn="ctr">
              <a:defRPr sz="900" b="1">
                <a:solidFill>
                  <a:srgbClr val="3FC6D6"/>
                </a:solidFill>
                <a:latin typeface="Arial"/>
                <a:ea typeface="Arial"/>
                <a:cs typeface="Arial"/>
              </a:defRPr>
            </a:defPPr>
            <a:lvl1pPr algn="ctr">
              <a:buNone/>
              <a:defRPr sz="900" b="1">
                <a:solidFill>
                  <a:srgbClr val="3FC6D6"/>
                </a:solidFill>
                <a:latin typeface="Arial"/>
                <a:ea typeface="Arial"/>
                <a:cs typeface="Arial"/>
              </a:defRPr>
            </a:lvl1pPr>
            <a:lvl2pPr algn="ctr">
              <a:buNone/>
              <a:defRPr sz="900" b="1">
                <a:solidFill>
                  <a:srgbClr val="3FC6D6"/>
                </a:solidFill>
                <a:latin typeface="Arial"/>
                <a:ea typeface="Arial"/>
                <a:cs typeface="Arial"/>
              </a:defRPr>
            </a:lvl2pPr>
            <a:lvl3pPr algn="ctr">
              <a:buNone/>
              <a:defRPr sz="900" b="1">
                <a:solidFill>
                  <a:srgbClr val="3FC6D6"/>
                </a:solidFill>
                <a:latin typeface="Arial"/>
                <a:ea typeface="Arial"/>
                <a:cs typeface="Arial"/>
              </a:defRPr>
            </a:lvl3pPr>
            <a:lvl4pPr algn="ctr">
              <a:buNone/>
              <a:defRPr sz="900" b="1">
                <a:solidFill>
                  <a:srgbClr val="3FC6D6"/>
                </a:solidFill>
                <a:latin typeface="Arial"/>
                <a:ea typeface="Arial"/>
                <a:cs typeface="Arial"/>
              </a:defRPr>
            </a:lvl4pPr>
            <a:lvl5pPr algn="ctr">
              <a:buNone/>
              <a:defRPr sz="900" b="1">
                <a:solidFill>
                  <a:srgbClr val="3FC6D6"/>
                </a:solidFill>
                <a:latin typeface="Arial"/>
                <a:ea typeface="Arial"/>
                <a:cs typeface="Arial"/>
              </a:defRPr>
            </a:lvl5pPr>
            <a:lvl6pPr algn="ctr">
              <a:buNone/>
              <a:defRPr sz="900" b="1">
                <a:solidFill>
                  <a:srgbClr val="3FC6D6"/>
                </a:solidFill>
                <a:latin typeface="Arial"/>
                <a:ea typeface="Arial"/>
                <a:cs typeface="Arial"/>
              </a:defRPr>
            </a:lvl6pPr>
            <a:lvl7pPr algn="ctr">
              <a:buNone/>
              <a:defRPr sz="900" b="1">
                <a:solidFill>
                  <a:srgbClr val="3FC6D6"/>
                </a:solidFill>
                <a:latin typeface="Arial"/>
                <a:ea typeface="Arial"/>
                <a:cs typeface="Arial"/>
              </a:defRPr>
            </a:lvl7pPr>
            <a:lvl8pPr algn="ctr">
              <a:buNone/>
              <a:defRPr sz="900" b="1">
                <a:solidFill>
                  <a:srgbClr val="3FC6D6"/>
                </a:solidFill>
                <a:latin typeface="Arial"/>
                <a:ea typeface="Arial"/>
                <a:cs typeface="Arial"/>
              </a:defRPr>
            </a:lvl8pPr>
            <a:lvl9pPr algn="ctr">
              <a:buNone/>
              <a:defRPr sz="900" b="1">
                <a:solidFill>
                  <a:srgbClr val="3FC6D6"/>
                </a:solidFill>
                <a:latin typeface="Arial"/>
                <a:ea typeface="Arial"/>
                <a:cs typeface="Arial"/>
              </a:defRPr>
            </a:lvl9pPr>
          </a:lstStyle>
          <a:p xmlns:a="http://schemas.openxmlformats.org/drawingml/2006/main">
            <a:pPr algn="ctr">
              <a:buNone/>
              <a:defRPr sz="900" b="1">
                <a:solidFill>
                  <a:srgbClr val="3FC6D6"/>
                </a:solidFill>
                <a:latin typeface="Arial"/>
                <a:ea typeface="Arial"/>
                <a:cs typeface="Arial"/>
              </a:defRPr>
            </a:pPr>
            <a:r>
              <a:rPr sz="900" b="1">
                <a:solidFill>
                  <a:srgbClr val="3FC6D6"/>
                </a:solidFill>
                <a:latin typeface="Arial"/>
                <a:ea typeface="Arial"/>
                <a:cs typeface="Arial"/>
              </a:rPr>
              <a:t>Compatibility rank</a:t>
            </a:r>
          </a:p>
        </p:txBody>
      </p:sp>
      <p:sp>
        <p:nvSpPr>
          <p:cNvPr id="27" name="Rectangle: Rounded Corners 26">
            <a:extLst xmlns:a="http://schemas.openxmlformats.org/drawingml/2006/main">
              <a:ext uri="{FF2B5EF4-FFF2-40B4-BE49-F238E27FC236}">
                <a16:creationId xmlns:a16="http://schemas.microsoft.com/office/drawing/2014/main" id="{0D8EFFCE-D667-4AD4-93A2-6BCA02E1B3B1}"/>
              </a:ext>
            </a:extLst>
          </p:cNvPr>
          <p:cNvSpPr>
            <a:spLocks xmlns:a="http://schemas.openxmlformats.org/drawingml/2006/main" noGrp="1"/>
          </p:cNvSpPr>
          <p:nvPr/>
        </p:nvSpPr>
        <p:spPr>
          <a:xfrm xmlns:a="http://schemas.openxmlformats.org/drawingml/2006/main">
            <a:off x="4333875"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4E9BEC"/>
            </a:solidFill>
            <a:prstDash val="solid"/>
          </a:ln>
        </p:spPr>
        <p:txBody>
          <a:bodyPr xmlns:a="http://schemas.openxmlformats.org/drawingml/2006/main" anchor="ctr">
            <a:normAutofit/>
          </a:bodyPr>
          <a:lstStyle xmlns:a="http://schemas.openxmlformats.org/drawingml/2006/main">
            <a:defPPr algn="ctr">
              <a:defRPr sz="900" b="1">
                <a:solidFill>
                  <a:srgbClr val="4E9BEC"/>
                </a:solidFill>
                <a:latin typeface="Arial"/>
                <a:ea typeface="Arial"/>
                <a:cs typeface="Arial"/>
              </a:defRPr>
            </a:defPPr>
            <a:lvl1pPr algn="ctr">
              <a:buNone/>
              <a:defRPr sz="900" b="1">
                <a:solidFill>
                  <a:srgbClr val="4E9BEC"/>
                </a:solidFill>
                <a:latin typeface="Arial"/>
                <a:ea typeface="Arial"/>
                <a:cs typeface="Arial"/>
              </a:defRPr>
            </a:lvl1pPr>
            <a:lvl2pPr algn="ctr">
              <a:buNone/>
              <a:defRPr sz="900" b="1">
                <a:solidFill>
                  <a:srgbClr val="4E9BEC"/>
                </a:solidFill>
                <a:latin typeface="Arial"/>
                <a:ea typeface="Arial"/>
                <a:cs typeface="Arial"/>
              </a:defRPr>
            </a:lvl2pPr>
            <a:lvl3pPr algn="ctr">
              <a:buNone/>
              <a:defRPr sz="900" b="1">
                <a:solidFill>
                  <a:srgbClr val="4E9BEC"/>
                </a:solidFill>
                <a:latin typeface="Arial"/>
                <a:ea typeface="Arial"/>
                <a:cs typeface="Arial"/>
              </a:defRPr>
            </a:lvl3pPr>
            <a:lvl4pPr algn="ctr">
              <a:buNone/>
              <a:defRPr sz="900" b="1">
                <a:solidFill>
                  <a:srgbClr val="4E9BEC"/>
                </a:solidFill>
                <a:latin typeface="Arial"/>
                <a:ea typeface="Arial"/>
                <a:cs typeface="Arial"/>
              </a:defRPr>
            </a:lvl4pPr>
            <a:lvl5pPr algn="ctr">
              <a:buNone/>
              <a:defRPr sz="900" b="1">
                <a:solidFill>
                  <a:srgbClr val="4E9BEC"/>
                </a:solidFill>
                <a:latin typeface="Arial"/>
                <a:ea typeface="Arial"/>
                <a:cs typeface="Arial"/>
              </a:defRPr>
            </a:lvl5pPr>
            <a:lvl6pPr algn="ctr">
              <a:buNone/>
              <a:defRPr sz="900" b="1">
                <a:solidFill>
                  <a:srgbClr val="4E9BEC"/>
                </a:solidFill>
                <a:latin typeface="Arial"/>
                <a:ea typeface="Arial"/>
                <a:cs typeface="Arial"/>
              </a:defRPr>
            </a:lvl6pPr>
            <a:lvl7pPr algn="ctr">
              <a:buNone/>
              <a:defRPr sz="900" b="1">
                <a:solidFill>
                  <a:srgbClr val="4E9BEC"/>
                </a:solidFill>
                <a:latin typeface="Arial"/>
                <a:ea typeface="Arial"/>
                <a:cs typeface="Arial"/>
              </a:defRPr>
            </a:lvl7pPr>
            <a:lvl8pPr algn="ctr">
              <a:buNone/>
              <a:defRPr sz="900" b="1">
                <a:solidFill>
                  <a:srgbClr val="4E9BEC"/>
                </a:solidFill>
                <a:latin typeface="Arial"/>
                <a:ea typeface="Arial"/>
                <a:cs typeface="Arial"/>
              </a:defRPr>
            </a:lvl8pPr>
            <a:lvl9pPr algn="ctr">
              <a:buNone/>
              <a:defRPr sz="900" b="1">
                <a:solidFill>
                  <a:srgbClr val="4E9BEC"/>
                </a:solidFill>
                <a:latin typeface="Arial"/>
                <a:ea typeface="Arial"/>
                <a:cs typeface="Arial"/>
              </a:defRPr>
            </a:lvl9pPr>
          </a:lstStyle>
          <a:p xmlns:a="http://schemas.openxmlformats.org/drawingml/2006/main">
            <a:pPr algn="ctr">
              <a:buNone/>
              <a:defRPr sz="900" b="1">
                <a:solidFill>
                  <a:srgbClr val="4E9BEC"/>
                </a:solidFill>
                <a:latin typeface="Arial"/>
                <a:ea typeface="Arial"/>
                <a:cs typeface="Arial"/>
              </a:defRPr>
            </a:pPr>
            <a:r>
              <a:rPr sz="900" b="1">
                <a:solidFill>
                  <a:srgbClr val="4E9BEC"/>
                </a:solidFill>
                <a:latin typeface="Arial"/>
                <a:ea typeface="Arial"/>
                <a:cs typeface="Arial"/>
              </a:rPr>
              <a:t>Class / length</a:t>
            </a:r>
          </a:p>
        </p:txBody>
      </p:sp>
      <p:sp>
        <p:nvSpPr>
          <p:cNvPr id="28" name="Rectangle: Rounded Corners 27">
            <a:extLst xmlns:a="http://schemas.openxmlformats.org/drawingml/2006/main">
              <a:ext uri="{FF2B5EF4-FFF2-40B4-BE49-F238E27FC236}">
                <a16:creationId xmlns:a16="http://schemas.microsoft.com/office/drawing/2014/main" id="{1A06F44B-CFA4-44DC-A043-861DE07AFB4C}"/>
              </a:ext>
            </a:extLst>
          </p:cNvPr>
          <p:cNvSpPr>
            <a:spLocks xmlns:a="http://schemas.openxmlformats.org/drawingml/2006/main" noGrp="1"/>
          </p:cNvSpPr>
          <p:nvPr/>
        </p:nvSpPr>
        <p:spPr>
          <a:xfrm xmlns:a="http://schemas.openxmlformats.org/drawingml/2006/main">
            <a:off x="8115300"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E46760"/>
            </a:solidFill>
            <a:prstDash val="solid"/>
          </a:ln>
        </p:spPr>
        <p:txBody>
          <a:bodyPr xmlns:a="http://schemas.openxmlformats.org/drawingml/2006/main" anchor="ctr">
            <a:normAutofit/>
          </a:bodyPr>
          <a:lstStyle xmlns:a="http://schemas.openxmlformats.org/drawingml/2006/main">
            <a:defPPr algn="ctr">
              <a:defRPr sz="900" b="1">
                <a:solidFill>
                  <a:srgbClr val="E46760"/>
                </a:solidFill>
                <a:latin typeface="Arial"/>
                <a:ea typeface="Arial"/>
                <a:cs typeface="Arial"/>
              </a:defRPr>
            </a:defPPr>
            <a:lvl1pPr algn="ctr">
              <a:buNone/>
              <a:defRPr sz="900" b="1">
                <a:solidFill>
                  <a:srgbClr val="E46760"/>
                </a:solidFill>
                <a:latin typeface="Arial"/>
                <a:ea typeface="Arial"/>
                <a:cs typeface="Arial"/>
              </a:defRPr>
            </a:lvl1pPr>
            <a:lvl2pPr algn="ctr">
              <a:buNone/>
              <a:defRPr sz="900" b="1">
                <a:solidFill>
                  <a:srgbClr val="E46760"/>
                </a:solidFill>
                <a:latin typeface="Arial"/>
                <a:ea typeface="Arial"/>
                <a:cs typeface="Arial"/>
              </a:defRPr>
            </a:lvl2pPr>
            <a:lvl3pPr algn="ctr">
              <a:buNone/>
              <a:defRPr sz="900" b="1">
                <a:solidFill>
                  <a:srgbClr val="E46760"/>
                </a:solidFill>
                <a:latin typeface="Arial"/>
                <a:ea typeface="Arial"/>
                <a:cs typeface="Arial"/>
              </a:defRPr>
            </a:lvl3pPr>
            <a:lvl4pPr algn="ctr">
              <a:buNone/>
              <a:defRPr sz="900" b="1">
                <a:solidFill>
                  <a:srgbClr val="E46760"/>
                </a:solidFill>
                <a:latin typeface="Arial"/>
                <a:ea typeface="Arial"/>
                <a:cs typeface="Arial"/>
              </a:defRPr>
            </a:lvl4pPr>
            <a:lvl5pPr algn="ctr">
              <a:buNone/>
              <a:defRPr sz="900" b="1">
                <a:solidFill>
                  <a:srgbClr val="E46760"/>
                </a:solidFill>
                <a:latin typeface="Arial"/>
                <a:ea typeface="Arial"/>
                <a:cs typeface="Arial"/>
              </a:defRPr>
            </a:lvl5pPr>
            <a:lvl6pPr algn="ctr">
              <a:buNone/>
              <a:defRPr sz="900" b="1">
                <a:solidFill>
                  <a:srgbClr val="E46760"/>
                </a:solidFill>
                <a:latin typeface="Arial"/>
                <a:ea typeface="Arial"/>
                <a:cs typeface="Arial"/>
              </a:defRPr>
            </a:lvl6pPr>
            <a:lvl7pPr algn="ctr">
              <a:buNone/>
              <a:defRPr sz="900" b="1">
                <a:solidFill>
                  <a:srgbClr val="E46760"/>
                </a:solidFill>
                <a:latin typeface="Arial"/>
                <a:ea typeface="Arial"/>
                <a:cs typeface="Arial"/>
              </a:defRPr>
            </a:lvl7pPr>
            <a:lvl8pPr algn="ctr">
              <a:buNone/>
              <a:defRPr sz="900" b="1">
                <a:solidFill>
                  <a:srgbClr val="E46760"/>
                </a:solidFill>
                <a:latin typeface="Arial"/>
                <a:ea typeface="Arial"/>
                <a:cs typeface="Arial"/>
              </a:defRPr>
            </a:lvl8pPr>
            <a:lvl9pPr algn="ctr">
              <a:buNone/>
              <a:defRPr sz="900" b="1">
                <a:solidFill>
                  <a:srgbClr val="E46760"/>
                </a:solidFill>
                <a:latin typeface="Arial"/>
                <a:ea typeface="Arial"/>
                <a:cs typeface="Arial"/>
              </a:defRPr>
            </a:lvl9pPr>
          </a:lstStyle>
          <a:p xmlns:a="http://schemas.openxmlformats.org/drawingml/2006/main">
            <a:pPr algn="ctr">
              <a:buNone/>
              <a:defRPr sz="900" b="1">
                <a:solidFill>
                  <a:srgbClr val="E46760"/>
                </a:solidFill>
                <a:latin typeface="Arial"/>
                <a:ea typeface="Arial"/>
                <a:cs typeface="Arial"/>
              </a:defRPr>
            </a:pPr>
            <a:r>
              <a:rPr sz="900" b="1">
                <a:solidFill>
                  <a:srgbClr val="E46760"/>
                </a:solidFill>
                <a:latin typeface="Arial"/>
                <a:ea typeface="Arial"/>
                <a:cs typeface="Arial"/>
              </a:rPr>
              <a:t>Clash risk</a:t>
            </a:r>
          </a:p>
        </p:txBody>
      </p:sp>
      <p:sp>
        <p:nvSpPr>
          <p:cNvPr id="29" name="Rectangle: Rounded Corners 28">
            <a:extLst xmlns:a="http://schemas.openxmlformats.org/drawingml/2006/main">
              <a:ext uri="{FF2B5EF4-FFF2-40B4-BE49-F238E27FC236}">
                <a16:creationId xmlns:a16="http://schemas.microsoft.com/office/drawing/2014/main" id="{D140FC3A-6A90-4B1E-B6D8-E5EAEB782CA4}"/>
              </a:ext>
            </a:extLst>
          </p:cNvPr>
          <p:cNvSpPr>
            <a:spLocks xmlns:a="http://schemas.openxmlformats.org/drawingml/2006/main" noGrp="1"/>
          </p:cNvSpPr>
          <p:nvPr/>
        </p:nvSpPr>
        <p:spPr>
          <a:xfrm xmlns:a="http://schemas.openxmlformats.org/drawingml/2006/main">
            <a:off x="552450"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F1C84B"/>
            </a:solidFill>
            <a:prstDash val="solid"/>
          </a:ln>
        </p:spPr>
        <p:txBody>
          <a:bodyPr xmlns:a="http://schemas.openxmlformats.org/drawingml/2006/main" anchor="ctr">
            <a:normAutofit/>
          </a:bodyPr>
          <a:lstStyle xmlns:a="http://schemas.openxmlformats.org/drawingml/2006/main">
            <a:defPPr algn="ctr">
              <a:defRPr sz="900" b="1">
                <a:solidFill>
                  <a:srgbClr val="F1C84B"/>
                </a:solidFill>
                <a:latin typeface="Arial"/>
                <a:ea typeface="Arial"/>
                <a:cs typeface="Arial"/>
              </a:defRPr>
            </a:defPPr>
            <a:lvl1pPr algn="ctr">
              <a:buNone/>
              <a:defRPr sz="900" b="1">
                <a:solidFill>
                  <a:srgbClr val="F1C84B"/>
                </a:solidFill>
                <a:latin typeface="Arial"/>
                <a:ea typeface="Arial"/>
                <a:cs typeface="Arial"/>
              </a:defRPr>
            </a:lvl1pPr>
            <a:lvl2pPr algn="ctr">
              <a:buNone/>
              <a:defRPr sz="900" b="1">
                <a:solidFill>
                  <a:srgbClr val="F1C84B"/>
                </a:solidFill>
                <a:latin typeface="Arial"/>
                <a:ea typeface="Arial"/>
                <a:cs typeface="Arial"/>
              </a:defRPr>
            </a:lvl2pPr>
            <a:lvl3pPr algn="ctr">
              <a:buNone/>
              <a:defRPr sz="900" b="1">
                <a:solidFill>
                  <a:srgbClr val="F1C84B"/>
                </a:solidFill>
                <a:latin typeface="Arial"/>
                <a:ea typeface="Arial"/>
                <a:cs typeface="Arial"/>
              </a:defRPr>
            </a:lvl3pPr>
            <a:lvl4pPr algn="ctr">
              <a:buNone/>
              <a:defRPr sz="900" b="1">
                <a:solidFill>
                  <a:srgbClr val="F1C84B"/>
                </a:solidFill>
                <a:latin typeface="Arial"/>
                <a:ea typeface="Arial"/>
                <a:cs typeface="Arial"/>
              </a:defRPr>
            </a:lvl4pPr>
            <a:lvl5pPr algn="ctr">
              <a:buNone/>
              <a:defRPr sz="900" b="1">
                <a:solidFill>
                  <a:srgbClr val="F1C84B"/>
                </a:solidFill>
                <a:latin typeface="Arial"/>
                <a:ea typeface="Arial"/>
                <a:cs typeface="Arial"/>
              </a:defRPr>
            </a:lvl5pPr>
            <a:lvl6pPr algn="ctr">
              <a:buNone/>
              <a:defRPr sz="900" b="1">
                <a:solidFill>
                  <a:srgbClr val="F1C84B"/>
                </a:solidFill>
                <a:latin typeface="Arial"/>
                <a:ea typeface="Arial"/>
                <a:cs typeface="Arial"/>
              </a:defRPr>
            </a:lvl6pPr>
            <a:lvl7pPr algn="ctr">
              <a:buNone/>
              <a:defRPr sz="900" b="1">
                <a:solidFill>
                  <a:srgbClr val="F1C84B"/>
                </a:solidFill>
                <a:latin typeface="Arial"/>
                <a:ea typeface="Arial"/>
                <a:cs typeface="Arial"/>
              </a:defRPr>
            </a:lvl7pPr>
            <a:lvl8pPr algn="ctr">
              <a:buNone/>
              <a:defRPr sz="900" b="1">
                <a:solidFill>
                  <a:srgbClr val="F1C84B"/>
                </a:solidFill>
                <a:latin typeface="Arial"/>
                <a:ea typeface="Arial"/>
                <a:cs typeface="Arial"/>
              </a:defRPr>
            </a:lvl8pPr>
            <a:lvl9pPr algn="ctr">
              <a:buNone/>
              <a:defRPr sz="900" b="1">
                <a:solidFill>
                  <a:srgbClr val="F1C84B"/>
                </a:solidFill>
                <a:latin typeface="Arial"/>
                <a:ea typeface="Arial"/>
                <a:cs typeface="Arial"/>
              </a:defRPr>
            </a:lvl9pPr>
          </a:lstStyle>
          <a:p xmlns:a="http://schemas.openxmlformats.org/drawingml/2006/main">
            <a:pPr algn="ctr">
              <a:buNone/>
              <a:defRPr sz="900" b="1">
                <a:solidFill>
                  <a:srgbClr val="F1C84B"/>
                </a:solidFill>
                <a:latin typeface="Arial"/>
                <a:ea typeface="Arial"/>
                <a:cs typeface="Arial"/>
              </a:defRPr>
            </a:pPr>
            <a:r>
              <a:rPr sz="900" b="1">
                <a:solidFill>
                  <a:srgbClr val="F1C84B"/>
                </a:solidFill>
                <a:latin typeface="Arial"/>
                <a:ea typeface="Arial"/>
                <a:cs typeface="Arial"/>
              </a:rPr>
              <a:t>Domain deformation</a:t>
            </a:r>
          </a:p>
        </p:txBody>
      </p:sp>
      <p:sp>
        <p:nvSpPr>
          <p:cNvPr id="30" name="Rectangle: Rounded Corners 29">
            <a:extLst xmlns:a="http://schemas.openxmlformats.org/drawingml/2006/main">
              <a:ext uri="{FF2B5EF4-FFF2-40B4-BE49-F238E27FC236}">
                <a16:creationId xmlns:a16="http://schemas.microsoft.com/office/drawing/2014/main" id="{37BCC4BE-C4BC-4179-A0BD-A78E94C7C0D8}"/>
              </a:ext>
            </a:extLst>
          </p:cNvPr>
          <p:cNvSpPr>
            <a:spLocks xmlns:a="http://schemas.openxmlformats.org/drawingml/2006/main" noGrp="1"/>
          </p:cNvSpPr>
          <p:nvPr/>
        </p:nvSpPr>
        <p:spPr>
          <a:xfrm xmlns:a="http://schemas.openxmlformats.org/drawingml/2006/main">
            <a:off x="4333875"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E84AAB"/>
            </a:solidFill>
            <a:prstDash val="solid"/>
          </a:ln>
        </p:spPr>
        <p:txBody>
          <a:bodyPr xmlns:a="http://schemas.openxmlformats.org/drawingml/2006/main" anchor="ctr">
            <a:normAutofit/>
          </a:bodyPr>
          <a:lstStyle xmlns:a="http://schemas.openxmlformats.org/drawingml/2006/main">
            <a:defPPr algn="ctr">
              <a:defRPr sz="900" b="1">
                <a:solidFill>
                  <a:srgbClr val="E84AAB"/>
                </a:solidFill>
                <a:latin typeface="Arial"/>
                <a:ea typeface="Arial"/>
                <a:cs typeface="Arial"/>
              </a:defRPr>
            </a:defPPr>
            <a:lvl1pPr algn="ctr">
              <a:buNone/>
              <a:defRPr sz="900" b="1">
                <a:solidFill>
                  <a:srgbClr val="E84AAB"/>
                </a:solidFill>
                <a:latin typeface="Arial"/>
                <a:ea typeface="Arial"/>
                <a:cs typeface="Arial"/>
              </a:defRPr>
            </a:lvl1pPr>
            <a:lvl2pPr algn="ctr">
              <a:buNone/>
              <a:defRPr sz="900" b="1">
                <a:solidFill>
                  <a:srgbClr val="E84AAB"/>
                </a:solidFill>
                <a:latin typeface="Arial"/>
                <a:ea typeface="Arial"/>
                <a:cs typeface="Arial"/>
              </a:defRPr>
            </a:lvl2pPr>
            <a:lvl3pPr algn="ctr">
              <a:buNone/>
              <a:defRPr sz="900" b="1">
                <a:solidFill>
                  <a:srgbClr val="E84AAB"/>
                </a:solidFill>
                <a:latin typeface="Arial"/>
                <a:ea typeface="Arial"/>
                <a:cs typeface="Arial"/>
              </a:defRPr>
            </a:lvl3pPr>
            <a:lvl4pPr algn="ctr">
              <a:buNone/>
              <a:defRPr sz="900" b="1">
                <a:solidFill>
                  <a:srgbClr val="E84AAB"/>
                </a:solidFill>
                <a:latin typeface="Arial"/>
                <a:ea typeface="Arial"/>
                <a:cs typeface="Arial"/>
              </a:defRPr>
            </a:lvl4pPr>
            <a:lvl5pPr algn="ctr">
              <a:buNone/>
              <a:defRPr sz="900" b="1">
                <a:solidFill>
                  <a:srgbClr val="E84AAB"/>
                </a:solidFill>
                <a:latin typeface="Arial"/>
                <a:ea typeface="Arial"/>
                <a:cs typeface="Arial"/>
              </a:defRPr>
            </a:lvl5pPr>
            <a:lvl6pPr algn="ctr">
              <a:buNone/>
              <a:defRPr sz="900" b="1">
                <a:solidFill>
                  <a:srgbClr val="E84AAB"/>
                </a:solidFill>
                <a:latin typeface="Arial"/>
                <a:ea typeface="Arial"/>
                <a:cs typeface="Arial"/>
              </a:defRPr>
            </a:lvl6pPr>
            <a:lvl7pPr algn="ctr">
              <a:buNone/>
              <a:defRPr sz="900" b="1">
                <a:solidFill>
                  <a:srgbClr val="E84AAB"/>
                </a:solidFill>
                <a:latin typeface="Arial"/>
                <a:ea typeface="Arial"/>
                <a:cs typeface="Arial"/>
              </a:defRPr>
            </a:lvl7pPr>
            <a:lvl8pPr algn="ctr">
              <a:buNone/>
              <a:defRPr sz="900" b="1">
                <a:solidFill>
                  <a:srgbClr val="E84AAB"/>
                </a:solidFill>
                <a:latin typeface="Arial"/>
                <a:ea typeface="Arial"/>
                <a:cs typeface="Arial"/>
              </a:defRPr>
            </a:lvl8pPr>
            <a:lvl9pPr algn="ctr">
              <a:buNone/>
              <a:defRPr sz="900" b="1">
                <a:solidFill>
                  <a:srgbClr val="E84AAB"/>
                </a:solidFill>
                <a:latin typeface="Arial"/>
                <a:ea typeface="Arial"/>
                <a:cs typeface="Arial"/>
              </a:defRPr>
            </a:lvl9pPr>
          </a:lstStyle>
          <a:p xmlns:a="http://schemas.openxmlformats.org/drawingml/2006/main">
            <a:pPr algn="ctr">
              <a:buNone/>
              <a:defRPr sz="900" b="1">
                <a:solidFill>
                  <a:srgbClr val="E84AAB"/>
                </a:solidFill>
                <a:latin typeface="Arial"/>
                <a:ea typeface="Arial"/>
                <a:cs typeface="Arial"/>
              </a:defRPr>
            </a:pPr>
            <a:r>
              <a:rPr sz="900" b="1">
                <a:solidFill>
                  <a:srgbClr val="E84AAB"/>
                </a:solidFill>
                <a:latin typeface="Arial"/>
                <a:ea typeface="Arial"/>
                <a:cs typeface="Arial"/>
              </a:rPr>
              <a:t>Protected-site obstruction</a:t>
            </a:r>
          </a:p>
        </p:txBody>
      </p:sp>
      <p:sp>
        <p:nvSpPr>
          <p:cNvPr id="31" name="Rectangle: Rounded Corners 30">
            <a:extLst xmlns:a="http://schemas.openxmlformats.org/drawingml/2006/main">
              <a:ext uri="{FF2B5EF4-FFF2-40B4-BE49-F238E27FC236}">
                <a16:creationId xmlns:a16="http://schemas.microsoft.com/office/drawing/2014/main" id="{7098A7EA-BF49-445C-9E5B-29FCEFDAD081}"/>
              </a:ext>
            </a:extLst>
          </p:cNvPr>
          <p:cNvSpPr>
            <a:spLocks xmlns:a="http://schemas.openxmlformats.org/drawingml/2006/main" noGrp="1"/>
          </p:cNvSpPr>
          <p:nvPr/>
        </p:nvSpPr>
        <p:spPr>
          <a:xfrm xmlns:a="http://schemas.openxmlformats.org/drawingml/2006/main">
            <a:off x="8115300"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2DBD73"/>
            </a:solidFill>
            <a:prstDash val="solid"/>
          </a:ln>
        </p:spPr>
        <p:txBody>
          <a:bodyPr xmlns:a="http://schemas.openxmlformats.org/drawingml/2006/main" anchor="ctr">
            <a:normAutofit/>
          </a:bodyPr>
          <a:lstStyle xmlns:a="http://schemas.openxmlformats.org/drawingml/2006/main">
            <a:defPPr algn="ctr">
              <a:defRPr sz="900" b="1">
                <a:solidFill>
                  <a:srgbClr val="2DBD73"/>
                </a:solidFill>
                <a:latin typeface="Arial"/>
                <a:ea typeface="Arial"/>
                <a:cs typeface="Arial"/>
              </a:defRPr>
            </a:defPPr>
            <a:lvl1pPr algn="ctr">
              <a:buNone/>
              <a:defRPr sz="900" b="1">
                <a:solidFill>
                  <a:srgbClr val="2DBD73"/>
                </a:solidFill>
                <a:latin typeface="Arial"/>
                <a:ea typeface="Arial"/>
                <a:cs typeface="Arial"/>
              </a:defRPr>
            </a:lvl1pPr>
            <a:lvl2pPr algn="ctr">
              <a:buNone/>
              <a:defRPr sz="900" b="1">
                <a:solidFill>
                  <a:srgbClr val="2DBD73"/>
                </a:solidFill>
                <a:latin typeface="Arial"/>
                <a:ea typeface="Arial"/>
                <a:cs typeface="Arial"/>
              </a:defRPr>
            </a:lvl2pPr>
            <a:lvl3pPr algn="ctr">
              <a:buNone/>
              <a:defRPr sz="900" b="1">
                <a:solidFill>
                  <a:srgbClr val="2DBD73"/>
                </a:solidFill>
                <a:latin typeface="Arial"/>
                <a:ea typeface="Arial"/>
                <a:cs typeface="Arial"/>
              </a:defRPr>
            </a:lvl3pPr>
            <a:lvl4pPr algn="ctr">
              <a:buNone/>
              <a:defRPr sz="900" b="1">
                <a:solidFill>
                  <a:srgbClr val="2DBD73"/>
                </a:solidFill>
                <a:latin typeface="Arial"/>
                <a:ea typeface="Arial"/>
                <a:cs typeface="Arial"/>
              </a:defRPr>
            </a:lvl4pPr>
            <a:lvl5pPr algn="ctr">
              <a:buNone/>
              <a:defRPr sz="900" b="1">
                <a:solidFill>
                  <a:srgbClr val="2DBD73"/>
                </a:solidFill>
                <a:latin typeface="Arial"/>
                <a:ea typeface="Arial"/>
                <a:cs typeface="Arial"/>
              </a:defRPr>
            </a:lvl5pPr>
            <a:lvl6pPr algn="ctr">
              <a:buNone/>
              <a:defRPr sz="900" b="1">
                <a:solidFill>
                  <a:srgbClr val="2DBD73"/>
                </a:solidFill>
                <a:latin typeface="Arial"/>
                <a:ea typeface="Arial"/>
                <a:cs typeface="Arial"/>
              </a:defRPr>
            </a:lvl6pPr>
            <a:lvl7pPr algn="ctr">
              <a:buNone/>
              <a:defRPr sz="900" b="1">
                <a:solidFill>
                  <a:srgbClr val="2DBD73"/>
                </a:solidFill>
                <a:latin typeface="Arial"/>
                <a:ea typeface="Arial"/>
                <a:cs typeface="Arial"/>
              </a:defRPr>
            </a:lvl7pPr>
            <a:lvl8pPr algn="ctr">
              <a:buNone/>
              <a:defRPr sz="900" b="1">
                <a:solidFill>
                  <a:srgbClr val="2DBD73"/>
                </a:solidFill>
                <a:latin typeface="Arial"/>
                <a:ea typeface="Arial"/>
                <a:cs typeface="Arial"/>
              </a:defRPr>
            </a:lvl8pPr>
            <a:lvl9pPr algn="ctr">
              <a:buNone/>
              <a:defRPr sz="900" b="1">
                <a:solidFill>
                  <a:srgbClr val="2DBD73"/>
                </a:solidFill>
                <a:latin typeface="Arial"/>
                <a:ea typeface="Arial"/>
                <a:cs typeface="Arial"/>
              </a:defRPr>
            </a:lvl9pPr>
          </a:lstStyle>
          <a:p xmlns:a="http://schemas.openxmlformats.org/drawingml/2006/main">
            <a:pPr algn="ctr">
              <a:buNone/>
              <a:defRPr sz="900" b="1">
                <a:solidFill>
                  <a:srgbClr val="2DBD73"/>
                </a:solidFill>
                <a:latin typeface="Arial"/>
                <a:ea typeface="Arial"/>
                <a:cs typeface="Arial"/>
              </a:defRPr>
            </a:pPr>
            <a:r>
              <a:rPr sz="900" b="1">
                <a:solidFill>
                  <a:srgbClr val="2DBD73"/>
                </a:solidFill>
                <a:latin typeface="Arial"/>
                <a:ea typeface="Arial"/>
                <a:cs typeface="Arial"/>
              </a:rPr>
              <a:t>Model confidence</a:t>
            </a:r>
          </a:p>
        </p:txBody>
      </p:sp>
      <p:sp>
        <p:nvSpPr>
          <p:cNvPr id="32" name="Rectangle 31">
            <a:extLst xmlns:a="http://schemas.openxmlformats.org/drawingml/2006/main">
              <a:ext uri="{FF2B5EF4-FFF2-40B4-BE49-F238E27FC236}">
                <a16:creationId xmlns:a16="http://schemas.microsoft.com/office/drawing/2014/main" id="{567FA5EC-7AF7-434D-976A-BC92B33EB538}"/>
              </a:ext>
            </a:extLst>
          </p:cNvPr>
          <p:cNvSpPr>
            <a:spLocks xmlns:a="http://schemas.openxmlformats.org/drawingml/2006/main" noGrp="1"/>
          </p:cNvSpPr>
          <p:nvPr/>
        </p:nvSpPr>
        <p:spPr>
          <a:xfrm xmlns:a="http://schemas.openxmlformats.org/drawingml/2006/main">
            <a:off x="685800" y="59626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E84AAB"/>
                </a:solidFill>
                <a:latin typeface="Arial"/>
                <a:ea typeface="Arial"/>
                <a:cs typeface="Arial"/>
              </a:defRPr>
            </a:defPPr>
            <a:lvl1pPr algn="ctr">
              <a:buNone/>
              <a:defRPr sz="1275" b="1" i="0">
                <a:solidFill>
                  <a:srgbClr val="E84AAB"/>
                </a:solidFill>
                <a:latin typeface="Arial"/>
                <a:ea typeface="Arial"/>
                <a:cs typeface="Arial"/>
              </a:defRPr>
            </a:lvl1pPr>
            <a:lvl2pPr algn="ctr">
              <a:buNone/>
              <a:defRPr sz="1275" b="1" i="0">
                <a:solidFill>
                  <a:srgbClr val="E84AAB"/>
                </a:solidFill>
                <a:latin typeface="Arial"/>
                <a:ea typeface="Arial"/>
                <a:cs typeface="Arial"/>
              </a:defRPr>
            </a:lvl2pPr>
            <a:lvl3pPr algn="ctr">
              <a:buNone/>
              <a:defRPr sz="1275" b="1" i="0">
                <a:solidFill>
                  <a:srgbClr val="E84AAB"/>
                </a:solidFill>
                <a:latin typeface="Arial"/>
                <a:ea typeface="Arial"/>
                <a:cs typeface="Arial"/>
              </a:defRPr>
            </a:lvl3pPr>
            <a:lvl4pPr algn="ctr">
              <a:buNone/>
              <a:defRPr sz="1275" b="1" i="0">
                <a:solidFill>
                  <a:srgbClr val="E84AAB"/>
                </a:solidFill>
                <a:latin typeface="Arial"/>
                <a:ea typeface="Arial"/>
                <a:cs typeface="Arial"/>
              </a:defRPr>
            </a:lvl4pPr>
            <a:lvl5pPr algn="ctr">
              <a:buNone/>
              <a:defRPr sz="1275" b="1" i="0">
                <a:solidFill>
                  <a:srgbClr val="E84AAB"/>
                </a:solidFill>
                <a:latin typeface="Arial"/>
                <a:ea typeface="Arial"/>
                <a:cs typeface="Arial"/>
              </a:defRPr>
            </a:lvl5pPr>
            <a:lvl6pPr algn="ctr">
              <a:buNone/>
              <a:defRPr sz="1275" b="1" i="0">
                <a:solidFill>
                  <a:srgbClr val="E84AAB"/>
                </a:solidFill>
                <a:latin typeface="Arial"/>
                <a:ea typeface="Arial"/>
                <a:cs typeface="Arial"/>
              </a:defRPr>
            </a:lvl6pPr>
            <a:lvl7pPr algn="ctr">
              <a:buNone/>
              <a:defRPr sz="1275" b="1" i="0">
                <a:solidFill>
                  <a:srgbClr val="E84AAB"/>
                </a:solidFill>
                <a:latin typeface="Arial"/>
                <a:ea typeface="Arial"/>
                <a:cs typeface="Arial"/>
              </a:defRPr>
            </a:lvl7pPr>
            <a:lvl8pPr algn="ctr">
              <a:buNone/>
              <a:defRPr sz="1275" b="1" i="0">
                <a:solidFill>
                  <a:srgbClr val="E84AAB"/>
                </a:solidFill>
                <a:latin typeface="Arial"/>
                <a:ea typeface="Arial"/>
                <a:cs typeface="Arial"/>
              </a:defRPr>
            </a:lvl8pPr>
            <a:lvl9pPr algn="ctr">
              <a:buNone/>
              <a:defRPr sz="1275" b="1" i="0">
                <a:solidFill>
                  <a:srgbClr val="E84AAB"/>
                </a:solidFill>
                <a:latin typeface="Arial"/>
                <a:ea typeface="Arial"/>
                <a:cs typeface="Arial"/>
              </a:defRPr>
            </a:lvl9pPr>
          </a:lstStyle>
          <a:p xmlns:a="http://schemas.openxmlformats.org/drawingml/2006/main">
            <a:pPr algn="ctr">
              <a:buNone/>
              <a:defRPr sz="1275" b="1" i="0">
                <a:solidFill>
                  <a:srgbClr val="E84AAB"/>
                </a:solidFill>
                <a:latin typeface="Arial"/>
                <a:ea typeface="Arial"/>
                <a:cs typeface="Arial"/>
              </a:defRPr>
            </a:pPr>
            <a:r>
              <a:rPr sz="1275" b="1" i="0">
                <a:solidFill>
                  <a:srgbClr val="E84AAB"/>
                </a:solidFill>
                <a:latin typeface="Arial"/>
                <a:ea typeface="Arial"/>
                <a:cs typeface="Arial"/>
              </a:rPr>
              <a:t>Architecture status: specified for future compatibility training. No trained or calibrated production ranker exists yet.</a:t>
            </a:r>
          </a:p>
        </p:txBody>
      </p:sp>
    </p:spTree>
    <p:extLst>
      <p:ext uri="{BB962C8B-B14F-4D97-AF65-F5344CB8AC3E}">
        <p14:creationId xmlns:p14="http://schemas.microsoft.com/office/powerpoint/2010/main" val="646669724"/>
      </p:ext>
    </p:extLst>
  </p:cSld>
</p:sld>
</file>

<file path=ppt/slides/slide12.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78A546E1-08C3-4E87-847B-132765404A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217ECCCD-35DF-4804-8FE2-5367FBCB2E2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1A191F0-DBDB-47F6-9A41-5921501F65F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LEARNING CONTRACT</a:t>
            </a:r>
          </a:p>
        </p:txBody>
      </p:sp>
      <p:sp>
        <p:nvSpPr>
          <p:cNvPr id="4" name="Rectangle 3">
            <a:extLst xmlns:a="http://schemas.openxmlformats.org/drawingml/2006/main">
              <a:ext uri="{FF2B5EF4-FFF2-40B4-BE49-F238E27FC236}">
                <a16:creationId xmlns:a16="http://schemas.microsoft.com/office/drawing/2014/main" id="{A184C502-7A3A-4D3F-986F-D99724F31EC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§§4–6; proposed training contract, not a completed model result</a:t>
            </a:r>
          </a:p>
        </p:txBody>
      </p:sp>
      <p:sp>
        <p:nvSpPr>
          <p:cNvPr id="5" name="Rectangle 4">
            <a:extLst xmlns:a="http://schemas.openxmlformats.org/drawingml/2006/main">
              <a:ext uri="{FF2B5EF4-FFF2-40B4-BE49-F238E27FC236}">
                <a16:creationId xmlns:a16="http://schemas.microsoft.com/office/drawing/2014/main" id="{56BC1AA4-F973-4484-BDEB-8EC133BE443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12</a:t>
            </a:r>
          </a:p>
        </p:txBody>
      </p:sp>
      <p:sp>
        <p:nvSpPr>
          <p:cNvPr id="6" name="Rectangle 5">
            <a:extLst xmlns:a="http://schemas.openxmlformats.org/drawingml/2006/main">
              <a:ext uri="{FF2B5EF4-FFF2-40B4-BE49-F238E27FC236}">
                <a16:creationId xmlns:a16="http://schemas.microsoft.com/office/drawing/2014/main" id="{7D5D9BB2-EE8E-4C37-8628-B7CBCCD02B4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How the ranker would learn and make a decision</a:t>
            </a:r>
          </a:p>
        </p:txBody>
      </p:sp>
      <p:sp>
        <p:nvSpPr>
          <p:cNvPr id="7" name="Rectangle 6">
            <a:extLst xmlns:a="http://schemas.openxmlformats.org/drawingml/2006/main">
              <a:ext uri="{FF2B5EF4-FFF2-40B4-BE49-F238E27FC236}">
                <a16:creationId xmlns:a16="http://schemas.microsoft.com/office/drawing/2014/main" id="{DA02788A-9627-41F9-A3ED-9ED8478D2D1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Comparisons stay within one domain pair so the model learns relative compatibility</a:t>
            </a:r>
          </a:p>
        </p:txBody>
      </p:sp>
      <p:sp>
        <p:nvSpPr>
          <p:cNvPr id="8" name="Oval 7">
            <a:extLst xmlns:a="http://schemas.openxmlformats.org/drawingml/2006/main">
              <a:ext uri="{FF2B5EF4-FFF2-40B4-BE49-F238E27FC236}">
                <a16:creationId xmlns:a16="http://schemas.microsoft.com/office/drawing/2014/main" id="{02D228A3-B4DF-47EF-ADC9-72CEABC1DB2F}"/>
              </a:ext>
            </a:extLst>
          </p:cNvPr>
          <p:cNvSpPr>
            <a:spLocks xmlns:a="http://schemas.openxmlformats.org/drawingml/2006/main" noGrp="1"/>
          </p:cNvSpPr>
          <p:nvPr/>
        </p:nvSpPr>
        <p:spPr>
          <a:xfrm xmlns:a="http://schemas.openxmlformats.org/drawingml/2006/main">
            <a:off x="609600" y="1695450"/>
            <a:ext cx="400050" cy="400050"/>
          </a:xfrm>
          <a:prstGeom xmlns:a="http://schemas.openxmlformats.org/drawingml/2006/main" prst="ellipse">
            <a:avLst/>
          </a:prstGeom>
          <a:solidFill xmlns:a="http://schemas.openxmlformats.org/drawingml/2006/main">
            <a:srgbClr val="2DBD73"/>
          </a:solidFill>
          <a:ln xmlns:a="http://schemas.openxmlformats.org/drawingml/2006/main" w="0">
            <a:noFill/>
            <a:prstDash val="solid"/>
          </a:ln>
        </p:spPr>
      </p:sp>
      <p:sp>
        <p:nvSpPr>
          <p:cNvPr id="9" name="Rectangle 8">
            <a:extLst xmlns:a="http://schemas.openxmlformats.org/drawingml/2006/main">
              <a:ext uri="{FF2B5EF4-FFF2-40B4-BE49-F238E27FC236}">
                <a16:creationId xmlns:a16="http://schemas.microsoft.com/office/drawing/2014/main" id="{A2917911-A144-4AC3-A64D-21AFB25E5491}"/>
              </a:ext>
            </a:extLst>
          </p:cNvPr>
          <p:cNvSpPr>
            <a:spLocks xmlns:a="http://schemas.openxmlformats.org/drawingml/2006/main" noGrp="1"/>
          </p:cNvSpPr>
          <p:nvPr/>
        </p:nvSpPr>
        <p:spPr>
          <a:xfrm xmlns:a="http://schemas.openxmlformats.org/drawingml/2006/main">
            <a:off x="609600" y="17716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5D5B46C9-058A-46A9-B765-87725F599053}"/>
              </a:ext>
            </a:extLst>
          </p:cNvPr>
          <p:cNvSpPr>
            <a:spLocks xmlns:a="http://schemas.openxmlformats.org/drawingml/2006/main" noGrp="1"/>
          </p:cNvSpPr>
          <p:nvPr/>
        </p:nvSpPr>
        <p:spPr>
          <a:xfrm xmlns:a="http://schemas.openxmlformats.org/drawingml/2006/main">
            <a:off x="1200150" y="1657350"/>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2DBD73"/>
                </a:solidFill>
                <a:latin typeface="Arial"/>
                <a:ea typeface="Arial"/>
                <a:cs typeface="Arial"/>
              </a:defRPr>
            </a:defPPr>
            <a:lvl1pPr algn="l">
              <a:buNone/>
              <a:defRPr sz="1350" b="1" i="0">
                <a:solidFill>
                  <a:srgbClr val="2DBD73"/>
                </a:solidFill>
                <a:latin typeface="Arial"/>
                <a:ea typeface="Arial"/>
                <a:cs typeface="Arial"/>
              </a:defRPr>
            </a:lvl1pPr>
            <a:lvl2pPr algn="l">
              <a:buNone/>
              <a:defRPr sz="1350" b="1" i="0">
                <a:solidFill>
                  <a:srgbClr val="2DBD73"/>
                </a:solidFill>
                <a:latin typeface="Arial"/>
                <a:ea typeface="Arial"/>
                <a:cs typeface="Arial"/>
              </a:defRPr>
            </a:lvl2pPr>
            <a:lvl3pPr algn="l">
              <a:buNone/>
              <a:defRPr sz="1350" b="1" i="0">
                <a:solidFill>
                  <a:srgbClr val="2DBD73"/>
                </a:solidFill>
                <a:latin typeface="Arial"/>
                <a:ea typeface="Arial"/>
                <a:cs typeface="Arial"/>
              </a:defRPr>
            </a:lvl3pPr>
            <a:lvl4pPr algn="l">
              <a:buNone/>
              <a:defRPr sz="1350" b="1" i="0">
                <a:solidFill>
                  <a:srgbClr val="2DBD73"/>
                </a:solidFill>
                <a:latin typeface="Arial"/>
                <a:ea typeface="Arial"/>
                <a:cs typeface="Arial"/>
              </a:defRPr>
            </a:lvl4pPr>
            <a:lvl5pPr algn="l">
              <a:buNone/>
              <a:defRPr sz="1350" b="1" i="0">
                <a:solidFill>
                  <a:srgbClr val="2DBD73"/>
                </a:solidFill>
                <a:latin typeface="Arial"/>
                <a:ea typeface="Arial"/>
                <a:cs typeface="Arial"/>
              </a:defRPr>
            </a:lvl5pPr>
            <a:lvl6pPr algn="l">
              <a:buNone/>
              <a:defRPr sz="1350" b="1" i="0">
                <a:solidFill>
                  <a:srgbClr val="2DBD73"/>
                </a:solidFill>
                <a:latin typeface="Arial"/>
                <a:ea typeface="Arial"/>
                <a:cs typeface="Arial"/>
              </a:defRPr>
            </a:lvl6pPr>
            <a:lvl7pPr algn="l">
              <a:buNone/>
              <a:defRPr sz="1350" b="1" i="0">
                <a:solidFill>
                  <a:srgbClr val="2DBD73"/>
                </a:solidFill>
                <a:latin typeface="Arial"/>
                <a:ea typeface="Arial"/>
                <a:cs typeface="Arial"/>
              </a:defRPr>
            </a:lvl7pPr>
            <a:lvl8pPr algn="l">
              <a:buNone/>
              <a:defRPr sz="1350" b="1" i="0">
                <a:solidFill>
                  <a:srgbClr val="2DBD73"/>
                </a:solidFill>
                <a:latin typeface="Arial"/>
                <a:ea typeface="Arial"/>
                <a:cs typeface="Arial"/>
              </a:defRPr>
            </a:lvl8pPr>
            <a:lvl9pPr algn="l">
              <a:buNone/>
              <a:defRPr sz="1350" b="1" i="0">
                <a:solidFill>
                  <a:srgbClr val="2DBD73"/>
                </a:solidFill>
                <a:latin typeface="Arial"/>
                <a:ea typeface="Arial"/>
                <a:cs typeface="Arial"/>
              </a:defRPr>
            </a:lvl9pPr>
          </a:lstStyle>
          <a:p xmlns:a="http://schemas.openxmlformats.org/drawingml/2006/main">
            <a:pPr algn="l">
              <a:buNone/>
              <a:defRPr sz="1350" b="1" i="0">
                <a:solidFill>
                  <a:srgbClr val="2DBD73"/>
                </a:solidFill>
                <a:latin typeface="Arial"/>
                <a:ea typeface="Arial"/>
                <a:cs typeface="Arial"/>
              </a:defRPr>
            </a:pPr>
            <a:r>
              <a:rPr sz="1350" b="1" i="0">
                <a:solidFill>
                  <a:srgbClr val="2DBD73"/>
                </a:solidFill>
                <a:latin typeface="Arial"/>
                <a:ea typeface="Arial"/>
                <a:cs typeface="Arial"/>
              </a:rPr>
              <a:t>Observed pair</a:t>
            </a:r>
          </a:p>
        </p:txBody>
      </p:sp>
      <p:sp>
        <p:nvSpPr>
          <p:cNvPr id="11" name="Rectangle 10">
            <a:extLst xmlns:a="http://schemas.openxmlformats.org/drawingml/2006/main">
              <a:ext uri="{FF2B5EF4-FFF2-40B4-BE49-F238E27FC236}">
                <a16:creationId xmlns:a16="http://schemas.microsoft.com/office/drawing/2014/main" id="{6194550E-FD7A-49D3-B963-2EC19AC3A22C}"/>
              </a:ext>
            </a:extLst>
          </p:cNvPr>
          <p:cNvSpPr>
            <a:spLocks xmlns:a="http://schemas.openxmlformats.org/drawingml/2006/main" noGrp="1"/>
          </p:cNvSpPr>
          <p:nvPr/>
        </p:nvSpPr>
        <p:spPr>
          <a:xfrm xmlns:a="http://schemas.openxmlformats.org/drawingml/2006/main">
            <a:off x="3381375" y="165735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Natural domain A + observed linker + domain B</a:t>
            </a:r>
          </a:p>
        </p:txBody>
      </p:sp>
      <p:sp>
        <p:nvSpPr>
          <p:cNvPr id="12" name="Straight Connector 11">
            <a:extLst xmlns:a="http://schemas.openxmlformats.org/drawingml/2006/main">
              <a:ext uri="{FF2B5EF4-FFF2-40B4-BE49-F238E27FC236}">
                <a16:creationId xmlns:a16="http://schemas.microsoft.com/office/drawing/2014/main" id="{98A77B49-637E-48E0-A665-7CB368650CA3}"/>
              </a:ext>
            </a:extLst>
          </p:cNvPr>
          <p:cNvSpPr>
            <a:spLocks xmlns:a="http://schemas.openxmlformats.org/drawingml/2006/main" noGrp="1"/>
          </p:cNvSpPr>
          <p:nvPr/>
        </p:nvSpPr>
        <p:spPr>
          <a:xfrm xmlns:a="http://schemas.openxmlformats.org/drawingml/2006/main">
            <a:off x="809625" y="2124075"/>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13" name="Oval 12">
            <a:extLst xmlns:a="http://schemas.openxmlformats.org/drawingml/2006/main">
              <a:ext uri="{FF2B5EF4-FFF2-40B4-BE49-F238E27FC236}">
                <a16:creationId xmlns:a16="http://schemas.microsoft.com/office/drawing/2014/main" id="{CEF8D7AD-2CB1-4E5B-B543-55564B657EDA}"/>
              </a:ext>
            </a:extLst>
          </p:cNvPr>
          <p:cNvSpPr>
            <a:spLocks xmlns:a="http://schemas.openxmlformats.org/drawingml/2006/main" noGrp="1"/>
          </p:cNvSpPr>
          <p:nvPr/>
        </p:nvSpPr>
        <p:spPr>
          <a:xfrm xmlns:a="http://schemas.openxmlformats.org/drawingml/2006/main">
            <a:off x="609600" y="2562225"/>
            <a:ext cx="400050" cy="4000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4" name="Rectangle 13">
            <a:extLst xmlns:a="http://schemas.openxmlformats.org/drawingml/2006/main">
              <a:ext uri="{FF2B5EF4-FFF2-40B4-BE49-F238E27FC236}">
                <a16:creationId xmlns:a16="http://schemas.microsoft.com/office/drawing/2014/main" id="{71116432-CD91-46AD-8D14-6B474A6A417D}"/>
              </a:ext>
            </a:extLst>
          </p:cNvPr>
          <p:cNvSpPr>
            <a:spLocks xmlns:a="http://schemas.openxmlformats.org/drawingml/2006/main" noGrp="1"/>
          </p:cNvSpPr>
          <p:nvPr/>
        </p:nvSpPr>
        <p:spPr>
          <a:xfrm xmlns:a="http://schemas.openxmlformats.org/drawingml/2006/main">
            <a:off x="609600" y="26384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2</a:t>
            </a:r>
          </a:p>
        </p:txBody>
      </p:sp>
      <p:sp>
        <p:nvSpPr>
          <p:cNvPr id="15" name="Rectangle 14">
            <a:extLst xmlns:a="http://schemas.openxmlformats.org/drawingml/2006/main">
              <a:ext uri="{FF2B5EF4-FFF2-40B4-BE49-F238E27FC236}">
                <a16:creationId xmlns:a16="http://schemas.microsoft.com/office/drawing/2014/main" id="{8D65CDD9-D5EC-433D-A9C1-CF05EF7CDEA1}"/>
              </a:ext>
            </a:extLst>
          </p:cNvPr>
          <p:cNvSpPr>
            <a:spLocks xmlns:a="http://schemas.openxmlformats.org/drawingml/2006/main" noGrp="1"/>
          </p:cNvSpPr>
          <p:nvPr/>
        </p:nvSpPr>
        <p:spPr>
          <a:xfrm xmlns:a="http://schemas.openxmlformats.org/drawingml/2006/main">
            <a:off x="1200150" y="252412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E84AAB"/>
                </a:solidFill>
                <a:latin typeface="Arial"/>
                <a:ea typeface="Arial"/>
                <a:cs typeface="Arial"/>
              </a:defRPr>
            </a:defPPr>
            <a:lvl1pPr algn="l">
              <a:buNone/>
              <a:defRPr sz="1350" b="1" i="0">
                <a:solidFill>
                  <a:srgbClr val="E84AAB"/>
                </a:solidFill>
                <a:latin typeface="Arial"/>
                <a:ea typeface="Arial"/>
                <a:cs typeface="Arial"/>
              </a:defRPr>
            </a:lvl1pPr>
            <a:lvl2pPr algn="l">
              <a:buNone/>
              <a:defRPr sz="1350" b="1" i="0">
                <a:solidFill>
                  <a:srgbClr val="E84AAB"/>
                </a:solidFill>
                <a:latin typeface="Arial"/>
                <a:ea typeface="Arial"/>
                <a:cs typeface="Arial"/>
              </a:defRPr>
            </a:lvl2pPr>
            <a:lvl3pPr algn="l">
              <a:buNone/>
              <a:defRPr sz="1350" b="1" i="0">
                <a:solidFill>
                  <a:srgbClr val="E84AAB"/>
                </a:solidFill>
                <a:latin typeface="Arial"/>
                <a:ea typeface="Arial"/>
                <a:cs typeface="Arial"/>
              </a:defRPr>
            </a:lvl3pPr>
            <a:lvl4pPr algn="l">
              <a:buNone/>
              <a:defRPr sz="1350" b="1" i="0">
                <a:solidFill>
                  <a:srgbClr val="E84AAB"/>
                </a:solidFill>
                <a:latin typeface="Arial"/>
                <a:ea typeface="Arial"/>
                <a:cs typeface="Arial"/>
              </a:defRPr>
            </a:lvl4pPr>
            <a:lvl5pPr algn="l">
              <a:buNone/>
              <a:defRPr sz="1350" b="1" i="0">
                <a:solidFill>
                  <a:srgbClr val="E84AAB"/>
                </a:solidFill>
                <a:latin typeface="Arial"/>
                <a:ea typeface="Arial"/>
                <a:cs typeface="Arial"/>
              </a:defRPr>
            </a:lvl5pPr>
            <a:lvl6pPr algn="l">
              <a:buNone/>
              <a:defRPr sz="1350" b="1" i="0">
                <a:solidFill>
                  <a:srgbClr val="E84AAB"/>
                </a:solidFill>
                <a:latin typeface="Arial"/>
                <a:ea typeface="Arial"/>
                <a:cs typeface="Arial"/>
              </a:defRPr>
            </a:lvl6pPr>
            <a:lvl7pPr algn="l">
              <a:buNone/>
              <a:defRPr sz="1350" b="1" i="0">
                <a:solidFill>
                  <a:srgbClr val="E84AAB"/>
                </a:solidFill>
                <a:latin typeface="Arial"/>
                <a:ea typeface="Arial"/>
                <a:cs typeface="Arial"/>
              </a:defRPr>
            </a:lvl7pPr>
            <a:lvl8pPr algn="l">
              <a:buNone/>
              <a:defRPr sz="1350" b="1" i="0">
                <a:solidFill>
                  <a:srgbClr val="E84AAB"/>
                </a:solidFill>
                <a:latin typeface="Arial"/>
                <a:ea typeface="Arial"/>
                <a:cs typeface="Arial"/>
              </a:defRPr>
            </a:lvl8pPr>
            <a:lvl9pPr algn="l">
              <a:buNone/>
              <a:defRPr sz="1350" b="1" i="0">
                <a:solidFill>
                  <a:srgbClr val="E84AAB"/>
                </a:solidFill>
                <a:latin typeface="Arial"/>
                <a:ea typeface="Arial"/>
                <a:cs typeface="Arial"/>
              </a:defRPr>
            </a:lvl9pPr>
          </a:lstStyle>
          <a:p xmlns:a="http://schemas.openxmlformats.org/drawingml/2006/main">
            <a:pPr algn="l">
              <a:buNone/>
              <a:defRPr sz="1350" b="1" i="0">
                <a:solidFill>
                  <a:srgbClr val="E84AAB"/>
                </a:solidFill>
                <a:latin typeface="Arial"/>
                <a:ea typeface="Arial"/>
                <a:cs typeface="Arial"/>
              </a:defRPr>
            </a:pPr>
            <a:r>
              <a:rPr sz="1350" b="1" i="0">
                <a:solidFill>
                  <a:srgbClr val="E84AAB"/>
                </a:solidFill>
                <a:latin typeface="Arial"/>
                <a:ea typeface="Arial"/>
                <a:cs typeface="Arial"/>
              </a:rPr>
              <a:t>Contrasts</a:t>
            </a:r>
          </a:p>
        </p:txBody>
      </p:sp>
      <p:sp>
        <p:nvSpPr>
          <p:cNvPr id="16" name="Rectangle 15">
            <a:extLst xmlns:a="http://schemas.openxmlformats.org/drawingml/2006/main">
              <a:ext uri="{FF2B5EF4-FFF2-40B4-BE49-F238E27FC236}">
                <a16:creationId xmlns:a16="http://schemas.microsoft.com/office/drawing/2014/main" id="{DF1304C0-5078-4117-AA89-DCA90441169E}"/>
              </a:ext>
            </a:extLst>
          </p:cNvPr>
          <p:cNvSpPr>
            <a:spLocks xmlns:a="http://schemas.openxmlformats.org/drawingml/2006/main" noGrp="1"/>
          </p:cNvSpPr>
          <p:nvPr/>
        </p:nvSpPr>
        <p:spPr>
          <a:xfrm xmlns:a="http://schemas.openxmlformats.org/drawingml/2006/main">
            <a:off x="3381375" y="252412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Shortened, lengthened, shuffled, reversed, transplanted, or hydrophobised linkers</a:t>
            </a:r>
          </a:p>
        </p:txBody>
      </p:sp>
      <p:sp>
        <p:nvSpPr>
          <p:cNvPr id="17" name="Straight Connector 16">
            <a:extLst xmlns:a="http://schemas.openxmlformats.org/drawingml/2006/main">
              <a:ext uri="{FF2B5EF4-FFF2-40B4-BE49-F238E27FC236}">
                <a16:creationId xmlns:a16="http://schemas.microsoft.com/office/drawing/2014/main" id="{C7876069-BD36-4AB6-A624-E1B8916EA9F9}"/>
              </a:ext>
            </a:extLst>
          </p:cNvPr>
          <p:cNvSpPr>
            <a:spLocks xmlns:a="http://schemas.openxmlformats.org/drawingml/2006/main" noGrp="1"/>
          </p:cNvSpPr>
          <p:nvPr/>
        </p:nvSpPr>
        <p:spPr>
          <a:xfrm xmlns:a="http://schemas.openxmlformats.org/drawingml/2006/main">
            <a:off x="809625" y="2990850"/>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18" name="Oval 17">
            <a:extLst xmlns:a="http://schemas.openxmlformats.org/drawingml/2006/main">
              <a:ext uri="{FF2B5EF4-FFF2-40B4-BE49-F238E27FC236}">
                <a16:creationId xmlns:a16="http://schemas.microsoft.com/office/drawing/2014/main" id="{5CB584A0-FB80-4C0C-9E96-566C0517B03C}"/>
              </a:ext>
            </a:extLst>
          </p:cNvPr>
          <p:cNvSpPr>
            <a:spLocks xmlns:a="http://schemas.openxmlformats.org/drawingml/2006/main" noGrp="1"/>
          </p:cNvSpPr>
          <p:nvPr/>
        </p:nvSpPr>
        <p:spPr>
          <a:xfrm xmlns:a="http://schemas.openxmlformats.org/drawingml/2006/main">
            <a:off x="609600" y="342900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9" name="Rectangle 18">
            <a:extLst xmlns:a="http://schemas.openxmlformats.org/drawingml/2006/main">
              <a:ext uri="{FF2B5EF4-FFF2-40B4-BE49-F238E27FC236}">
                <a16:creationId xmlns:a16="http://schemas.microsoft.com/office/drawing/2014/main" id="{AB148AB8-E62F-4F91-BB56-81A0F107BCF8}"/>
              </a:ext>
            </a:extLst>
          </p:cNvPr>
          <p:cNvSpPr>
            <a:spLocks xmlns:a="http://schemas.openxmlformats.org/drawingml/2006/main" noGrp="1"/>
          </p:cNvSpPr>
          <p:nvPr/>
        </p:nvSpPr>
        <p:spPr>
          <a:xfrm xmlns:a="http://schemas.openxmlformats.org/drawingml/2006/main">
            <a:off x="609600" y="3505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3</a:t>
            </a:r>
          </a:p>
        </p:txBody>
      </p:sp>
      <p:sp>
        <p:nvSpPr>
          <p:cNvPr id="20" name="Rectangle 19">
            <a:extLst xmlns:a="http://schemas.openxmlformats.org/drawingml/2006/main">
              <a:ext uri="{FF2B5EF4-FFF2-40B4-BE49-F238E27FC236}">
                <a16:creationId xmlns:a16="http://schemas.microsoft.com/office/drawing/2014/main" id="{61844EBB-AB2A-46C7-B434-AFF3F2A3BA8A}"/>
              </a:ext>
            </a:extLst>
          </p:cNvPr>
          <p:cNvSpPr>
            <a:spLocks xmlns:a="http://schemas.openxmlformats.org/drawingml/2006/main" noGrp="1"/>
          </p:cNvSpPr>
          <p:nvPr/>
        </p:nvSpPr>
        <p:spPr>
          <a:xfrm xmlns:a="http://schemas.openxmlformats.org/drawingml/2006/main">
            <a:off x="1200150" y="3390900"/>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Ranking loss</a:t>
            </a:r>
          </a:p>
        </p:txBody>
      </p:sp>
      <p:sp>
        <p:nvSpPr>
          <p:cNvPr id="21" name="Rectangle 20">
            <a:extLst xmlns:a="http://schemas.openxmlformats.org/drawingml/2006/main">
              <a:ext uri="{FF2B5EF4-FFF2-40B4-BE49-F238E27FC236}">
                <a16:creationId xmlns:a16="http://schemas.microsoft.com/office/drawing/2014/main" id="{DC26590B-ABCF-422C-BAEB-FF5D9963D6C1}"/>
              </a:ext>
            </a:extLst>
          </p:cNvPr>
          <p:cNvSpPr>
            <a:spLocks xmlns:a="http://schemas.openxmlformats.org/drawingml/2006/main" noGrp="1"/>
          </p:cNvSpPr>
          <p:nvPr/>
        </p:nvSpPr>
        <p:spPr>
          <a:xfrm xmlns:a="http://schemas.openxmlformats.org/drawingml/2006/main">
            <a:off x="3381375" y="339090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score(observed) must exceed score(corrupted or transplanted)</a:t>
            </a:r>
          </a:p>
        </p:txBody>
      </p:sp>
      <p:sp>
        <p:nvSpPr>
          <p:cNvPr id="22" name="Straight Connector 21">
            <a:extLst xmlns:a="http://schemas.openxmlformats.org/drawingml/2006/main">
              <a:ext uri="{FF2B5EF4-FFF2-40B4-BE49-F238E27FC236}">
                <a16:creationId xmlns:a16="http://schemas.microsoft.com/office/drawing/2014/main" id="{A5972ED8-41DA-40C9-8CC2-0E5C081B083D}"/>
              </a:ext>
            </a:extLst>
          </p:cNvPr>
          <p:cNvSpPr>
            <a:spLocks xmlns:a="http://schemas.openxmlformats.org/drawingml/2006/main" noGrp="1"/>
          </p:cNvSpPr>
          <p:nvPr/>
        </p:nvSpPr>
        <p:spPr>
          <a:xfrm xmlns:a="http://schemas.openxmlformats.org/drawingml/2006/main">
            <a:off x="809625" y="3857625"/>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23" name="Oval 22">
            <a:extLst xmlns:a="http://schemas.openxmlformats.org/drawingml/2006/main">
              <a:ext uri="{FF2B5EF4-FFF2-40B4-BE49-F238E27FC236}">
                <a16:creationId xmlns:a16="http://schemas.microsoft.com/office/drawing/2014/main" id="{15BAA6D1-6A4C-4BE0-895E-BE29BF5563B2}"/>
              </a:ext>
            </a:extLst>
          </p:cNvPr>
          <p:cNvSpPr>
            <a:spLocks xmlns:a="http://schemas.openxmlformats.org/drawingml/2006/main" noGrp="1"/>
          </p:cNvSpPr>
          <p:nvPr/>
        </p:nvSpPr>
        <p:spPr>
          <a:xfrm xmlns:a="http://schemas.openxmlformats.org/drawingml/2006/main">
            <a:off x="609600" y="4295775"/>
            <a:ext cx="400050" cy="400050"/>
          </a:xfrm>
          <a:prstGeom xmlns:a="http://schemas.openxmlformats.org/drawingml/2006/main" prst="ellipse">
            <a:avLst/>
          </a:prstGeom>
          <a:solidFill xmlns:a="http://schemas.openxmlformats.org/drawingml/2006/main">
            <a:srgbClr val="4E9BEC"/>
          </a:solidFill>
          <a:ln xmlns:a="http://schemas.openxmlformats.org/drawingml/2006/main" w="0">
            <a:noFill/>
            <a:prstDash val="solid"/>
          </a:ln>
        </p:spPr>
      </p:sp>
      <p:sp>
        <p:nvSpPr>
          <p:cNvPr id="24" name="Rectangle 23">
            <a:extLst xmlns:a="http://schemas.openxmlformats.org/drawingml/2006/main">
              <a:ext uri="{FF2B5EF4-FFF2-40B4-BE49-F238E27FC236}">
                <a16:creationId xmlns:a16="http://schemas.microsoft.com/office/drawing/2014/main" id="{311CFBDD-C26D-41DE-A137-32A6BCF7D649}"/>
              </a:ext>
            </a:extLst>
          </p:cNvPr>
          <p:cNvSpPr>
            <a:spLocks xmlns:a="http://schemas.openxmlformats.org/drawingml/2006/main" noGrp="1"/>
          </p:cNvSpPr>
          <p:nvPr/>
        </p:nvSpPr>
        <p:spPr>
          <a:xfrm xmlns:a="http://schemas.openxmlformats.org/drawingml/2006/main">
            <a:off x="609600" y="43719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4</a:t>
            </a:r>
          </a:p>
        </p:txBody>
      </p:sp>
      <p:sp>
        <p:nvSpPr>
          <p:cNvPr id="25" name="Rectangle 24">
            <a:extLst xmlns:a="http://schemas.openxmlformats.org/drawingml/2006/main">
              <a:ext uri="{FF2B5EF4-FFF2-40B4-BE49-F238E27FC236}">
                <a16:creationId xmlns:a16="http://schemas.microsoft.com/office/drawing/2014/main" id="{783F2948-A04F-4328-BB4F-833D4D6F08C7}"/>
              </a:ext>
            </a:extLst>
          </p:cNvPr>
          <p:cNvSpPr>
            <a:spLocks xmlns:a="http://schemas.openxmlformats.org/drawingml/2006/main" noGrp="1"/>
          </p:cNvSpPr>
          <p:nvPr/>
        </p:nvSpPr>
        <p:spPr>
          <a:xfrm xmlns:a="http://schemas.openxmlformats.org/drawingml/2006/main">
            <a:off x="1200150" y="425767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4E9BEC"/>
                </a:solidFill>
                <a:latin typeface="Arial"/>
                <a:ea typeface="Arial"/>
                <a:cs typeface="Arial"/>
              </a:defRPr>
            </a:defPPr>
            <a:lvl1pPr algn="l">
              <a:buNone/>
              <a:defRPr sz="1350" b="1" i="0">
                <a:solidFill>
                  <a:srgbClr val="4E9BEC"/>
                </a:solidFill>
                <a:latin typeface="Arial"/>
                <a:ea typeface="Arial"/>
                <a:cs typeface="Arial"/>
              </a:defRPr>
            </a:lvl1pPr>
            <a:lvl2pPr algn="l">
              <a:buNone/>
              <a:defRPr sz="1350" b="1" i="0">
                <a:solidFill>
                  <a:srgbClr val="4E9BEC"/>
                </a:solidFill>
                <a:latin typeface="Arial"/>
                <a:ea typeface="Arial"/>
                <a:cs typeface="Arial"/>
              </a:defRPr>
            </a:lvl2pPr>
            <a:lvl3pPr algn="l">
              <a:buNone/>
              <a:defRPr sz="1350" b="1" i="0">
                <a:solidFill>
                  <a:srgbClr val="4E9BEC"/>
                </a:solidFill>
                <a:latin typeface="Arial"/>
                <a:ea typeface="Arial"/>
                <a:cs typeface="Arial"/>
              </a:defRPr>
            </a:lvl3pPr>
            <a:lvl4pPr algn="l">
              <a:buNone/>
              <a:defRPr sz="1350" b="1" i="0">
                <a:solidFill>
                  <a:srgbClr val="4E9BEC"/>
                </a:solidFill>
                <a:latin typeface="Arial"/>
                <a:ea typeface="Arial"/>
                <a:cs typeface="Arial"/>
              </a:defRPr>
            </a:lvl4pPr>
            <a:lvl5pPr algn="l">
              <a:buNone/>
              <a:defRPr sz="1350" b="1" i="0">
                <a:solidFill>
                  <a:srgbClr val="4E9BEC"/>
                </a:solidFill>
                <a:latin typeface="Arial"/>
                <a:ea typeface="Arial"/>
                <a:cs typeface="Arial"/>
              </a:defRPr>
            </a:lvl5pPr>
            <a:lvl6pPr algn="l">
              <a:buNone/>
              <a:defRPr sz="1350" b="1" i="0">
                <a:solidFill>
                  <a:srgbClr val="4E9BEC"/>
                </a:solidFill>
                <a:latin typeface="Arial"/>
                <a:ea typeface="Arial"/>
                <a:cs typeface="Arial"/>
              </a:defRPr>
            </a:lvl6pPr>
            <a:lvl7pPr algn="l">
              <a:buNone/>
              <a:defRPr sz="1350" b="1" i="0">
                <a:solidFill>
                  <a:srgbClr val="4E9BEC"/>
                </a:solidFill>
                <a:latin typeface="Arial"/>
                <a:ea typeface="Arial"/>
                <a:cs typeface="Arial"/>
              </a:defRPr>
            </a:lvl7pPr>
            <a:lvl8pPr algn="l">
              <a:buNone/>
              <a:defRPr sz="1350" b="1" i="0">
                <a:solidFill>
                  <a:srgbClr val="4E9BEC"/>
                </a:solidFill>
                <a:latin typeface="Arial"/>
                <a:ea typeface="Arial"/>
                <a:cs typeface="Arial"/>
              </a:defRPr>
            </a:lvl8pPr>
            <a:lvl9pPr algn="l">
              <a:buNone/>
              <a:defRPr sz="1350" b="1" i="0">
                <a:solidFill>
                  <a:srgbClr val="4E9BEC"/>
                </a:solidFill>
                <a:latin typeface="Arial"/>
                <a:ea typeface="Arial"/>
                <a:cs typeface="Arial"/>
              </a:defRPr>
            </a:lvl9pPr>
          </a:lstStyle>
          <a:p xmlns:a="http://schemas.openxmlformats.org/drawingml/2006/main">
            <a:pPr algn="l">
              <a:buNone/>
              <a:defRPr sz="1350" b="1" i="0">
                <a:solidFill>
                  <a:srgbClr val="4E9BEC"/>
                </a:solidFill>
                <a:latin typeface="Arial"/>
                <a:ea typeface="Arial"/>
                <a:cs typeface="Arial"/>
              </a:defRPr>
            </a:pPr>
            <a:r>
              <a:rPr sz="1350" b="1" i="0">
                <a:solidFill>
                  <a:srgbClr val="4E9BEC"/>
                </a:solidFill>
                <a:latin typeface="Arial"/>
                <a:ea typeface="Arial"/>
                <a:cs typeface="Arial"/>
              </a:rPr>
              <a:t>Auxiliary losses</a:t>
            </a:r>
          </a:p>
        </p:txBody>
      </p:sp>
      <p:sp>
        <p:nvSpPr>
          <p:cNvPr id="26" name="Rectangle 25">
            <a:extLst xmlns:a="http://schemas.openxmlformats.org/drawingml/2006/main">
              <a:ext uri="{FF2B5EF4-FFF2-40B4-BE49-F238E27FC236}">
                <a16:creationId xmlns:a16="http://schemas.microsoft.com/office/drawing/2014/main" id="{08242880-F0A0-4718-85B0-9C2CDE324664}"/>
              </a:ext>
            </a:extLst>
          </p:cNvPr>
          <p:cNvSpPr>
            <a:spLocks xmlns:a="http://schemas.openxmlformats.org/drawingml/2006/main" noGrp="1"/>
          </p:cNvSpPr>
          <p:nvPr/>
        </p:nvSpPr>
        <p:spPr>
          <a:xfrm xmlns:a="http://schemas.openxmlformats.org/drawingml/2006/main">
            <a:off x="3381375" y="425767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Class, length, clash, deformation, and protected-site risk</a:t>
            </a:r>
          </a:p>
        </p:txBody>
      </p:sp>
      <p:sp>
        <p:nvSpPr>
          <p:cNvPr id="27" name="Rectangle: Rounded Corners 26">
            <a:extLst xmlns:a="http://schemas.openxmlformats.org/drawingml/2006/main">
              <a:ext uri="{FF2B5EF4-FFF2-40B4-BE49-F238E27FC236}">
                <a16:creationId xmlns:a16="http://schemas.microsoft.com/office/drawing/2014/main" id="{2E692EDE-2F10-4747-BD06-73386DF40528}"/>
              </a:ext>
            </a:extLst>
          </p:cNvPr>
          <p:cNvSpPr>
            <a:spLocks xmlns:a="http://schemas.openxmlformats.org/drawingml/2006/main" noGrp="1"/>
          </p:cNvSpPr>
          <p:nvPr/>
        </p:nvSpPr>
        <p:spPr>
          <a:xfrm xmlns:a="http://schemas.openxmlformats.org/drawingml/2006/main">
            <a:off x="600075" y="5267325"/>
            <a:ext cx="5219700" cy="876300"/>
          </a:xfrm>
          <a:prstGeom xmlns:a="http://schemas.openxmlformats.org/drawingml/2006/main" prst="roundRect">
            <a:avLst>
              <a:gd name="adj" fmla="val 13043"/>
            </a:avLst>
          </a:prstGeom>
          <a:solidFill xmlns:a="http://schemas.openxmlformats.org/drawingml/2006/main">
            <a:srgbClr val="102720"/>
          </a:solidFill>
          <a:ln xmlns:a="http://schemas.openxmlformats.org/drawingml/2006/main" w="9525">
            <a:solidFill>
              <a:srgbClr val="2DBD73"/>
            </a:solidFill>
            <a:prstDash val="solid"/>
          </a:ln>
        </p:spPr>
      </p:sp>
      <p:sp>
        <p:nvSpPr>
          <p:cNvPr id="28" name="Rectangle 27">
            <a:extLst xmlns:a="http://schemas.openxmlformats.org/drawingml/2006/main">
              <a:ext uri="{FF2B5EF4-FFF2-40B4-BE49-F238E27FC236}">
                <a16:creationId xmlns:a16="http://schemas.microsoft.com/office/drawing/2014/main" id="{AAC7690E-7D8C-4A28-8633-6B9A2535CB01}"/>
              </a:ext>
            </a:extLst>
          </p:cNvPr>
          <p:cNvSpPr>
            <a:spLocks xmlns:a="http://schemas.openxmlformats.org/drawingml/2006/main" noGrp="1"/>
          </p:cNvSpPr>
          <p:nvPr/>
        </p:nvSpPr>
        <p:spPr>
          <a:xfrm xmlns:a="http://schemas.openxmlformats.org/drawingml/2006/main">
            <a:off x="809625" y="5429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2DBD73"/>
                </a:solidFill>
                <a:latin typeface="Arial"/>
                <a:ea typeface="Arial"/>
                <a:cs typeface="Arial"/>
              </a:defRPr>
            </a:defPPr>
            <a:lvl1pPr algn="l">
              <a:buNone/>
              <a:defRPr sz="900" b="1" i="0">
                <a:solidFill>
                  <a:srgbClr val="2DBD73"/>
                </a:solidFill>
                <a:latin typeface="Arial"/>
                <a:ea typeface="Arial"/>
                <a:cs typeface="Arial"/>
              </a:defRPr>
            </a:lvl1pPr>
            <a:lvl2pPr algn="l">
              <a:buNone/>
              <a:defRPr sz="900" b="1" i="0">
                <a:solidFill>
                  <a:srgbClr val="2DBD73"/>
                </a:solidFill>
                <a:latin typeface="Arial"/>
                <a:ea typeface="Arial"/>
                <a:cs typeface="Arial"/>
              </a:defRPr>
            </a:lvl2pPr>
            <a:lvl3pPr algn="l">
              <a:buNone/>
              <a:defRPr sz="900" b="1" i="0">
                <a:solidFill>
                  <a:srgbClr val="2DBD73"/>
                </a:solidFill>
                <a:latin typeface="Arial"/>
                <a:ea typeface="Arial"/>
                <a:cs typeface="Arial"/>
              </a:defRPr>
            </a:lvl3pPr>
            <a:lvl4pPr algn="l">
              <a:buNone/>
              <a:defRPr sz="900" b="1" i="0">
                <a:solidFill>
                  <a:srgbClr val="2DBD73"/>
                </a:solidFill>
                <a:latin typeface="Arial"/>
                <a:ea typeface="Arial"/>
                <a:cs typeface="Arial"/>
              </a:defRPr>
            </a:lvl4pPr>
            <a:lvl5pPr algn="l">
              <a:buNone/>
              <a:defRPr sz="900" b="1" i="0">
                <a:solidFill>
                  <a:srgbClr val="2DBD73"/>
                </a:solidFill>
                <a:latin typeface="Arial"/>
                <a:ea typeface="Arial"/>
                <a:cs typeface="Arial"/>
              </a:defRPr>
            </a:lvl5pPr>
            <a:lvl6pPr algn="l">
              <a:buNone/>
              <a:defRPr sz="900" b="1" i="0">
                <a:solidFill>
                  <a:srgbClr val="2DBD73"/>
                </a:solidFill>
                <a:latin typeface="Arial"/>
                <a:ea typeface="Arial"/>
                <a:cs typeface="Arial"/>
              </a:defRPr>
            </a:lvl6pPr>
            <a:lvl7pPr algn="l">
              <a:buNone/>
              <a:defRPr sz="900" b="1" i="0">
                <a:solidFill>
                  <a:srgbClr val="2DBD73"/>
                </a:solidFill>
                <a:latin typeface="Arial"/>
                <a:ea typeface="Arial"/>
                <a:cs typeface="Arial"/>
              </a:defRPr>
            </a:lvl7pPr>
            <a:lvl8pPr algn="l">
              <a:buNone/>
              <a:defRPr sz="900" b="1" i="0">
                <a:solidFill>
                  <a:srgbClr val="2DBD73"/>
                </a:solidFill>
                <a:latin typeface="Arial"/>
                <a:ea typeface="Arial"/>
                <a:cs typeface="Arial"/>
              </a:defRPr>
            </a:lvl8pPr>
            <a:lvl9pPr algn="l">
              <a:buNone/>
              <a:defRPr sz="900" b="1" i="0">
                <a:solidFill>
                  <a:srgbClr val="2DBD73"/>
                </a:solidFill>
                <a:latin typeface="Arial"/>
                <a:ea typeface="Arial"/>
                <a:cs typeface="Arial"/>
              </a:defRPr>
            </a:lvl9pPr>
          </a:lstStyle>
          <a:p xmlns:a="http://schemas.openxmlformats.org/drawingml/2006/main">
            <a:pPr algn="l">
              <a:buNone/>
              <a:defRPr sz="900" b="1" i="0">
                <a:solidFill>
                  <a:srgbClr val="2DBD73"/>
                </a:solidFill>
                <a:latin typeface="Arial"/>
                <a:ea typeface="Arial"/>
                <a:cs typeface="Arial"/>
              </a:defRPr>
            </a:pPr>
            <a:r>
              <a:rPr sz="900" b="1" i="0">
                <a:solidFill>
                  <a:srgbClr val="2DBD73"/>
                </a:solidFill>
                <a:latin typeface="Arial"/>
                <a:ea typeface="Arial"/>
                <a:cs typeface="Arial"/>
              </a:rPr>
              <a:t>TRAIN / VALIDATE</a:t>
            </a:r>
          </a:p>
        </p:txBody>
      </p:sp>
      <p:sp>
        <p:nvSpPr>
          <p:cNvPr id="29" name="Rectangle 28">
            <a:extLst xmlns:a="http://schemas.openxmlformats.org/drawingml/2006/main">
              <a:ext uri="{FF2B5EF4-FFF2-40B4-BE49-F238E27FC236}">
                <a16:creationId xmlns:a16="http://schemas.microsoft.com/office/drawing/2014/main" id="{21A42C3C-0484-4B13-A109-CE6AA5B2CCD1}"/>
              </a:ext>
            </a:extLst>
          </p:cNvPr>
          <p:cNvSpPr>
            <a:spLocks xmlns:a="http://schemas.openxmlformats.org/drawingml/2006/main" noGrp="1"/>
          </p:cNvSpPr>
          <p:nvPr/>
        </p:nvSpPr>
        <p:spPr>
          <a:xfrm xmlns:a="http://schemas.openxmlformats.org/drawingml/2006/main">
            <a:off x="809625" y="57150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622"/>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Grouped by domain pair and homology family; tune only on validation clusters.</a:t>
            </a:r>
          </a:p>
        </p:txBody>
      </p:sp>
      <p:sp>
        <p:nvSpPr>
          <p:cNvPr id="30" name="Rectangle: Rounded Corners 29">
            <a:extLst xmlns:a="http://schemas.openxmlformats.org/drawingml/2006/main">
              <a:ext uri="{FF2B5EF4-FFF2-40B4-BE49-F238E27FC236}">
                <a16:creationId xmlns:a16="http://schemas.microsoft.com/office/drawing/2014/main" id="{9A0A61E0-69C7-4C1B-BEEB-36750C2911F1}"/>
              </a:ext>
            </a:extLst>
          </p:cNvPr>
          <p:cNvSpPr>
            <a:spLocks xmlns:a="http://schemas.openxmlformats.org/drawingml/2006/main" noGrp="1"/>
          </p:cNvSpPr>
          <p:nvPr/>
        </p:nvSpPr>
        <p:spPr>
          <a:xfrm xmlns:a="http://schemas.openxmlformats.org/drawingml/2006/main">
            <a:off x="6038850" y="5267325"/>
            <a:ext cx="5505450" cy="876300"/>
          </a:xfrm>
          <a:prstGeom xmlns:a="http://schemas.openxmlformats.org/drawingml/2006/main" prst="roundRect">
            <a:avLst>
              <a:gd name="adj" fmla="val 13043"/>
            </a:avLst>
          </a:prstGeom>
          <a:solidFill xmlns:a="http://schemas.openxmlformats.org/drawingml/2006/main">
            <a:srgbClr val="102720"/>
          </a:solidFill>
          <a:ln xmlns:a="http://schemas.openxmlformats.org/drawingml/2006/main" w="9525">
            <a:solidFill>
              <a:srgbClr val="E46760"/>
            </a:solidFill>
            <a:prstDash val="solid"/>
          </a:ln>
        </p:spPr>
      </p:sp>
      <p:sp>
        <p:nvSpPr>
          <p:cNvPr id="31" name="Rectangle 30">
            <a:extLst xmlns:a="http://schemas.openxmlformats.org/drawingml/2006/main">
              <a:ext uri="{FF2B5EF4-FFF2-40B4-BE49-F238E27FC236}">
                <a16:creationId xmlns:a16="http://schemas.microsoft.com/office/drawing/2014/main" id="{DF570796-D204-40AF-B03C-44F0E43523C0}"/>
              </a:ext>
            </a:extLst>
          </p:cNvPr>
          <p:cNvSpPr>
            <a:spLocks xmlns:a="http://schemas.openxmlformats.org/drawingml/2006/main" noGrp="1"/>
          </p:cNvSpPr>
          <p:nvPr/>
        </p:nvSpPr>
        <p:spPr>
          <a:xfrm xmlns:a="http://schemas.openxmlformats.org/drawingml/2006/main">
            <a:off x="6248400" y="54292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E46760"/>
                </a:solidFill>
                <a:latin typeface="Arial"/>
                <a:ea typeface="Arial"/>
                <a:cs typeface="Arial"/>
              </a:defRPr>
            </a:defPPr>
            <a:lvl1pPr algn="l">
              <a:buNone/>
              <a:defRPr sz="900" b="1" i="0">
                <a:solidFill>
                  <a:srgbClr val="E46760"/>
                </a:solidFill>
                <a:latin typeface="Arial"/>
                <a:ea typeface="Arial"/>
                <a:cs typeface="Arial"/>
              </a:defRPr>
            </a:lvl1pPr>
            <a:lvl2pPr algn="l">
              <a:buNone/>
              <a:defRPr sz="900" b="1" i="0">
                <a:solidFill>
                  <a:srgbClr val="E46760"/>
                </a:solidFill>
                <a:latin typeface="Arial"/>
                <a:ea typeface="Arial"/>
                <a:cs typeface="Arial"/>
              </a:defRPr>
            </a:lvl2pPr>
            <a:lvl3pPr algn="l">
              <a:buNone/>
              <a:defRPr sz="900" b="1" i="0">
                <a:solidFill>
                  <a:srgbClr val="E46760"/>
                </a:solidFill>
                <a:latin typeface="Arial"/>
                <a:ea typeface="Arial"/>
                <a:cs typeface="Arial"/>
              </a:defRPr>
            </a:lvl3pPr>
            <a:lvl4pPr algn="l">
              <a:buNone/>
              <a:defRPr sz="900" b="1" i="0">
                <a:solidFill>
                  <a:srgbClr val="E46760"/>
                </a:solidFill>
                <a:latin typeface="Arial"/>
                <a:ea typeface="Arial"/>
                <a:cs typeface="Arial"/>
              </a:defRPr>
            </a:lvl4pPr>
            <a:lvl5pPr algn="l">
              <a:buNone/>
              <a:defRPr sz="900" b="1" i="0">
                <a:solidFill>
                  <a:srgbClr val="E46760"/>
                </a:solidFill>
                <a:latin typeface="Arial"/>
                <a:ea typeface="Arial"/>
                <a:cs typeface="Arial"/>
              </a:defRPr>
            </a:lvl5pPr>
            <a:lvl6pPr algn="l">
              <a:buNone/>
              <a:defRPr sz="900" b="1" i="0">
                <a:solidFill>
                  <a:srgbClr val="E46760"/>
                </a:solidFill>
                <a:latin typeface="Arial"/>
                <a:ea typeface="Arial"/>
                <a:cs typeface="Arial"/>
              </a:defRPr>
            </a:lvl6pPr>
            <a:lvl7pPr algn="l">
              <a:buNone/>
              <a:defRPr sz="900" b="1" i="0">
                <a:solidFill>
                  <a:srgbClr val="E46760"/>
                </a:solidFill>
                <a:latin typeface="Arial"/>
                <a:ea typeface="Arial"/>
                <a:cs typeface="Arial"/>
              </a:defRPr>
            </a:lvl7pPr>
            <a:lvl8pPr algn="l">
              <a:buNone/>
              <a:defRPr sz="900" b="1" i="0">
                <a:solidFill>
                  <a:srgbClr val="E46760"/>
                </a:solidFill>
                <a:latin typeface="Arial"/>
                <a:ea typeface="Arial"/>
                <a:cs typeface="Arial"/>
              </a:defRPr>
            </a:lvl8pPr>
            <a:lvl9pPr algn="l">
              <a:buNone/>
              <a:defRPr sz="900" b="1" i="0">
                <a:solidFill>
                  <a:srgbClr val="E46760"/>
                </a:solidFill>
                <a:latin typeface="Arial"/>
                <a:ea typeface="Arial"/>
                <a:cs typeface="Arial"/>
              </a:defRPr>
            </a:lvl9pPr>
          </a:lstStyle>
          <a:p xmlns:a="http://schemas.openxmlformats.org/drawingml/2006/main">
            <a:pPr algn="l">
              <a:buNone/>
              <a:defRPr sz="900" b="1" i="0">
                <a:solidFill>
                  <a:srgbClr val="E46760"/>
                </a:solidFill>
                <a:latin typeface="Arial"/>
                <a:ea typeface="Arial"/>
                <a:cs typeface="Arial"/>
              </a:defRPr>
            </a:pPr>
            <a:r>
              <a:rPr sz="900" b="1" i="0">
                <a:solidFill>
                  <a:srgbClr val="E46760"/>
                </a:solidFill>
                <a:latin typeface="Arial"/>
                <a:ea typeface="Arial"/>
                <a:cs typeface="Arial"/>
              </a:rPr>
              <a:t>BLIND EVALUATION</a:t>
            </a:r>
          </a:p>
        </p:txBody>
      </p:sp>
      <p:sp>
        <p:nvSpPr>
          <p:cNvPr id="32" name="Rectangle 31">
            <a:extLst xmlns:a="http://schemas.openxmlformats.org/drawingml/2006/main">
              <a:ext uri="{FF2B5EF4-FFF2-40B4-BE49-F238E27FC236}">
                <a16:creationId xmlns:a16="http://schemas.microsoft.com/office/drawing/2014/main" id="{4E658331-DA38-490D-A26D-03EADDECF5F9}"/>
              </a:ext>
            </a:extLst>
          </p:cNvPr>
          <p:cNvSpPr>
            <a:spLocks xmlns:a="http://schemas.openxmlformats.org/drawingml/2006/main" noGrp="1"/>
          </p:cNvSpPr>
          <p:nvPr/>
        </p:nvSpPr>
        <p:spPr>
          <a:xfrm xmlns:a="http://schemas.openxmlformats.org/drawingml/2006/main">
            <a:off x="6248400" y="5715000"/>
            <a:ext cx="502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05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Freeze checkpoint and thresholds before revealing masked natural linkers.</a:t>
            </a:r>
          </a:p>
        </p:txBody>
      </p:sp>
    </p:spTree>
    <p:extLst>
      <p:ext uri="{BB962C8B-B14F-4D97-AF65-F5344CB8AC3E}">
        <p14:creationId xmlns:p14="http://schemas.microsoft.com/office/powerpoint/2010/main" val="538428829"/>
      </p:ext>
    </p:extLst>
  </p:cSld>
</p:sld>
</file>

<file path=ppt/slides/slide13.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AFF38520-062F-4AD3-B721-A15AD2B15DB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0557983-C25A-4ECE-B81F-CFE4CBBD5CAD}"/>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95940B35-6120-4F95-AB5B-56FA7B919AA6}"/>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 ACQUISITION</a:t>
            </a:r>
          </a:p>
        </p:txBody>
      </p:sp>
      <p:sp>
        <p:nvSpPr>
          <p:cNvPr id="4" name="Rectangle 3">
            <a:extLst xmlns:a="http://schemas.openxmlformats.org/drawingml/2006/main">
              <a:ext uri="{FF2B5EF4-FFF2-40B4-BE49-F238E27FC236}">
                <a16:creationId xmlns:a16="http://schemas.microsoft.com/office/drawing/2014/main" id="{17393B41-6FDB-4AE3-A009-22E86499F79A}"/>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datasets/README.md; docs/LINKER_CURATION_PROTOCOL_2026-10-21.md</a:t>
            </a:r>
          </a:p>
        </p:txBody>
      </p:sp>
      <p:sp>
        <p:nvSpPr>
          <p:cNvPr id="5" name="Rectangle 4">
            <a:extLst xmlns:a="http://schemas.openxmlformats.org/drawingml/2006/main">
              <a:ext uri="{FF2B5EF4-FFF2-40B4-BE49-F238E27FC236}">
                <a16:creationId xmlns:a16="http://schemas.microsoft.com/office/drawing/2014/main" id="{B91B70A4-83BD-4953-9325-A32AD7EB159D}"/>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13</a:t>
            </a:r>
          </a:p>
        </p:txBody>
      </p:sp>
      <p:sp>
        <p:nvSpPr>
          <p:cNvPr id="6" name="Rectangle 5">
            <a:extLst xmlns:a="http://schemas.openxmlformats.org/drawingml/2006/main">
              <a:ext uri="{FF2B5EF4-FFF2-40B4-BE49-F238E27FC236}">
                <a16:creationId xmlns:a16="http://schemas.microsoft.com/office/drawing/2014/main" id="{70C50990-DE11-4BDA-B16C-BBBCF88C1D7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Dataset acquisition and evidence tiers</a:t>
            </a:r>
          </a:p>
        </p:txBody>
      </p:sp>
      <p:sp>
        <p:nvSpPr>
          <p:cNvPr id="7" name="Rectangle 6">
            <a:extLst xmlns:a="http://schemas.openxmlformats.org/drawingml/2006/main">
              <a:ext uri="{FF2B5EF4-FFF2-40B4-BE49-F238E27FC236}">
                <a16:creationId xmlns:a16="http://schemas.microsoft.com/office/drawing/2014/main" id="{C11FEC35-21AE-4CA7-A89A-1C02E6E2333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27,766-record composite joins mined candidates, natural observations, curated annotations, and cited templates</a:t>
            </a:r>
          </a:p>
        </p:txBody>
      </p:sp>
      <p:graphicFrame>
        <p:nvGraphicFramePr>
          <p:cNvPr id="8" name="Table 7">
            <a:extLst xmlns:a="http://schemas.openxmlformats.org/drawingml/2006/main">
              <a:ext uri="{FF2B5EF4-FFF2-40B4-BE49-F238E27FC236}">
                <a16:creationId xmlns:a16="http://schemas.microsoft.com/office/drawing/2014/main" id="{F57924B7-748A-42A6-BD88-6665BBF0EDED}"/>
              </a:ext>
            </a:extLst>
          </p:cNvPr>
          <p:cNvGraphicFramePr/>
          <p:nvPr/>
        </p:nvGraphicFramePr>
        <p:xfrm>
          <a:off xmlns:a="http://schemas.openxmlformats.org/drawingml/2006/main" x="533400" y="1657350"/>
          <a:ext xmlns:a="http://schemas.openxmlformats.org/drawingml/2006/main" cx="11125200" cy="3333750"/>
        </p:xfrm>
        <a:graphic xmlns:a="http://schemas.openxmlformats.org/drawingml/2006/main">
          <a:graphicData uri="http://schemas.openxmlformats.org/drawingml/2006/table">
            <a:tbl>
              <a:tblPr/>
              <a:tblGrid>
                <a:gridCol w="2714625"/>
                <a:gridCol w="1238250"/>
                <a:gridCol w="4000500"/>
                <a:gridCol w="3171825"/>
              </a:tblGrid>
              <a:tr h="476250">
                <a:tc>
                  <a:txBody>
                    <a:bodyPr/>
                    <a:lstStyle/>
                    <a:p>
                      <a:r>
                        <a:rPr sz="1050" b="1">
                          <a:solidFill>
                            <a:srgbClr val="FFFFFF"/>
                          </a:solidFill>
                          <a:latin typeface="Arial"/>
                          <a:ea typeface="Arial"/>
                          <a:cs typeface="Arial"/>
                        </a:rPr>
                        <a:t>Source class</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Records</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Permitted use</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Evidence label</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High-score mined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6,556</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Retrieval / weak supervision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mined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Provisional mined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21,039</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Discovery only</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provisional</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CATH / PDB natural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91</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Natural linker reference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natural observation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DisProt curated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57</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Disorder-linked reference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curated observation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Literature templates</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23</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Baseline templates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literature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b="1">
                          <a:solidFill>
                            <a:srgbClr val="5A4800"/>
                          </a:solidFill>
                          <a:latin typeface="Arial"/>
                          <a:ea typeface="Arial"/>
                          <a:cs typeface="Arial"/>
                        </a:rPr>
                        <a:t>Composite total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27,766</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Not fusion-compatibility ground truth</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mixed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r>
            </a:tbl>
          </a:graphicData>
        </a:graphic>
      </p:graphicFrame>
      <p:sp>
        <p:nvSpPr>
          <p:cNvPr id="9" name="Rectangle 8">
            <a:extLst xmlns:a="http://schemas.openxmlformats.org/drawingml/2006/main">
              <a:ext uri="{FF2B5EF4-FFF2-40B4-BE49-F238E27FC236}">
                <a16:creationId xmlns:a16="http://schemas.microsoft.com/office/drawing/2014/main" id="{AE873616-6041-4020-A9F9-4AFF008B30B3}"/>
              </a:ext>
            </a:extLst>
          </p:cNvPr>
          <p:cNvSpPr>
            <a:spLocks xmlns:a="http://schemas.openxmlformats.org/drawingml/2006/main" noGrp="1"/>
          </p:cNvSpPr>
          <p:nvPr/>
        </p:nvSpPr>
        <p:spPr>
          <a:xfrm xmlns:a="http://schemas.openxmlformats.org/drawingml/2006/main">
            <a:off x="657225" y="5286375"/>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971</a:t>
            </a:r>
          </a:p>
        </p:txBody>
      </p:sp>
      <p:sp>
        <p:nvSpPr>
          <p:cNvPr id="10" name="Rectangle 9">
            <a:extLst xmlns:a="http://schemas.openxmlformats.org/drawingml/2006/main">
              <a:ext uri="{FF2B5EF4-FFF2-40B4-BE49-F238E27FC236}">
                <a16:creationId xmlns:a16="http://schemas.microsoft.com/office/drawing/2014/main" id="{A0562414-282D-4221-B1EC-094D1F0F4E1D}"/>
              </a:ext>
            </a:extLst>
          </p:cNvPr>
          <p:cNvSpPr>
            <a:spLocks xmlns:a="http://schemas.openxmlformats.org/drawingml/2006/main" noGrp="1"/>
          </p:cNvSpPr>
          <p:nvPr/>
        </p:nvSpPr>
        <p:spPr>
          <a:xfrm xmlns:a="http://schemas.openxmlformats.org/drawingml/2006/main">
            <a:off x="657225" y="5743575"/>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records prepared for two-curator review</a:t>
            </a:r>
          </a:p>
        </p:txBody>
      </p:sp>
      <p:sp>
        <p:nvSpPr>
          <p:cNvPr id="11" name="Rectangle 10">
            <a:extLst xmlns:a="http://schemas.openxmlformats.org/drawingml/2006/main">
              <a:ext uri="{FF2B5EF4-FFF2-40B4-BE49-F238E27FC236}">
                <a16:creationId xmlns:a16="http://schemas.microsoft.com/office/drawing/2014/main" id="{FBF7375A-0CC4-41D8-B982-3C4AE262D19A}"/>
              </a:ext>
            </a:extLst>
          </p:cNvPr>
          <p:cNvSpPr>
            <a:spLocks xmlns:a="http://schemas.openxmlformats.org/drawingml/2006/main" noGrp="1"/>
          </p:cNvSpPr>
          <p:nvPr/>
        </p:nvSpPr>
        <p:spPr>
          <a:xfrm xmlns:a="http://schemas.openxmlformats.org/drawingml/2006/main">
            <a:off x="4248150" y="5286375"/>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3FC6D6"/>
                </a:solidFill>
                <a:latin typeface="Arial"/>
                <a:ea typeface="Arial"/>
                <a:cs typeface="Arial"/>
              </a:defRPr>
            </a:defPPr>
            <a:lvl1pPr algn="l">
              <a:buNone/>
              <a:defRPr sz="2550" b="1" i="0">
                <a:solidFill>
                  <a:srgbClr val="3FC6D6"/>
                </a:solidFill>
                <a:latin typeface="Arial"/>
                <a:ea typeface="Arial"/>
                <a:cs typeface="Arial"/>
              </a:defRPr>
            </a:lvl1pPr>
            <a:lvl2pPr algn="l">
              <a:buNone/>
              <a:defRPr sz="2550" b="1" i="0">
                <a:solidFill>
                  <a:srgbClr val="3FC6D6"/>
                </a:solidFill>
                <a:latin typeface="Arial"/>
                <a:ea typeface="Arial"/>
                <a:cs typeface="Arial"/>
              </a:defRPr>
            </a:lvl2pPr>
            <a:lvl3pPr algn="l">
              <a:buNone/>
              <a:defRPr sz="2550" b="1" i="0">
                <a:solidFill>
                  <a:srgbClr val="3FC6D6"/>
                </a:solidFill>
                <a:latin typeface="Arial"/>
                <a:ea typeface="Arial"/>
                <a:cs typeface="Arial"/>
              </a:defRPr>
            </a:lvl3pPr>
            <a:lvl4pPr algn="l">
              <a:buNone/>
              <a:defRPr sz="2550" b="1" i="0">
                <a:solidFill>
                  <a:srgbClr val="3FC6D6"/>
                </a:solidFill>
                <a:latin typeface="Arial"/>
                <a:ea typeface="Arial"/>
                <a:cs typeface="Arial"/>
              </a:defRPr>
            </a:lvl4pPr>
            <a:lvl5pPr algn="l">
              <a:buNone/>
              <a:defRPr sz="2550" b="1" i="0">
                <a:solidFill>
                  <a:srgbClr val="3FC6D6"/>
                </a:solidFill>
                <a:latin typeface="Arial"/>
                <a:ea typeface="Arial"/>
                <a:cs typeface="Arial"/>
              </a:defRPr>
            </a:lvl5pPr>
            <a:lvl6pPr algn="l">
              <a:buNone/>
              <a:defRPr sz="2550" b="1" i="0">
                <a:solidFill>
                  <a:srgbClr val="3FC6D6"/>
                </a:solidFill>
                <a:latin typeface="Arial"/>
                <a:ea typeface="Arial"/>
                <a:cs typeface="Arial"/>
              </a:defRPr>
            </a:lvl6pPr>
            <a:lvl7pPr algn="l">
              <a:buNone/>
              <a:defRPr sz="2550" b="1" i="0">
                <a:solidFill>
                  <a:srgbClr val="3FC6D6"/>
                </a:solidFill>
                <a:latin typeface="Arial"/>
                <a:ea typeface="Arial"/>
                <a:cs typeface="Arial"/>
              </a:defRPr>
            </a:lvl7pPr>
            <a:lvl8pPr algn="l">
              <a:buNone/>
              <a:defRPr sz="2550" b="1" i="0">
                <a:solidFill>
                  <a:srgbClr val="3FC6D6"/>
                </a:solidFill>
                <a:latin typeface="Arial"/>
                <a:ea typeface="Arial"/>
                <a:cs typeface="Arial"/>
              </a:defRPr>
            </a:lvl8pPr>
            <a:lvl9pPr algn="l">
              <a:buNone/>
              <a:defRPr sz="2550" b="1" i="0">
                <a:solidFill>
                  <a:srgbClr val="3FC6D6"/>
                </a:solidFill>
                <a:latin typeface="Arial"/>
                <a:ea typeface="Arial"/>
                <a:cs typeface="Arial"/>
              </a:defRPr>
            </a:lvl9pPr>
          </a:lstStyle>
          <a:p xmlns:a="http://schemas.openxmlformats.org/drawingml/2006/main">
            <a:pPr algn="l">
              <a:buNone/>
              <a:defRPr sz="2550" b="1" i="0">
                <a:solidFill>
                  <a:srgbClr val="3FC6D6"/>
                </a:solidFill>
                <a:latin typeface="Arial"/>
                <a:ea typeface="Arial"/>
                <a:cs typeface="Arial"/>
              </a:defRPr>
            </a:pPr>
            <a:r>
              <a:rPr sz="2550" b="1" i="0">
                <a:solidFill>
                  <a:srgbClr val="3FC6D6"/>
                </a:solidFill>
                <a:latin typeface="Arial"/>
                <a:ea typeface="Arial"/>
                <a:cs typeface="Arial"/>
              </a:rPr>
              <a:t>60 / 28 / 9</a:t>
            </a:r>
          </a:p>
        </p:txBody>
      </p:sp>
      <p:sp>
        <p:nvSpPr>
          <p:cNvPr id="12" name="Rectangle 11">
            <a:extLst xmlns:a="http://schemas.openxmlformats.org/drawingml/2006/main">
              <a:ext uri="{FF2B5EF4-FFF2-40B4-BE49-F238E27FC236}">
                <a16:creationId xmlns:a16="http://schemas.microsoft.com/office/drawing/2014/main" id="{A627AE3C-8343-47FE-B332-E19B36529434}"/>
              </a:ext>
            </a:extLst>
          </p:cNvPr>
          <p:cNvSpPr>
            <a:spLocks xmlns:a="http://schemas.openxmlformats.org/drawingml/2006/main" noGrp="1"/>
          </p:cNvSpPr>
          <p:nvPr/>
        </p:nvSpPr>
        <p:spPr>
          <a:xfrm xmlns:a="http://schemas.openxmlformats.org/drawingml/2006/main">
            <a:off x="4248150" y="574357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DFL B1 V2 train / dev / auxiliary split</a:t>
            </a:r>
          </a:p>
        </p:txBody>
      </p:sp>
      <p:sp>
        <p:nvSpPr>
          <p:cNvPr id="13" name="Rectangle 12">
            <a:extLst xmlns:a="http://schemas.openxmlformats.org/drawingml/2006/main">
              <a:ext uri="{FF2B5EF4-FFF2-40B4-BE49-F238E27FC236}">
                <a16:creationId xmlns:a16="http://schemas.microsoft.com/office/drawing/2014/main" id="{4C471986-AC26-4FAE-85A0-C738B1E92ED8}"/>
              </a:ext>
            </a:extLst>
          </p:cNvPr>
          <p:cNvSpPr>
            <a:spLocks xmlns:a="http://schemas.openxmlformats.org/drawingml/2006/main" noGrp="1"/>
          </p:cNvSpPr>
          <p:nvPr/>
        </p:nvSpPr>
        <p:spPr>
          <a:xfrm xmlns:a="http://schemas.openxmlformats.org/drawingml/2006/main">
            <a:off x="8048625" y="5324475"/>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Adjudication is unfinished. A separate engineered-fusion outcome dataset is still required for scientific compatibility training.</a:t>
            </a:r>
          </a:p>
        </p:txBody>
      </p:sp>
    </p:spTree>
    <p:extLst>
      <p:ext uri="{BB962C8B-B14F-4D97-AF65-F5344CB8AC3E}">
        <p14:creationId xmlns:p14="http://schemas.microsoft.com/office/powerpoint/2010/main" val="287331119"/>
      </p:ext>
    </p:extLst>
  </p:cSld>
</p:sld>
</file>

<file path=ppt/slides/slide14.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8" name="Rectangle 37">
            <a:extLst xmlns:a="http://schemas.openxmlformats.org/drawingml/2006/main">
              <a:ext uri="{FF2B5EF4-FFF2-40B4-BE49-F238E27FC236}">
                <a16:creationId xmlns:a16="http://schemas.microsoft.com/office/drawing/2014/main" id="{5D9E65A4-DCC3-4F32-9DD7-FC03B36216F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4A020F6E-9EE9-43C2-B8CE-58ABE8562980}"/>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E40683D-F0A5-42FD-81E3-545934720217}"/>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 ANNOTATION</a:t>
            </a:r>
          </a:p>
        </p:txBody>
      </p:sp>
      <p:sp>
        <p:nvSpPr>
          <p:cNvPr id="4" name="Rectangle 3">
            <a:extLst xmlns:a="http://schemas.openxmlformats.org/drawingml/2006/main">
              <a:ext uri="{FF2B5EF4-FFF2-40B4-BE49-F238E27FC236}">
                <a16:creationId xmlns:a16="http://schemas.microsoft.com/office/drawing/2014/main" id="{764DBD52-F4E4-44B3-9BE3-3EBADF53E3B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docs/LINKER_CURATION_PROTOCOL_2026-10-21.md; frozen packet config: configs/linker-curation-review-v1.json</a:t>
            </a:r>
          </a:p>
        </p:txBody>
      </p:sp>
      <p:sp>
        <p:nvSpPr>
          <p:cNvPr id="5" name="Rectangle 4">
            <a:extLst xmlns:a="http://schemas.openxmlformats.org/drawingml/2006/main">
              <a:ext uri="{FF2B5EF4-FFF2-40B4-BE49-F238E27FC236}">
                <a16:creationId xmlns:a16="http://schemas.microsoft.com/office/drawing/2014/main" id="{CBEA8CEA-2682-4D33-B488-5B46D3C7D98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14</a:t>
            </a:r>
          </a:p>
        </p:txBody>
      </p:sp>
      <p:sp>
        <p:nvSpPr>
          <p:cNvPr id="6" name="Rectangle 5">
            <a:extLst xmlns:a="http://schemas.openxmlformats.org/drawingml/2006/main">
              <a:ext uri="{FF2B5EF4-FFF2-40B4-BE49-F238E27FC236}">
                <a16:creationId xmlns:a16="http://schemas.microsoft.com/office/drawing/2014/main" id="{05C3B1C2-1557-464F-B533-C54AC634D11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Independent annotation and adjudication</a:t>
            </a:r>
          </a:p>
        </p:txBody>
      </p:sp>
      <p:sp>
        <p:nvSpPr>
          <p:cNvPr id="7" name="Rectangle 6">
            <a:extLst xmlns:a="http://schemas.openxmlformats.org/drawingml/2006/main">
              <a:ext uri="{FF2B5EF4-FFF2-40B4-BE49-F238E27FC236}">
                <a16:creationId xmlns:a16="http://schemas.microsoft.com/office/drawing/2014/main" id="{AA7E2758-F827-41C6-855B-FB64D825C2C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 deterministic 971-record packet tests linker identity and source support, not fusion compatibility</a:t>
            </a:r>
          </a:p>
        </p:txBody>
      </p:sp>
      <p:sp>
        <p:nvSpPr>
          <p:cNvPr id="8" name="Rectangle 7">
            <a:extLst xmlns:a="http://schemas.openxmlformats.org/drawingml/2006/main">
              <a:ext uri="{FF2B5EF4-FFF2-40B4-BE49-F238E27FC236}">
                <a16:creationId xmlns:a16="http://schemas.microsoft.com/office/drawing/2014/main" id="{E10C6E6D-612B-4EF4-BFB0-AB125E3FE82D}"/>
              </a:ext>
            </a:extLst>
          </p:cNvPr>
          <p:cNvSpPr>
            <a:spLocks xmlns:a="http://schemas.openxmlformats.org/drawingml/2006/main" noGrp="1"/>
          </p:cNvSpPr>
          <p:nvPr/>
        </p:nvSpPr>
        <p:spPr>
          <a:xfrm xmlns:a="http://schemas.openxmlformats.org/drawingml/2006/main">
            <a:off x="571500" y="1685925"/>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3FC6D6"/>
                </a:solidFill>
                <a:latin typeface="Arial"/>
                <a:ea typeface="Arial"/>
                <a:cs typeface="Arial"/>
              </a:defRPr>
            </a:defPPr>
            <a:lvl1pPr algn="l">
              <a:buNone/>
              <a:defRPr sz="2550" b="1" i="0">
                <a:solidFill>
                  <a:srgbClr val="3FC6D6"/>
                </a:solidFill>
                <a:latin typeface="Arial"/>
                <a:ea typeface="Arial"/>
                <a:cs typeface="Arial"/>
              </a:defRPr>
            </a:lvl1pPr>
            <a:lvl2pPr algn="l">
              <a:buNone/>
              <a:defRPr sz="2550" b="1" i="0">
                <a:solidFill>
                  <a:srgbClr val="3FC6D6"/>
                </a:solidFill>
                <a:latin typeface="Arial"/>
                <a:ea typeface="Arial"/>
                <a:cs typeface="Arial"/>
              </a:defRPr>
            </a:lvl2pPr>
            <a:lvl3pPr algn="l">
              <a:buNone/>
              <a:defRPr sz="2550" b="1" i="0">
                <a:solidFill>
                  <a:srgbClr val="3FC6D6"/>
                </a:solidFill>
                <a:latin typeface="Arial"/>
                <a:ea typeface="Arial"/>
                <a:cs typeface="Arial"/>
              </a:defRPr>
            </a:lvl3pPr>
            <a:lvl4pPr algn="l">
              <a:buNone/>
              <a:defRPr sz="2550" b="1" i="0">
                <a:solidFill>
                  <a:srgbClr val="3FC6D6"/>
                </a:solidFill>
                <a:latin typeface="Arial"/>
                <a:ea typeface="Arial"/>
                <a:cs typeface="Arial"/>
              </a:defRPr>
            </a:lvl4pPr>
            <a:lvl5pPr algn="l">
              <a:buNone/>
              <a:defRPr sz="2550" b="1" i="0">
                <a:solidFill>
                  <a:srgbClr val="3FC6D6"/>
                </a:solidFill>
                <a:latin typeface="Arial"/>
                <a:ea typeface="Arial"/>
                <a:cs typeface="Arial"/>
              </a:defRPr>
            </a:lvl5pPr>
            <a:lvl6pPr algn="l">
              <a:buNone/>
              <a:defRPr sz="2550" b="1" i="0">
                <a:solidFill>
                  <a:srgbClr val="3FC6D6"/>
                </a:solidFill>
                <a:latin typeface="Arial"/>
                <a:ea typeface="Arial"/>
                <a:cs typeface="Arial"/>
              </a:defRPr>
            </a:lvl6pPr>
            <a:lvl7pPr algn="l">
              <a:buNone/>
              <a:defRPr sz="2550" b="1" i="0">
                <a:solidFill>
                  <a:srgbClr val="3FC6D6"/>
                </a:solidFill>
                <a:latin typeface="Arial"/>
                <a:ea typeface="Arial"/>
                <a:cs typeface="Arial"/>
              </a:defRPr>
            </a:lvl7pPr>
            <a:lvl8pPr algn="l">
              <a:buNone/>
              <a:defRPr sz="2550" b="1" i="0">
                <a:solidFill>
                  <a:srgbClr val="3FC6D6"/>
                </a:solidFill>
                <a:latin typeface="Arial"/>
                <a:ea typeface="Arial"/>
                <a:cs typeface="Arial"/>
              </a:defRPr>
            </a:lvl8pPr>
            <a:lvl9pPr algn="l">
              <a:buNone/>
              <a:defRPr sz="2550" b="1" i="0">
                <a:solidFill>
                  <a:srgbClr val="3FC6D6"/>
                </a:solidFill>
                <a:latin typeface="Arial"/>
                <a:ea typeface="Arial"/>
                <a:cs typeface="Arial"/>
              </a:defRPr>
            </a:lvl9pPr>
          </a:lstStyle>
          <a:p xmlns:a="http://schemas.openxmlformats.org/drawingml/2006/main">
            <a:pPr algn="l">
              <a:buNone/>
              <a:defRPr sz="2550" b="1" i="0">
                <a:solidFill>
                  <a:srgbClr val="3FC6D6"/>
                </a:solidFill>
                <a:latin typeface="Arial"/>
                <a:ea typeface="Arial"/>
                <a:cs typeface="Arial"/>
              </a:defRPr>
            </a:pPr>
            <a:r>
              <a:rPr sz="2550" b="1" i="0">
                <a:solidFill>
                  <a:srgbClr val="3FC6D6"/>
                </a:solidFill>
                <a:latin typeface="Arial"/>
                <a:ea typeface="Arial"/>
                <a:cs typeface="Arial"/>
              </a:rPr>
              <a:t>360</a:t>
            </a:r>
          </a:p>
        </p:txBody>
      </p:sp>
      <p:sp>
        <p:nvSpPr>
          <p:cNvPr id="9" name="Rectangle 8">
            <a:extLst xmlns:a="http://schemas.openxmlformats.org/drawingml/2006/main">
              <a:ext uri="{FF2B5EF4-FFF2-40B4-BE49-F238E27FC236}">
                <a16:creationId xmlns:a16="http://schemas.microsoft.com/office/drawing/2014/main" id="{2E757601-8389-4993-8C86-0DC50AE8A1FF}"/>
              </a:ext>
            </a:extLst>
          </p:cNvPr>
          <p:cNvSpPr>
            <a:spLocks xmlns:a="http://schemas.openxmlformats.org/drawingml/2006/main" noGrp="1"/>
          </p:cNvSpPr>
          <p:nvPr/>
        </p:nvSpPr>
        <p:spPr>
          <a:xfrm xmlns:a="http://schemas.openxmlformats.org/drawingml/2006/main">
            <a:off x="571500" y="2143125"/>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high-score mined calls</a:t>
            </a:r>
          </a:p>
        </p:txBody>
      </p:sp>
      <p:sp>
        <p:nvSpPr>
          <p:cNvPr id="10" name="Rectangle 9">
            <a:extLst xmlns:a="http://schemas.openxmlformats.org/drawingml/2006/main">
              <a:ext uri="{FF2B5EF4-FFF2-40B4-BE49-F238E27FC236}">
                <a16:creationId xmlns:a16="http://schemas.microsoft.com/office/drawing/2014/main" id="{8746777F-327F-40D0-89AC-ABE11B046314}"/>
              </a:ext>
            </a:extLst>
          </p:cNvPr>
          <p:cNvSpPr>
            <a:spLocks xmlns:a="http://schemas.openxmlformats.org/drawingml/2006/main" noGrp="1"/>
          </p:cNvSpPr>
          <p:nvPr/>
        </p:nvSpPr>
        <p:spPr>
          <a:xfrm xmlns:a="http://schemas.openxmlformats.org/drawingml/2006/main">
            <a:off x="2762250" y="1685925"/>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440</a:t>
            </a:r>
          </a:p>
        </p:txBody>
      </p:sp>
      <p:sp>
        <p:nvSpPr>
          <p:cNvPr id="11" name="Rectangle 10">
            <a:extLst xmlns:a="http://schemas.openxmlformats.org/drawingml/2006/main">
              <a:ext uri="{FF2B5EF4-FFF2-40B4-BE49-F238E27FC236}">
                <a16:creationId xmlns:a16="http://schemas.microsoft.com/office/drawing/2014/main" id="{8E6D4CFA-0F3D-4878-85B2-8ABCD715878B}"/>
              </a:ext>
            </a:extLst>
          </p:cNvPr>
          <p:cNvSpPr>
            <a:spLocks xmlns:a="http://schemas.openxmlformats.org/drawingml/2006/main" noGrp="1"/>
          </p:cNvSpPr>
          <p:nvPr/>
        </p:nvSpPr>
        <p:spPr>
          <a:xfrm xmlns:a="http://schemas.openxmlformats.org/drawingml/2006/main">
            <a:off x="2762250" y="2143125"/>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provisional mined candidates</a:t>
            </a:r>
          </a:p>
        </p:txBody>
      </p:sp>
      <p:sp>
        <p:nvSpPr>
          <p:cNvPr id="12" name="Rectangle 11">
            <a:extLst xmlns:a="http://schemas.openxmlformats.org/drawingml/2006/main">
              <a:ext uri="{FF2B5EF4-FFF2-40B4-BE49-F238E27FC236}">
                <a16:creationId xmlns:a16="http://schemas.microsoft.com/office/drawing/2014/main" id="{109FF2E0-2642-43BB-A9FB-36A9AE298B83}"/>
              </a:ext>
            </a:extLst>
          </p:cNvPr>
          <p:cNvSpPr>
            <a:spLocks xmlns:a="http://schemas.openxmlformats.org/drawingml/2006/main" noGrp="1"/>
          </p:cNvSpPr>
          <p:nvPr/>
        </p:nvSpPr>
        <p:spPr>
          <a:xfrm xmlns:a="http://schemas.openxmlformats.org/drawingml/2006/main">
            <a:off x="5286375" y="16859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2DBD73"/>
                </a:solidFill>
                <a:latin typeface="Arial"/>
                <a:ea typeface="Arial"/>
                <a:cs typeface="Arial"/>
              </a:defRPr>
            </a:defPPr>
            <a:lvl1pPr algn="l">
              <a:buNone/>
              <a:defRPr sz="2550" b="1" i="0">
                <a:solidFill>
                  <a:srgbClr val="2DBD73"/>
                </a:solidFill>
                <a:latin typeface="Arial"/>
                <a:ea typeface="Arial"/>
                <a:cs typeface="Arial"/>
              </a:defRPr>
            </a:lvl1pPr>
            <a:lvl2pPr algn="l">
              <a:buNone/>
              <a:defRPr sz="2550" b="1" i="0">
                <a:solidFill>
                  <a:srgbClr val="2DBD73"/>
                </a:solidFill>
                <a:latin typeface="Arial"/>
                <a:ea typeface="Arial"/>
                <a:cs typeface="Arial"/>
              </a:defRPr>
            </a:lvl2pPr>
            <a:lvl3pPr algn="l">
              <a:buNone/>
              <a:defRPr sz="2550" b="1" i="0">
                <a:solidFill>
                  <a:srgbClr val="2DBD73"/>
                </a:solidFill>
                <a:latin typeface="Arial"/>
                <a:ea typeface="Arial"/>
                <a:cs typeface="Arial"/>
              </a:defRPr>
            </a:lvl3pPr>
            <a:lvl4pPr algn="l">
              <a:buNone/>
              <a:defRPr sz="2550" b="1" i="0">
                <a:solidFill>
                  <a:srgbClr val="2DBD73"/>
                </a:solidFill>
                <a:latin typeface="Arial"/>
                <a:ea typeface="Arial"/>
                <a:cs typeface="Arial"/>
              </a:defRPr>
            </a:lvl4pPr>
            <a:lvl5pPr algn="l">
              <a:buNone/>
              <a:defRPr sz="2550" b="1" i="0">
                <a:solidFill>
                  <a:srgbClr val="2DBD73"/>
                </a:solidFill>
                <a:latin typeface="Arial"/>
                <a:ea typeface="Arial"/>
                <a:cs typeface="Arial"/>
              </a:defRPr>
            </a:lvl5pPr>
            <a:lvl6pPr algn="l">
              <a:buNone/>
              <a:defRPr sz="2550" b="1" i="0">
                <a:solidFill>
                  <a:srgbClr val="2DBD73"/>
                </a:solidFill>
                <a:latin typeface="Arial"/>
                <a:ea typeface="Arial"/>
                <a:cs typeface="Arial"/>
              </a:defRPr>
            </a:lvl6pPr>
            <a:lvl7pPr algn="l">
              <a:buNone/>
              <a:defRPr sz="2550" b="1" i="0">
                <a:solidFill>
                  <a:srgbClr val="2DBD73"/>
                </a:solidFill>
                <a:latin typeface="Arial"/>
                <a:ea typeface="Arial"/>
                <a:cs typeface="Arial"/>
              </a:defRPr>
            </a:lvl7pPr>
            <a:lvl8pPr algn="l">
              <a:buNone/>
              <a:defRPr sz="2550" b="1" i="0">
                <a:solidFill>
                  <a:srgbClr val="2DBD73"/>
                </a:solidFill>
                <a:latin typeface="Arial"/>
                <a:ea typeface="Arial"/>
                <a:cs typeface="Arial"/>
              </a:defRPr>
            </a:lvl8pPr>
            <a:lvl9pPr algn="l">
              <a:buNone/>
              <a:defRPr sz="2550" b="1" i="0">
                <a:solidFill>
                  <a:srgbClr val="2DBD73"/>
                </a:solidFill>
                <a:latin typeface="Arial"/>
                <a:ea typeface="Arial"/>
                <a:cs typeface="Arial"/>
              </a:defRPr>
            </a:lvl9pPr>
          </a:lstStyle>
          <a:p xmlns:a="http://schemas.openxmlformats.org/drawingml/2006/main">
            <a:pPr algn="l">
              <a:buNone/>
              <a:defRPr sz="2550" b="1" i="0">
                <a:solidFill>
                  <a:srgbClr val="2DBD73"/>
                </a:solidFill>
                <a:latin typeface="Arial"/>
                <a:ea typeface="Arial"/>
                <a:cs typeface="Arial"/>
              </a:defRPr>
            </a:pPr>
            <a:r>
              <a:rPr sz="2550" b="1" i="0">
                <a:solidFill>
                  <a:srgbClr val="2DBD73"/>
                </a:solidFill>
                <a:latin typeface="Arial"/>
                <a:ea typeface="Arial"/>
                <a:cs typeface="Arial"/>
              </a:rPr>
              <a:t>171</a:t>
            </a:r>
          </a:p>
        </p:txBody>
      </p:sp>
      <p:sp>
        <p:nvSpPr>
          <p:cNvPr id="13" name="Rectangle 12">
            <a:extLst xmlns:a="http://schemas.openxmlformats.org/drawingml/2006/main">
              <a:ext uri="{FF2B5EF4-FFF2-40B4-BE49-F238E27FC236}">
                <a16:creationId xmlns:a16="http://schemas.microsoft.com/office/drawing/2014/main" id="{27264308-A48A-4C78-B9EC-14DEDADC734E}"/>
              </a:ext>
            </a:extLst>
          </p:cNvPr>
          <p:cNvSpPr>
            <a:spLocks xmlns:a="http://schemas.openxmlformats.org/drawingml/2006/main" noGrp="1"/>
          </p:cNvSpPr>
          <p:nvPr/>
        </p:nvSpPr>
        <p:spPr>
          <a:xfrm xmlns:a="http://schemas.openxmlformats.org/drawingml/2006/main">
            <a:off x="5286375" y="2143125"/>
            <a:ext cx="2714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all natural, curated, and template authorities</a:t>
            </a:r>
          </a:p>
        </p:txBody>
      </p:sp>
      <p:sp>
        <p:nvSpPr>
          <p:cNvPr id="14" name="Rectangle 13">
            <a:extLst xmlns:a="http://schemas.openxmlformats.org/drawingml/2006/main">
              <a:ext uri="{FF2B5EF4-FFF2-40B4-BE49-F238E27FC236}">
                <a16:creationId xmlns:a16="http://schemas.microsoft.com/office/drawing/2014/main" id="{1F61004E-2B8D-4198-9D68-3FB32B8D7C70}"/>
              </a:ext>
            </a:extLst>
          </p:cNvPr>
          <p:cNvSpPr>
            <a:spLocks xmlns:a="http://schemas.openxmlformats.org/drawingml/2006/main" noGrp="1"/>
          </p:cNvSpPr>
          <p:nvPr/>
        </p:nvSpPr>
        <p:spPr>
          <a:xfrm xmlns:a="http://schemas.openxmlformats.org/drawingml/2006/main">
            <a:off x="8334375" y="168592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F1C84B"/>
                </a:solidFill>
                <a:latin typeface="Arial"/>
                <a:ea typeface="Arial"/>
                <a:cs typeface="Arial"/>
              </a:defRPr>
            </a:defPPr>
            <a:lvl1pPr algn="l">
              <a:buNone/>
              <a:defRPr sz="2550" b="1" i="0">
                <a:solidFill>
                  <a:srgbClr val="F1C84B"/>
                </a:solidFill>
                <a:latin typeface="Arial"/>
                <a:ea typeface="Arial"/>
                <a:cs typeface="Arial"/>
              </a:defRPr>
            </a:lvl1pPr>
            <a:lvl2pPr algn="l">
              <a:buNone/>
              <a:defRPr sz="2550" b="1" i="0">
                <a:solidFill>
                  <a:srgbClr val="F1C84B"/>
                </a:solidFill>
                <a:latin typeface="Arial"/>
                <a:ea typeface="Arial"/>
                <a:cs typeface="Arial"/>
              </a:defRPr>
            </a:lvl2pPr>
            <a:lvl3pPr algn="l">
              <a:buNone/>
              <a:defRPr sz="2550" b="1" i="0">
                <a:solidFill>
                  <a:srgbClr val="F1C84B"/>
                </a:solidFill>
                <a:latin typeface="Arial"/>
                <a:ea typeface="Arial"/>
                <a:cs typeface="Arial"/>
              </a:defRPr>
            </a:lvl3pPr>
            <a:lvl4pPr algn="l">
              <a:buNone/>
              <a:defRPr sz="2550" b="1" i="0">
                <a:solidFill>
                  <a:srgbClr val="F1C84B"/>
                </a:solidFill>
                <a:latin typeface="Arial"/>
                <a:ea typeface="Arial"/>
                <a:cs typeface="Arial"/>
              </a:defRPr>
            </a:lvl4pPr>
            <a:lvl5pPr algn="l">
              <a:buNone/>
              <a:defRPr sz="2550" b="1" i="0">
                <a:solidFill>
                  <a:srgbClr val="F1C84B"/>
                </a:solidFill>
                <a:latin typeface="Arial"/>
                <a:ea typeface="Arial"/>
                <a:cs typeface="Arial"/>
              </a:defRPr>
            </a:lvl5pPr>
            <a:lvl6pPr algn="l">
              <a:buNone/>
              <a:defRPr sz="2550" b="1" i="0">
                <a:solidFill>
                  <a:srgbClr val="F1C84B"/>
                </a:solidFill>
                <a:latin typeface="Arial"/>
                <a:ea typeface="Arial"/>
                <a:cs typeface="Arial"/>
              </a:defRPr>
            </a:lvl6pPr>
            <a:lvl7pPr algn="l">
              <a:buNone/>
              <a:defRPr sz="2550" b="1" i="0">
                <a:solidFill>
                  <a:srgbClr val="F1C84B"/>
                </a:solidFill>
                <a:latin typeface="Arial"/>
                <a:ea typeface="Arial"/>
                <a:cs typeface="Arial"/>
              </a:defRPr>
            </a:lvl7pPr>
            <a:lvl8pPr algn="l">
              <a:buNone/>
              <a:defRPr sz="2550" b="1" i="0">
                <a:solidFill>
                  <a:srgbClr val="F1C84B"/>
                </a:solidFill>
                <a:latin typeface="Arial"/>
                <a:ea typeface="Arial"/>
                <a:cs typeface="Arial"/>
              </a:defRPr>
            </a:lvl8pPr>
            <a:lvl9pPr algn="l">
              <a:buNone/>
              <a:defRPr sz="2550" b="1" i="0">
                <a:solidFill>
                  <a:srgbClr val="F1C84B"/>
                </a:solidFill>
                <a:latin typeface="Arial"/>
                <a:ea typeface="Arial"/>
                <a:cs typeface="Arial"/>
              </a:defRPr>
            </a:lvl9pPr>
          </a:lstStyle>
          <a:p xmlns:a="http://schemas.openxmlformats.org/drawingml/2006/main">
            <a:pPr algn="l">
              <a:buNone/>
              <a:defRPr sz="2550" b="1" i="0">
                <a:solidFill>
                  <a:srgbClr val="F1C84B"/>
                </a:solidFill>
                <a:latin typeface="Arial"/>
                <a:ea typeface="Arial"/>
                <a:cs typeface="Arial"/>
              </a:defRPr>
            </a:pPr>
            <a:r>
              <a:rPr sz="2550" b="1" i="0">
                <a:solidFill>
                  <a:srgbClr val="F1C84B"/>
                </a:solidFill>
                <a:latin typeface="Arial"/>
                <a:ea typeface="Arial"/>
                <a:cs typeface="Arial"/>
              </a:rPr>
              <a:t>971</a:t>
            </a:r>
          </a:p>
        </p:txBody>
      </p:sp>
      <p:sp>
        <p:nvSpPr>
          <p:cNvPr id="15" name="Rectangle 14">
            <a:extLst xmlns:a="http://schemas.openxmlformats.org/drawingml/2006/main">
              <a:ext uri="{FF2B5EF4-FFF2-40B4-BE49-F238E27FC236}">
                <a16:creationId xmlns:a16="http://schemas.microsoft.com/office/drawing/2014/main" id="{123C8129-48BF-4F83-B1C3-B6AB05CFDE79}"/>
              </a:ext>
            </a:extLst>
          </p:cNvPr>
          <p:cNvSpPr>
            <a:spLocks xmlns:a="http://schemas.openxmlformats.org/drawingml/2006/main" noGrp="1"/>
          </p:cNvSpPr>
          <p:nvPr/>
        </p:nvSpPr>
        <p:spPr>
          <a:xfrm xmlns:a="http://schemas.openxmlformats.org/drawingml/2006/main">
            <a:off x="8334375" y="21431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records in the frozen review packet</a:t>
            </a:r>
          </a:p>
        </p:txBody>
      </p:sp>
      <p:sp>
        <p:nvSpPr>
          <p:cNvPr id="16" name="Rectangle: Rounded Corners 15">
            <a:extLst xmlns:a="http://schemas.openxmlformats.org/drawingml/2006/main">
              <a:ext uri="{FF2B5EF4-FFF2-40B4-BE49-F238E27FC236}">
                <a16:creationId xmlns:a16="http://schemas.microsoft.com/office/drawing/2014/main" id="{5B67700D-0BAE-42C0-A285-CAE573A5B8C3}"/>
              </a:ext>
            </a:extLst>
          </p:cNvPr>
          <p:cNvSpPr>
            <a:spLocks xmlns:a="http://schemas.openxmlformats.org/drawingml/2006/main" noGrp="1"/>
          </p:cNvSpPr>
          <p:nvPr/>
        </p:nvSpPr>
        <p:spPr>
          <a:xfrm xmlns:a="http://schemas.openxmlformats.org/drawingml/2006/main">
            <a:off x="552450" y="28860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167D89"/>
            </a:solidFill>
            <a:prstDash val="solid"/>
          </a:ln>
        </p:spPr>
      </p:sp>
      <p:sp>
        <p:nvSpPr>
          <p:cNvPr id="17" name="Rectangle 16">
            <a:extLst xmlns:a="http://schemas.openxmlformats.org/drawingml/2006/main">
              <a:ext uri="{FF2B5EF4-FFF2-40B4-BE49-F238E27FC236}">
                <a16:creationId xmlns:a16="http://schemas.microsoft.com/office/drawing/2014/main" id="{BA330997-8CB6-401A-86E1-33AB9E4D4184}"/>
              </a:ext>
            </a:extLst>
          </p:cNvPr>
          <p:cNvSpPr>
            <a:spLocks xmlns:a="http://schemas.openxmlformats.org/drawingml/2006/main" noGrp="1"/>
          </p:cNvSpPr>
          <p:nvPr/>
        </p:nvSpPr>
        <p:spPr>
          <a:xfrm xmlns:a="http://schemas.openxmlformats.org/drawingml/2006/main">
            <a:off x="742950" y="3009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Coordinate and span</a:t>
            </a:r>
          </a:p>
        </p:txBody>
      </p:sp>
      <p:sp>
        <p:nvSpPr>
          <p:cNvPr id="18" name="Rectangle 17">
            <a:extLst xmlns:a="http://schemas.openxmlformats.org/drawingml/2006/main">
              <a:ext uri="{FF2B5EF4-FFF2-40B4-BE49-F238E27FC236}">
                <a16:creationId xmlns:a16="http://schemas.microsoft.com/office/drawing/2014/main" id="{50384B2E-09DE-4326-AC9D-82DD04FA2C30}"/>
              </a:ext>
            </a:extLst>
          </p:cNvPr>
          <p:cNvSpPr>
            <a:spLocks xmlns:a="http://schemas.openxmlformats.org/drawingml/2006/main" noGrp="1"/>
          </p:cNvSpPr>
          <p:nvPr/>
        </p:nvSpPr>
        <p:spPr>
          <a:xfrm xmlns:a="http://schemas.openxmlformats.org/drawingml/2006/main">
            <a:off x="2476500" y="30003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Are residue coordinates correct, and does the segment connect two domains?</a:t>
            </a:r>
          </a:p>
        </p:txBody>
      </p:sp>
      <p:sp>
        <p:nvSpPr>
          <p:cNvPr id="19" name="Rectangle: Rounded Corners 18">
            <a:extLst xmlns:a="http://schemas.openxmlformats.org/drawingml/2006/main">
              <a:ext uri="{FF2B5EF4-FFF2-40B4-BE49-F238E27FC236}">
                <a16:creationId xmlns:a16="http://schemas.microsoft.com/office/drawing/2014/main" id="{D6F03E28-008A-4DAE-B021-12F68D5C6649}"/>
              </a:ext>
            </a:extLst>
          </p:cNvPr>
          <p:cNvSpPr>
            <a:spLocks xmlns:a="http://schemas.openxmlformats.org/drawingml/2006/main" noGrp="1"/>
          </p:cNvSpPr>
          <p:nvPr/>
        </p:nvSpPr>
        <p:spPr>
          <a:xfrm xmlns:a="http://schemas.openxmlformats.org/drawingml/2006/main">
            <a:off x="6115050" y="28860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167D89"/>
            </a:solidFill>
            <a:prstDash val="solid"/>
          </a:ln>
        </p:spPr>
      </p:sp>
      <p:sp>
        <p:nvSpPr>
          <p:cNvPr id="20" name="Rectangle 19">
            <a:extLst xmlns:a="http://schemas.openxmlformats.org/drawingml/2006/main">
              <a:ext uri="{FF2B5EF4-FFF2-40B4-BE49-F238E27FC236}">
                <a16:creationId xmlns:a16="http://schemas.microsoft.com/office/drawing/2014/main" id="{966DBFD4-0364-4EE6-B698-391650A2375D}"/>
              </a:ext>
            </a:extLst>
          </p:cNvPr>
          <p:cNvSpPr>
            <a:spLocks xmlns:a="http://schemas.openxmlformats.org/drawingml/2006/main" noGrp="1"/>
          </p:cNvSpPr>
          <p:nvPr/>
        </p:nvSpPr>
        <p:spPr>
          <a:xfrm xmlns:a="http://schemas.openxmlformats.org/drawingml/2006/main">
            <a:off x="6305550" y="3009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Evidence</a:t>
            </a:r>
          </a:p>
        </p:txBody>
      </p:sp>
      <p:sp>
        <p:nvSpPr>
          <p:cNvPr id="21" name="Rectangle 20">
            <a:extLst xmlns:a="http://schemas.openxmlformats.org/drawingml/2006/main">
              <a:ext uri="{FF2B5EF4-FFF2-40B4-BE49-F238E27FC236}">
                <a16:creationId xmlns:a16="http://schemas.microsoft.com/office/drawing/2014/main" id="{F3EE6B12-F8AE-4813-A6EB-5C5E5A57B5F5}"/>
              </a:ext>
            </a:extLst>
          </p:cNvPr>
          <p:cNvSpPr>
            <a:spLocks xmlns:a="http://schemas.openxmlformats.org/drawingml/2006/main" noGrp="1"/>
          </p:cNvSpPr>
          <p:nvPr/>
        </p:nvSpPr>
        <p:spPr>
          <a:xfrm xmlns:a="http://schemas.openxmlformats.org/drawingml/2006/main">
            <a:off x="8039100" y="30003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Does the cited source support direct, indirect, absent, or uncertain linker behaviour?</a:t>
            </a:r>
          </a:p>
        </p:txBody>
      </p:sp>
      <p:sp>
        <p:nvSpPr>
          <p:cNvPr id="22" name="Rectangle: Rounded Corners 21">
            <a:extLst xmlns:a="http://schemas.openxmlformats.org/drawingml/2006/main">
              <a:ext uri="{FF2B5EF4-FFF2-40B4-BE49-F238E27FC236}">
                <a16:creationId xmlns:a16="http://schemas.microsoft.com/office/drawing/2014/main" id="{E3E5C1D9-7376-44B3-A1BB-484E9D4C0AD6}"/>
              </a:ext>
            </a:extLst>
          </p:cNvPr>
          <p:cNvSpPr>
            <a:spLocks xmlns:a="http://schemas.openxmlformats.org/drawingml/2006/main" noGrp="1"/>
          </p:cNvSpPr>
          <p:nvPr/>
        </p:nvSpPr>
        <p:spPr>
          <a:xfrm xmlns:a="http://schemas.openxmlformats.org/drawingml/2006/main">
            <a:off x="552450" y="38766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29433A"/>
            </a:solidFill>
            <a:prstDash val="solid"/>
          </a:ln>
        </p:spPr>
      </p:sp>
      <p:sp>
        <p:nvSpPr>
          <p:cNvPr id="23" name="Rectangle 22">
            <a:extLst xmlns:a="http://schemas.openxmlformats.org/drawingml/2006/main">
              <a:ext uri="{FF2B5EF4-FFF2-40B4-BE49-F238E27FC236}">
                <a16:creationId xmlns:a16="http://schemas.microsoft.com/office/drawing/2014/main" id="{4CE63FA7-C21F-4B31-8028-A0000F604DCD}"/>
              </a:ext>
            </a:extLst>
          </p:cNvPr>
          <p:cNvSpPr>
            <a:spLocks xmlns:a="http://schemas.openxmlformats.org/drawingml/2006/main" noGrp="1"/>
          </p:cNvSpPr>
          <p:nvPr/>
        </p:nvSpPr>
        <p:spPr>
          <a:xfrm xmlns:a="http://schemas.openxmlformats.org/drawingml/2006/main">
            <a:off x="742950" y="4000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Structural state</a:t>
            </a:r>
          </a:p>
        </p:txBody>
      </p:sp>
      <p:sp>
        <p:nvSpPr>
          <p:cNvPr id="24" name="Rectangle 23">
            <a:extLst xmlns:a="http://schemas.openxmlformats.org/drawingml/2006/main">
              <a:ext uri="{FF2B5EF4-FFF2-40B4-BE49-F238E27FC236}">
                <a16:creationId xmlns:a16="http://schemas.microsoft.com/office/drawing/2014/main" id="{697FFE96-D852-4BA2-9C4B-A8AFF9694D70}"/>
              </a:ext>
            </a:extLst>
          </p:cNvPr>
          <p:cNvSpPr>
            <a:spLocks xmlns:a="http://schemas.openxmlformats.org/drawingml/2006/main" noGrp="1"/>
          </p:cNvSpPr>
          <p:nvPr/>
        </p:nvSpPr>
        <p:spPr>
          <a:xfrm xmlns:a="http://schemas.openxmlformats.org/drawingml/2006/main">
            <a:off x="2476500" y="39909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Flexible or disordered, structured, mixed, unresolved, or uncertain</a:t>
            </a:r>
          </a:p>
        </p:txBody>
      </p:sp>
      <p:sp>
        <p:nvSpPr>
          <p:cNvPr id="25" name="Rectangle: Rounded Corners 24">
            <a:extLst xmlns:a="http://schemas.openxmlformats.org/drawingml/2006/main">
              <a:ext uri="{FF2B5EF4-FFF2-40B4-BE49-F238E27FC236}">
                <a16:creationId xmlns:a16="http://schemas.microsoft.com/office/drawing/2014/main" id="{163E993D-4E9C-4FB1-A2FC-4F1911CE4BF2}"/>
              </a:ext>
            </a:extLst>
          </p:cNvPr>
          <p:cNvSpPr>
            <a:spLocks xmlns:a="http://schemas.openxmlformats.org/drawingml/2006/main" noGrp="1"/>
          </p:cNvSpPr>
          <p:nvPr/>
        </p:nvSpPr>
        <p:spPr>
          <a:xfrm xmlns:a="http://schemas.openxmlformats.org/drawingml/2006/main">
            <a:off x="6115050" y="38766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29433A"/>
            </a:solidFill>
            <a:prstDash val="solid"/>
          </a:ln>
        </p:spPr>
      </p:sp>
      <p:sp>
        <p:nvSpPr>
          <p:cNvPr id="26" name="Rectangle 25">
            <a:extLst xmlns:a="http://schemas.openxmlformats.org/drawingml/2006/main">
              <a:ext uri="{FF2B5EF4-FFF2-40B4-BE49-F238E27FC236}">
                <a16:creationId xmlns:a16="http://schemas.microsoft.com/office/drawing/2014/main" id="{8289B7CA-3424-4430-9D5A-E2FCA7C2CBE7}"/>
              </a:ext>
            </a:extLst>
          </p:cNvPr>
          <p:cNvSpPr>
            <a:spLocks xmlns:a="http://schemas.openxmlformats.org/drawingml/2006/main" noGrp="1"/>
          </p:cNvSpPr>
          <p:nvPr/>
        </p:nvSpPr>
        <p:spPr>
          <a:xfrm xmlns:a="http://schemas.openxmlformats.org/drawingml/2006/main">
            <a:off x="6305550" y="4000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Disposition</a:t>
            </a:r>
          </a:p>
        </p:txBody>
      </p:sp>
      <p:sp>
        <p:nvSpPr>
          <p:cNvPr id="27" name="Rectangle 26">
            <a:extLst xmlns:a="http://schemas.openxmlformats.org/drawingml/2006/main">
              <a:ext uri="{FF2B5EF4-FFF2-40B4-BE49-F238E27FC236}">
                <a16:creationId xmlns:a16="http://schemas.microsoft.com/office/drawing/2014/main" id="{7C4DC021-3187-4BD3-A2E8-28A8DCC8AB4D}"/>
              </a:ext>
            </a:extLst>
          </p:cNvPr>
          <p:cNvSpPr>
            <a:spLocks xmlns:a="http://schemas.openxmlformats.org/drawingml/2006/main" noGrp="1"/>
          </p:cNvSpPr>
          <p:nvPr/>
        </p:nvSpPr>
        <p:spPr>
          <a:xfrm xmlns:a="http://schemas.openxmlformats.org/drawingml/2006/main">
            <a:off x="8039100" y="39909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Include, exclude, or retain as uncertain with a documented reason</a:t>
            </a:r>
          </a:p>
        </p:txBody>
      </p:sp>
      <p:sp>
        <p:nvSpPr>
          <p:cNvPr id="28" name="Rectangle: Rounded Corners 27">
            <a:extLst xmlns:a="http://schemas.openxmlformats.org/drawingml/2006/main">
              <a:ext uri="{FF2B5EF4-FFF2-40B4-BE49-F238E27FC236}">
                <a16:creationId xmlns:a16="http://schemas.microsoft.com/office/drawing/2014/main" id="{D833232F-4DD9-47D1-8DD3-E4B482373E96}"/>
              </a:ext>
            </a:extLst>
          </p:cNvPr>
          <p:cNvSpPr>
            <a:spLocks xmlns:a="http://schemas.openxmlformats.org/drawingml/2006/main" noGrp="1"/>
          </p:cNvSpPr>
          <p:nvPr/>
        </p:nvSpPr>
        <p:spPr>
          <a:xfrm xmlns:a="http://schemas.openxmlformats.org/drawingml/2006/main">
            <a:off x="552450" y="5153025"/>
            <a:ext cx="3362325"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4E9BEC"/>
            </a:solidFill>
            <a:prstDash val="solid"/>
          </a:ln>
        </p:spPr>
      </p:sp>
      <p:sp>
        <p:nvSpPr>
          <p:cNvPr id="29" name="Rectangle 28">
            <a:extLst xmlns:a="http://schemas.openxmlformats.org/drawingml/2006/main">
              <a:ext uri="{FF2B5EF4-FFF2-40B4-BE49-F238E27FC236}">
                <a16:creationId xmlns:a16="http://schemas.microsoft.com/office/drawing/2014/main" id="{6B9F5CD6-4D66-45D2-A05F-FEE0466984A0}"/>
              </a:ext>
            </a:extLst>
          </p:cNvPr>
          <p:cNvSpPr>
            <a:spLocks xmlns:a="http://schemas.openxmlformats.org/drawingml/2006/main" noGrp="1"/>
          </p:cNvSpPr>
          <p:nvPr/>
        </p:nvSpPr>
        <p:spPr>
          <a:xfrm xmlns:a="http://schemas.openxmlformats.org/drawingml/2006/main">
            <a:off x="752475" y="52863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4E9BEC"/>
                </a:solidFill>
                <a:latin typeface="Arial"/>
                <a:ea typeface="Arial"/>
                <a:cs typeface="Arial"/>
              </a:defRPr>
            </a:defPPr>
            <a:lvl1pPr algn="l">
              <a:buNone/>
              <a:defRPr sz="900" b="1" i="0">
                <a:solidFill>
                  <a:srgbClr val="4E9BEC"/>
                </a:solidFill>
                <a:latin typeface="Arial"/>
                <a:ea typeface="Arial"/>
                <a:cs typeface="Arial"/>
              </a:defRPr>
            </a:lvl1pPr>
            <a:lvl2pPr algn="l">
              <a:buNone/>
              <a:defRPr sz="900" b="1" i="0">
                <a:solidFill>
                  <a:srgbClr val="4E9BEC"/>
                </a:solidFill>
                <a:latin typeface="Arial"/>
                <a:ea typeface="Arial"/>
                <a:cs typeface="Arial"/>
              </a:defRPr>
            </a:lvl2pPr>
            <a:lvl3pPr algn="l">
              <a:buNone/>
              <a:defRPr sz="900" b="1" i="0">
                <a:solidFill>
                  <a:srgbClr val="4E9BEC"/>
                </a:solidFill>
                <a:latin typeface="Arial"/>
                <a:ea typeface="Arial"/>
                <a:cs typeface="Arial"/>
              </a:defRPr>
            </a:lvl3pPr>
            <a:lvl4pPr algn="l">
              <a:buNone/>
              <a:defRPr sz="900" b="1" i="0">
                <a:solidFill>
                  <a:srgbClr val="4E9BEC"/>
                </a:solidFill>
                <a:latin typeface="Arial"/>
                <a:ea typeface="Arial"/>
                <a:cs typeface="Arial"/>
              </a:defRPr>
            </a:lvl4pPr>
            <a:lvl5pPr algn="l">
              <a:buNone/>
              <a:defRPr sz="900" b="1" i="0">
                <a:solidFill>
                  <a:srgbClr val="4E9BEC"/>
                </a:solidFill>
                <a:latin typeface="Arial"/>
                <a:ea typeface="Arial"/>
                <a:cs typeface="Arial"/>
              </a:defRPr>
            </a:lvl5pPr>
            <a:lvl6pPr algn="l">
              <a:buNone/>
              <a:defRPr sz="900" b="1" i="0">
                <a:solidFill>
                  <a:srgbClr val="4E9BEC"/>
                </a:solidFill>
                <a:latin typeface="Arial"/>
                <a:ea typeface="Arial"/>
                <a:cs typeface="Arial"/>
              </a:defRPr>
            </a:lvl6pPr>
            <a:lvl7pPr algn="l">
              <a:buNone/>
              <a:defRPr sz="900" b="1" i="0">
                <a:solidFill>
                  <a:srgbClr val="4E9BEC"/>
                </a:solidFill>
                <a:latin typeface="Arial"/>
                <a:ea typeface="Arial"/>
                <a:cs typeface="Arial"/>
              </a:defRPr>
            </a:lvl7pPr>
            <a:lvl8pPr algn="l">
              <a:buNone/>
              <a:defRPr sz="900" b="1" i="0">
                <a:solidFill>
                  <a:srgbClr val="4E9BEC"/>
                </a:solidFill>
                <a:latin typeface="Arial"/>
                <a:ea typeface="Arial"/>
                <a:cs typeface="Arial"/>
              </a:defRPr>
            </a:lvl8pPr>
            <a:lvl9pPr algn="l">
              <a:buNone/>
              <a:defRPr sz="900" b="1" i="0">
                <a:solidFill>
                  <a:srgbClr val="4E9BEC"/>
                </a:solidFill>
                <a:latin typeface="Arial"/>
                <a:ea typeface="Arial"/>
                <a:cs typeface="Arial"/>
              </a:defRPr>
            </a:lvl9pPr>
          </a:lstStyle>
          <a:p xmlns:a="http://schemas.openxmlformats.org/drawingml/2006/main">
            <a:pPr algn="l">
              <a:buNone/>
              <a:defRPr sz="900" b="1" i="0">
                <a:solidFill>
                  <a:srgbClr val="4E9BEC"/>
                </a:solidFill>
                <a:latin typeface="Arial"/>
                <a:ea typeface="Arial"/>
                <a:cs typeface="Arial"/>
              </a:defRPr>
            </a:pPr>
            <a:r>
              <a:rPr sz="900" b="1" i="0">
                <a:solidFill>
                  <a:srgbClr val="4E9BEC"/>
                </a:solidFill>
                <a:latin typeface="Arial"/>
                <a:ea typeface="Arial"/>
                <a:cs typeface="Arial"/>
              </a:rPr>
              <a:t>CURATOR A</a:t>
            </a:r>
          </a:p>
        </p:txBody>
      </p:sp>
      <p:sp>
        <p:nvSpPr>
          <p:cNvPr id="30" name="Rectangle 29">
            <a:extLst xmlns:a="http://schemas.openxmlformats.org/drawingml/2006/main">
              <a:ext uri="{FF2B5EF4-FFF2-40B4-BE49-F238E27FC236}">
                <a16:creationId xmlns:a16="http://schemas.microsoft.com/office/drawing/2014/main" id="{14F37C12-A697-435F-A4C9-211CE404C0D1}"/>
              </a:ext>
            </a:extLst>
          </p:cNvPr>
          <p:cNvSpPr>
            <a:spLocks xmlns:a="http://schemas.openxmlformats.org/drawingml/2006/main" noGrp="1"/>
          </p:cNvSpPr>
          <p:nvPr/>
        </p:nvSpPr>
        <p:spPr>
          <a:xfrm xmlns:a="http://schemas.openxmlformats.org/drawingml/2006/main">
            <a:off x="752475"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Independent file, then lock</a:t>
            </a:r>
          </a:p>
        </p:txBody>
      </p:sp>
      <p:sp>
        <p:nvSpPr>
          <p:cNvPr id="31" name="Rectangle: Rounded Corners 30">
            <a:extLst xmlns:a="http://schemas.openxmlformats.org/drawingml/2006/main">
              <a:ext uri="{FF2B5EF4-FFF2-40B4-BE49-F238E27FC236}">
                <a16:creationId xmlns:a16="http://schemas.microsoft.com/office/drawing/2014/main" id="{EBAD4B58-BB72-4E3B-8B08-F4BEB0F4EB38}"/>
              </a:ext>
            </a:extLst>
          </p:cNvPr>
          <p:cNvSpPr>
            <a:spLocks xmlns:a="http://schemas.openxmlformats.org/drawingml/2006/main" noGrp="1"/>
          </p:cNvSpPr>
          <p:nvPr/>
        </p:nvSpPr>
        <p:spPr>
          <a:xfrm xmlns:a="http://schemas.openxmlformats.org/drawingml/2006/main">
            <a:off x="4410075" y="5153025"/>
            <a:ext cx="3362325"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E84AAB"/>
            </a:solidFill>
            <a:prstDash val="solid"/>
          </a:ln>
        </p:spPr>
      </p:sp>
      <p:sp>
        <p:nvSpPr>
          <p:cNvPr id="32" name="Rectangle 31">
            <a:extLst xmlns:a="http://schemas.openxmlformats.org/drawingml/2006/main">
              <a:ext uri="{FF2B5EF4-FFF2-40B4-BE49-F238E27FC236}">
                <a16:creationId xmlns:a16="http://schemas.microsoft.com/office/drawing/2014/main" id="{8D1FD9DA-63EF-4474-860A-8320CE56A378}"/>
              </a:ext>
            </a:extLst>
          </p:cNvPr>
          <p:cNvSpPr>
            <a:spLocks xmlns:a="http://schemas.openxmlformats.org/drawingml/2006/main" noGrp="1"/>
          </p:cNvSpPr>
          <p:nvPr/>
        </p:nvSpPr>
        <p:spPr>
          <a:xfrm xmlns:a="http://schemas.openxmlformats.org/drawingml/2006/main">
            <a:off x="4610100" y="52863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E84AAB"/>
                </a:solidFill>
                <a:latin typeface="Arial"/>
                <a:ea typeface="Arial"/>
                <a:cs typeface="Arial"/>
              </a:defRPr>
            </a:defPPr>
            <a:lvl1pPr algn="l">
              <a:buNone/>
              <a:defRPr sz="900" b="1" i="0">
                <a:solidFill>
                  <a:srgbClr val="E84AAB"/>
                </a:solidFill>
                <a:latin typeface="Arial"/>
                <a:ea typeface="Arial"/>
                <a:cs typeface="Arial"/>
              </a:defRPr>
            </a:lvl1pPr>
            <a:lvl2pPr algn="l">
              <a:buNone/>
              <a:defRPr sz="900" b="1" i="0">
                <a:solidFill>
                  <a:srgbClr val="E84AAB"/>
                </a:solidFill>
                <a:latin typeface="Arial"/>
                <a:ea typeface="Arial"/>
                <a:cs typeface="Arial"/>
              </a:defRPr>
            </a:lvl2pPr>
            <a:lvl3pPr algn="l">
              <a:buNone/>
              <a:defRPr sz="900" b="1" i="0">
                <a:solidFill>
                  <a:srgbClr val="E84AAB"/>
                </a:solidFill>
                <a:latin typeface="Arial"/>
                <a:ea typeface="Arial"/>
                <a:cs typeface="Arial"/>
              </a:defRPr>
            </a:lvl3pPr>
            <a:lvl4pPr algn="l">
              <a:buNone/>
              <a:defRPr sz="900" b="1" i="0">
                <a:solidFill>
                  <a:srgbClr val="E84AAB"/>
                </a:solidFill>
                <a:latin typeface="Arial"/>
                <a:ea typeface="Arial"/>
                <a:cs typeface="Arial"/>
              </a:defRPr>
            </a:lvl4pPr>
            <a:lvl5pPr algn="l">
              <a:buNone/>
              <a:defRPr sz="900" b="1" i="0">
                <a:solidFill>
                  <a:srgbClr val="E84AAB"/>
                </a:solidFill>
                <a:latin typeface="Arial"/>
                <a:ea typeface="Arial"/>
                <a:cs typeface="Arial"/>
              </a:defRPr>
            </a:lvl5pPr>
            <a:lvl6pPr algn="l">
              <a:buNone/>
              <a:defRPr sz="900" b="1" i="0">
                <a:solidFill>
                  <a:srgbClr val="E84AAB"/>
                </a:solidFill>
                <a:latin typeface="Arial"/>
                <a:ea typeface="Arial"/>
                <a:cs typeface="Arial"/>
              </a:defRPr>
            </a:lvl6pPr>
            <a:lvl7pPr algn="l">
              <a:buNone/>
              <a:defRPr sz="900" b="1" i="0">
                <a:solidFill>
                  <a:srgbClr val="E84AAB"/>
                </a:solidFill>
                <a:latin typeface="Arial"/>
                <a:ea typeface="Arial"/>
                <a:cs typeface="Arial"/>
              </a:defRPr>
            </a:lvl7pPr>
            <a:lvl8pPr algn="l">
              <a:buNone/>
              <a:defRPr sz="900" b="1" i="0">
                <a:solidFill>
                  <a:srgbClr val="E84AAB"/>
                </a:solidFill>
                <a:latin typeface="Arial"/>
                <a:ea typeface="Arial"/>
                <a:cs typeface="Arial"/>
              </a:defRPr>
            </a:lvl8pPr>
            <a:lvl9pPr algn="l">
              <a:buNone/>
              <a:defRPr sz="900" b="1" i="0">
                <a:solidFill>
                  <a:srgbClr val="E84AAB"/>
                </a:solidFill>
                <a:latin typeface="Arial"/>
                <a:ea typeface="Arial"/>
                <a:cs typeface="Arial"/>
              </a:defRPr>
            </a:lvl9pPr>
          </a:lstStyle>
          <a:p xmlns:a="http://schemas.openxmlformats.org/drawingml/2006/main">
            <a:pPr algn="l">
              <a:buNone/>
              <a:defRPr sz="900" b="1" i="0">
                <a:solidFill>
                  <a:srgbClr val="E84AAB"/>
                </a:solidFill>
                <a:latin typeface="Arial"/>
                <a:ea typeface="Arial"/>
                <a:cs typeface="Arial"/>
              </a:defRPr>
            </a:pPr>
            <a:r>
              <a:rPr sz="900" b="1" i="0">
                <a:solidFill>
                  <a:srgbClr val="E84AAB"/>
                </a:solidFill>
                <a:latin typeface="Arial"/>
                <a:ea typeface="Arial"/>
                <a:cs typeface="Arial"/>
              </a:rPr>
              <a:t>CURATOR B</a:t>
            </a:r>
          </a:p>
        </p:txBody>
      </p:sp>
      <p:sp>
        <p:nvSpPr>
          <p:cNvPr id="33" name="Rectangle 32">
            <a:extLst xmlns:a="http://schemas.openxmlformats.org/drawingml/2006/main">
              <a:ext uri="{FF2B5EF4-FFF2-40B4-BE49-F238E27FC236}">
                <a16:creationId xmlns:a16="http://schemas.microsoft.com/office/drawing/2014/main" id="{BF784A0E-FC0A-4613-9A31-6977F6C28B58}"/>
              </a:ext>
            </a:extLst>
          </p:cNvPr>
          <p:cNvSpPr>
            <a:spLocks xmlns:a="http://schemas.openxmlformats.org/drawingml/2006/main" noGrp="1"/>
          </p:cNvSpPr>
          <p:nvPr/>
        </p:nvSpPr>
        <p:spPr>
          <a:xfrm xmlns:a="http://schemas.openxmlformats.org/drawingml/2006/main">
            <a:off x="4610100"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Independent file, then lock</a:t>
            </a:r>
          </a:p>
        </p:txBody>
      </p:sp>
      <p:sp>
        <p:nvSpPr>
          <p:cNvPr id="34" name="Rectangle: Rounded Corners 33">
            <a:extLst xmlns:a="http://schemas.openxmlformats.org/drawingml/2006/main">
              <a:ext uri="{FF2B5EF4-FFF2-40B4-BE49-F238E27FC236}">
                <a16:creationId xmlns:a16="http://schemas.microsoft.com/office/drawing/2014/main" id="{EFD250C1-E88A-4312-BA10-F9D07AE729F9}"/>
              </a:ext>
            </a:extLst>
          </p:cNvPr>
          <p:cNvSpPr>
            <a:spLocks xmlns:a="http://schemas.openxmlformats.org/drawingml/2006/main" noGrp="1"/>
          </p:cNvSpPr>
          <p:nvPr/>
        </p:nvSpPr>
        <p:spPr>
          <a:xfrm xmlns:a="http://schemas.openxmlformats.org/drawingml/2006/main">
            <a:off x="8267700" y="5153025"/>
            <a:ext cx="3371850"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2DBD73"/>
            </a:solidFill>
            <a:prstDash val="solid"/>
          </a:ln>
        </p:spPr>
      </p:sp>
      <p:sp>
        <p:nvSpPr>
          <p:cNvPr id="35" name="Rectangle 34">
            <a:extLst xmlns:a="http://schemas.openxmlformats.org/drawingml/2006/main">
              <a:ext uri="{FF2B5EF4-FFF2-40B4-BE49-F238E27FC236}">
                <a16:creationId xmlns:a16="http://schemas.microsoft.com/office/drawing/2014/main" id="{D83F6E2A-D656-479B-AC71-B324CA10377A}"/>
              </a:ext>
            </a:extLst>
          </p:cNvPr>
          <p:cNvSpPr>
            <a:spLocks xmlns:a="http://schemas.openxmlformats.org/drawingml/2006/main" noGrp="1"/>
          </p:cNvSpPr>
          <p:nvPr/>
        </p:nvSpPr>
        <p:spPr>
          <a:xfrm xmlns:a="http://schemas.openxmlformats.org/drawingml/2006/main">
            <a:off x="8467725" y="52863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2DBD73"/>
                </a:solidFill>
                <a:latin typeface="Arial"/>
                <a:ea typeface="Arial"/>
                <a:cs typeface="Arial"/>
              </a:defRPr>
            </a:defPPr>
            <a:lvl1pPr algn="l">
              <a:buNone/>
              <a:defRPr sz="900" b="1" i="0">
                <a:solidFill>
                  <a:srgbClr val="2DBD73"/>
                </a:solidFill>
                <a:latin typeface="Arial"/>
                <a:ea typeface="Arial"/>
                <a:cs typeface="Arial"/>
              </a:defRPr>
            </a:lvl1pPr>
            <a:lvl2pPr algn="l">
              <a:buNone/>
              <a:defRPr sz="900" b="1" i="0">
                <a:solidFill>
                  <a:srgbClr val="2DBD73"/>
                </a:solidFill>
                <a:latin typeface="Arial"/>
                <a:ea typeface="Arial"/>
                <a:cs typeface="Arial"/>
              </a:defRPr>
            </a:lvl2pPr>
            <a:lvl3pPr algn="l">
              <a:buNone/>
              <a:defRPr sz="900" b="1" i="0">
                <a:solidFill>
                  <a:srgbClr val="2DBD73"/>
                </a:solidFill>
                <a:latin typeface="Arial"/>
                <a:ea typeface="Arial"/>
                <a:cs typeface="Arial"/>
              </a:defRPr>
            </a:lvl3pPr>
            <a:lvl4pPr algn="l">
              <a:buNone/>
              <a:defRPr sz="900" b="1" i="0">
                <a:solidFill>
                  <a:srgbClr val="2DBD73"/>
                </a:solidFill>
                <a:latin typeface="Arial"/>
                <a:ea typeface="Arial"/>
                <a:cs typeface="Arial"/>
              </a:defRPr>
            </a:lvl4pPr>
            <a:lvl5pPr algn="l">
              <a:buNone/>
              <a:defRPr sz="900" b="1" i="0">
                <a:solidFill>
                  <a:srgbClr val="2DBD73"/>
                </a:solidFill>
                <a:latin typeface="Arial"/>
                <a:ea typeface="Arial"/>
                <a:cs typeface="Arial"/>
              </a:defRPr>
            </a:lvl5pPr>
            <a:lvl6pPr algn="l">
              <a:buNone/>
              <a:defRPr sz="900" b="1" i="0">
                <a:solidFill>
                  <a:srgbClr val="2DBD73"/>
                </a:solidFill>
                <a:latin typeface="Arial"/>
                <a:ea typeface="Arial"/>
                <a:cs typeface="Arial"/>
              </a:defRPr>
            </a:lvl6pPr>
            <a:lvl7pPr algn="l">
              <a:buNone/>
              <a:defRPr sz="900" b="1" i="0">
                <a:solidFill>
                  <a:srgbClr val="2DBD73"/>
                </a:solidFill>
                <a:latin typeface="Arial"/>
                <a:ea typeface="Arial"/>
                <a:cs typeface="Arial"/>
              </a:defRPr>
            </a:lvl7pPr>
            <a:lvl8pPr algn="l">
              <a:buNone/>
              <a:defRPr sz="900" b="1" i="0">
                <a:solidFill>
                  <a:srgbClr val="2DBD73"/>
                </a:solidFill>
                <a:latin typeface="Arial"/>
                <a:ea typeface="Arial"/>
                <a:cs typeface="Arial"/>
              </a:defRPr>
            </a:lvl8pPr>
            <a:lvl9pPr algn="l">
              <a:buNone/>
              <a:defRPr sz="900" b="1" i="0">
                <a:solidFill>
                  <a:srgbClr val="2DBD73"/>
                </a:solidFill>
                <a:latin typeface="Arial"/>
                <a:ea typeface="Arial"/>
                <a:cs typeface="Arial"/>
              </a:defRPr>
            </a:lvl9pPr>
          </a:lstStyle>
          <a:p xmlns:a="http://schemas.openxmlformats.org/drawingml/2006/main">
            <a:pPr algn="l">
              <a:buNone/>
              <a:defRPr sz="900" b="1" i="0">
                <a:solidFill>
                  <a:srgbClr val="2DBD73"/>
                </a:solidFill>
                <a:latin typeface="Arial"/>
                <a:ea typeface="Arial"/>
                <a:cs typeface="Arial"/>
              </a:defRPr>
            </a:pPr>
            <a:r>
              <a:rPr sz="900" b="1" i="0">
                <a:solidFill>
                  <a:srgbClr val="2DBD73"/>
                </a:solidFill>
                <a:latin typeface="Arial"/>
                <a:ea typeface="Arial"/>
                <a:cs typeface="Arial"/>
              </a:rPr>
              <a:t>ADJUDICATION</a:t>
            </a:r>
          </a:p>
        </p:txBody>
      </p:sp>
      <p:sp>
        <p:nvSpPr>
          <p:cNvPr id="36" name="Rectangle 35">
            <a:extLst xmlns:a="http://schemas.openxmlformats.org/drawingml/2006/main">
              <a:ext uri="{FF2B5EF4-FFF2-40B4-BE49-F238E27FC236}">
                <a16:creationId xmlns:a16="http://schemas.microsoft.com/office/drawing/2014/main" id="{39119885-E2E5-4A49-8C5D-A1E77AFF7228}"/>
              </a:ext>
            </a:extLst>
          </p:cNvPr>
          <p:cNvSpPr>
            <a:spLocks xmlns:a="http://schemas.openxmlformats.org/drawingml/2006/main" noGrp="1"/>
          </p:cNvSpPr>
          <p:nvPr/>
        </p:nvSpPr>
        <p:spPr>
          <a:xfrm xmlns:a="http://schemas.openxmlformats.org/drawingml/2006/main">
            <a:off x="8467725"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Version every disagreement</a:t>
            </a:r>
          </a:p>
        </p:txBody>
      </p:sp>
      <p:sp>
        <p:nvSpPr>
          <p:cNvPr id="37" name="Rectangle 36">
            <a:extLst xmlns:a="http://schemas.openxmlformats.org/drawingml/2006/main">
              <a:ext uri="{FF2B5EF4-FFF2-40B4-BE49-F238E27FC236}">
                <a16:creationId xmlns:a16="http://schemas.microsoft.com/office/drawing/2014/main" id="{785B946A-E51B-473C-95A1-90368CF39981}"/>
              </a:ext>
            </a:extLst>
          </p:cNvPr>
          <p:cNvSpPr>
            <a:spLocks xmlns:a="http://schemas.openxmlformats.org/drawingml/2006/main" noGrp="1"/>
          </p:cNvSpPr>
          <p:nvPr/>
        </p:nvSpPr>
        <p:spPr>
          <a:xfrm xmlns:a="http://schemas.openxmlformats.org/drawingml/2006/main">
            <a:off x="609600" y="60198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E46760"/>
                </a:solidFill>
                <a:latin typeface="Arial"/>
                <a:ea typeface="Arial"/>
                <a:cs typeface="Arial"/>
              </a:defRPr>
            </a:defPPr>
            <a:lvl1pPr algn="ctr">
              <a:buNone/>
              <a:defRPr sz="1275" b="1" i="0">
                <a:solidFill>
                  <a:srgbClr val="E46760"/>
                </a:solidFill>
                <a:latin typeface="Arial"/>
                <a:ea typeface="Arial"/>
                <a:cs typeface="Arial"/>
              </a:defRPr>
            </a:lvl1pPr>
            <a:lvl2pPr algn="ctr">
              <a:buNone/>
              <a:defRPr sz="1275" b="1" i="0">
                <a:solidFill>
                  <a:srgbClr val="E46760"/>
                </a:solidFill>
                <a:latin typeface="Arial"/>
                <a:ea typeface="Arial"/>
                <a:cs typeface="Arial"/>
              </a:defRPr>
            </a:lvl2pPr>
            <a:lvl3pPr algn="ctr">
              <a:buNone/>
              <a:defRPr sz="1275" b="1" i="0">
                <a:solidFill>
                  <a:srgbClr val="E46760"/>
                </a:solidFill>
                <a:latin typeface="Arial"/>
                <a:ea typeface="Arial"/>
                <a:cs typeface="Arial"/>
              </a:defRPr>
            </a:lvl3pPr>
            <a:lvl4pPr algn="ctr">
              <a:buNone/>
              <a:defRPr sz="1275" b="1" i="0">
                <a:solidFill>
                  <a:srgbClr val="E46760"/>
                </a:solidFill>
                <a:latin typeface="Arial"/>
                <a:ea typeface="Arial"/>
                <a:cs typeface="Arial"/>
              </a:defRPr>
            </a:lvl4pPr>
            <a:lvl5pPr algn="ctr">
              <a:buNone/>
              <a:defRPr sz="1275" b="1" i="0">
                <a:solidFill>
                  <a:srgbClr val="E46760"/>
                </a:solidFill>
                <a:latin typeface="Arial"/>
                <a:ea typeface="Arial"/>
                <a:cs typeface="Arial"/>
              </a:defRPr>
            </a:lvl5pPr>
            <a:lvl6pPr algn="ctr">
              <a:buNone/>
              <a:defRPr sz="1275" b="1" i="0">
                <a:solidFill>
                  <a:srgbClr val="E46760"/>
                </a:solidFill>
                <a:latin typeface="Arial"/>
                <a:ea typeface="Arial"/>
                <a:cs typeface="Arial"/>
              </a:defRPr>
            </a:lvl6pPr>
            <a:lvl7pPr algn="ctr">
              <a:buNone/>
              <a:defRPr sz="1275" b="1" i="0">
                <a:solidFill>
                  <a:srgbClr val="E46760"/>
                </a:solidFill>
                <a:latin typeface="Arial"/>
                <a:ea typeface="Arial"/>
                <a:cs typeface="Arial"/>
              </a:defRPr>
            </a:lvl7pPr>
            <a:lvl8pPr algn="ctr">
              <a:buNone/>
              <a:defRPr sz="1275" b="1" i="0">
                <a:solidFill>
                  <a:srgbClr val="E46760"/>
                </a:solidFill>
                <a:latin typeface="Arial"/>
                <a:ea typeface="Arial"/>
                <a:cs typeface="Arial"/>
              </a:defRPr>
            </a:lvl8pPr>
            <a:lvl9pPr algn="ctr">
              <a:buNone/>
              <a:defRPr sz="1275" b="1" i="0">
                <a:solidFill>
                  <a:srgbClr val="E46760"/>
                </a:solidFill>
                <a:latin typeface="Arial"/>
                <a:ea typeface="Arial"/>
                <a:cs typeface="Arial"/>
              </a:defRPr>
            </a:lvl9pPr>
          </a:lstStyle>
          <a:p xmlns:a="http://schemas.openxmlformats.org/drawingml/2006/main">
            <a:pPr algn="ctr">
              <a:buNone/>
              <a:defRPr sz="1275" b="1" i="0">
                <a:solidFill>
                  <a:srgbClr val="E46760"/>
                </a:solidFill>
                <a:latin typeface="Arial"/>
                <a:ea typeface="Arial"/>
                <a:cs typeface="Arial"/>
              </a:defRPr>
            </a:pPr>
            <a:r>
              <a:rPr sz="1275" b="1" i="0">
                <a:solidFill>
                  <a:srgbClr val="E46760"/>
                </a:solidFill>
                <a:latin typeface="Arial"/>
                <a:ea typeface="Arial"/>
                <a:cs typeface="Arial"/>
              </a:rPr>
              <a:t>compatibility_outcome remains not_assessed for every record</a:t>
            </a:r>
          </a:p>
        </p:txBody>
      </p:sp>
    </p:spTree>
    <p:extLst>
      <p:ext uri="{BB962C8B-B14F-4D97-AF65-F5344CB8AC3E}">
        <p14:creationId xmlns:p14="http://schemas.microsoft.com/office/powerpoint/2010/main" val="746195514"/>
      </p:ext>
    </p:extLst>
  </p:cSld>
</p:sld>
</file>

<file path=ppt/slides/slide15.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0" name="Rectangle 29">
            <a:extLst xmlns:a="http://schemas.openxmlformats.org/drawingml/2006/main">
              <a:ext uri="{FF2B5EF4-FFF2-40B4-BE49-F238E27FC236}">
                <a16:creationId xmlns:a16="http://schemas.microsoft.com/office/drawing/2014/main" id="{91BE20E7-68B8-40A9-B133-152809AC468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CF7B140B-0D00-4EFD-9921-1EEBD1A1104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2F90E95-CEDB-4F5A-9C61-DBC42E1CFCAF}"/>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DATASET VALIDATION</a:t>
            </a:r>
          </a:p>
        </p:txBody>
      </p:sp>
      <p:sp>
        <p:nvSpPr>
          <p:cNvPr id="4" name="Rectangle 3">
            <a:extLst xmlns:a="http://schemas.openxmlformats.org/drawingml/2006/main">
              <a:ext uri="{FF2B5EF4-FFF2-40B4-BE49-F238E27FC236}">
                <a16:creationId xmlns:a16="http://schemas.microsoft.com/office/drawing/2014/main" id="{BE12B3F8-7B56-4A77-94EA-D3DD60DBED4C}"/>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datasets/README.md; CLASSIFIER_DATA_GATE.md; RESEARCH_HANDOFF.md</a:t>
            </a:r>
          </a:p>
        </p:txBody>
      </p:sp>
      <p:sp>
        <p:nvSpPr>
          <p:cNvPr id="5" name="Rectangle 4">
            <a:extLst xmlns:a="http://schemas.openxmlformats.org/drawingml/2006/main">
              <a:ext uri="{FF2B5EF4-FFF2-40B4-BE49-F238E27FC236}">
                <a16:creationId xmlns:a16="http://schemas.microsoft.com/office/drawing/2014/main" id="{F43738A1-ACE5-4D61-861B-E8DBAAF7339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15</a:t>
            </a:r>
          </a:p>
        </p:txBody>
      </p:sp>
      <p:sp>
        <p:nvSpPr>
          <p:cNvPr id="6" name="Rectangle 5">
            <a:extLst xmlns:a="http://schemas.openxmlformats.org/drawingml/2006/main">
              <a:ext uri="{FF2B5EF4-FFF2-40B4-BE49-F238E27FC236}">
                <a16:creationId xmlns:a16="http://schemas.microsoft.com/office/drawing/2014/main" id="{9A00B9FB-3631-433C-990F-7F4349C3EDD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Validation layers and the claim firewall</a:t>
            </a:r>
          </a:p>
        </p:txBody>
      </p:sp>
      <p:sp>
        <p:nvSpPr>
          <p:cNvPr id="7" name="Rectangle 6">
            <a:extLst xmlns:a="http://schemas.openxmlformats.org/drawingml/2006/main">
              <a:ext uri="{FF2B5EF4-FFF2-40B4-BE49-F238E27FC236}">
                <a16:creationId xmlns:a16="http://schemas.microsoft.com/office/drawing/2014/main" id="{B9BE3FC3-D883-43B3-9917-1BCA7D57808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Integrity, annotation quality, and predictive validity answer different questions</a:t>
            </a:r>
          </a:p>
        </p:txBody>
      </p:sp>
      <p:sp>
        <p:nvSpPr>
          <p:cNvPr id="8" name="Rectangle: Rounded Corners 7">
            <a:extLst xmlns:a="http://schemas.openxmlformats.org/drawingml/2006/main">
              <a:ext uri="{FF2B5EF4-FFF2-40B4-BE49-F238E27FC236}">
                <a16:creationId xmlns:a16="http://schemas.microsoft.com/office/drawing/2014/main" id="{7852BBEB-34DE-4387-82C7-6E1390F3D028}"/>
              </a:ext>
            </a:extLst>
          </p:cNvPr>
          <p:cNvSpPr>
            <a:spLocks xmlns:a="http://schemas.openxmlformats.org/drawingml/2006/main" noGrp="1"/>
          </p:cNvSpPr>
          <p:nvPr/>
        </p:nvSpPr>
        <p:spPr>
          <a:xfrm xmlns:a="http://schemas.openxmlformats.org/drawingml/2006/main">
            <a:off x="552450" y="1562100"/>
            <a:ext cx="704850" cy="590550"/>
          </a:xfrm>
          <a:prstGeom xmlns:a="http://schemas.openxmlformats.org/drawingml/2006/main" prst="roundRect">
            <a:avLst>
              <a:gd name="adj" fmla="val 12903"/>
            </a:avLst>
          </a:prstGeom>
          <a:solidFill xmlns:a="http://schemas.openxmlformats.org/drawingml/2006/main">
            <a:srgbClr val="4E9BEC"/>
          </a:solidFill>
          <a:ln xmlns:a="http://schemas.openxmlformats.org/drawingml/2006/main" w="0">
            <a:noFill/>
            <a:prstDash val="solid"/>
          </a:ln>
        </p:spPr>
      </p:sp>
      <p:sp>
        <p:nvSpPr>
          <p:cNvPr id="9" name="Rectangle 8">
            <a:extLst xmlns:a="http://schemas.openxmlformats.org/drawingml/2006/main">
              <a:ext uri="{FF2B5EF4-FFF2-40B4-BE49-F238E27FC236}">
                <a16:creationId xmlns:a16="http://schemas.microsoft.com/office/drawing/2014/main" id="{38370D30-19CE-4175-82A7-B4B2A38A24A2}"/>
              </a:ext>
            </a:extLst>
          </p:cNvPr>
          <p:cNvSpPr>
            <a:spLocks xmlns:a="http://schemas.openxmlformats.org/drawingml/2006/main" noGrp="1"/>
          </p:cNvSpPr>
          <p:nvPr/>
        </p:nvSpPr>
        <p:spPr>
          <a:xfrm xmlns:a="http://schemas.openxmlformats.org/drawingml/2006/main">
            <a:off x="552450" y="167640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62DB676F-24CD-4538-8EFA-178F3681B4AD}"/>
              </a:ext>
            </a:extLst>
          </p:cNvPr>
          <p:cNvSpPr>
            <a:spLocks xmlns:a="http://schemas.openxmlformats.org/drawingml/2006/main" noGrp="1"/>
          </p:cNvSpPr>
          <p:nvPr/>
        </p:nvSpPr>
        <p:spPr>
          <a:xfrm xmlns:a="http://schemas.openxmlformats.org/drawingml/2006/main">
            <a:off x="1514475" y="159067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4E9BEC"/>
                </a:solidFill>
                <a:latin typeface="Arial"/>
                <a:ea typeface="Arial"/>
                <a:cs typeface="Arial"/>
              </a:defRPr>
            </a:defPPr>
            <a:lvl1pPr algn="l">
              <a:buNone/>
              <a:defRPr sz="1425" b="1" i="0">
                <a:solidFill>
                  <a:srgbClr val="4E9BEC"/>
                </a:solidFill>
                <a:latin typeface="Arial"/>
                <a:ea typeface="Arial"/>
                <a:cs typeface="Arial"/>
              </a:defRPr>
            </a:lvl1pPr>
            <a:lvl2pPr algn="l">
              <a:buNone/>
              <a:defRPr sz="1425" b="1" i="0">
                <a:solidFill>
                  <a:srgbClr val="4E9BEC"/>
                </a:solidFill>
                <a:latin typeface="Arial"/>
                <a:ea typeface="Arial"/>
                <a:cs typeface="Arial"/>
              </a:defRPr>
            </a:lvl2pPr>
            <a:lvl3pPr algn="l">
              <a:buNone/>
              <a:defRPr sz="1425" b="1" i="0">
                <a:solidFill>
                  <a:srgbClr val="4E9BEC"/>
                </a:solidFill>
                <a:latin typeface="Arial"/>
                <a:ea typeface="Arial"/>
                <a:cs typeface="Arial"/>
              </a:defRPr>
            </a:lvl3pPr>
            <a:lvl4pPr algn="l">
              <a:buNone/>
              <a:defRPr sz="1425" b="1" i="0">
                <a:solidFill>
                  <a:srgbClr val="4E9BEC"/>
                </a:solidFill>
                <a:latin typeface="Arial"/>
                <a:ea typeface="Arial"/>
                <a:cs typeface="Arial"/>
              </a:defRPr>
            </a:lvl4pPr>
            <a:lvl5pPr algn="l">
              <a:buNone/>
              <a:defRPr sz="1425" b="1" i="0">
                <a:solidFill>
                  <a:srgbClr val="4E9BEC"/>
                </a:solidFill>
                <a:latin typeface="Arial"/>
                <a:ea typeface="Arial"/>
                <a:cs typeface="Arial"/>
              </a:defRPr>
            </a:lvl5pPr>
            <a:lvl6pPr algn="l">
              <a:buNone/>
              <a:defRPr sz="1425" b="1" i="0">
                <a:solidFill>
                  <a:srgbClr val="4E9BEC"/>
                </a:solidFill>
                <a:latin typeface="Arial"/>
                <a:ea typeface="Arial"/>
                <a:cs typeface="Arial"/>
              </a:defRPr>
            </a:lvl6pPr>
            <a:lvl7pPr algn="l">
              <a:buNone/>
              <a:defRPr sz="1425" b="1" i="0">
                <a:solidFill>
                  <a:srgbClr val="4E9BEC"/>
                </a:solidFill>
                <a:latin typeface="Arial"/>
                <a:ea typeface="Arial"/>
                <a:cs typeface="Arial"/>
              </a:defRPr>
            </a:lvl7pPr>
            <a:lvl8pPr algn="l">
              <a:buNone/>
              <a:defRPr sz="1425" b="1" i="0">
                <a:solidFill>
                  <a:srgbClr val="4E9BEC"/>
                </a:solidFill>
                <a:latin typeface="Arial"/>
                <a:ea typeface="Arial"/>
                <a:cs typeface="Arial"/>
              </a:defRPr>
            </a:lvl8pPr>
            <a:lvl9pPr algn="l">
              <a:buNone/>
              <a:defRPr sz="1425" b="1" i="0">
                <a:solidFill>
                  <a:srgbClr val="4E9BEC"/>
                </a:solidFill>
                <a:latin typeface="Arial"/>
                <a:ea typeface="Arial"/>
                <a:cs typeface="Arial"/>
              </a:defRPr>
            </a:lvl9pPr>
          </a:lstStyle>
          <a:p xmlns:a="http://schemas.openxmlformats.org/drawingml/2006/main">
            <a:pPr algn="l">
              <a:buNone/>
              <a:defRPr sz="1425" b="1" i="0">
                <a:solidFill>
                  <a:srgbClr val="4E9BEC"/>
                </a:solidFill>
                <a:latin typeface="Arial"/>
                <a:ea typeface="Arial"/>
                <a:cs typeface="Arial"/>
              </a:defRPr>
            </a:pPr>
            <a:r>
              <a:rPr sz="1425" b="1" i="0">
                <a:solidFill>
                  <a:srgbClr val="4E9BEC"/>
                </a:solidFill>
                <a:latin typeface="Arial"/>
                <a:ea typeface="Arial"/>
                <a:cs typeface="Arial"/>
              </a:rPr>
              <a:t>Package integrity</a:t>
            </a:r>
          </a:p>
        </p:txBody>
      </p:sp>
      <p:sp>
        <p:nvSpPr>
          <p:cNvPr id="11" name="Rectangle 10">
            <a:extLst xmlns:a="http://schemas.openxmlformats.org/drawingml/2006/main">
              <a:ext uri="{FF2B5EF4-FFF2-40B4-BE49-F238E27FC236}">
                <a16:creationId xmlns:a16="http://schemas.microsoft.com/office/drawing/2014/main" id="{DE43A2C3-7F2B-411C-B237-22E4A8BBAE3A}"/>
              </a:ext>
            </a:extLst>
          </p:cNvPr>
          <p:cNvSpPr>
            <a:spLocks xmlns:a="http://schemas.openxmlformats.org/drawingml/2006/main" noGrp="1"/>
          </p:cNvSpPr>
          <p:nvPr/>
        </p:nvSpPr>
        <p:spPr>
          <a:xfrm xmlns:a="http://schemas.openxmlformats.org/drawingml/2006/main">
            <a:off x="3886200" y="156210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Pinned member list, SHA-256 digests, row counts, unique record IDs, and exact tier totals</a:t>
            </a:r>
          </a:p>
        </p:txBody>
      </p:sp>
      <p:sp>
        <p:nvSpPr>
          <p:cNvPr id="12" name="Rectangle: Rounded Corners 11">
            <a:extLst xmlns:a="http://schemas.openxmlformats.org/drawingml/2006/main">
              <a:ext uri="{FF2B5EF4-FFF2-40B4-BE49-F238E27FC236}">
                <a16:creationId xmlns:a16="http://schemas.microsoft.com/office/drawing/2014/main" id="{35C036E1-C8CC-49F0-AFE7-13624B1C1B6A}"/>
              </a:ext>
            </a:extLst>
          </p:cNvPr>
          <p:cNvSpPr>
            <a:spLocks xmlns:a="http://schemas.openxmlformats.org/drawingml/2006/main" noGrp="1"/>
          </p:cNvSpPr>
          <p:nvPr/>
        </p:nvSpPr>
        <p:spPr>
          <a:xfrm xmlns:a="http://schemas.openxmlformats.org/drawingml/2006/main">
            <a:off x="552450" y="2409825"/>
            <a:ext cx="704850" cy="590550"/>
          </a:xfrm>
          <a:prstGeom xmlns:a="http://schemas.openxmlformats.org/drawingml/2006/main" prst="roundRect">
            <a:avLst>
              <a:gd name="adj" fmla="val 12903"/>
            </a:avLst>
          </a:prstGeom>
          <a:solidFill xmlns:a="http://schemas.openxmlformats.org/drawingml/2006/main">
            <a:srgbClr val="3FC6D6"/>
          </a:solidFill>
          <a:ln xmlns:a="http://schemas.openxmlformats.org/drawingml/2006/main" w="0">
            <a:noFill/>
            <a:prstDash val="solid"/>
          </a:ln>
        </p:spPr>
      </p:sp>
      <p:sp>
        <p:nvSpPr>
          <p:cNvPr id="13" name="Rectangle 12">
            <a:extLst xmlns:a="http://schemas.openxmlformats.org/drawingml/2006/main">
              <a:ext uri="{FF2B5EF4-FFF2-40B4-BE49-F238E27FC236}">
                <a16:creationId xmlns:a16="http://schemas.microsoft.com/office/drawing/2014/main" id="{505C8428-1745-475A-8D9C-B93C5E9666BD}"/>
              </a:ext>
            </a:extLst>
          </p:cNvPr>
          <p:cNvSpPr>
            <a:spLocks xmlns:a="http://schemas.openxmlformats.org/drawingml/2006/main" noGrp="1"/>
          </p:cNvSpPr>
          <p:nvPr/>
        </p:nvSpPr>
        <p:spPr>
          <a:xfrm xmlns:a="http://schemas.openxmlformats.org/drawingml/2006/main">
            <a:off x="552450" y="2524125"/>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2</a:t>
            </a:r>
          </a:p>
        </p:txBody>
      </p:sp>
      <p:sp>
        <p:nvSpPr>
          <p:cNvPr id="14" name="Rectangle 13">
            <a:extLst xmlns:a="http://schemas.openxmlformats.org/drawingml/2006/main">
              <a:ext uri="{FF2B5EF4-FFF2-40B4-BE49-F238E27FC236}">
                <a16:creationId xmlns:a16="http://schemas.microsoft.com/office/drawing/2014/main" id="{728C4099-E71D-44BF-8503-898B459B4F06}"/>
              </a:ext>
            </a:extLst>
          </p:cNvPr>
          <p:cNvSpPr>
            <a:spLocks xmlns:a="http://schemas.openxmlformats.org/drawingml/2006/main" noGrp="1"/>
          </p:cNvSpPr>
          <p:nvPr/>
        </p:nvSpPr>
        <p:spPr>
          <a:xfrm xmlns:a="http://schemas.openxmlformats.org/drawingml/2006/main">
            <a:off x="1514475" y="24384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3FC6D6"/>
                </a:solidFill>
                <a:latin typeface="Arial"/>
                <a:ea typeface="Arial"/>
                <a:cs typeface="Arial"/>
              </a:defRPr>
            </a:defPPr>
            <a:lvl1pPr algn="l">
              <a:buNone/>
              <a:defRPr sz="1425" b="1" i="0">
                <a:solidFill>
                  <a:srgbClr val="3FC6D6"/>
                </a:solidFill>
                <a:latin typeface="Arial"/>
                <a:ea typeface="Arial"/>
                <a:cs typeface="Arial"/>
              </a:defRPr>
            </a:lvl1pPr>
            <a:lvl2pPr algn="l">
              <a:buNone/>
              <a:defRPr sz="1425" b="1" i="0">
                <a:solidFill>
                  <a:srgbClr val="3FC6D6"/>
                </a:solidFill>
                <a:latin typeface="Arial"/>
                <a:ea typeface="Arial"/>
                <a:cs typeface="Arial"/>
              </a:defRPr>
            </a:lvl2pPr>
            <a:lvl3pPr algn="l">
              <a:buNone/>
              <a:defRPr sz="1425" b="1" i="0">
                <a:solidFill>
                  <a:srgbClr val="3FC6D6"/>
                </a:solidFill>
                <a:latin typeface="Arial"/>
                <a:ea typeface="Arial"/>
                <a:cs typeface="Arial"/>
              </a:defRPr>
            </a:lvl3pPr>
            <a:lvl4pPr algn="l">
              <a:buNone/>
              <a:defRPr sz="1425" b="1" i="0">
                <a:solidFill>
                  <a:srgbClr val="3FC6D6"/>
                </a:solidFill>
                <a:latin typeface="Arial"/>
                <a:ea typeface="Arial"/>
                <a:cs typeface="Arial"/>
              </a:defRPr>
            </a:lvl4pPr>
            <a:lvl5pPr algn="l">
              <a:buNone/>
              <a:defRPr sz="1425" b="1" i="0">
                <a:solidFill>
                  <a:srgbClr val="3FC6D6"/>
                </a:solidFill>
                <a:latin typeface="Arial"/>
                <a:ea typeface="Arial"/>
                <a:cs typeface="Arial"/>
              </a:defRPr>
            </a:lvl5pPr>
            <a:lvl6pPr algn="l">
              <a:buNone/>
              <a:defRPr sz="1425" b="1" i="0">
                <a:solidFill>
                  <a:srgbClr val="3FC6D6"/>
                </a:solidFill>
                <a:latin typeface="Arial"/>
                <a:ea typeface="Arial"/>
                <a:cs typeface="Arial"/>
              </a:defRPr>
            </a:lvl6pPr>
            <a:lvl7pPr algn="l">
              <a:buNone/>
              <a:defRPr sz="1425" b="1" i="0">
                <a:solidFill>
                  <a:srgbClr val="3FC6D6"/>
                </a:solidFill>
                <a:latin typeface="Arial"/>
                <a:ea typeface="Arial"/>
                <a:cs typeface="Arial"/>
              </a:defRPr>
            </a:lvl7pPr>
            <a:lvl8pPr algn="l">
              <a:buNone/>
              <a:defRPr sz="1425" b="1" i="0">
                <a:solidFill>
                  <a:srgbClr val="3FC6D6"/>
                </a:solidFill>
                <a:latin typeface="Arial"/>
                <a:ea typeface="Arial"/>
                <a:cs typeface="Arial"/>
              </a:defRPr>
            </a:lvl8pPr>
            <a:lvl9pPr algn="l">
              <a:buNone/>
              <a:defRPr sz="1425" b="1" i="0">
                <a:solidFill>
                  <a:srgbClr val="3FC6D6"/>
                </a:solidFill>
                <a:latin typeface="Arial"/>
                <a:ea typeface="Arial"/>
                <a:cs typeface="Arial"/>
              </a:defRPr>
            </a:lvl9pPr>
          </a:lstStyle>
          <a:p xmlns:a="http://schemas.openxmlformats.org/drawingml/2006/main">
            <a:pPr algn="l">
              <a:buNone/>
              <a:defRPr sz="1425" b="1" i="0">
                <a:solidFill>
                  <a:srgbClr val="3FC6D6"/>
                </a:solidFill>
                <a:latin typeface="Arial"/>
                <a:ea typeface="Arial"/>
                <a:cs typeface="Arial"/>
              </a:defRPr>
            </a:pPr>
            <a:r>
              <a:rPr sz="1425" b="1" i="0">
                <a:solidFill>
                  <a:srgbClr val="3FC6D6"/>
                </a:solidFill>
                <a:latin typeface="Arial"/>
                <a:ea typeface="Arial"/>
                <a:cs typeface="Arial"/>
              </a:rPr>
              <a:t>Record validity</a:t>
            </a:r>
          </a:p>
        </p:txBody>
      </p:sp>
      <p:sp>
        <p:nvSpPr>
          <p:cNvPr id="15" name="Rectangle 14">
            <a:extLst xmlns:a="http://schemas.openxmlformats.org/drawingml/2006/main">
              <a:ext uri="{FF2B5EF4-FFF2-40B4-BE49-F238E27FC236}">
                <a16:creationId xmlns:a16="http://schemas.microsoft.com/office/drawing/2014/main" id="{238E4731-BA65-4E4D-8293-841DAAE536A9}"/>
              </a:ext>
            </a:extLst>
          </p:cNvPr>
          <p:cNvSpPr>
            <a:spLocks xmlns:a="http://schemas.openxmlformats.org/drawingml/2006/main" noGrp="1"/>
          </p:cNvSpPr>
          <p:nvPr/>
        </p:nvSpPr>
        <p:spPr>
          <a:xfrm xmlns:a="http://schemas.openxmlformats.org/drawingml/2006/main">
            <a:off x="3886200" y="2409825"/>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Versioned JSON schema, legal residue coordinates, source IDs, evidence tier, and transformations</a:t>
            </a:r>
          </a:p>
        </p:txBody>
      </p:sp>
      <p:sp>
        <p:nvSpPr>
          <p:cNvPr id="16" name="Rectangle: Rounded Corners 15">
            <a:extLst xmlns:a="http://schemas.openxmlformats.org/drawingml/2006/main">
              <a:ext uri="{FF2B5EF4-FFF2-40B4-BE49-F238E27FC236}">
                <a16:creationId xmlns:a16="http://schemas.microsoft.com/office/drawing/2014/main" id="{448544AA-8972-495C-A7E2-6161521A752E}"/>
              </a:ext>
            </a:extLst>
          </p:cNvPr>
          <p:cNvSpPr>
            <a:spLocks xmlns:a="http://schemas.openxmlformats.org/drawingml/2006/main" noGrp="1"/>
          </p:cNvSpPr>
          <p:nvPr/>
        </p:nvSpPr>
        <p:spPr>
          <a:xfrm xmlns:a="http://schemas.openxmlformats.org/drawingml/2006/main">
            <a:off x="552450" y="3257550"/>
            <a:ext cx="704850" cy="590550"/>
          </a:xfrm>
          <a:prstGeom xmlns:a="http://schemas.openxmlformats.org/drawingml/2006/main" prst="roundRect">
            <a:avLst>
              <a:gd name="adj" fmla="val 12903"/>
            </a:avLst>
          </a:prstGeom>
          <a:solidFill xmlns:a="http://schemas.openxmlformats.org/drawingml/2006/main">
            <a:srgbClr val="2DBD73"/>
          </a:solidFill>
          <a:ln xmlns:a="http://schemas.openxmlformats.org/drawingml/2006/main" w="0">
            <a:noFill/>
            <a:prstDash val="solid"/>
          </a:ln>
        </p:spPr>
      </p:sp>
      <p:sp>
        <p:nvSpPr>
          <p:cNvPr id="17" name="Rectangle 16">
            <a:extLst xmlns:a="http://schemas.openxmlformats.org/drawingml/2006/main">
              <a:ext uri="{FF2B5EF4-FFF2-40B4-BE49-F238E27FC236}">
                <a16:creationId xmlns:a16="http://schemas.microsoft.com/office/drawing/2014/main" id="{EC403DFB-579F-4E6F-A237-3E8B7420B0D9}"/>
              </a:ext>
            </a:extLst>
          </p:cNvPr>
          <p:cNvSpPr>
            <a:spLocks xmlns:a="http://schemas.openxmlformats.org/drawingml/2006/main" noGrp="1"/>
          </p:cNvSpPr>
          <p:nvPr/>
        </p:nvSpPr>
        <p:spPr>
          <a:xfrm xmlns:a="http://schemas.openxmlformats.org/drawingml/2006/main">
            <a:off x="552450" y="337185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3</a:t>
            </a:r>
          </a:p>
        </p:txBody>
      </p:sp>
      <p:sp>
        <p:nvSpPr>
          <p:cNvPr id="18" name="Rectangle 17">
            <a:extLst xmlns:a="http://schemas.openxmlformats.org/drawingml/2006/main">
              <a:ext uri="{FF2B5EF4-FFF2-40B4-BE49-F238E27FC236}">
                <a16:creationId xmlns:a16="http://schemas.microsoft.com/office/drawing/2014/main" id="{86F6D6F7-4ED7-4205-8DB9-3D6F2A488553}"/>
              </a:ext>
            </a:extLst>
          </p:cNvPr>
          <p:cNvSpPr>
            <a:spLocks xmlns:a="http://schemas.openxmlformats.org/drawingml/2006/main" noGrp="1"/>
          </p:cNvSpPr>
          <p:nvPr/>
        </p:nvSpPr>
        <p:spPr>
          <a:xfrm xmlns:a="http://schemas.openxmlformats.org/drawingml/2006/main">
            <a:off x="1514475" y="328612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2DBD73"/>
                </a:solidFill>
                <a:latin typeface="Arial"/>
                <a:ea typeface="Arial"/>
                <a:cs typeface="Arial"/>
              </a:defRPr>
            </a:defPPr>
            <a:lvl1pPr algn="l">
              <a:buNone/>
              <a:defRPr sz="1425" b="1" i="0">
                <a:solidFill>
                  <a:srgbClr val="2DBD73"/>
                </a:solidFill>
                <a:latin typeface="Arial"/>
                <a:ea typeface="Arial"/>
                <a:cs typeface="Arial"/>
              </a:defRPr>
            </a:lvl1pPr>
            <a:lvl2pPr algn="l">
              <a:buNone/>
              <a:defRPr sz="1425" b="1" i="0">
                <a:solidFill>
                  <a:srgbClr val="2DBD73"/>
                </a:solidFill>
                <a:latin typeface="Arial"/>
                <a:ea typeface="Arial"/>
                <a:cs typeface="Arial"/>
              </a:defRPr>
            </a:lvl2pPr>
            <a:lvl3pPr algn="l">
              <a:buNone/>
              <a:defRPr sz="1425" b="1" i="0">
                <a:solidFill>
                  <a:srgbClr val="2DBD73"/>
                </a:solidFill>
                <a:latin typeface="Arial"/>
                <a:ea typeface="Arial"/>
                <a:cs typeface="Arial"/>
              </a:defRPr>
            </a:lvl3pPr>
            <a:lvl4pPr algn="l">
              <a:buNone/>
              <a:defRPr sz="1425" b="1" i="0">
                <a:solidFill>
                  <a:srgbClr val="2DBD73"/>
                </a:solidFill>
                <a:latin typeface="Arial"/>
                <a:ea typeface="Arial"/>
                <a:cs typeface="Arial"/>
              </a:defRPr>
            </a:lvl4pPr>
            <a:lvl5pPr algn="l">
              <a:buNone/>
              <a:defRPr sz="1425" b="1" i="0">
                <a:solidFill>
                  <a:srgbClr val="2DBD73"/>
                </a:solidFill>
                <a:latin typeface="Arial"/>
                <a:ea typeface="Arial"/>
                <a:cs typeface="Arial"/>
              </a:defRPr>
            </a:lvl5pPr>
            <a:lvl6pPr algn="l">
              <a:buNone/>
              <a:defRPr sz="1425" b="1" i="0">
                <a:solidFill>
                  <a:srgbClr val="2DBD73"/>
                </a:solidFill>
                <a:latin typeface="Arial"/>
                <a:ea typeface="Arial"/>
                <a:cs typeface="Arial"/>
              </a:defRPr>
            </a:lvl6pPr>
            <a:lvl7pPr algn="l">
              <a:buNone/>
              <a:defRPr sz="1425" b="1" i="0">
                <a:solidFill>
                  <a:srgbClr val="2DBD73"/>
                </a:solidFill>
                <a:latin typeface="Arial"/>
                <a:ea typeface="Arial"/>
                <a:cs typeface="Arial"/>
              </a:defRPr>
            </a:lvl7pPr>
            <a:lvl8pPr algn="l">
              <a:buNone/>
              <a:defRPr sz="1425" b="1" i="0">
                <a:solidFill>
                  <a:srgbClr val="2DBD73"/>
                </a:solidFill>
                <a:latin typeface="Arial"/>
                <a:ea typeface="Arial"/>
                <a:cs typeface="Arial"/>
              </a:defRPr>
            </a:lvl8pPr>
            <a:lvl9pPr algn="l">
              <a:buNone/>
              <a:defRPr sz="1425" b="1" i="0">
                <a:solidFill>
                  <a:srgbClr val="2DBD73"/>
                </a:solidFill>
                <a:latin typeface="Arial"/>
                <a:ea typeface="Arial"/>
                <a:cs typeface="Arial"/>
              </a:defRPr>
            </a:lvl9pPr>
          </a:lstStyle>
          <a:p xmlns:a="http://schemas.openxmlformats.org/drawingml/2006/main">
            <a:pPr algn="l">
              <a:buNone/>
              <a:defRPr sz="1425" b="1" i="0">
                <a:solidFill>
                  <a:srgbClr val="2DBD73"/>
                </a:solidFill>
                <a:latin typeface="Arial"/>
                <a:ea typeface="Arial"/>
                <a:cs typeface="Arial"/>
              </a:defRPr>
            </a:pPr>
            <a:r>
              <a:rPr sz="1425" b="1" i="0">
                <a:solidFill>
                  <a:srgbClr val="2DBD73"/>
                </a:solidFill>
                <a:latin typeface="Arial"/>
                <a:ea typeface="Arial"/>
                <a:cs typeface="Arial"/>
              </a:rPr>
              <a:t>Curation quality</a:t>
            </a:r>
          </a:p>
        </p:txBody>
      </p:sp>
      <p:sp>
        <p:nvSpPr>
          <p:cNvPr id="19" name="Rectangle 18">
            <a:extLst xmlns:a="http://schemas.openxmlformats.org/drawingml/2006/main">
              <a:ext uri="{FF2B5EF4-FFF2-40B4-BE49-F238E27FC236}">
                <a16:creationId xmlns:a16="http://schemas.microsoft.com/office/drawing/2014/main" id="{D30DFE16-8A91-46D1-B42B-D279AACE9275}"/>
              </a:ext>
            </a:extLst>
          </p:cNvPr>
          <p:cNvSpPr>
            <a:spLocks xmlns:a="http://schemas.openxmlformats.org/drawingml/2006/main" noGrp="1"/>
          </p:cNvSpPr>
          <p:nvPr/>
        </p:nvSpPr>
        <p:spPr>
          <a:xfrm xmlns:a="http://schemas.openxmlformats.org/drawingml/2006/main">
            <a:off x="3886200" y="325755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Independent review, locked annotations, disagreement log, agreement, and stratum precision</a:t>
            </a:r>
          </a:p>
        </p:txBody>
      </p:sp>
      <p:sp>
        <p:nvSpPr>
          <p:cNvPr id="20" name="Rectangle: Rounded Corners 19">
            <a:extLst xmlns:a="http://schemas.openxmlformats.org/drawingml/2006/main">
              <a:ext uri="{FF2B5EF4-FFF2-40B4-BE49-F238E27FC236}">
                <a16:creationId xmlns:a16="http://schemas.microsoft.com/office/drawing/2014/main" id="{10F069E2-BCB7-4C1E-9D52-71F4BCF85149}"/>
              </a:ext>
            </a:extLst>
          </p:cNvPr>
          <p:cNvSpPr>
            <a:spLocks xmlns:a="http://schemas.openxmlformats.org/drawingml/2006/main" noGrp="1"/>
          </p:cNvSpPr>
          <p:nvPr/>
        </p:nvSpPr>
        <p:spPr>
          <a:xfrm xmlns:a="http://schemas.openxmlformats.org/drawingml/2006/main">
            <a:off x="552450" y="4105275"/>
            <a:ext cx="704850" cy="590550"/>
          </a:xfrm>
          <a:prstGeom xmlns:a="http://schemas.openxmlformats.org/drawingml/2006/main" prst="roundRect">
            <a:avLst>
              <a:gd name="adj" fmla="val 12903"/>
            </a:avLst>
          </a:prstGeom>
          <a:solidFill xmlns:a="http://schemas.openxmlformats.org/drawingml/2006/main">
            <a:srgbClr val="F1C84B"/>
          </a:solidFill>
          <a:ln xmlns:a="http://schemas.openxmlformats.org/drawingml/2006/main" w="0">
            <a:noFill/>
            <a:prstDash val="solid"/>
          </a:ln>
        </p:spPr>
      </p:sp>
      <p:sp>
        <p:nvSpPr>
          <p:cNvPr id="21" name="Rectangle 20">
            <a:extLst xmlns:a="http://schemas.openxmlformats.org/drawingml/2006/main">
              <a:ext uri="{FF2B5EF4-FFF2-40B4-BE49-F238E27FC236}">
                <a16:creationId xmlns:a16="http://schemas.microsoft.com/office/drawing/2014/main" id="{F5223068-C888-4F1C-BD3C-3596DF214781}"/>
              </a:ext>
            </a:extLst>
          </p:cNvPr>
          <p:cNvSpPr>
            <a:spLocks xmlns:a="http://schemas.openxmlformats.org/drawingml/2006/main" noGrp="1"/>
          </p:cNvSpPr>
          <p:nvPr/>
        </p:nvSpPr>
        <p:spPr>
          <a:xfrm xmlns:a="http://schemas.openxmlformats.org/drawingml/2006/main">
            <a:off x="552450" y="4219575"/>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4</a:t>
            </a:r>
          </a:p>
        </p:txBody>
      </p:sp>
      <p:sp>
        <p:nvSpPr>
          <p:cNvPr id="22" name="Rectangle 21">
            <a:extLst xmlns:a="http://schemas.openxmlformats.org/drawingml/2006/main">
              <a:ext uri="{FF2B5EF4-FFF2-40B4-BE49-F238E27FC236}">
                <a16:creationId xmlns:a16="http://schemas.microsoft.com/office/drawing/2014/main" id="{9978333A-31D5-44AC-AEB6-44D85D45B7C1}"/>
              </a:ext>
            </a:extLst>
          </p:cNvPr>
          <p:cNvSpPr>
            <a:spLocks xmlns:a="http://schemas.openxmlformats.org/drawingml/2006/main" noGrp="1"/>
          </p:cNvSpPr>
          <p:nvPr/>
        </p:nvSpPr>
        <p:spPr>
          <a:xfrm xmlns:a="http://schemas.openxmlformats.org/drawingml/2006/main">
            <a:off x="1514475" y="413385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F1C84B"/>
                </a:solidFill>
                <a:latin typeface="Arial"/>
                <a:ea typeface="Arial"/>
                <a:cs typeface="Arial"/>
              </a:defRPr>
            </a:defPPr>
            <a:lvl1pPr algn="l">
              <a:buNone/>
              <a:defRPr sz="1425" b="1" i="0">
                <a:solidFill>
                  <a:srgbClr val="F1C84B"/>
                </a:solidFill>
                <a:latin typeface="Arial"/>
                <a:ea typeface="Arial"/>
                <a:cs typeface="Arial"/>
              </a:defRPr>
            </a:lvl1pPr>
            <a:lvl2pPr algn="l">
              <a:buNone/>
              <a:defRPr sz="1425" b="1" i="0">
                <a:solidFill>
                  <a:srgbClr val="F1C84B"/>
                </a:solidFill>
                <a:latin typeface="Arial"/>
                <a:ea typeface="Arial"/>
                <a:cs typeface="Arial"/>
              </a:defRPr>
            </a:lvl2pPr>
            <a:lvl3pPr algn="l">
              <a:buNone/>
              <a:defRPr sz="1425" b="1" i="0">
                <a:solidFill>
                  <a:srgbClr val="F1C84B"/>
                </a:solidFill>
                <a:latin typeface="Arial"/>
                <a:ea typeface="Arial"/>
                <a:cs typeface="Arial"/>
              </a:defRPr>
            </a:lvl3pPr>
            <a:lvl4pPr algn="l">
              <a:buNone/>
              <a:defRPr sz="1425" b="1" i="0">
                <a:solidFill>
                  <a:srgbClr val="F1C84B"/>
                </a:solidFill>
                <a:latin typeface="Arial"/>
                <a:ea typeface="Arial"/>
                <a:cs typeface="Arial"/>
              </a:defRPr>
            </a:lvl4pPr>
            <a:lvl5pPr algn="l">
              <a:buNone/>
              <a:defRPr sz="1425" b="1" i="0">
                <a:solidFill>
                  <a:srgbClr val="F1C84B"/>
                </a:solidFill>
                <a:latin typeface="Arial"/>
                <a:ea typeface="Arial"/>
                <a:cs typeface="Arial"/>
              </a:defRPr>
            </a:lvl5pPr>
            <a:lvl6pPr algn="l">
              <a:buNone/>
              <a:defRPr sz="1425" b="1" i="0">
                <a:solidFill>
                  <a:srgbClr val="F1C84B"/>
                </a:solidFill>
                <a:latin typeface="Arial"/>
                <a:ea typeface="Arial"/>
                <a:cs typeface="Arial"/>
              </a:defRPr>
            </a:lvl6pPr>
            <a:lvl7pPr algn="l">
              <a:buNone/>
              <a:defRPr sz="1425" b="1" i="0">
                <a:solidFill>
                  <a:srgbClr val="F1C84B"/>
                </a:solidFill>
                <a:latin typeface="Arial"/>
                <a:ea typeface="Arial"/>
                <a:cs typeface="Arial"/>
              </a:defRPr>
            </a:lvl7pPr>
            <a:lvl8pPr algn="l">
              <a:buNone/>
              <a:defRPr sz="1425" b="1" i="0">
                <a:solidFill>
                  <a:srgbClr val="F1C84B"/>
                </a:solidFill>
                <a:latin typeface="Arial"/>
                <a:ea typeface="Arial"/>
                <a:cs typeface="Arial"/>
              </a:defRPr>
            </a:lvl8pPr>
            <a:lvl9pPr algn="l">
              <a:buNone/>
              <a:defRPr sz="1425" b="1" i="0">
                <a:solidFill>
                  <a:srgbClr val="F1C84B"/>
                </a:solidFill>
                <a:latin typeface="Arial"/>
                <a:ea typeface="Arial"/>
                <a:cs typeface="Arial"/>
              </a:defRPr>
            </a:lvl9pPr>
          </a:lstStyle>
          <a:p xmlns:a="http://schemas.openxmlformats.org/drawingml/2006/main">
            <a:pPr algn="l">
              <a:buNone/>
              <a:defRPr sz="1425" b="1" i="0">
                <a:solidFill>
                  <a:srgbClr val="F1C84B"/>
                </a:solidFill>
                <a:latin typeface="Arial"/>
                <a:ea typeface="Arial"/>
                <a:cs typeface="Arial"/>
              </a:defRPr>
            </a:pPr>
            <a:r>
              <a:rPr sz="1425" b="1" i="0">
                <a:solidFill>
                  <a:srgbClr val="F1C84B"/>
                </a:solidFill>
                <a:latin typeface="Arial"/>
                <a:ea typeface="Arial"/>
                <a:cs typeface="Arial"/>
              </a:rPr>
              <a:t>Leakage control</a:t>
            </a:r>
          </a:p>
        </p:txBody>
      </p:sp>
      <p:sp>
        <p:nvSpPr>
          <p:cNvPr id="23" name="Rectangle 22">
            <a:extLst xmlns:a="http://schemas.openxmlformats.org/drawingml/2006/main">
              <a:ext uri="{FF2B5EF4-FFF2-40B4-BE49-F238E27FC236}">
                <a16:creationId xmlns:a16="http://schemas.microsoft.com/office/drawing/2014/main" id="{DD2895E6-D023-4B75-9502-0FA42B4B28FF}"/>
              </a:ext>
            </a:extLst>
          </p:cNvPr>
          <p:cNvSpPr>
            <a:spLocks xmlns:a="http://schemas.openxmlformats.org/drawingml/2006/main" noGrp="1"/>
          </p:cNvSpPr>
          <p:nvPr/>
        </p:nvSpPr>
        <p:spPr>
          <a:xfrm xmlns:a="http://schemas.openxmlformats.org/drawingml/2006/main">
            <a:off x="3886200" y="4105275"/>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Whole homology and domain-family clusters remain together across train, validation, and blind sets</a:t>
            </a:r>
          </a:p>
        </p:txBody>
      </p:sp>
      <p:sp>
        <p:nvSpPr>
          <p:cNvPr id="24" name="Rectangle: Rounded Corners 23">
            <a:extLst xmlns:a="http://schemas.openxmlformats.org/drawingml/2006/main">
              <a:ext uri="{FF2B5EF4-FFF2-40B4-BE49-F238E27FC236}">
                <a16:creationId xmlns:a16="http://schemas.microsoft.com/office/drawing/2014/main" id="{0CDD1939-4482-4C20-B243-8D08B8213EA9}"/>
              </a:ext>
            </a:extLst>
          </p:cNvPr>
          <p:cNvSpPr>
            <a:spLocks xmlns:a="http://schemas.openxmlformats.org/drawingml/2006/main" noGrp="1"/>
          </p:cNvSpPr>
          <p:nvPr/>
        </p:nvSpPr>
        <p:spPr>
          <a:xfrm xmlns:a="http://schemas.openxmlformats.org/drawingml/2006/main">
            <a:off x="552450" y="4953000"/>
            <a:ext cx="704850" cy="590550"/>
          </a:xfrm>
          <a:prstGeom xmlns:a="http://schemas.openxmlformats.org/drawingml/2006/main" prst="roundRect">
            <a:avLst>
              <a:gd name="adj" fmla="val 12903"/>
            </a:avLst>
          </a:prstGeom>
          <a:solidFill xmlns:a="http://schemas.openxmlformats.org/drawingml/2006/main">
            <a:srgbClr val="E84AAB"/>
          </a:solidFill>
          <a:ln xmlns:a="http://schemas.openxmlformats.org/drawingml/2006/main" w="0">
            <a:noFill/>
            <a:prstDash val="solid"/>
          </a:ln>
        </p:spPr>
      </p:sp>
      <p:sp>
        <p:nvSpPr>
          <p:cNvPr id="25" name="Rectangle 24">
            <a:extLst xmlns:a="http://schemas.openxmlformats.org/drawingml/2006/main">
              <a:ext uri="{FF2B5EF4-FFF2-40B4-BE49-F238E27FC236}">
                <a16:creationId xmlns:a16="http://schemas.microsoft.com/office/drawing/2014/main" id="{61AAE93D-42B3-4A09-AF02-7431B9E3AD4E}"/>
              </a:ext>
            </a:extLst>
          </p:cNvPr>
          <p:cNvSpPr>
            <a:spLocks xmlns:a="http://schemas.openxmlformats.org/drawingml/2006/main" noGrp="1"/>
          </p:cNvSpPr>
          <p:nvPr/>
        </p:nvSpPr>
        <p:spPr>
          <a:xfrm xmlns:a="http://schemas.openxmlformats.org/drawingml/2006/main">
            <a:off x="552450" y="506730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5</a:t>
            </a:r>
          </a:p>
        </p:txBody>
      </p:sp>
      <p:sp>
        <p:nvSpPr>
          <p:cNvPr id="26" name="Rectangle 25">
            <a:extLst xmlns:a="http://schemas.openxmlformats.org/drawingml/2006/main">
              <a:ext uri="{FF2B5EF4-FFF2-40B4-BE49-F238E27FC236}">
                <a16:creationId xmlns:a16="http://schemas.microsoft.com/office/drawing/2014/main" id="{E2FC1A53-3531-4D23-ABE6-1589D8E7CCD7}"/>
              </a:ext>
            </a:extLst>
          </p:cNvPr>
          <p:cNvSpPr>
            <a:spLocks xmlns:a="http://schemas.openxmlformats.org/drawingml/2006/main" noGrp="1"/>
          </p:cNvSpPr>
          <p:nvPr/>
        </p:nvSpPr>
        <p:spPr>
          <a:xfrm xmlns:a="http://schemas.openxmlformats.org/drawingml/2006/main">
            <a:off x="1514475" y="498157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E84AAB"/>
                </a:solidFill>
                <a:latin typeface="Arial"/>
                <a:ea typeface="Arial"/>
                <a:cs typeface="Arial"/>
              </a:defRPr>
            </a:defPPr>
            <a:lvl1pPr algn="l">
              <a:buNone/>
              <a:defRPr sz="1425" b="1" i="0">
                <a:solidFill>
                  <a:srgbClr val="E84AAB"/>
                </a:solidFill>
                <a:latin typeface="Arial"/>
                <a:ea typeface="Arial"/>
                <a:cs typeface="Arial"/>
              </a:defRPr>
            </a:lvl1pPr>
            <a:lvl2pPr algn="l">
              <a:buNone/>
              <a:defRPr sz="1425" b="1" i="0">
                <a:solidFill>
                  <a:srgbClr val="E84AAB"/>
                </a:solidFill>
                <a:latin typeface="Arial"/>
                <a:ea typeface="Arial"/>
                <a:cs typeface="Arial"/>
              </a:defRPr>
            </a:lvl2pPr>
            <a:lvl3pPr algn="l">
              <a:buNone/>
              <a:defRPr sz="1425" b="1" i="0">
                <a:solidFill>
                  <a:srgbClr val="E84AAB"/>
                </a:solidFill>
                <a:latin typeface="Arial"/>
                <a:ea typeface="Arial"/>
                <a:cs typeface="Arial"/>
              </a:defRPr>
            </a:lvl3pPr>
            <a:lvl4pPr algn="l">
              <a:buNone/>
              <a:defRPr sz="1425" b="1" i="0">
                <a:solidFill>
                  <a:srgbClr val="E84AAB"/>
                </a:solidFill>
                <a:latin typeface="Arial"/>
                <a:ea typeface="Arial"/>
                <a:cs typeface="Arial"/>
              </a:defRPr>
            </a:lvl4pPr>
            <a:lvl5pPr algn="l">
              <a:buNone/>
              <a:defRPr sz="1425" b="1" i="0">
                <a:solidFill>
                  <a:srgbClr val="E84AAB"/>
                </a:solidFill>
                <a:latin typeface="Arial"/>
                <a:ea typeface="Arial"/>
                <a:cs typeface="Arial"/>
              </a:defRPr>
            </a:lvl5pPr>
            <a:lvl6pPr algn="l">
              <a:buNone/>
              <a:defRPr sz="1425" b="1" i="0">
                <a:solidFill>
                  <a:srgbClr val="E84AAB"/>
                </a:solidFill>
                <a:latin typeface="Arial"/>
                <a:ea typeface="Arial"/>
                <a:cs typeface="Arial"/>
              </a:defRPr>
            </a:lvl6pPr>
            <a:lvl7pPr algn="l">
              <a:buNone/>
              <a:defRPr sz="1425" b="1" i="0">
                <a:solidFill>
                  <a:srgbClr val="E84AAB"/>
                </a:solidFill>
                <a:latin typeface="Arial"/>
                <a:ea typeface="Arial"/>
                <a:cs typeface="Arial"/>
              </a:defRPr>
            </a:lvl7pPr>
            <a:lvl8pPr algn="l">
              <a:buNone/>
              <a:defRPr sz="1425" b="1" i="0">
                <a:solidFill>
                  <a:srgbClr val="E84AAB"/>
                </a:solidFill>
                <a:latin typeface="Arial"/>
                <a:ea typeface="Arial"/>
                <a:cs typeface="Arial"/>
              </a:defRPr>
            </a:lvl8pPr>
            <a:lvl9pPr algn="l">
              <a:buNone/>
              <a:defRPr sz="1425" b="1" i="0">
                <a:solidFill>
                  <a:srgbClr val="E84AAB"/>
                </a:solidFill>
                <a:latin typeface="Arial"/>
                <a:ea typeface="Arial"/>
                <a:cs typeface="Arial"/>
              </a:defRPr>
            </a:lvl9pPr>
          </a:lstStyle>
          <a:p xmlns:a="http://schemas.openxmlformats.org/drawingml/2006/main">
            <a:pPr algn="l">
              <a:buNone/>
              <a:defRPr sz="1425" b="1" i="0">
                <a:solidFill>
                  <a:srgbClr val="E84AAB"/>
                </a:solidFill>
                <a:latin typeface="Arial"/>
                <a:ea typeface="Arial"/>
                <a:cs typeface="Arial"/>
              </a:defRPr>
            </a:pPr>
            <a:r>
              <a:rPr sz="1425" b="1" i="0">
                <a:solidFill>
                  <a:srgbClr val="E84AAB"/>
                </a:solidFill>
                <a:latin typeface="Arial"/>
                <a:ea typeface="Arial"/>
                <a:cs typeface="Arial"/>
              </a:rPr>
              <a:t>Scientific validity</a:t>
            </a:r>
          </a:p>
        </p:txBody>
      </p:sp>
      <p:sp>
        <p:nvSpPr>
          <p:cNvPr id="27" name="Rectangle 26">
            <a:extLst xmlns:a="http://schemas.openxmlformats.org/drawingml/2006/main">
              <a:ext uri="{FF2B5EF4-FFF2-40B4-BE49-F238E27FC236}">
                <a16:creationId xmlns:a16="http://schemas.microsoft.com/office/drawing/2014/main" id="{ECD7DE0A-9ED3-439D-BAB0-7582D3D8C962}"/>
              </a:ext>
            </a:extLst>
          </p:cNvPr>
          <p:cNvSpPr>
            <a:spLocks xmlns:a="http://schemas.openxmlformats.org/drawingml/2006/main" noGrp="1"/>
          </p:cNvSpPr>
          <p:nvPr/>
        </p:nvSpPr>
        <p:spPr>
          <a:xfrm xmlns:a="http://schemas.openxmlformats.org/drawingml/2006/main">
            <a:off x="3886200" y="495300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Family-disjoint prospective outcomes and matched baselines test whether ranking transfers</a:t>
            </a:r>
          </a:p>
        </p:txBody>
      </p:sp>
      <p:sp>
        <p:nvSpPr>
          <p:cNvPr id="28" name="Rectangle: Rounded Corners 27">
            <a:extLst xmlns:a="http://schemas.openxmlformats.org/drawingml/2006/main">
              <a:ext uri="{FF2B5EF4-FFF2-40B4-BE49-F238E27FC236}">
                <a16:creationId xmlns:a16="http://schemas.microsoft.com/office/drawing/2014/main" id="{ACA4F684-8B56-466B-8A3A-113E73334605}"/>
              </a:ext>
            </a:extLst>
          </p:cNvPr>
          <p:cNvSpPr>
            <a:spLocks xmlns:a="http://schemas.openxmlformats.org/drawingml/2006/main" noGrp="1"/>
          </p:cNvSpPr>
          <p:nvPr/>
        </p:nvSpPr>
        <p:spPr>
          <a:xfrm xmlns:a="http://schemas.openxmlformats.org/drawingml/2006/main">
            <a:off x="552450" y="5857875"/>
            <a:ext cx="10858500" cy="476250"/>
          </a:xfrm>
          <a:prstGeom xmlns:a="http://schemas.openxmlformats.org/drawingml/2006/main" prst="roundRect">
            <a:avLst>
              <a:gd name="adj" fmla="val 16000"/>
            </a:avLst>
          </a:prstGeom>
          <a:solidFill xmlns:a="http://schemas.openxmlformats.org/drawingml/2006/main">
            <a:srgbClr val="321B25"/>
          </a:solidFill>
          <a:ln xmlns:a="http://schemas.openxmlformats.org/drawingml/2006/main" w="9525">
            <a:solidFill>
              <a:srgbClr val="E46760"/>
            </a:solidFill>
            <a:prstDash val="solid"/>
          </a:ln>
        </p:spPr>
      </p:sp>
      <p:sp>
        <p:nvSpPr>
          <p:cNvPr id="29" name="Rectangle 28">
            <a:extLst xmlns:a="http://schemas.openxmlformats.org/drawingml/2006/main">
              <a:ext uri="{FF2B5EF4-FFF2-40B4-BE49-F238E27FC236}">
                <a16:creationId xmlns:a16="http://schemas.microsoft.com/office/drawing/2014/main" id="{588B4B16-464E-43C3-A89E-85ECD982633C}"/>
              </a:ext>
            </a:extLst>
          </p:cNvPr>
          <p:cNvSpPr>
            <a:spLocks xmlns:a="http://schemas.openxmlformats.org/drawingml/2006/main" noGrp="1"/>
          </p:cNvSpPr>
          <p:nvPr/>
        </p:nvSpPr>
        <p:spPr>
          <a:xfrm xmlns:a="http://schemas.openxmlformats.org/drawingml/2006/main">
            <a:off x="742950" y="59626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663"/>
          </a:bodyPr>
          <a:lstStyle xmlns:a="http://schemas.openxmlformats.org/drawingml/2006/main">
            <a:defPPr algn="ctr">
              <a:defRPr sz="1125" b="1" i="0">
                <a:solidFill>
                  <a:srgbClr val="F6C2D8"/>
                </a:solidFill>
                <a:latin typeface="Arial"/>
                <a:ea typeface="Arial"/>
                <a:cs typeface="Arial"/>
              </a:defRPr>
            </a:defPPr>
            <a:lvl1pPr algn="ctr">
              <a:buNone/>
              <a:defRPr sz="1125" b="1" i="0">
                <a:solidFill>
                  <a:srgbClr val="F6C2D8"/>
                </a:solidFill>
                <a:latin typeface="Arial"/>
                <a:ea typeface="Arial"/>
                <a:cs typeface="Arial"/>
              </a:defRPr>
            </a:lvl1pPr>
            <a:lvl2pPr algn="ctr">
              <a:buNone/>
              <a:defRPr sz="1125" b="1" i="0">
                <a:solidFill>
                  <a:srgbClr val="F6C2D8"/>
                </a:solidFill>
                <a:latin typeface="Arial"/>
                <a:ea typeface="Arial"/>
                <a:cs typeface="Arial"/>
              </a:defRPr>
            </a:lvl2pPr>
            <a:lvl3pPr algn="ctr">
              <a:buNone/>
              <a:defRPr sz="1125" b="1" i="0">
                <a:solidFill>
                  <a:srgbClr val="F6C2D8"/>
                </a:solidFill>
                <a:latin typeface="Arial"/>
                <a:ea typeface="Arial"/>
                <a:cs typeface="Arial"/>
              </a:defRPr>
            </a:lvl3pPr>
            <a:lvl4pPr algn="ctr">
              <a:buNone/>
              <a:defRPr sz="1125" b="1" i="0">
                <a:solidFill>
                  <a:srgbClr val="F6C2D8"/>
                </a:solidFill>
                <a:latin typeface="Arial"/>
                <a:ea typeface="Arial"/>
                <a:cs typeface="Arial"/>
              </a:defRPr>
            </a:lvl4pPr>
            <a:lvl5pPr algn="ctr">
              <a:buNone/>
              <a:defRPr sz="1125" b="1" i="0">
                <a:solidFill>
                  <a:srgbClr val="F6C2D8"/>
                </a:solidFill>
                <a:latin typeface="Arial"/>
                <a:ea typeface="Arial"/>
                <a:cs typeface="Arial"/>
              </a:defRPr>
            </a:lvl5pPr>
            <a:lvl6pPr algn="ctr">
              <a:buNone/>
              <a:defRPr sz="1125" b="1" i="0">
                <a:solidFill>
                  <a:srgbClr val="F6C2D8"/>
                </a:solidFill>
                <a:latin typeface="Arial"/>
                <a:ea typeface="Arial"/>
                <a:cs typeface="Arial"/>
              </a:defRPr>
            </a:lvl6pPr>
            <a:lvl7pPr algn="ctr">
              <a:buNone/>
              <a:defRPr sz="1125" b="1" i="0">
                <a:solidFill>
                  <a:srgbClr val="F6C2D8"/>
                </a:solidFill>
                <a:latin typeface="Arial"/>
                <a:ea typeface="Arial"/>
                <a:cs typeface="Arial"/>
              </a:defRPr>
            </a:lvl7pPr>
            <a:lvl8pPr algn="ctr">
              <a:buNone/>
              <a:defRPr sz="1125" b="1" i="0">
                <a:solidFill>
                  <a:srgbClr val="F6C2D8"/>
                </a:solidFill>
                <a:latin typeface="Arial"/>
                <a:ea typeface="Arial"/>
                <a:cs typeface="Arial"/>
              </a:defRPr>
            </a:lvl8pPr>
            <a:lvl9pPr algn="ctr">
              <a:buNone/>
              <a:defRPr sz="1125" b="1" i="0">
                <a:solidFill>
                  <a:srgbClr val="F6C2D8"/>
                </a:solidFill>
                <a:latin typeface="Arial"/>
                <a:ea typeface="Arial"/>
                <a:cs typeface="Arial"/>
              </a:defRPr>
            </a:lvl9pPr>
          </a:lstStyle>
          <a:p xmlns:a="http://schemas.openxmlformats.org/drawingml/2006/main">
            <a:pPr algn="ctr">
              <a:buNone/>
              <a:defRPr sz="1125" b="1" i="0">
                <a:solidFill>
                  <a:srgbClr val="F6C2D8"/>
                </a:solidFill>
                <a:latin typeface="Arial"/>
                <a:ea typeface="Arial"/>
                <a:cs typeface="Arial"/>
              </a:defRPr>
            </a:pPr>
            <a:r>
              <a:rPr sz="1125" b="1" i="0">
                <a:solidFill>
                  <a:srgbClr val="F6C2D8"/>
                </a:solidFill>
                <a:latin typeface="Arial"/>
                <a:ea typeface="Arial"/>
                <a:cs typeface="Arial"/>
              </a:rPr>
              <a:t>Training is blocked to prevent leakage. The DP94 screen links 88 of 98 proteins to existing data, and CAID3 results have already been viewed. A new sealed, family-independent test set is required.</a:t>
            </a:r>
          </a:p>
        </p:txBody>
      </p:sp>
    </p:spTree>
    <p:extLst>
      <p:ext uri="{BB962C8B-B14F-4D97-AF65-F5344CB8AC3E}">
        <p14:creationId xmlns:p14="http://schemas.microsoft.com/office/powerpoint/2010/main" val="54492796"/>
      </p:ext>
    </p:extLst>
  </p:cSld>
</p:sld>
</file>

<file path=ppt/slides/slide16.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7" name="Rectangle 36">
            <a:extLst xmlns:a="http://schemas.openxmlformats.org/drawingml/2006/main">
              <a:ext uri="{FF2B5EF4-FFF2-40B4-BE49-F238E27FC236}">
                <a16:creationId xmlns:a16="http://schemas.microsoft.com/office/drawing/2014/main" id="{6104E886-0195-44D0-8324-613D6055DEE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C955B3BC-3F6D-4F66-90B4-738AF8A0815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04C88D8D-CCD4-4121-BE79-66E303BDA5C8}"/>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PROVENANCE</a:t>
            </a:r>
          </a:p>
        </p:txBody>
      </p:sp>
      <p:sp>
        <p:nvSpPr>
          <p:cNvPr id="4" name="Rectangle 3">
            <a:extLst xmlns:a="http://schemas.openxmlformats.org/drawingml/2006/main">
              <a:ext uri="{FF2B5EF4-FFF2-40B4-BE49-F238E27FC236}">
                <a16:creationId xmlns:a16="http://schemas.microsoft.com/office/drawing/2014/main" id="{C5E68225-5734-4542-8D5D-C13356B94CE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§7; implemented research-bundle and local SHA-256 history contracts</a:t>
            </a:r>
          </a:p>
        </p:txBody>
      </p:sp>
      <p:sp>
        <p:nvSpPr>
          <p:cNvPr id="5" name="Rectangle 4">
            <a:extLst xmlns:a="http://schemas.openxmlformats.org/drawingml/2006/main">
              <a:ext uri="{FF2B5EF4-FFF2-40B4-BE49-F238E27FC236}">
                <a16:creationId xmlns:a16="http://schemas.microsoft.com/office/drawing/2014/main" id="{52569B20-AFC2-4393-91B7-C19AE08681E5}"/>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16</a:t>
            </a:r>
          </a:p>
        </p:txBody>
      </p:sp>
      <p:sp>
        <p:nvSpPr>
          <p:cNvPr id="6" name="Rectangle 5">
            <a:extLst xmlns:a="http://schemas.openxmlformats.org/drawingml/2006/main">
              <a:ext uri="{FF2B5EF4-FFF2-40B4-BE49-F238E27FC236}">
                <a16:creationId xmlns:a16="http://schemas.microsoft.com/office/drawing/2014/main" id="{12FFD951-614F-441C-BB2F-7BD63C7DBE9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Provenance from source record to research bundle</a:t>
            </a:r>
          </a:p>
        </p:txBody>
      </p:sp>
      <p:sp>
        <p:nvSpPr>
          <p:cNvPr id="7" name="Rectangle 6">
            <a:extLst xmlns:a="http://schemas.openxmlformats.org/drawingml/2006/main">
              <a:ext uri="{FF2B5EF4-FFF2-40B4-BE49-F238E27FC236}">
                <a16:creationId xmlns:a16="http://schemas.microsoft.com/office/drawing/2014/main" id="{033D5FF8-7E61-421E-985D-FEA81E92A37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 result remains interpretable only when its inputs, transformations, software, and claim limits travel with it</a:t>
            </a:r>
          </a:p>
        </p:txBody>
      </p:sp>
      <p:sp>
        <p:nvSpPr>
          <p:cNvPr id="8" name="Rectangle: Rounded Corners 7">
            <a:extLst xmlns:a="http://schemas.openxmlformats.org/drawingml/2006/main">
              <a:ext uri="{FF2B5EF4-FFF2-40B4-BE49-F238E27FC236}">
                <a16:creationId xmlns:a16="http://schemas.microsoft.com/office/drawing/2014/main" id="{F33E661B-43BE-45B2-82AE-D106D3815D00}"/>
              </a:ext>
            </a:extLst>
          </p:cNvPr>
          <p:cNvSpPr>
            <a:spLocks xmlns:a="http://schemas.openxmlformats.org/drawingml/2006/main" noGrp="1"/>
          </p:cNvSpPr>
          <p:nvPr/>
        </p:nvSpPr>
        <p:spPr>
          <a:xfrm xmlns:a="http://schemas.openxmlformats.org/drawingml/2006/main">
            <a:off x="4191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9" name="Rectangle 8">
            <a:extLst xmlns:a="http://schemas.openxmlformats.org/drawingml/2006/main">
              <a:ext uri="{FF2B5EF4-FFF2-40B4-BE49-F238E27FC236}">
                <a16:creationId xmlns:a16="http://schemas.microsoft.com/office/drawing/2014/main" id="{5814A18A-9A06-4CB6-9C24-34DD3E4C1C4C}"/>
              </a:ext>
            </a:extLst>
          </p:cNvPr>
          <p:cNvSpPr>
            <a:spLocks xmlns:a="http://schemas.openxmlformats.org/drawingml/2006/main" noGrp="1"/>
          </p:cNvSpPr>
          <p:nvPr/>
        </p:nvSpPr>
        <p:spPr>
          <a:xfrm xmlns:a="http://schemas.openxmlformats.org/drawingml/2006/main">
            <a:off x="5619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SOURCE</a:t>
            </a:r>
          </a:p>
        </p:txBody>
      </p:sp>
      <p:sp>
        <p:nvSpPr>
          <p:cNvPr id="10" name="Rectangle 9">
            <a:extLst xmlns:a="http://schemas.openxmlformats.org/drawingml/2006/main">
              <a:ext uri="{FF2B5EF4-FFF2-40B4-BE49-F238E27FC236}">
                <a16:creationId xmlns:a16="http://schemas.microsoft.com/office/drawing/2014/main" id="{093542AA-2BD4-4291-A045-3287F212B184}"/>
              </a:ext>
            </a:extLst>
          </p:cNvPr>
          <p:cNvSpPr>
            <a:spLocks xmlns:a="http://schemas.openxmlformats.org/drawingml/2006/main" noGrp="1"/>
          </p:cNvSpPr>
          <p:nvPr/>
        </p:nvSpPr>
        <p:spPr>
          <a:xfrm xmlns:a="http://schemas.openxmlformats.org/drawingml/2006/main">
            <a:off x="5905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PDB / UniProt / CATH / DisProt / literature IDs</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retrieval date + licence tier</a:t>
            </a:r>
          </a:p>
        </p:txBody>
      </p:sp>
      <p:sp>
        <p:nvSpPr>
          <p:cNvPr id="11" name="Straight Connector 10">
            <a:extLst xmlns:a="http://schemas.openxmlformats.org/drawingml/2006/main">
              <a:ext uri="{FF2B5EF4-FFF2-40B4-BE49-F238E27FC236}">
                <a16:creationId xmlns:a16="http://schemas.microsoft.com/office/drawing/2014/main" id="{C5B6D117-E8E0-4F4D-8D2A-113E7CC36ED3}"/>
              </a:ext>
            </a:extLst>
          </p:cNvPr>
          <p:cNvSpPr>
            <a:spLocks xmlns:a="http://schemas.openxmlformats.org/drawingml/2006/main" noGrp="1"/>
          </p:cNvSpPr>
          <p:nvPr/>
        </p:nvSpPr>
        <p:spPr>
          <a:xfrm xmlns:a="http://schemas.openxmlformats.org/drawingml/2006/main">
            <a:off x="241935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2" name="Rectangle: Rounded Corners 11">
            <a:extLst xmlns:a="http://schemas.openxmlformats.org/drawingml/2006/main">
              <a:ext uri="{FF2B5EF4-FFF2-40B4-BE49-F238E27FC236}">
                <a16:creationId xmlns:a16="http://schemas.microsoft.com/office/drawing/2014/main" id="{3BBD9752-4D0C-47A6-B7C2-5B977F555E55}"/>
              </a:ext>
            </a:extLst>
          </p:cNvPr>
          <p:cNvSpPr>
            <a:spLocks xmlns:a="http://schemas.openxmlformats.org/drawingml/2006/main" noGrp="1"/>
          </p:cNvSpPr>
          <p:nvPr/>
        </p:nvSpPr>
        <p:spPr>
          <a:xfrm xmlns:a="http://schemas.openxmlformats.org/drawingml/2006/main">
            <a:off x="276225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13" name="Rectangle 12">
            <a:extLst xmlns:a="http://schemas.openxmlformats.org/drawingml/2006/main">
              <a:ext uri="{FF2B5EF4-FFF2-40B4-BE49-F238E27FC236}">
                <a16:creationId xmlns:a16="http://schemas.microsoft.com/office/drawing/2014/main" id="{FF173527-4A1B-470D-8C41-41ACBADED9AC}"/>
              </a:ext>
            </a:extLst>
          </p:cNvPr>
          <p:cNvSpPr>
            <a:spLocks xmlns:a="http://schemas.openxmlformats.org/drawingml/2006/main" noGrp="1"/>
          </p:cNvSpPr>
          <p:nvPr/>
        </p:nvSpPr>
        <p:spPr>
          <a:xfrm xmlns:a="http://schemas.openxmlformats.org/drawingml/2006/main">
            <a:off x="290512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DERIVED RECORD</a:t>
            </a:r>
          </a:p>
        </p:txBody>
      </p:sp>
      <p:sp>
        <p:nvSpPr>
          <p:cNvPr id="14" name="Rectangle 13">
            <a:extLst xmlns:a="http://schemas.openxmlformats.org/drawingml/2006/main">
              <a:ext uri="{FF2B5EF4-FFF2-40B4-BE49-F238E27FC236}">
                <a16:creationId xmlns:a16="http://schemas.microsoft.com/office/drawing/2014/main" id="{14C28308-0DCB-4993-82C6-18F4A6D79342}"/>
              </a:ext>
            </a:extLst>
          </p:cNvPr>
          <p:cNvSpPr>
            <a:spLocks xmlns:a="http://schemas.openxmlformats.org/drawingml/2006/main" noGrp="1"/>
          </p:cNvSpPr>
          <p:nvPr/>
        </p:nvSpPr>
        <p:spPr>
          <a:xfrm xmlns:a="http://schemas.openxmlformats.org/drawingml/2006/main">
            <a:off x="293370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exact sequence + coordinates</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evidence class + transformation log</a:t>
            </a:r>
          </a:p>
        </p:txBody>
      </p:sp>
      <p:sp>
        <p:nvSpPr>
          <p:cNvPr id="15" name="Straight Connector 14">
            <a:extLst xmlns:a="http://schemas.openxmlformats.org/drawingml/2006/main">
              <a:ext uri="{FF2B5EF4-FFF2-40B4-BE49-F238E27FC236}">
                <a16:creationId xmlns:a16="http://schemas.microsoft.com/office/drawing/2014/main" id="{645138FF-B09C-4ED5-990F-6488A911309D}"/>
              </a:ext>
            </a:extLst>
          </p:cNvPr>
          <p:cNvSpPr>
            <a:spLocks xmlns:a="http://schemas.openxmlformats.org/drawingml/2006/main" noGrp="1"/>
          </p:cNvSpPr>
          <p:nvPr/>
        </p:nvSpPr>
        <p:spPr>
          <a:xfrm xmlns:a="http://schemas.openxmlformats.org/drawingml/2006/main">
            <a:off x="476250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6" name="Rectangle: Rounded Corners 15">
            <a:extLst xmlns:a="http://schemas.openxmlformats.org/drawingml/2006/main">
              <a:ext uri="{FF2B5EF4-FFF2-40B4-BE49-F238E27FC236}">
                <a16:creationId xmlns:a16="http://schemas.microsoft.com/office/drawing/2014/main" id="{ECFDA6AF-C286-43EC-9EB9-3A356712BE3B}"/>
              </a:ext>
            </a:extLst>
          </p:cNvPr>
          <p:cNvSpPr>
            <a:spLocks xmlns:a="http://schemas.openxmlformats.org/drawingml/2006/main" noGrp="1"/>
          </p:cNvSpPr>
          <p:nvPr/>
        </p:nvSpPr>
        <p:spPr>
          <a:xfrm xmlns:a="http://schemas.openxmlformats.org/drawingml/2006/main">
            <a:off x="51054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17" name="Rectangle 16">
            <a:extLst xmlns:a="http://schemas.openxmlformats.org/drawingml/2006/main">
              <a:ext uri="{FF2B5EF4-FFF2-40B4-BE49-F238E27FC236}">
                <a16:creationId xmlns:a16="http://schemas.microsoft.com/office/drawing/2014/main" id="{63335EDD-1B09-4F33-8409-AC390A7CA979}"/>
              </a:ext>
            </a:extLst>
          </p:cNvPr>
          <p:cNvSpPr>
            <a:spLocks xmlns:a="http://schemas.openxmlformats.org/drawingml/2006/main" noGrp="1"/>
          </p:cNvSpPr>
          <p:nvPr/>
        </p:nvSpPr>
        <p:spPr>
          <a:xfrm xmlns:a="http://schemas.openxmlformats.org/drawingml/2006/main">
            <a:off x="52482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RUN</a:t>
            </a:r>
          </a:p>
        </p:txBody>
      </p:sp>
      <p:sp>
        <p:nvSpPr>
          <p:cNvPr id="18" name="Rectangle 17">
            <a:extLst xmlns:a="http://schemas.openxmlformats.org/drawingml/2006/main">
              <a:ext uri="{FF2B5EF4-FFF2-40B4-BE49-F238E27FC236}">
                <a16:creationId xmlns:a16="http://schemas.microsoft.com/office/drawing/2014/main" id="{547F4662-F93E-4ACB-905F-26BA98F32F16}"/>
              </a:ext>
            </a:extLst>
          </p:cNvPr>
          <p:cNvSpPr>
            <a:spLocks xmlns:a="http://schemas.openxmlformats.org/drawingml/2006/main" noGrp="1"/>
          </p:cNvSpPr>
          <p:nvPr/>
        </p:nvSpPr>
        <p:spPr>
          <a:xfrm xmlns:a="http://schemas.openxmlformats.org/drawingml/2006/main">
            <a:off x="52768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commit SHA + config hash</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executables + versions + seeds</a:t>
            </a:r>
          </a:p>
        </p:txBody>
      </p:sp>
      <p:sp>
        <p:nvSpPr>
          <p:cNvPr id="19" name="Straight Connector 18">
            <a:extLst xmlns:a="http://schemas.openxmlformats.org/drawingml/2006/main">
              <a:ext uri="{FF2B5EF4-FFF2-40B4-BE49-F238E27FC236}">
                <a16:creationId xmlns:a16="http://schemas.microsoft.com/office/drawing/2014/main" id="{DEA4986B-4CDE-4D10-88FE-4F388D5F4EA9}"/>
              </a:ext>
            </a:extLst>
          </p:cNvPr>
          <p:cNvSpPr>
            <a:spLocks xmlns:a="http://schemas.openxmlformats.org/drawingml/2006/main" noGrp="1"/>
          </p:cNvSpPr>
          <p:nvPr/>
        </p:nvSpPr>
        <p:spPr>
          <a:xfrm xmlns:a="http://schemas.openxmlformats.org/drawingml/2006/main">
            <a:off x="710565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20" name="Rectangle: Rounded Corners 19">
            <a:extLst xmlns:a="http://schemas.openxmlformats.org/drawingml/2006/main">
              <a:ext uri="{FF2B5EF4-FFF2-40B4-BE49-F238E27FC236}">
                <a16:creationId xmlns:a16="http://schemas.microsoft.com/office/drawing/2014/main" id="{F1357FE9-BE03-47C7-955C-594CD096732B}"/>
              </a:ext>
            </a:extLst>
          </p:cNvPr>
          <p:cNvSpPr>
            <a:spLocks xmlns:a="http://schemas.openxmlformats.org/drawingml/2006/main" noGrp="1"/>
          </p:cNvSpPr>
          <p:nvPr/>
        </p:nvSpPr>
        <p:spPr>
          <a:xfrm xmlns:a="http://schemas.openxmlformats.org/drawingml/2006/main">
            <a:off x="744855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21" name="Rectangle 20">
            <a:extLst xmlns:a="http://schemas.openxmlformats.org/drawingml/2006/main">
              <a:ext uri="{FF2B5EF4-FFF2-40B4-BE49-F238E27FC236}">
                <a16:creationId xmlns:a16="http://schemas.microsoft.com/office/drawing/2014/main" id="{01DEE5F8-E554-4162-BD20-3A1AA788BF1D}"/>
              </a:ext>
            </a:extLst>
          </p:cNvPr>
          <p:cNvSpPr>
            <a:spLocks xmlns:a="http://schemas.openxmlformats.org/drawingml/2006/main" noGrp="1"/>
          </p:cNvSpPr>
          <p:nvPr/>
        </p:nvSpPr>
        <p:spPr>
          <a:xfrm xmlns:a="http://schemas.openxmlformats.org/drawingml/2006/main">
            <a:off x="759142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EVIDENCE</a:t>
            </a:r>
          </a:p>
        </p:txBody>
      </p:sp>
      <p:sp>
        <p:nvSpPr>
          <p:cNvPr id="22" name="Rectangle 21">
            <a:extLst xmlns:a="http://schemas.openxmlformats.org/drawingml/2006/main">
              <a:ext uri="{FF2B5EF4-FFF2-40B4-BE49-F238E27FC236}">
                <a16:creationId xmlns:a16="http://schemas.microsoft.com/office/drawing/2014/main" id="{2EAB2D39-CA22-4932-B899-B68F84C12BB3}"/>
              </a:ext>
            </a:extLst>
          </p:cNvPr>
          <p:cNvSpPr>
            <a:spLocks xmlns:a="http://schemas.openxmlformats.org/drawingml/2006/main" noGrp="1"/>
          </p:cNvSpPr>
          <p:nvPr/>
        </p:nvSpPr>
        <p:spPr>
          <a:xfrm xmlns:a="http://schemas.openxmlformats.org/drawingml/2006/main">
            <a:off x="762000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PDB + score JSON + PAE</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metrics + rejection reasons</a:t>
            </a:r>
          </a:p>
        </p:txBody>
      </p:sp>
      <p:sp>
        <p:nvSpPr>
          <p:cNvPr id="23" name="Straight Connector 22">
            <a:extLst xmlns:a="http://schemas.openxmlformats.org/drawingml/2006/main">
              <a:ext uri="{FF2B5EF4-FFF2-40B4-BE49-F238E27FC236}">
                <a16:creationId xmlns:a16="http://schemas.microsoft.com/office/drawing/2014/main" id="{758A7CB6-2DDD-4A38-AF77-F6A52EBA831E}"/>
              </a:ext>
            </a:extLst>
          </p:cNvPr>
          <p:cNvSpPr>
            <a:spLocks xmlns:a="http://schemas.openxmlformats.org/drawingml/2006/main" noGrp="1"/>
          </p:cNvSpPr>
          <p:nvPr/>
        </p:nvSpPr>
        <p:spPr>
          <a:xfrm xmlns:a="http://schemas.openxmlformats.org/drawingml/2006/main">
            <a:off x="944880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24" name="Rectangle: Rounded Corners 23">
            <a:extLst xmlns:a="http://schemas.openxmlformats.org/drawingml/2006/main">
              <a:ext uri="{FF2B5EF4-FFF2-40B4-BE49-F238E27FC236}">
                <a16:creationId xmlns:a16="http://schemas.microsoft.com/office/drawing/2014/main" id="{CCDE4368-0607-41C3-A71D-9226A0959FA8}"/>
              </a:ext>
            </a:extLst>
          </p:cNvPr>
          <p:cNvSpPr>
            <a:spLocks xmlns:a="http://schemas.openxmlformats.org/drawingml/2006/main" noGrp="1"/>
          </p:cNvSpPr>
          <p:nvPr/>
        </p:nvSpPr>
        <p:spPr>
          <a:xfrm xmlns:a="http://schemas.openxmlformats.org/drawingml/2006/main">
            <a:off x="97917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25" name="Rectangle 24">
            <a:extLst xmlns:a="http://schemas.openxmlformats.org/drawingml/2006/main">
              <a:ext uri="{FF2B5EF4-FFF2-40B4-BE49-F238E27FC236}">
                <a16:creationId xmlns:a16="http://schemas.microsoft.com/office/drawing/2014/main" id="{14EB3E07-522A-4903-8214-C1691ACDF714}"/>
              </a:ext>
            </a:extLst>
          </p:cNvPr>
          <p:cNvSpPr>
            <a:spLocks xmlns:a="http://schemas.openxmlformats.org/drawingml/2006/main" noGrp="1"/>
          </p:cNvSpPr>
          <p:nvPr/>
        </p:nvSpPr>
        <p:spPr>
          <a:xfrm xmlns:a="http://schemas.openxmlformats.org/drawingml/2006/main">
            <a:off x="99345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BUNDLE</a:t>
            </a:r>
          </a:p>
        </p:txBody>
      </p:sp>
      <p:sp>
        <p:nvSpPr>
          <p:cNvPr id="26" name="Rectangle 25">
            <a:extLst xmlns:a="http://schemas.openxmlformats.org/drawingml/2006/main">
              <a:ext uri="{FF2B5EF4-FFF2-40B4-BE49-F238E27FC236}">
                <a16:creationId xmlns:a16="http://schemas.microsoft.com/office/drawing/2014/main" id="{8C3FAD5A-4794-4802-B2B0-A613EA944347}"/>
              </a:ext>
            </a:extLst>
          </p:cNvPr>
          <p:cNvSpPr>
            <a:spLocks xmlns:a="http://schemas.openxmlformats.org/drawingml/2006/main" noGrp="1"/>
          </p:cNvSpPr>
          <p:nvPr/>
        </p:nvSpPr>
        <p:spPr>
          <a:xfrm xmlns:a="http://schemas.openxmlformats.org/drawingml/2006/main">
            <a:off x="99631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versioned result JSON</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manifest + SHA-256 checksums</a:t>
            </a:r>
          </a:p>
        </p:txBody>
      </p:sp>
      <p:sp>
        <p:nvSpPr>
          <p:cNvPr id="27" name="Rectangle 26">
            <a:extLst xmlns:a="http://schemas.openxmlformats.org/drawingml/2006/main">
              <a:ext uri="{FF2B5EF4-FFF2-40B4-BE49-F238E27FC236}">
                <a16:creationId xmlns:a16="http://schemas.microsoft.com/office/drawing/2014/main" id="{6C800FD9-FDB7-4748-8ED0-9CAD2E2B2488}"/>
              </a:ext>
            </a:extLst>
          </p:cNvPr>
          <p:cNvSpPr>
            <a:spLocks xmlns:a="http://schemas.openxmlformats.org/drawingml/2006/main" noGrp="1"/>
          </p:cNvSpPr>
          <p:nvPr/>
        </p:nvSpPr>
        <p:spPr>
          <a:xfrm xmlns:a="http://schemas.openxmlformats.org/drawingml/2006/main">
            <a:off x="533400" y="3981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Identity</a:t>
            </a:r>
          </a:p>
        </p:txBody>
      </p:sp>
      <p:sp>
        <p:nvSpPr>
          <p:cNvPr id="28" name="Rectangle 27">
            <a:extLst xmlns:a="http://schemas.openxmlformats.org/drawingml/2006/main">
              <a:ext uri="{FF2B5EF4-FFF2-40B4-BE49-F238E27FC236}">
                <a16:creationId xmlns:a16="http://schemas.microsoft.com/office/drawing/2014/main" id="{4DE28355-35A4-4F70-9EAD-3C64295F627F}"/>
              </a:ext>
            </a:extLst>
          </p:cNvPr>
          <p:cNvSpPr>
            <a:spLocks xmlns:a="http://schemas.openxmlformats.org/drawingml/2006/main" noGrp="1"/>
          </p:cNvSpPr>
          <p:nvPr/>
        </p:nvSpPr>
        <p:spPr>
          <a:xfrm xmlns:a="http://schemas.openxmlformats.org/drawingml/2006/main">
            <a:off x="1962150" y="398145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schema_version, run_id, candidate_id</a:t>
            </a:r>
          </a:p>
        </p:txBody>
      </p:sp>
      <p:sp>
        <p:nvSpPr>
          <p:cNvPr id="29" name="Rectangle 28">
            <a:extLst xmlns:a="http://schemas.openxmlformats.org/drawingml/2006/main">
              <a:ext uri="{FF2B5EF4-FFF2-40B4-BE49-F238E27FC236}">
                <a16:creationId xmlns:a16="http://schemas.microsoft.com/office/drawing/2014/main" id="{BCE5FC37-E38E-4E4D-B53A-ED90BAFE735B}"/>
              </a:ext>
            </a:extLst>
          </p:cNvPr>
          <p:cNvSpPr>
            <a:spLocks xmlns:a="http://schemas.openxmlformats.org/drawingml/2006/main" noGrp="1"/>
          </p:cNvSpPr>
          <p:nvPr/>
        </p:nvSpPr>
        <p:spPr>
          <a:xfrm xmlns:a="http://schemas.openxmlformats.org/drawingml/2006/main">
            <a:off x="6153150" y="3981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Reproduction</a:t>
            </a:r>
          </a:p>
        </p:txBody>
      </p:sp>
      <p:sp>
        <p:nvSpPr>
          <p:cNvPr id="30" name="Rectangle 29">
            <a:extLst xmlns:a="http://schemas.openxmlformats.org/drawingml/2006/main">
              <a:ext uri="{FF2B5EF4-FFF2-40B4-BE49-F238E27FC236}">
                <a16:creationId xmlns:a16="http://schemas.microsoft.com/office/drawing/2014/main" id="{FF5B29B8-E74C-4FDD-99F0-07B19B7A6114}"/>
              </a:ext>
            </a:extLst>
          </p:cNvPr>
          <p:cNvSpPr>
            <a:spLocks xmlns:a="http://schemas.openxmlformats.org/drawingml/2006/main" noGrp="1"/>
          </p:cNvSpPr>
          <p:nvPr/>
        </p:nvSpPr>
        <p:spPr>
          <a:xfrm xmlns:a="http://schemas.openxmlformats.org/drawingml/2006/main">
            <a:off x="7581900" y="398145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150"/>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pipeline_commit, config_hash, checkpoint_hash, seed</a:t>
            </a:r>
          </a:p>
        </p:txBody>
      </p:sp>
      <p:sp>
        <p:nvSpPr>
          <p:cNvPr id="31" name="Rectangle 30">
            <a:extLst xmlns:a="http://schemas.openxmlformats.org/drawingml/2006/main">
              <a:ext uri="{FF2B5EF4-FFF2-40B4-BE49-F238E27FC236}">
                <a16:creationId xmlns:a16="http://schemas.microsoft.com/office/drawing/2014/main" id="{0E3F4E6D-B879-4C7E-BCAC-3415F8738ADD}"/>
              </a:ext>
            </a:extLst>
          </p:cNvPr>
          <p:cNvSpPr>
            <a:spLocks xmlns:a="http://schemas.openxmlformats.org/drawingml/2006/main" noGrp="1"/>
          </p:cNvSpPr>
          <p:nvPr/>
        </p:nvSpPr>
        <p:spPr>
          <a:xfrm xmlns:a="http://schemas.openxmlformats.org/drawingml/2006/main">
            <a:off x="533400" y="47625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Environment</a:t>
            </a:r>
          </a:p>
        </p:txBody>
      </p:sp>
      <p:sp>
        <p:nvSpPr>
          <p:cNvPr id="32" name="Rectangle 31">
            <a:extLst xmlns:a="http://schemas.openxmlformats.org/drawingml/2006/main">
              <a:ext uri="{FF2B5EF4-FFF2-40B4-BE49-F238E27FC236}">
                <a16:creationId xmlns:a16="http://schemas.microsoft.com/office/drawing/2014/main" id="{5393E19D-A6C8-423D-9C69-44B2190B64DD}"/>
              </a:ext>
            </a:extLst>
          </p:cNvPr>
          <p:cNvSpPr>
            <a:spLocks xmlns:a="http://schemas.openxmlformats.org/drawingml/2006/main" noGrp="1"/>
          </p:cNvSpPr>
          <p:nvPr/>
        </p:nvSpPr>
        <p:spPr>
          <a:xfrm xmlns:a="http://schemas.openxmlformats.org/drawingml/2006/main">
            <a:off x="1962150" y="476250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017"/>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tool versions, model weights, hardware, arguments</a:t>
            </a:r>
          </a:p>
        </p:txBody>
      </p:sp>
      <p:sp>
        <p:nvSpPr>
          <p:cNvPr id="33" name="Rectangle 32">
            <a:extLst xmlns:a="http://schemas.openxmlformats.org/drawingml/2006/main">
              <a:ext uri="{FF2B5EF4-FFF2-40B4-BE49-F238E27FC236}">
                <a16:creationId xmlns:a16="http://schemas.microsoft.com/office/drawing/2014/main" id="{C6220730-8A1F-4ECD-9EFB-1766C58FBE8C}"/>
              </a:ext>
            </a:extLst>
          </p:cNvPr>
          <p:cNvSpPr>
            <a:spLocks xmlns:a="http://schemas.openxmlformats.org/drawingml/2006/main" noGrp="1"/>
          </p:cNvSpPr>
          <p:nvPr/>
        </p:nvSpPr>
        <p:spPr>
          <a:xfrm xmlns:a="http://schemas.openxmlformats.org/drawingml/2006/main">
            <a:off x="6153150" y="47625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Interpretation</a:t>
            </a:r>
          </a:p>
        </p:txBody>
      </p:sp>
      <p:sp>
        <p:nvSpPr>
          <p:cNvPr id="34" name="Rectangle 33">
            <a:extLst xmlns:a="http://schemas.openxmlformats.org/drawingml/2006/main">
              <a:ext uri="{FF2B5EF4-FFF2-40B4-BE49-F238E27FC236}">
                <a16:creationId xmlns:a16="http://schemas.microsoft.com/office/drawing/2014/main" id="{6B285E0E-E212-4C41-B768-121915BC7ED3}"/>
              </a:ext>
            </a:extLst>
          </p:cNvPr>
          <p:cNvSpPr>
            <a:spLocks xmlns:a="http://schemas.openxmlformats.org/drawingml/2006/main" noGrp="1"/>
          </p:cNvSpPr>
          <p:nvPr/>
        </p:nvSpPr>
        <p:spPr>
          <a:xfrm xmlns:a="http://schemas.openxmlformats.org/drawingml/2006/main">
            <a:off x="7581900" y="476250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650"/>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evidence_quality, limitations, hard_rejections</a:t>
            </a:r>
          </a:p>
        </p:txBody>
      </p:sp>
      <p:sp>
        <p:nvSpPr>
          <p:cNvPr id="35" name="Rectangle: Rounded Corners 34">
            <a:extLst xmlns:a="http://schemas.openxmlformats.org/drawingml/2006/main">
              <a:ext uri="{FF2B5EF4-FFF2-40B4-BE49-F238E27FC236}">
                <a16:creationId xmlns:a16="http://schemas.microsoft.com/office/drawing/2014/main" id="{1FC5F536-3D70-454C-B061-CD4C3BA06CCC}"/>
              </a:ext>
            </a:extLst>
          </p:cNvPr>
          <p:cNvSpPr>
            <a:spLocks xmlns:a="http://schemas.openxmlformats.org/drawingml/2006/main" noGrp="1"/>
          </p:cNvSpPr>
          <p:nvPr/>
        </p:nvSpPr>
        <p:spPr>
          <a:xfrm xmlns:a="http://schemas.openxmlformats.org/drawingml/2006/main">
            <a:off x="533400" y="5638800"/>
            <a:ext cx="11029950" cy="590550"/>
          </a:xfrm>
          <a:prstGeom xmlns:a="http://schemas.openxmlformats.org/drawingml/2006/main" prst="roundRect">
            <a:avLst>
              <a:gd name="adj" fmla="val 19355"/>
            </a:avLst>
          </a:prstGeom>
          <a:solidFill xmlns:a="http://schemas.openxmlformats.org/drawingml/2006/main">
            <a:srgbClr val="102720"/>
          </a:solidFill>
          <a:ln xmlns:a="http://schemas.openxmlformats.org/drawingml/2006/main" w="9525">
            <a:solidFill>
              <a:srgbClr val="3FC6D6"/>
            </a:solidFill>
            <a:prstDash val="solid"/>
          </a:ln>
        </p:spPr>
      </p:sp>
      <p:sp>
        <p:nvSpPr>
          <p:cNvPr id="36" name="Rectangle 35">
            <a:extLst xmlns:a="http://schemas.openxmlformats.org/drawingml/2006/main">
              <a:ext uri="{FF2B5EF4-FFF2-40B4-BE49-F238E27FC236}">
                <a16:creationId xmlns:a16="http://schemas.microsoft.com/office/drawing/2014/main" id="{E0E538D6-E71B-4E07-9737-DC0277B502DA}"/>
              </a:ext>
            </a:extLst>
          </p:cNvPr>
          <p:cNvSpPr>
            <a:spLocks xmlns:a="http://schemas.openxmlformats.org/drawingml/2006/main" noGrp="1"/>
          </p:cNvSpPr>
          <p:nvPr/>
        </p:nvSpPr>
        <p:spPr>
          <a:xfrm xmlns:a="http://schemas.openxmlformats.org/drawingml/2006/main">
            <a:off x="790575" y="5781675"/>
            <a:ext cx="1051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62"/>
          </a:bodyPr>
          <a:lstStyle xmlns:a="http://schemas.openxmlformats.org/drawingml/2006/main">
            <a:defPPr algn="ctr">
              <a:defRPr sz="1275" b="1" i="0">
                <a:solidFill>
                  <a:srgbClr val="F4F7F5"/>
                </a:solidFill>
                <a:latin typeface="Arial"/>
                <a:ea typeface="Arial"/>
                <a:cs typeface="Arial"/>
              </a:defRPr>
            </a:defPPr>
            <a:lvl1pPr algn="ctr">
              <a:buNone/>
              <a:defRPr sz="1275" b="1" i="0">
                <a:solidFill>
                  <a:srgbClr val="F4F7F5"/>
                </a:solidFill>
                <a:latin typeface="Arial"/>
                <a:ea typeface="Arial"/>
                <a:cs typeface="Arial"/>
              </a:defRPr>
            </a:lvl1pPr>
            <a:lvl2pPr algn="ctr">
              <a:buNone/>
              <a:defRPr sz="1275" b="1" i="0">
                <a:solidFill>
                  <a:srgbClr val="F4F7F5"/>
                </a:solidFill>
                <a:latin typeface="Arial"/>
                <a:ea typeface="Arial"/>
                <a:cs typeface="Arial"/>
              </a:defRPr>
            </a:lvl2pPr>
            <a:lvl3pPr algn="ctr">
              <a:buNone/>
              <a:defRPr sz="1275" b="1" i="0">
                <a:solidFill>
                  <a:srgbClr val="F4F7F5"/>
                </a:solidFill>
                <a:latin typeface="Arial"/>
                <a:ea typeface="Arial"/>
                <a:cs typeface="Arial"/>
              </a:defRPr>
            </a:lvl3pPr>
            <a:lvl4pPr algn="ctr">
              <a:buNone/>
              <a:defRPr sz="1275" b="1" i="0">
                <a:solidFill>
                  <a:srgbClr val="F4F7F5"/>
                </a:solidFill>
                <a:latin typeface="Arial"/>
                <a:ea typeface="Arial"/>
                <a:cs typeface="Arial"/>
              </a:defRPr>
            </a:lvl4pPr>
            <a:lvl5pPr algn="ctr">
              <a:buNone/>
              <a:defRPr sz="1275" b="1" i="0">
                <a:solidFill>
                  <a:srgbClr val="F4F7F5"/>
                </a:solidFill>
                <a:latin typeface="Arial"/>
                <a:ea typeface="Arial"/>
                <a:cs typeface="Arial"/>
              </a:defRPr>
            </a:lvl5pPr>
            <a:lvl6pPr algn="ctr">
              <a:buNone/>
              <a:defRPr sz="1275" b="1" i="0">
                <a:solidFill>
                  <a:srgbClr val="F4F7F5"/>
                </a:solidFill>
                <a:latin typeface="Arial"/>
                <a:ea typeface="Arial"/>
                <a:cs typeface="Arial"/>
              </a:defRPr>
            </a:lvl6pPr>
            <a:lvl7pPr algn="ctr">
              <a:buNone/>
              <a:defRPr sz="1275" b="1" i="0">
                <a:solidFill>
                  <a:srgbClr val="F4F7F5"/>
                </a:solidFill>
                <a:latin typeface="Arial"/>
                <a:ea typeface="Arial"/>
                <a:cs typeface="Arial"/>
              </a:defRPr>
            </a:lvl7pPr>
            <a:lvl8pPr algn="ctr">
              <a:buNone/>
              <a:defRPr sz="1275" b="1" i="0">
                <a:solidFill>
                  <a:srgbClr val="F4F7F5"/>
                </a:solidFill>
                <a:latin typeface="Arial"/>
                <a:ea typeface="Arial"/>
                <a:cs typeface="Arial"/>
              </a:defRPr>
            </a:lvl8pPr>
            <a:lvl9pPr algn="ctr">
              <a:buNone/>
              <a:defRPr sz="1275" b="1" i="0">
                <a:solidFill>
                  <a:srgbClr val="F4F7F5"/>
                </a:solidFill>
                <a:latin typeface="Arial"/>
                <a:ea typeface="Arial"/>
                <a:cs typeface="Arial"/>
              </a:defRPr>
            </a:lvl9pPr>
          </a:lstStyle>
          <a:p xmlns:a="http://schemas.openxmlformats.org/drawingml/2006/main">
            <a:pPr algn="ctr">
              <a:buNone/>
              <a:defRPr sz="1275" b="1" i="0">
                <a:solidFill>
                  <a:srgbClr val="F4F7F5"/>
                </a:solidFill>
                <a:latin typeface="Arial"/>
                <a:ea typeface="Arial"/>
                <a:cs typeface="Arial"/>
              </a:defRPr>
            </a:pPr>
            <a:r>
              <a:rPr sz="1275" b="1" i="0">
                <a:solidFill>
                  <a:srgbClr val="F4F7F5"/>
                </a:solidFill>
                <a:latin typeface="Arial"/>
                <a:ea typeface="Arial"/>
                <a:cs typeface="Arial"/>
              </a:rPr>
              <a:t>The local application adds a SHA-256 hash-chain history and checksummed ZIP export. A checksum proves integrity, not biological validity.</a:t>
            </a:r>
          </a:p>
        </p:txBody>
      </p:sp>
    </p:spTree>
    <p:extLst>
      <p:ext uri="{BB962C8B-B14F-4D97-AF65-F5344CB8AC3E}">
        <p14:creationId xmlns:p14="http://schemas.microsoft.com/office/powerpoint/2010/main" val="1607320805"/>
      </p:ext>
    </p:extLst>
  </p:cSld>
</p:sld>
</file>

<file path=ppt/slides/slide17.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8" name="Rectangle 37">
            <a:extLst xmlns:a="http://schemas.openxmlformats.org/drawingml/2006/main">
              <a:ext uri="{FF2B5EF4-FFF2-40B4-BE49-F238E27FC236}">
                <a16:creationId xmlns:a16="http://schemas.microsoft.com/office/drawing/2014/main" id="{D0D754B0-267E-4CF6-B625-B86834706CC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54679709-BED7-4F00-8729-DB15043F836F}"/>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55CD253-A123-4C52-B72E-5CFB569D4CB3}"/>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CANDIDATE GENERATION</a:t>
            </a:r>
          </a:p>
        </p:txBody>
      </p:sp>
      <p:sp>
        <p:nvSpPr>
          <p:cNvPr id="4" name="Rectangle 3">
            <a:extLst xmlns:a="http://schemas.openxmlformats.org/drawingml/2006/main">
              <a:ext uri="{FF2B5EF4-FFF2-40B4-BE49-F238E27FC236}">
                <a16:creationId xmlns:a16="http://schemas.microsoft.com/office/drawing/2014/main" id="{A7E62A95-E0E2-4C4D-9A2F-C48EE275709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current frontend candidate controls</a:t>
            </a:r>
          </a:p>
        </p:txBody>
      </p:sp>
      <p:sp>
        <p:nvSpPr>
          <p:cNvPr id="5" name="Rectangle 4">
            <a:extLst xmlns:a="http://schemas.openxmlformats.org/drawingml/2006/main">
              <a:ext uri="{FF2B5EF4-FFF2-40B4-BE49-F238E27FC236}">
                <a16:creationId xmlns:a16="http://schemas.microsoft.com/office/drawing/2014/main" id="{97C32C68-4ADB-497F-AE0C-EFA113342BE7}"/>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17</a:t>
            </a:r>
          </a:p>
        </p:txBody>
      </p:sp>
      <p:sp>
        <p:nvSpPr>
          <p:cNvPr id="6" name="Rectangle 5">
            <a:extLst xmlns:a="http://schemas.openxmlformats.org/drawingml/2006/main">
              <a:ext uri="{FF2B5EF4-FFF2-40B4-BE49-F238E27FC236}">
                <a16:creationId xmlns:a16="http://schemas.microsoft.com/office/drawing/2014/main" id="{A84B1B4A-F14A-4D77-AAE8-CE615494B433}"/>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Candidate generation and ranking status</a:t>
            </a:r>
          </a:p>
        </p:txBody>
      </p:sp>
      <p:sp>
        <p:nvSpPr>
          <p:cNvPr id="7" name="Rectangle 6">
            <a:extLst xmlns:a="http://schemas.openxmlformats.org/drawingml/2006/main">
              <a:ext uri="{FF2B5EF4-FFF2-40B4-BE49-F238E27FC236}">
                <a16:creationId xmlns:a16="http://schemas.microsoft.com/office/drawing/2014/main" id="{820C1D14-7CD7-455E-90B1-ACC780AD701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Interpretable candidate classes and matched controls are implemented. Scientific ranking remains future work</a:t>
            </a:r>
          </a:p>
        </p:txBody>
      </p:sp>
      <p:sp>
        <p:nvSpPr>
          <p:cNvPr id="8" name="Rectangle: Rounded Corners 7">
            <a:extLst xmlns:a="http://schemas.openxmlformats.org/drawingml/2006/main">
              <a:ext uri="{FF2B5EF4-FFF2-40B4-BE49-F238E27FC236}">
                <a16:creationId xmlns:a16="http://schemas.microsoft.com/office/drawing/2014/main" id="{90D15865-1D8F-4FE2-B367-789B0DFBBAF6}"/>
              </a:ext>
            </a:extLst>
          </p:cNvPr>
          <p:cNvSpPr>
            <a:spLocks xmlns:a="http://schemas.openxmlformats.org/drawingml/2006/main" noGrp="1"/>
          </p:cNvSpPr>
          <p:nvPr/>
        </p:nvSpPr>
        <p:spPr>
          <a:xfrm xmlns:a="http://schemas.openxmlformats.org/drawingml/2006/main">
            <a:off x="590550" y="17240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9" name="Rectangle 8">
            <a:extLst xmlns:a="http://schemas.openxmlformats.org/drawingml/2006/main">
              <a:ext uri="{FF2B5EF4-FFF2-40B4-BE49-F238E27FC236}">
                <a16:creationId xmlns:a16="http://schemas.microsoft.com/office/drawing/2014/main" id="{6EFF0963-1404-4068-858A-C23C696A53DD}"/>
              </a:ext>
            </a:extLst>
          </p:cNvPr>
          <p:cNvSpPr>
            <a:spLocks xmlns:a="http://schemas.openxmlformats.org/drawingml/2006/main" noGrp="1"/>
          </p:cNvSpPr>
          <p:nvPr/>
        </p:nvSpPr>
        <p:spPr>
          <a:xfrm xmlns:a="http://schemas.openxmlformats.org/drawingml/2006/main">
            <a:off x="590550" y="1724025"/>
            <a:ext cx="76200" cy="571500"/>
          </a:xfrm>
          <a:prstGeom xmlns:a="http://schemas.openxmlformats.org/drawingml/2006/main" prst="rect">
            <a:avLst/>
          </a:prstGeom>
          <a:solidFill xmlns:a="http://schemas.openxmlformats.org/drawingml/2006/main">
            <a:srgbClr val="2DBD73"/>
          </a:solidFill>
          <a:ln xmlns:a="http://schemas.openxmlformats.org/drawingml/2006/main" w="0">
            <a:noFill/>
            <a:prstDash val="solid"/>
          </a:ln>
        </p:spPr>
      </p:sp>
      <p:sp>
        <p:nvSpPr>
          <p:cNvPr id="10" name="Rectangle 9">
            <a:extLst xmlns:a="http://schemas.openxmlformats.org/drawingml/2006/main">
              <a:ext uri="{FF2B5EF4-FFF2-40B4-BE49-F238E27FC236}">
                <a16:creationId xmlns:a16="http://schemas.microsoft.com/office/drawing/2014/main" id="{AAAE754A-8D7F-4E4B-9136-3062BCCA749B}"/>
              </a:ext>
            </a:extLst>
          </p:cNvPr>
          <p:cNvSpPr>
            <a:spLocks xmlns:a="http://schemas.openxmlformats.org/drawingml/2006/main" noGrp="1"/>
          </p:cNvSpPr>
          <p:nvPr/>
        </p:nvSpPr>
        <p:spPr>
          <a:xfrm xmlns:a="http://schemas.openxmlformats.org/drawingml/2006/main">
            <a:off x="838200" y="18192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Flexible</a:t>
            </a:r>
          </a:p>
        </p:txBody>
      </p:sp>
      <p:sp>
        <p:nvSpPr>
          <p:cNvPr id="11" name="Rectangle 10">
            <a:extLst xmlns:a="http://schemas.openxmlformats.org/drawingml/2006/main">
              <a:ext uri="{FF2B5EF4-FFF2-40B4-BE49-F238E27FC236}">
                <a16:creationId xmlns:a16="http://schemas.microsoft.com/office/drawing/2014/main" id="{DD092E53-B201-4F2D-A8ED-11C8B389D532}"/>
              </a:ext>
            </a:extLst>
          </p:cNvPr>
          <p:cNvSpPr>
            <a:spLocks xmlns:a="http://schemas.openxmlformats.org/drawingml/2006/main" noGrp="1"/>
          </p:cNvSpPr>
          <p:nvPr/>
        </p:nvSpPr>
        <p:spPr>
          <a:xfrm xmlns:a="http://schemas.openxmlformats.org/drawingml/2006/main">
            <a:off x="2133600" y="18192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 / GS-rich</a:t>
            </a:r>
          </a:p>
        </p:txBody>
      </p:sp>
      <p:sp>
        <p:nvSpPr>
          <p:cNvPr id="12" name="Rectangle 11">
            <a:extLst xmlns:a="http://schemas.openxmlformats.org/drawingml/2006/main">
              <a:ext uri="{FF2B5EF4-FFF2-40B4-BE49-F238E27FC236}">
                <a16:creationId xmlns:a16="http://schemas.microsoft.com/office/drawing/2014/main" id="{69688B02-7828-42A9-AEBB-6B154935A860}"/>
              </a:ext>
            </a:extLst>
          </p:cNvPr>
          <p:cNvSpPr>
            <a:spLocks xmlns:a="http://schemas.openxmlformats.org/drawingml/2006/main" noGrp="1"/>
          </p:cNvSpPr>
          <p:nvPr/>
        </p:nvSpPr>
        <p:spPr>
          <a:xfrm xmlns:a="http://schemas.openxmlformats.org/drawingml/2006/main">
            <a:off x="4133850" y="18383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5–30 aa</a:t>
            </a:r>
          </a:p>
        </p:txBody>
      </p:sp>
      <p:sp>
        <p:nvSpPr>
          <p:cNvPr id="13" name="Rectangle: Rounded Corners 12">
            <a:extLst xmlns:a="http://schemas.openxmlformats.org/drawingml/2006/main">
              <a:ext uri="{FF2B5EF4-FFF2-40B4-BE49-F238E27FC236}">
                <a16:creationId xmlns:a16="http://schemas.microsoft.com/office/drawing/2014/main" id="{BC3A452B-23F8-4E79-9FD2-2B1363A3047F}"/>
              </a:ext>
            </a:extLst>
          </p:cNvPr>
          <p:cNvSpPr>
            <a:spLocks xmlns:a="http://schemas.openxmlformats.org/drawingml/2006/main" noGrp="1"/>
          </p:cNvSpPr>
          <p:nvPr/>
        </p:nvSpPr>
        <p:spPr>
          <a:xfrm xmlns:a="http://schemas.openxmlformats.org/drawingml/2006/main">
            <a:off x="590550" y="246697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14" name="Rectangle 13">
            <a:extLst xmlns:a="http://schemas.openxmlformats.org/drawingml/2006/main">
              <a:ext uri="{FF2B5EF4-FFF2-40B4-BE49-F238E27FC236}">
                <a16:creationId xmlns:a16="http://schemas.microsoft.com/office/drawing/2014/main" id="{C032E2D6-04B0-47C6-81E4-D38144F12C6C}"/>
              </a:ext>
            </a:extLst>
          </p:cNvPr>
          <p:cNvSpPr>
            <a:spLocks xmlns:a="http://schemas.openxmlformats.org/drawingml/2006/main" noGrp="1"/>
          </p:cNvSpPr>
          <p:nvPr/>
        </p:nvSpPr>
        <p:spPr>
          <a:xfrm xmlns:a="http://schemas.openxmlformats.org/drawingml/2006/main">
            <a:off x="590550" y="2466975"/>
            <a:ext cx="76200" cy="57150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15" name="Rectangle 14">
            <a:extLst xmlns:a="http://schemas.openxmlformats.org/drawingml/2006/main">
              <a:ext uri="{FF2B5EF4-FFF2-40B4-BE49-F238E27FC236}">
                <a16:creationId xmlns:a16="http://schemas.microsoft.com/office/drawing/2014/main" id="{86712B8E-EE25-4526-BC75-052FBF9AC82C}"/>
              </a:ext>
            </a:extLst>
          </p:cNvPr>
          <p:cNvSpPr>
            <a:spLocks xmlns:a="http://schemas.openxmlformats.org/drawingml/2006/main" noGrp="1"/>
          </p:cNvSpPr>
          <p:nvPr/>
        </p:nvSpPr>
        <p:spPr>
          <a:xfrm xmlns:a="http://schemas.openxmlformats.org/drawingml/2006/main">
            <a:off x="838200" y="256222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Rigid</a:t>
            </a:r>
          </a:p>
        </p:txBody>
      </p:sp>
      <p:sp>
        <p:nvSpPr>
          <p:cNvPr id="16" name="Rectangle 15">
            <a:extLst xmlns:a="http://schemas.openxmlformats.org/drawingml/2006/main">
              <a:ext uri="{FF2B5EF4-FFF2-40B4-BE49-F238E27FC236}">
                <a16:creationId xmlns:a16="http://schemas.microsoft.com/office/drawing/2014/main" id="{9D93F625-0626-4B00-8516-5E4353A496EF}"/>
              </a:ext>
            </a:extLst>
          </p:cNvPr>
          <p:cNvSpPr>
            <a:spLocks xmlns:a="http://schemas.openxmlformats.org/drawingml/2006/main" noGrp="1"/>
          </p:cNvSpPr>
          <p:nvPr/>
        </p:nvSpPr>
        <p:spPr>
          <a:xfrm xmlns:a="http://schemas.openxmlformats.org/drawingml/2006/main">
            <a:off x="2133600" y="25622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EAAAK repeats</a:t>
            </a:r>
          </a:p>
        </p:txBody>
      </p:sp>
      <p:sp>
        <p:nvSpPr>
          <p:cNvPr id="17" name="Rectangle 16">
            <a:extLst xmlns:a="http://schemas.openxmlformats.org/drawingml/2006/main">
              <a:ext uri="{FF2B5EF4-FFF2-40B4-BE49-F238E27FC236}">
                <a16:creationId xmlns:a16="http://schemas.microsoft.com/office/drawing/2014/main" id="{2CD0393A-A47A-43AE-9D22-3656714A278B}"/>
              </a:ext>
            </a:extLst>
          </p:cNvPr>
          <p:cNvSpPr>
            <a:spLocks xmlns:a="http://schemas.openxmlformats.org/drawingml/2006/main" noGrp="1"/>
          </p:cNvSpPr>
          <p:nvPr/>
        </p:nvSpPr>
        <p:spPr>
          <a:xfrm xmlns:a="http://schemas.openxmlformats.org/drawingml/2006/main">
            <a:off x="4133850" y="258127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distance control</a:t>
            </a:r>
          </a:p>
        </p:txBody>
      </p:sp>
      <p:sp>
        <p:nvSpPr>
          <p:cNvPr id="18" name="Rectangle: Rounded Corners 17">
            <a:extLst xmlns:a="http://schemas.openxmlformats.org/drawingml/2006/main">
              <a:ext uri="{FF2B5EF4-FFF2-40B4-BE49-F238E27FC236}">
                <a16:creationId xmlns:a16="http://schemas.microsoft.com/office/drawing/2014/main" id="{59E1CF21-3A0F-4E98-BD00-99E904EBBD5F}"/>
              </a:ext>
            </a:extLst>
          </p:cNvPr>
          <p:cNvSpPr>
            <a:spLocks xmlns:a="http://schemas.openxmlformats.org/drawingml/2006/main" noGrp="1"/>
          </p:cNvSpPr>
          <p:nvPr/>
        </p:nvSpPr>
        <p:spPr>
          <a:xfrm xmlns:a="http://schemas.openxmlformats.org/drawingml/2006/main">
            <a:off x="590550" y="32099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19" name="Rectangle 18">
            <a:extLst xmlns:a="http://schemas.openxmlformats.org/drawingml/2006/main">
              <a:ext uri="{FF2B5EF4-FFF2-40B4-BE49-F238E27FC236}">
                <a16:creationId xmlns:a16="http://schemas.microsoft.com/office/drawing/2014/main" id="{180849BA-46E0-4301-B660-4C8CB384D4C3}"/>
              </a:ext>
            </a:extLst>
          </p:cNvPr>
          <p:cNvSpPr>
            <a:spLocks xmlns:a="http://schemas.openxmlformats.org/drawingml/2006/main" noGrp="1"/>
          </p:cNvSpPr>
          <p:nvPr/>
        </p:nvSpPr>
        <p:spPr>
          <a:xfrm xmlns:a="http://schemas.openxmlformats.org/drawingml/2006/main">
            <a:off x="590550" y="3209925"/>
            <a:ext cx="76200" cy="57150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20" name="Rectangle 19">
            <a:extLst xmlns:a="http://schemas.openxmlformats.org/drawingml/2006/main">
              <a:ext uri="{FF2B5EF4-FFF2-40B4-BE49-F238E27FC236}">
                <a16:creationId xmlns:a16="http://schemas.microsoft.com/office/drawing/2014/main" id="{5AAAA5C7-1083-46EF-88E8-FAC7E8B0DF53}"/>
              </a:ext>
            </a:extLst>
          </p:cNvPr>
          <p:cNvSpPr>
            <a:spLocks xmlns:a="http://schemas.openxmlformats.org/drawingml/2006/main" noGrp="1"/>
          </p:cNvSpPr>
          <p:nvPr/>
        </p:nvSpPr>
        <p:spPr>
          <a:xfrm xmlns:a="http://schemas.openxmlformats.org/drawingml/2006/main">
            <a:off x="838200" y="33051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Cleavable</a:t>
            </a:r>
          </a:p>
        </p:txBody>
      </p:sp>
      <p:sp>
        <p:nvSpPr>
          <p:cNvPr id="21" name="Rectangle 20">
            <a:extLst xmlns:a="http://schemas.openxmlformats.org/drawingml/2006/main">
              <a:ext uri="{FF2B5EF4-FFF2-40B4-BE49-F238E27FC236}">
                <a16:creationId xmlns:a16="http://schemas.microsoft.com/office/drawing/2014/main" id="{D5AF86B6-0779-4E06-A6DD-2025CC54B5C9}"/>
              </a:ext>
            </a:extLst>
          </p:cNvPr>
          <p:cNvSpPr>
            <a:spLocks xmlns:a="http://schemas.openxmlformats.org/drawingml/2006/main" noGrp="1"/>
          </p:cNvSpPr>
          <p:nvPr/>
        </p:nvSpPr>
        <p:spPr>
          <a:xfrm xmlns:a="http://schemas.openxmlformats.org/drawingml/2006/main">
            <a:off x="2133600" y="33051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TEV motif</a:t>
            </a:r>
          </a:p>
        </p:txBody>
      </p:sp>
      <p:sp>
        <p:nvSpPr>
          <p:cNvPr id="22" name="Rectangle 21">
            <a:extLst xmlns:a="http://schemas.openxmlformats.org/drawingml/2006/main">
              <a:ext uri="{FF2B5EF4-FFF2-40B4-BE49-F238E27FC236}">
                <a16:creationId xmlns:a16="http://schemas.microsoft.com/office/drawing/2014/main" id="{BA08A048-98E4-42D7-94A2-1EEBBC1078F6}"/>
              </a:ext>
            </a:extLst>
          </p:cNvPr>
          <p:cNvSpPr>
            <a:spLocks xmlns:a="http://schemas.openxmlformats.org/drawingml/2006/main" noGrp="1"/>
          </p:cNvSpPr>
          <p:nvPr/>
        </p:nvSpPr>
        <p:spPr>
          <a:xfrm xmlns:a="http://schemas.openxmlformats.org/drawingml/2006/main">
            <a:off x="4133850" y="33242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process control</a:t>
            </a:r>
          </a:p>
        </p:txBody>
      </p:sp>
      <p:sp>
        <p:nvSpPr>
          <p:cNvPr id="23" name="Rectangle: Rounded Corners 22">
            <a:extLst xmlns:a="http://schemas.openxmlformats.org/drawingml/2006/main">
              <a:ext uri="{FF2B5EF4-FFF2-40B4-BE49-F238E27FC236}">
                <a16:creationId xmlns:a16="http://schemas.microsoft.com/office/drawing/2014/main" id="{EAB6AE8F-73A0-4056-869B-7BC7E08F12B9}"/>
              </a:ext>
            </a:extLst>
          </p:cNvPr>
          <p:cNvSpPr>
            <a:spLocks xmlns:a="http://schemas.openxmlformats.org/drawingml/2006/main" noGrp="1"/>
          </p:cNvSpPr>
          <p:nvPr/>
        </p:nvSpPr>
        <p:spPr>
          <a:xfrm xmlns:a="http://schemas.openxmlformats.org/drawingml/2006/main">
            <a:off x="590550" y="395287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24" name="Rectangle 23">
            <a:extLst xmlns:a="http://schemas.openxmlformats.org/drawingml/2006/main">
              <a:ext uri="{FF2B5EF4-FFF2-40B4-BE49-F238E27FC236}">
                <a16:creationId xmlns:a16="http://schemas.microsoft.com/office/drawing/2014/main" id="{07024640-B7B0-4B80-9382-27DEF22BE3A7}"/>
              </a:ext>
            </a:extLst>
          </p:cNvPr>
          <p:cNvSpPr>
            <a:spLocks xmlns:a="http://schemas.openxmlformats.org/drawingml/2006/main" noGrp="1"/>
          </p:cNvSpPr>
          <p:nvPr/>
        </p:nvSpPr>
        <p:spPr>
          <a:xfrm xmlns:a="http://schemas.openxmlformats.org/drawingml/2006/main">
            <a:off x="590550" y="3952875"/>
            <a:ext cx="76200" cy="571500"/>
          </a:xfrm>
          <a:prstGeom xmlns:a="http://schemas.openxmlformats.org/drawingml/2006/main" prst="rect">
            <a:avLst/>
          </a:prstGeom>
          <a:solidFill xmlns:a="http://schemas.openxmlformats.org/drawingml/2006/main">
            <a:srgbClr val="E46760"/>
          </a:solidFill>
          <a:ln xmlns:a="http://schemas.openxmlformats.org/drawingml/2006/main" w="0">
            <a:noFill/>
            <a:prstDash val="solid"/>
          </a:ln>
        </p:spPr>
      </p:sp>
      <p:sp>
        <p:nvSpPr>
          <p:cNvPr id="25" name="Rectangle 24">
            <a:extLst xmlns:a="http://schemas.openxmlformats.org/drawingml/2006/main">
              <a:ext uri="{FF2B5EF4-FFF2-40B4-BE49-F238E27FC236}">
                <a16:creationId xmlns:a16="http://schemas.microsoft.com/office/drawing/2014/main" id="{14A1BD3E-8833-443C-8E5E-D281F0B2EAF1}"/>
              </a:ext>
            </a:extLst>
          </p:cNvPr>
          <p:cNvSpPr>
            <a:spLocks xmlns:a="http://schemas.openxmlformats.org/drawingml/2006/main" noGrp="1"/>
          </p:cNvSpPr>
          <p:nvPr/>
        </p:nvSpPr>
        <p:spPr>
          <a:xfrm xmlns:a="http://schemas.openxmlformats.org/drawingml/2006/main">
            <a:off x="838200" y="404812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Short GS</a:t>
            </a:r>
          </a:p>
        </p:txBody>
      </p:sp>
      <p:sp>
        <p:nvSpPr>
          <p:cNvPr id="26" name="Rectangle 25">
            <a:extLst xmlns:a="http://schemas.openxmlformats.org/drawingml/2006/main">
              <a:ext uri="{FF2B5EF4-FFF2-40B4-BE49-F238E27FC236}">
                <a16:creationId xmlns:a16="http://schemas.microsoft.com/office/drawing/2014/main" id="{44329239-2114-4185-9EDE-685199537F51}"/>
              </a:ext>
            </a:extLst>
          </p:cNvPr>
          <p:cNvSpPr>
            <a:spLocks xmlns:a="http://schemas.openxmlformats.org/drawingml/2006/main" noGrp="1"/>
          </p:cNvSpPr>
          <p:nvPr/>
        </p:nvSpPr>
        <p:spPr>
          <a:xfrm xmlns:a="http://schemas.openxmlformats.org/drawingml/2006/main">
            <a:off x="2133600" y="40481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a:t>
            </a:r>
          </a:p>
        </p:txBody>
      </p:sp>
      <p:sp>
        <p:nvSpPr>
          <p:cNvPr id="27" name="Rectangle 26">
            <a:extLst xmlns:a="http://schemas.openxmlformats.org/drawingml/2006/main">
              <a:ext uri="{FF2B5EF4-FFF2-40B4-BE49-F238E27FC236}">
                <a16:creationId xmlns:a16="http://schemas.microsoft.com/office/drawing/2014/main" id="{47AAC072-E863-4405-9B22-ADFDE9D67A9A}"/>
              </a:ext>
            </a:extLst>
          </p:cNvPr>
          <p:cNvSpPr>
            <a:spLocks xmlns:a="http://schemas.openxmlformats.org/drawingml/2006/main" noGrp="1"/>
          </p:cNvSpPr>
          <p:nvPr/>
        </p:nvSpPr>
        <p:spPr>
          <a:xfrm xmlns:a="http://schemas.openxmlformats.org/drawingml/2006/main">
            <a:off x="4133850" y="406717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5 aa sensitivity</a:t>
            </a:r>
          </a:p>
        </p:txBody>
      </p:sp>
      <p:sp>
        <p:nvSpPr>
          <p:cNvPr id="28" name="Rectangle: Rounded Corners 27">
            <a:extLst xmlns:a="http://schemas.openxmlformats.org/drawingml/2006/main">
              <a:ext uri="{FF2B5EF4-FFF2-40B4-BE49-F238E27FC236}">
                <a16:creationId xmlns:a16="http://schemas.microsoft.com/office/drawing/2014/main" id="{6CA079EF-B9AC-4C25-B2B8-C0F3257DD246}"/>
              </a:ext>
            </a:extLst>
          </p:cNvPr>
          <p:cNvSpPr>
            <a:spLocks xmlns:a="http://schemas.openxmlformats.org/drawingml/2006/main" noGrp="1"/>
          </p:cNvSpPr>
          <p:nvPr/>
        </p:nvSpPr>
        <p:spPr>
          <a:xfrm xmlns:a="http://schemas.openxmlformats.org/drawingml/2006/main">
            <a:off x="590550" y="46958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29" name="Rectangle 28">
            <a:extLst xmlns:a="http://schemas.openxmlformats.org/drawingml/2006/main">
              <a:ext uri="{FF2B5EF4-FFF2-40B4-BE49-F238E27FC236}">
                <a16:creationId xmlns:a16="http://schemas.microsoft.com/office/drawing/2014/main" id="{184F36C6-ED84-4766-8F7D-30845DBC5530}"/>
              </a:ext>
            </a:extLst>
          </p:cNvPr>
          <p:cNvSpPr>
            <a:spLocks xmlns:a="http://schemas.openxmlformats.org/drawingml/2006/main" noGrp="1"/>
          </p:cNvSpPr>
          <p:nvPr/>
        </p:nvSpPr>
        <p:spPr>
          <a:xfrm xmlns:a="http://schemas.openxmlformats.org/drawingml/2006/main">
            <a:off x="590550" y="4695825"/>
            <a:ext cx="76200" cy="571500"/>
          </a:xfrm>
          <a:prstGeom xmlns:a="http://schemas.openxmlformats.org/drawingml/2006/main" prst="rect">
            <a:avLst/>
          </a:prstGeom>
          <a:solidFill xmlns:a="http://schemas.openxmlformats.org/drawingml/2006/main">
            <a:srgbClr val="F1C84B"/>
          </a:solidFill>
          <a:ln xmlns:a="http://schemas.openxmlformats.org/drawingml/2006/main" w="0">
            <a:noFill/>
            <a:prstDash val="solid"/>
          </a:ln>
        </p:spPr>
      </p:sp>
      <p:sp>
        <p:nvSpPr>
          <p:cNvPr id="30" name="Rectangle 29">
            <a:extLst xmlns:a="http://schemas.openxmlformats.org/drawingml/2006/main">
              <a:ext uri="{FF2B5EF4-FFF2-40B4-BE49-F238E27FC236}">
                <a16:creationId xmlns:a16="http://schemas.microsoft.com/office/drawing/2014/main" id="{B4845CE9-CEE2-458C-A9C6-DF394DE2AD46}"/>
              </a:ext>
            </a:extLst>
          </p:cNvPr>
          <p:cNvSpPr>
            <a:spLocks xmlns:a="http://schemas.openxmlformats.org/drawingml/2006/main" noGrp="1"/>
          </p:cNvSpPr>
          <p:nvPr/>
        </p:nvSpPr>
        <p:spPr>
          <a:xfrm xmlns:a="http://schemas.openxmlformats.org/drawingml/2006/main">
            <a:off x="838200" y="47910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Fixed</a:t>
            </a:r>
          </a:p>
        </p:txBody>
      </p:sp>
      <p:sp>
        <p:nvSpPr>
          <p:cNvPr id="31" name="Rectangle 30">
            <a:extLst xmlns:a="http://schemas.openxmlformats.org/drawingml/2006/main">
              <a:ext uri="{FF2B5EF4-FFF2-40B4-BE49-F238E27FC236}">
                <a16:creationId xmlns:a16="http://schemas.microsoft.com/office/drawing/2014/main" id="{1C31CA26-36CA-4D1B-8789-8C24C76E2346}"/>
              </a:ext>
            </a:extLst>
          </p:cNvPr>
          <p:cNvSpPr>
            <a:spLocks xmlns:a="http://schemas.openxmlformats.org/drawingml/2006/main" noGrp="1"/>
          </p:cNvSpPr>
          <p:nvPr/>
        </p:nvSpPr>
        <p:spPr>
          <a:xfrm xmlns:a="http://schemas.openxmlformats.org/drawingml/2006/main">
            <a:off x="2133600" y="47910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(GGGGS)3</a:t>
            </a:r>
          </a:p>
        </p:txBody>
      </p:sp>
      <p:sp>
        <p:nvSpPr>
          <p:cNvPr id="32" name="Rectangle 31">
            <a:extLst xmlns:a="http://schemas.openxmlformats.org/drawingml/2006/main">
              <a:ext uri="{FF2B5EF4-FFF2-40B4-BE49-F238E27FC236}">
                <a16:creationId xmlns:a16="http://schemas.microsoft.com/office/drawing/2014/main" id="{BBA0D208-EFDA-4B51-85CA-CFDB40B547BF}"/>
              </a:ext>
            </a:extLst>
          </p:cNvPr>
          <p:cNvSpPr>
            <a:spLocks xmlns:a="http://schemas.openxmlformats.org/drawingml/2006/main" noGrp="1"/>
          </p:cNvSpPr>
          <p:nvPr/>
        </p:nvSpPr>
        <p:spPr>
          <a:xfrm xmlns:a="http://schemas.openxmlformats.org/drawingml/2006/main">
            <a:off x="4133850" y="48101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15 aa baseline</a:t>
            </a:r>
          </a:p>
        </p:txBody>
      </p:sp>
      <p:sp>
        <p:nvSpPr>
          <p:cNvPr id="33" name="Rectangle: Rounded Corners 32">
            <a:extLst xmlns:a="http://schemas.openxmlformats.org/drawingml/2006/main">
              <a:ext uri="{FF2B5EF4-FFF2-40B4-BE49-F238E27FC236}">
                <a16:creationId xmlns:a16="http://schemas.microsoft.com/office/drawing/2014/main" id="{BCDA670D-F933-4BE3-9741-1117FA8E2882}"/>
              </a:ext>
            </a:extLst>
          </p:cNvPr>
          <p:cNvSpPr>
            <a:spLocks xmlns:a="http://schemas.openxmlformats.org/drawingml/2006/main" noGrp="1"/>
          </p:cNvSpPr>
          <p:nvPr/>
        </p:nvSpPr>
        <p:spPr>
          <a:xfrm xmlns:a="http://schemas.openxmlformats.org/drawingml/2006/main">
            <a:off x="6172200" y="1724025"/>
            <a:ext cx="5191125" cy="1885950"/>
          </a:xfrm>
          <a:prstGeom xmlns:a="http://schemas.openxmlformats.org/drawingml/2006/main" prst="roundRect">
            <a:avLst>
              <a:gd name="adj" fmla="val 6061"/>
            </a:avLst>
          </a:prstGeom>
          <a:solidFill xmlns:a="http://schemas.openxmlformats.org/drawingml/2006/main">
            <a:srgbClr val="102720"/>
          </a:solidFill>
          <a:ln xmlns:a="http://schemas.openxmlformats.org/drawingml/2006/main" w="0">
            <a:solidFill>
              <a:srgbClr val="102720"/>
            </a:solidFill>
            <a:prstDash val="solid"/>
          </a:ln>
        </p:spPr>
      </p:sp>
      <p:sp>
        <p:nvSpPr>
          <p:cNvPr id="34" name="Rectangle 33">
            <a:extLst xmlns:a="http://schemas.openxmlformats.org/drawingml/2006/main">
              <a:ext uri="{FF2B5EF4-FFF2-40B4-BE49-F238E27FC236}">
                <a16:creationId xmlns:a16="http://schemas.microsoft.com/office/drawing/2014/main" id="{986842FD-5401-4467-92A0-B46575D63232}"/>
              </a:ext>
            </a:extLst>
          </p:cNvPr>
          <p:cNvSpPr>
            <a:spLocks xmlns:a="http://schemas.openxmlformats.org/drawingml/2006/main" noGrp="1"/>
          </p:cNvSpPr>
          <p:nvPr/>
        </p:nvSpPr>
        <p:spPr>
          <a:xfrm xmlns:a="http://schemas.openxmlformats.org/drawingml/2006/main">
            <a:off x="6505575" y="1981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SPECIFIED FUTURE RANKER</a:t>
            </a:r>
          </a:p>
        </p:txBody>
      </p:sp>
      <p:sp>
        <p:nvSpPr>
          <p:cNvPr id="35" name="Rectangle 34">
            <a:extLst xmlns:a="http://schemas.openxmlformats.org/drawingml/2006/main">
              <a:ext uri="{FF2B5EF4-FFF2-40B4-BE49-F238E27FC236}">
                <a16:creationId xmlns:a16="http://schemas.microsoft.com/office/drawing/2014/main" id="{FBE35B06-052B-45FC-9BFA-3ABE6B534DF3}"/>
              </a:ext>
            </a:extLst>
          </p:cNvPr>
          <p:cNvSpPr>
            <a:spLocks xmlns:a="http://schemas.openxmlformats.org/drawingml/2006/main" noGrp="1"/>
          </p:cNvSpPr>
          <p:nvPr/>
        </p:nvSpPr>
        <p:spPr>
          <a:xfrm xmlns:a="http://schemas.openxmlformats.org/drawingml/2006/main">
            <a:off x="6505575" y="2362200"/>
            <a:ext cx="4381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800" b="1" i="0">
                <a:solidFill>
                  <a:srgbClr val="FFFFFF"/>
                </a:solidFill>
                <a:latin typeface="Arial"/>
                <a:ea typeface="Arial"/>
                <a:cs typeface="Arial"/>
              </a:defRPr>
            </a:defPPr>
            <a:lvl1pPr algn="l">
              <a:buNone/>
              <a:defRPr sz="1800" b="1" i="0">
                <a:solidFill>
                  <a:srgbClr val="FFFFFF"/>
                </a:solidFill>
                <a:latin typeface="Arial"/>
                <a:ea typeface="Arial"/>
                <a:cs typeface="Arial"/>
              </a:defRPr>
            </a:lvl1pPr>
            <a:lvl2pPr algn="l">
              <a:buNone/>
              <a:defRPr sz="1800" b="1" i="0">
                <a:solidFill>
                  <a:srgbClr val="FFFFFF"/>
                </a:solidFill>
                <a:latin typeface="Arial"/>
                <a:ea typeface="Arial"/>
                <a:cs typeface="Arial"/>
              </a:defRPr>
            </a:lvl2pPr>
            <a:lvl3pPr algn="l">
              <a:buNone/>
              <a:defRPr sz="1800" b="1" i="0">
                <a:solidFill>
                  <a:srgbClr val="FFFFFF"/>
                </a:solidFill>
                <a:latin typeface="Arial"/>
                <a:ea typeface="Arial"/>
                <a:cs typeface="Arial"/>
              </a:defRPr>
            </a:lvl3pPr>
            <a:lvl4pPr algn="l">
              <a:buNone/>
              <a:defRPr sz="1800" b="1" i="0">
                <a:solidFill>
                  <a:srgbClr val="FFFFFF"/>
                </a:solidFill>
                <a:latin typeface="Arial"/>
                <a:ea typeface="Arial"/>
                <a:cs typeface="Arial"/>
              </a:defRPr>
            </a:lvl4pPr>
            <a:lvl5pPr algn="l">
              <a:buNone/>
              <a:defRPr sz="1800" b="1" i="0">
                <a:solidFill>
                  <a:srgbClr val="FFFFFF"/>
                </a:solidFill>
                <a:latin typeface="Arial"/>
                <a:ea typeface="Arial"/>
                <a:cs typeface="Arial"/>
              </a:defRPr>
            </a:lvl5pPr>
            <a:lvl6pPr algn="l">
              <a:buNone/>
              <a:defRPr sz="1800" b="1" i="0">
                <a:solidFill>
                  <a:srgbClr val="FFFFFF"/>
                </a:solidFill>
                <a:latin typeface="Arial"/>
                <a:ea typeface="Arial"/>
                <a:cs typeface="Arial"/>
              </a:defRPr>
            </a:lvl6pPr>
            <a:lvl7pPr algn="l">
              <a:buNone/>
              <a:defRPr sz="1800" b="1" i="0">
                <a:solidFill>
                  <a:srgbClr val="FFFFFF"/>
                </a:solidFill>
                <a:latin typeface="Arial"/>
                <a:ea typeface="Arial"/>
                <a:cs typeface="Arial"/>
              </a:defRPr>
            </a:lvl7pPr>
            <a:lvl8pPr algn="l">
              <a:buNone/>
              <a:defRPr sz="1800" b="1" i="0">
                <a:solidFill>
                  <a:srgbClr val="FFFFFF"/>
                </a:solidFill>
                <a:latin typeface="Arial"/>
                <a:ea typeface="Arial"/>
                <a:cs typeface="Arial"/>
              </a:defRPr>
            </a:lvl8pPr>
            <a:lvl9pPr algn="l">
              <a:buNone/>
              <a:defRPr sz="1800" b="1" i="0">
                <a:solidFill>
                  <a:srgbClr val="FFFFFF"/>
                </a:solidFill>
                <a:latin typeface="Arial"/>
                <a:ea typeface="Arial"/>
                <a:cs typeface="Arial"/>
              </a:defRPr>
            </a:lvl9pPr>
          </a:lstStyle>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Frozen ESM-2 embeddings</a:t>
            </a:r>
          </a:p>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 attachment geometry GNN</a:t>
            </a:r>
          </a:p>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 small linker encoder</a:t>
            </a:r>
          </a:p>
        </p:txBody>
      </p:sp>
      <p:sp>
        <p:nvSpPr>
          <p:cNvPr id="36" name="Rectangle 35">
            <a:extLst xmlns:a="http://schemas.openxmlformats.org/drawingml/2006/main">
              <a:ext uri="{FF2B5EF4-FFF2-40B4-BE49-F238E27FC236}">
                <a16:creationId xmlns:a16="http://schemas.microsoft.com/office/drawing/2014/main" id="{395AB0E0-54A1-4CC4-AEB7-EEA67B98F7AB}"/>
              </a:ext>
            </a:extLst>
          </p:cNvPr>
          <p:cNvSpPr>
            <a:spLocks xmlns:a="http://schemas.openxmlformats.org/drawingml/2006/main" noGrp="1"/>
          </p:cNvSpPr>
          <p:nvPr/>
        </p:nvSpPr>
        <p:spPr>
          <a:xfrm xmlns:a="http://schemas.openxmlformats.org/drawingml/2006/main">
            <a:off x="6181725" y="3914775"/>
            <a:ext cx="51720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E84AAB"/>
                </a:solidFill>
                <a:latin typeface="Arial"/>
                <a:ea typeface="Arial"/>
                <a:cs typeface="Arial"/>
              </a:defRPr>
            </a:defPPr>
            <a:lvl1pPr algn="l">
              <a:buNone/>
              <a:defRPr sz="1350" b="1" i="0">
                <a:solidFill>
                  <a:srgbClr val="E84AAB"/>
                </a:solidFill>
                <a:latin typeface="Arial"/>
                <a:ea typeface="Arial"/>
                <a:cs typeface="Arial"/>
              </a:defRPr>
            </a:lvl1pPr>
            <a:lvl2pPr algn="l">
              <a:buNone/>
              <a:defRPr sz="1350" b="1" i="0">
                <a:solidFill>
                  <a:srgbClr val="E84AAB"/>
                </a:solidFill>
                <a:latin typeface="Arial"/>
                <a:ea typeface="Arial"/>
                <a:cs typeface="Arial"/>
              </a:defRPr>
            </a:lvl2pPr>
            <a:lvl3pPr algn="l">
              <a:buNone/>
              <a:defRPr sz="1350" b="1" i="0">
                <a:solidFill>
                  <a:srgbClr val="E84AAB"/>
                </a:solidFill>
                <a:latin typeface="Arial"/>
                <a:ea typeface="Arial"/>
                <a:cs typeface="Arial"/>
              </a:defRPr>
            </a:lvl3pPr>
            <a:lvl4pPr algn="l">
              <a:buNone/>
              <a:defRPr sz="1350" b="1" i="0">
                <a:solidFill>
                  <a:srgbClr val="E84AAB"/>
                </a:solidFill>
                <a:latin typeface="Arial"/>
                <a:ea typeface="Arial"/>
                <a:cs typeface="Arial"/>
              </a:defRPr>
            </a:lvl4pPr>
            <a:lvl5pPr algn="l">
              <a:buNone/>
              <a:defRPr sz="1350" b="1" i="0">
                <a:solidFill>
                  <a:srgbClr val="E84AAB"/>
                </a:solidFill>
                <a:latin typeface="Arial"/>
                <a:ea typeface="Arial"/>
                <a:cs typeface="Arial"/>
              </a:defRPr>
            </a:lvl5pPr>
            <a:lvl6pPr algn="l">
              <a:buNone/>
              <a:defRPr sz="1350" b="1" i="0">
                <a:solidFill>
                  <a:srgbClr val="E84AAB"/>
                </a:solidFill>
                <a:latin typeface="Arial"/>
                <a:ea typeface="Arial"/>
                <a:cs typeface="Arial"/>
              </a:defRPr>
            </a:lvl6pPr>
            <a:lvl7pPr algn="l">
              <a:buNone/>
              <a:defRPr sz="1350" b="1" i="0">
                <a:solidFill>
                  <a:srgbClr val="E84AAB"/>
                </a:solidFill>
                <a:latin typeface="Arial"/>
                <a:ea typeface="Arial"/>
                <a:cs typeface="Arial"/>
              </a:defRPr>
            </a:lvl7pPr>
            <a:lvl8pPr algn="l">
              <a:buNone/>
              <a:defRPr sz="1350" b="1" i="0">
                <a:solidFill>
                  <a:srgbClr val="E84AAB"/>
                </a:solidFill>
                <a:latin typeface="Arial"/>
                <a:ea typeface="Arial"/>
                <a:cs typeface="Arial"/>
              </a:defRPr>
            </a:lvl8pPr>
            <a:lvl9pPr algn="l">
              <a:buNone/>
              <a:defRPr sz="1350" b="1" i="0">
                <a:solidFill>
                  <a:srgbClr val="E84AAB"/>
                </a:solidFill>
                <a:latin typeface="Arial"/>
                <a:ea typeface="Arial"/>
                <a:cs typeface="Arial"/>
              </a:defRPr>
            </a:lvl9pPr>
          </a:lstStyle>
          <a:p xmlns:a="http://schemas.openxmlformats.org/drawingml/2006/main">
            <a:pPr algn="l">
              <a:buNone/>
              <a:defRPr sz="1350" b="1" i="0">
                <a:solidFill>
                  <a:srgbClr val="E84AAB"/>
                </a:solidFill>
                <a:latin typeface="Arial"/>
                <a:ea typeface="Arial"/>
                <a:cs typeface="Arial"/>
              </a:defRPr>
            </a:pPr>
            <a:r>
              <a:rPr sz="1350" b="1" i="0">
                <a:solidFill>
                  <a:srgbClr val="E84AAB"/>
                </a:solidFill>
                <a:latin typeface="Arial"/>
                <a:ea typeface="Arial"/>
                <a:cs typeface="Arial"/>
              </a:rPr>
              <a:t>Status: architecture specified, not scientifically trained or calibrated.</a:t>
            </a:r>
          </a:p>
        </p:txBody>
      </p:sp>
      <p:sp>
        <p:nvSpPr>
          <p:cNvPr id="37" name="Rectangle 36">
            <a:extLst xmlns:a="http://schemas.openxmlformats.org/drawingml/2006/main">
              <a:ext uri="{FF2B5EF4-FFF2-40B4-BE49-F238E27FC236}">
                <a16:creationId xmlns:a16="http://schemas.microsoft.com/office/drawing/2014/main" id="{FD405A74-8802-4CF7-91D8-4DD07C6AFFDC}"/>
              </a:ext>
            </a:extLst>
          </p:cNvPr>
          <p:cNvSpPr>
            <a:spLocks xmlns:a="http://schemas.openxmlformats.org/drawingml/2006/main" noGrp="1"/>
          </p:cNvSpPr>
          <p:nvPr/>
        </p:nvSpPr>
        <p:spPr>
          <a:xfrm xmlns:a="http://schemas.openxmlformats.org/drawingml/2006/main">
            <a:off x="6181725" y="4629150"/>
            <a:ext cx="51720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defRPr sz="1275">
                <a:solidFill>
                  <a:srgbClr val="F4F7F5"/>
                </a:solidFill>
                <a:latin typeface="Arial"/>
                <a:ea typeface="Arial"/>
                <a:cs typeface="Arial"/>
              </a:defRPr>
            </a:defPPr>
            <a:lvl1pPr>
              <a:buNone/>
              <a:defRPr sz="1275">
                <a:solidFill>
                  <a:srgbClr val="F4F7F5"/>
                </a:solidFill>
                <a:latin typeface="Arial"/>
                <a:ea typeface="Arial"/>
                <a:cs typeface="Arial"/>
              </a:defRPr>
            </a:lvl1pPr>
            <a:lvl2pPr>
              <a:buNone/>
              <a:defRPr sz="1275">
                <a:solidFill>
                  <a:srgbClr val="F4F7F5"/>
                </a:solidFill>
                <a:latin typeface="Arial"/>
                <a:ea typeface="Arial"/>
                <a:cs typeface="Arial"/>
              </a:defRPr>
            </a:lvl2pPr>
            <a:lvl3pPr>
              <a:buNone/>
              <a:defRPr sz="1275">
                <a:solidFill>
                  <a:srgbClr val="F4F7F5"/>
                </a:solidFill>
                <a:latin typeface="Arial"/>
                <a:ea typeface="Arial"/>
                <a:cs typeface="Arial"/>
              </a:defRPr>
            </a:lvl3pPr>
            <a:lvl4pPr>
              <a:buNone/>
              <a:defRPr sz="1275">
                <a:solidFill>
                  <a:srgbClr val="F4F7F5"/>
                </a:solidFill>
                <a:latin typeface="Arial"/>
                <a:ea typeface="Arial"/>
                <a:cs typeface="Arial"/>
              </a:defRPr>
            </a:lvl4pPr>
            <a:lvl5pPr>
              <a:buNone/>
              <a:defRPr sz="1275">
                <a:solidFill>
                  <a:srgbClr val="F4F7F5"/>
                </a:solidFill>
                <a:latin typeface="Arial"/>
                <a:ea typeface="Arial"/>
                <a:cs typeface="Arial"/>
              </a:defRPr>
            </a:lvl5pPr>
            <a:lvl6pPr>
              <a:buNone/>
              <a:defRPr sz="1275">
                <a:solidFill>
                  <a:srgbClr val="F4F7F5"/>
                </a:solidFill>
                <a:latin typeface="Arial"/>
                <a:ea typeface="Arial"/>
                <a:cs typeface="Arial"/>
              </a:defRPr>
            </a:lvl6pPr>
            <a:lvl7pPr>
              <a:buNone/>
              <a:defRPr sz="1275">
                <a:solidFill>
                  <a:srgbClr val="F4F7F5"/>
                </a:solidFill>
                <a:latin typeface="Arial"/>
                <a:ea typeface="Arial"/>
                <a:cs typeface="Arial"/>
              </a:defRPr>
            </a:lvl7pPr>
            <a:lvl8pPr>
              <a:buNone/>
              <a:defRPr sz="1275">
                <a:solidFill>
                  <a:srgbClr val="F4F7F5"/>
                </a:solidFill>
                <a:latin typeface="Arial"/>
                <a:ea typeface="Arial"/>
                <a:cs typeface="Arial"/>
              </a:defRPr>
            </a:lvl8pPr>
            <a:lvl9pPr>
              <a:buNone/>
              <a:defRPr sz="1275">
                <a:solidFill>
                  <a:srgbClr val="F4F7F5"/>
                </a:solidFill>
                <a:latin typeface="Arial"/>
                <a:ea typeface="Arial"/>
                <a:cs typeface="Arial"/>
              </a:defRPr>
            </a:lvl9pPr>
          </a:lstStyle>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No demonstration score is treated as probability.</a:t>
            </a:r>
          </a:p>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No candidate is called optimal or experimentally successful.</a:t>
            </a:r>
          </a:p>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Baselines must share the same scoring and rejection rules.</a:t>
            </a:r>
          </a:p>
        </p:txBody>
      </p:sp>
    </p:spTree>
    <p:extLst>
      <p:ext uri="{BB962C8B-B14F-4D97-AF65-F5344CB8AC3E}">
        <p14:creationId xmlns:p14="http://schemas.microsoft.com/office/powerpoint/2010/main" val="199396068"/>
      </p:ext>
    </p:extLst>
  </p:cSld>
</p:sld>
</file>

<file path=ppt/slides/slide18.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DCBC6B3D-5249-4048-956A-295936ABBE3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F620209C-E88D-493A-A1A6-3153216CA35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8B4BC7E-E0F2-4057-B8E0-C995C6B73001}"/>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VERIFIED ACCEPTANCE RUN</a:t>
            </a:r>
          </a:p>
        </p:txBody>
      </p:sp>
      <p:sp>
        <p:nvSpPr>
          <p:cNvPr id="4" name="Rectangle 3">
            <a:extLst xmlns:a="http://schemas.openxmlformats.org/drawingml/2006/main">
              <a:ext uri="{FF2B5EF4-FFF2-40B4-BE49-F238E27FC236}">
                <a16:creationId xmlns:a16="http://schemas.microsoft.com/office/drawing/2014/main" id="{92D63332-3830-4C9B-851F-963CB59810E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Local evidence: acceptance-20261020-ubiquitin-gb1-target10; AlphaFold confidence is model-derived</a:t>
            </a:r>
          </a:p>
        </p:txBody>
      </p:sp>
      <p:sp>
        <p:nvSpPr>
          <p:cNvPr id="5" name="Rectangle 4">
            <a:extLst xmlns:a="http://schemas.openxmlformats.org/drawingml/2006/main">
              <a:ext uri="{FF2B5EF4-FFF2-40B4-BE49-F238E27FC236}">
                <a16:creationId xmlns:a16="http://schemas.microsoft.com/office/drawing/2014/main" id="{02018B54-67DA-49D1-AE02-23D961C0EA8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18</a:t>
            </a:r>
          </a:p>
        </p:txBody>
      </p:sp>
      <p:sp>
        <p:nvSpPr>
          <p:cNvPr id="6" name="Rectangle 5">
            <a:extLst xmlns:a="http://schemas.openxmlformats.org/drawingml/2006/main">
              <a:ext uri="{FF2B5EF4-FFF2-40B4-BE49-F238E27FC236}">
                <a16:creationId xmlns:a16="http://schemas.microsoft.com/office/drawing/2014/main" id="{48C0106E-373C-46DB-833D-F5128D161B1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Verified acceptance run: reference pair</a:t>
            </a:r>
          </a:p>
        </p:txBody>
      </p:sp>
      <p:sp>
        <p:nvSpPr>
          <p:cNvPr id="7" name="Rectangle 6">
            <a:extLst xmlns:a="http://schemas.openxmlformats.org/drawingml/2006/main">
              <a:ext uri="{FF2B5EF4-FFF2-40B4-BE49-F238E27FC236}">
                <a16:creationId xmlns:a16="http://schemas.microsoft.com/office/drawing/2014/main" id="{BA878354-6DDB-4EE6-B2EF-902966EF05E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1UBQ + GGGGSGGGGS + 2GB1 · 142 residues · AlphaFold2-ptm via ColabFold</a:t>
            </a:r>
          </a:p>
        </p:txBody>
      </p:sp>
      <p:pic>
        <p:nvPicPr>
          <p:cNvPr id="8" name="Picture 7">
            <a:extLst xmlns:a="http://schemas.openxmlformats.org/drawingml/2006/main">
              <a:ext uri="{FF2B5EF4-FFF2-40B4-BE49-F238E27FC236}">
                <a16:creationId xmlns:a16="http://schemas.microsoft.com/office/drawing/2014/main" id="{271C7F03-EFB8-4BD2-A712-DBD6096B490F}"/>
              </a:ext>
            </a:extLst>
          </p:cNvPr>
          <p:cNvPicPr>
            <a:picLocks xmlns:a="http://schemas.openxmlformats.org/drawingml/2006/main" noChangeAspect="1"/>
          </p:cNvPicPr>
          <p:nvPr/>
        </p:nvPicPr>
        <p:blipFill>
          <a:blip xmlns:r="http://schemas.openxmlformats.org/officeDocument/2006/relationships" xmlns:a="http://schemas.openxmlformats.org/drawingml/2006/main" r:embed="R0eb25e57060e48c8"/>
          <a:stretch xmlns:a="http://schemas.openxmlformats.org/drawingml/2006/main"/>
        </p:blipFill>
        <p:spPr>
          <a:xfrm xmlns:a="http://schemas.openxmlformats.org/drawingml/2006/main">
            <a:off x="573405" y="1552575"/>
            <a:ext cx="5320665" cy="3800475"/>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F6FACE21-8320-45AB-8344-42CE780178FD}"/>
              </a:ext>
            </a:extLst>
          </p:cNvPr>
          <p:cNvSpPr>
            <a:spLocks xmlns:a="http://schemas.openxmlformats.org/drawingml/2006/main" noGrp="1"/>
          </p:cNvSpPr>
          <p:nvPr/>
        </p:nvSpPr>
        <p:spPr>
          <a:xfrm xmlns:a="http://schemas.openxmlformats.org/drawingml/2006/main">
            <a:off x="6438900" y="5181600"/>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0.53</a:t>
            </a:r>
          </a:p>
        </p:txBody>
      </p:sp>
      <p:sp>
        <p:nvSpPr>
          <p:cNvPr id="11" name="Rectangle 10">
            <a:extLst xmlns:a="http://schemas.openxmlformats.org/drawingml/2006/main">
              <a:ext uri="{FF2B5EF4-FFF2-40B4-BE49-F238E27FC236}">
                <a16:creationId xmlns:a16="http://schemas.microsoft.com/office/drawing/2014/main" id="{685E7958-4A59-4B70-A73A-C7E235C03E56}"/>
              </a:ext>
            </a:extLst>
          </p:cNvPr>
          <p:cNvSpPr>
            <a:spLocks xmlns:a="http://schemas.openxmlformats.org/drawingml/2006/main" noGrp="1"/>
          </p:cNvSpPr>
          <p:nvPr/>
        </p:nvSpPr>
        <p:spPr>
          <a:xfrm xmlns:a="http://schemas.openxmlformats.org/drawingml/2006/main">
            <a:off x="6438900" y="5638800"/>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pTM</a:t>
            </a:r>
          </a:p>
        </p:txBody>
      </p:sp>
      <p:sp>
        <p:nvSpPr>
          <p:cNvPr id="12" name="Rectangle 11">
            <a:extLst xmlns:a="http://schemas.openxmlformats.org/drawingml/2006/main">
              <a:ext uri="{FF2B5EF4-FFF2-40B4-BE49-F238E27FC236}">
                <a16:creationId xmlns:a16="http://schemas.microsoft.com/office/drawing/2014/main" id="{0B700BE6-8D17-4BAE-BE7C-7377FBCECFDF}"/>
              </a:ext>
            </a:extLst>
          </p:cNvPr>
          <p:cNvSpPr>
            <a:spLocks xmlns:a="http://schemas.openxmlformats.org/drawingml/2006/main" noGrp="1"/>
          </p:cNvSpPr>
          <p:nvPr/>
        </p:nvSpPr>
        <p:spPr>
          <a:xfrm xmlns:a="http://schemas.openxmlformats.org/drawingml/2006/main">
            <a:off x="7753350" y="518160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46760"/>
                </a:solidFill>
                <a:latin typeface="Arial"/>
                <a:ea typeface="Arial"/>
                <a:cs typeface="Arial"/>
              </a:defRPr>
            </a:defPPr>
            <a:lvl1pPr algn="l">
              <a:buNone/>
              <a:defRPr sz="2550" b="1" i="0">
                <a:solidFill>
                  <a:srgbClr val="E46760"/>
                </a:solidFill>
                <a:latin typeface="Arial"/>
                <a:ea typeface="Arial"/>
                <a:cs typeface="Arial"/>
              </a:defRPr>
            </a:lvl1pPr>
            <a:lvl2pPr algn="l">
              <a:buNone/>
              <a:defRPr sz="2550" b="1" i="0">
                <a:solidFill>
                  <a:srgbClr val="E46760"/>
                </a:solidFill>
                <a:latin typeface="Arial"/>
                <a:ea typeface="Arial"/>
                <a:cs typeface="Arial"/>
              </a:defRPr>
            </a:lvl2pPr>
            <a:lvl3pPr algn="l">
              <a:buNone/>
              <a:defRPr sz="2550" b="1" i="0">
                <a:solidFill>
                  <a:srgbClr val="E46760"/>
                </a:solidFill>
                <a:latin typeface="Arial"/>
                <a:ea typeface="Arial"/>
                <a:cs typeface="Arial"/>
              </a:defRPr>
            </a:lvl3pPr>
            <a:lvl4pPr algn="l">
              <a:buNone/>
              <a:defRPr sz="2550" b="1" i="0">
                <a:solidFill>
                  <a:srgbClr val="E46760"/>
                </a:solidFill>
                <a:latin typeface="Arial"/>
                <a:ea typeface="Arial"/>
                <a:cs typeface="Arial"/>
              </a:defRPr>
            </a:lvl4pPr>
            <a:lvl5pPr algn="l">
              <a:buNone/>
              <a:defRPr sz="2550" b="1" i="0">
                <a:solidFill>
                  <a:srgbClr val="E46760"/>
                </a:solidFill>
                <a:latin typeface="Arial"/>
                <a:ea typeface="Arial"/>
                <a:cs typeface="Arial"/>
              </a:defRPr>
            </a:lvl5pPr>
            <a:lvl6pPr algn="l">
              <a:buNone/>
              <a:defRPr sz="2550" b="1" i="0">
                <a:solidFill>
                  <a:srgbClr val="E46760"/>
                </a:solidFill>
                <a:latin typeface="Arial"/>
                <a:ea typeface="Arial"/>
                <a:cs typeface="Arial"/>
              </a:defRPr>
            </a:lvl6pPr>
            <a:lvl7pPr algn="l">
              <a:buNone/>
              <a:defRPr sz="2550" b="1" i="0">
                <a:solidFill>
                  <a:srgbClr val="E46760"/>
                </a:solidFill>
                <a:latin typeface="Arial"/>
                <a:ea typeface="Arial"/>
                <a:cs typeface="Arial"/>
              </a:defRPr>
            </a:lvl7pPr>
            <a:lvl8pPr algn="l">
              <a:buNone/>
              <a:defRPr sz="2550" b="1" i="0">
                <a:solidFill>
                  <a:srgbClr val="E46760"/>
                </a:solidFill>
                <a:latin typeface="Arial"/>
                <a:ea typeface="Arial"/>
                <a:cs typeface="Arial"/>
              </a:defRPr>
            </a:lvl8pPr>
            <a:lvl9pPr algn="l">
              <a:buNone/>
              <a:defRPr sz="2550" b="1" i="0">
                <a:solidFill>
                  <a:srgbClr val="E46760"/>
                </a:solidFill>
                <a:latin typeface="Arial"/>
                <a:ea typeface="Arial"/>
                <a:cs typeface="Arial"/>
              </a:defRPr>
            </a:lvl9pPr>
          </a:lstStyle>
          <a:p xmlns:a="http://schemas.openxmlformats.org/drawingml/2006/main">
            <a:pPr algn="l">
              <a:buNone/>
              <a:defRPr sz="2550" b="1" i="0">
                <a:solidFill>
                  <a:srgbClr val="E46760"/>
                </a:solidFill>
                <a:latin typeface="Arial"/>
                <a:ea typeface="Arial"/>
                <a:cs typeface="Arial"/>
              </a:defRPr>
            </a:pPr>
            <a:r>
              <a:rPr sz="2550" b="1" i="0">
                <a:solidFill>
                  <a:srgbClr val="E46760"/>
                </a:solidFill>
                <a:latin typeface="Arial"/>
                <a:ea typeface="Arial"/>
                <a:cs typeface="Arial"/>
              </a:rPr>
              <a:t>22.77 Å</a:t>
            </a:r>
          </a:p>
        </p:txBody>
      </p:sp>
      <p:sp>
        <p:nvSpPr>
          <p:cNvPr id="13" name="Rectangle 12">
            <a:extLst xmlns:a="http://schemas.openxmlformats.org/drawingml/2006/main">
              <a:ext uri="{FF2B5EF4-FFF2-40B4-BE49-F238E27FC236}">
                <a16:creationId xmlns:a16="http://schemas.microsoft.com/office/drawing/2014/main" id="{D5346A48-2389-4AC8-9168-8F98999391CD}"/>
              </a:ext>
            </a:extLst>
          </p:cNvPr>
          <p:cNvSpPr>
            <a:spLocks xmlns:a="http://schemas.openxmlformats.org/drawingml/2006/main" noGrp="1"/>
          </p:cNvSpPr>
          <p:nvPr/>
        </p:nvSpPr>
        <p:spPr>
          <a:xfrm xmlns:a="http://schemas.openxmlformats.org/drawingml/2006/main">
            <a:off x="7753350" y="563880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cross-domain PAE</a:t>
            </a:r>
          </a:p>
        </p:txBody>
      </p:sp>
      <p:sp>
        <p:nvSpPr>
          <p:cNvPr id="14" name="Rectangle 13">
            <a:extLst xmlns:a="http://schemas.openxmlformats.org/drawingml/2006/main">
              <a:ext uri="{FF2B5EF4-FFF2-40B4-BE49-F238E27FC236}">
                <a16:creationId xmlns:a16="http://schemas.microsoft.com/office/drawing/2014/main" id="{FD838095-9465-46E6-ABB5-4B6FC6912A53}"/>
              </a:ext>
            </a:extLst>
          </p:cNvPr>
          <p:cNvSpPr>
            <a:spLocks xmlns:a="http://schemas.openxmlformats.org/drawingml/2006/main" noGrp="1"/>
          </p:cNvSpPr>
          <p:nvPr/>
        </p:nvSpPr>
        <p:spPr>
          <a:xfrm xmlns:a="http://schemas.openxmlformats.org/drawingml/2006/main">
            <a:off x="9677400" y="51816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2DBD73"/>
                </a:solidFill>
                <a:latin typeface="Arial"/>
                <a:ea typeface="Arial"/>
                <a:cs typeface="Arial"/>
              </a:defRPr>
            </a:defPPr>
            <a:lvl1pPr algn="l">
              <a:buNone/>
              <a:defRPr sz="2550" b="1" i="0">
                <a:solidFill>
                  <a:srgbClr val="2DBD73"/>
                </a:solidFill>
                <a:latin typeface="Arial"/>
                <a:ea typeface="Arial"/>
                <a:cs typeface="Arial"/>
              </a:defRPr>
            </a:lvl1pPr>
            <a:lvl2pPr algn="l">
              <a:buNone/>
              <a:defRPr sz="2550" b="1" i="0">
                <a:solidFill>
                  <a:srgbClr val="2DBD73"/>
                </a:solidFill>
                <a:latin typeface="Arial"/>
                <a:ea typeface="Arial"/>
                <a:cs typeface="Arial"/>
              </a:defRPr>
            </a:lvl2pPr>
            <a:lvl3pPr algn="l">
              <a:buNone/>
              <a:defRPr sz="2550" b="1" i="0">
                <a:solidFill>
                  <a:srgbClr val="2DBD73"/>
                </a:solidFill>
                <a:latin typeface="Arial"/>
                <a:ea typeface="Arial"/>
                <a:cs typeface="Arial"/>
              </a:defRPr>
            </a:lvl3pPr>
            <a:lvl4pPr algn="l">
              <a:buNone/>
              <a:defRPr sz="2550" b="1" i="0">
                <a:solidFill>
                  <a:srgbClr val="2DBD73"/>
                </a:solidFill>
                <a:latin typeface="Arial"/>
                <a:ea typeface="Arial"/>
                <a:cs typeface="Arial"/>
              </a:defRPr>
            </a:lvl4pPr>
            <a:lvl5pPr algn="l">
              <a:buNone/>
              <a:defRPr sz="2550" b="1" i="0">
                <a:solidFill>
                  <a:srgbClr val="2DBD73"/>
                </a:solidFill>
                <a:latin typeface="Arial"/>
                <a:ea typeface="Arial"/>
                <a:cs typeface="Arial"/>
              </a:defRPr>
            </a:lvl5pPr>
            <a:lvl6pPr algn="l">
              <a:buNone/>
              <a:defRPr sz="2550" b="1" i="0">
                <a:solidFill>
                  <a:srgbClr val="2DBD73"/>
                </a:solidFill>
                <a:latin typeface="Arial"/>
                <a:ea typeface="Arial"/>
                <a:cs typeface="Arial"/>
              </a:defRPr>
            </a:lvl6pPr>
            <a:lvl7pPr algn="l">
              <a:buNone/>
              <a:defRPr sz="2550" b="1" i="0">
                <a:solidFill>
                  <a:srgbClr val="2DBD73"/>
                </a:solidFill>
                <a:latin typeface="Arial"/>
                <a:ea typeface="Arial"/>
                <a:cs typeface="Arial"/>
              </a:defRPr>
            </a:lvl7pPr>
            <a:lvl8pPr algn="l">
              <a:buNone/>
              <a:defRPr sz="2550" b="1" i="0">
                <a:solidFill>
                  <a:srgbClr val="2DBD73"/>
                </a:solidFill>
                <a:latin typeface="Arial"/>
                <a:ea typeface="Arial"/>
                <a:cs typeface="Arial"/>
              </a:defRPr>
            </a:lvl8pPr>
            <a:lvl9pPr algn="l">
              <a:buNone/>
              <a:defRPr sz="2550" b="1" i="0">
                <a:solidFill>
                  <a:srgbClr val="2DBD73"/>
                </a:solidFill>
                <a:latin typeface="Arial"/>
                <a:ea typeface="Arial"/>
                <a:cs typeface="Arial"/>
              </a:defRPr>
            </a:lvl9pPr>
          </a:lstStyle>
          <a:p xmlns:a="http://schemas.openxmlformats.org/drawingml/2006/main">
            <a:pPr algn="l">
              <a:buNone/>
              <a:defRPr sz="2550" b="1" i="0">
                <a:solidFill>
                  <a:srgbClr val="2DBD73"/>
                </a:solidFill>
                <a:latin typeface="Arial"/>
                <a:ea typeface="Arial"/>
                <a:cs typeface="Arial"/>
              </a:defRPr>
            </a:pPr>
            <a:r>
              <a:rPr sz="2550" b="1" i="0">
                <a:solidFill>
                  <a:srgbClr val="2DBD73"/>
                </a:solidFill>
                <a:latin typeface="Arial"/>
                <a:ea typeface="Arial"/>
                <a:cs typeface="Arial"/>
              </a:rPr>
              <a:t>0 / 0</a:t>
            </a:r>
          </a:p>
        </p:txBody>
      </p:sp>
      <p:sp>
        <p:nvSpPr>
          <p:cNvPr id="15" name="Rectangle 14">
            <a:extLst xmlns:a="http://schemas.openxmlformats.org/drawingml/2006/main">
              <a:ext uri="{FF2B5EF4-FFF2-40B4-BE49-F238E27FC236}">
                <a16:creationId xmlns:a16="http://schemas.microsoft.com/office/drawing/2014/main" id="{467F41DE-6AC7-4CA3-B6B8-D8703296E1B6}"/>
              </a:ext>
            </a:extLst>
          </p:cNvPr>
          <p:cNvSpPr>
            <a:spLocks xmlns:a="http://schemas.openxmlformats.org/drawingml/2006/main" noGrp="1"/>
          </p:cNvSpPr>
          <p:nvPr/>
        </p:nvSpPr>
        <p:spPr>
          <a:xfrm xmlns:a="http://schemas.openxmlformats.org/drawingml/2006/main">
            <a:off x="9677400" y="563880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Cα breaks / overlaps</a:t>
            </a:r>
          </a:p>
        </p:txBody>
      </p:sp>
      <p:sp>
        <p:nvSpPr>
          <p:cNvPr id="16" name="Rectangle 15">
            <a:extLst xmlns:a="http://schemas.openxmlformats.org/drawingml/2006/main">
              <a:ext uri="{FF2B5EF4-FFF2-40B4-BE49-F238E27FC236}">
                <a16:creationId xmlns:a16="http://schemas.microsoft.com/office/drawing/2014/main" id="{A587F2CC-4373-4808-BDC3-EB59EAE36477}"/>
              </a:ext>
            </a:extLst>
          </p:cNvPr>
          <p:cNvSpPr>
            <a:spLocks xmlns:a="http://schemas.openxmlformats.org/drawingml/2006/main" noGrp="1"/>
          </p:cNvSpPr>
          <p:nvPr/>
        </p:nvSpPr>
        <p:spPr>
          <a:xfrm xmlns:a="http://schemas.openxmlformats.org/drawingml/2006/main">
            <a:off x="666750" y="5648325"/>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Reference RMSD: Domain A 0.94 Å · Domain B 3.02 Å</a:t>
            </a:r>
          </a:p>
        </p:txBody>
      </p:sp>
      <p:sp>
        <p:nvSpPr>
          <p:cNvPr id="17" name="Rectangle 16">
            <a:extLst xmlns:a="http://schemas.openxmlformats.org/drawingml/2006/main">
              <a:ext uri="{FF2B5EF4-FFF2-40B4-BE49-F238E27FC236}">
                <a16:creationId xmlns:a16="http://schemas.microsoft.com/office/drawing/2014/main" id="{03A7660A-ACAD-4BD4-9D5D-64B6367E89E2}"/>
              </a:ext>
            </a:extLst>
          </p:cNvPr>
          <p:cNvSpPr>
            <a:spLocks xmlns:a="http://schemas.openxmlformats.org/drawingml/2006/main" noGrp="1"/>
          </p:cNvSpPr>
          <p:nvPr/>
        </p:nvSpPr>
        <p:spPr>
          <a:xfrm xmlns:a="http://schemas.openxmlformats.org/drawingml/2006/main">
            <a:off x="666750" y="5962650"/>
            <a:ext cx="10715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Interpretation: domains are locally plausible; linker and relative orientation remain uncertain.</a:t>
            </a:r>
          </a:p>
        </p:txBody>
      </p:sp>
      <p:graphicFrame>
        <p:nvGraphicFramePr>
          <p:cNvPr id="19" name="Chart">
            <a:extLst xmlns:a="http://schemas.openxmlformats.org/drawingml/2006/main">
              <a:ext uri="{FF2B5EF4-FFF2-40B4-BE49-F238E27FC236}">
                <a16:creationId xmlns:a16="http://schemas.microsoft.com/office/drawing/2014/main" id="{24A22E9D-5153-46CC-BAB5-5B0DDEC9EA05}"/>
              </a:ext>
            </a:extLst>
          </p:cNvPr>
          <p:cNvGraphicFramePr/>
          <p:nvPr/>
        </p:nvGraphicFramePr>
        <p:xfrm>
          <a:off xmlns:a="http://schemas.openxmlformats.org/drawingml/2006/main" x="6353175" y="1638300"/>
          <a:ext xmlns:a="http://schemas.openxmlformats.org/drawingml/2006/main" cx="5219700" cy="3333750"/>
        </p:xfrm>
        <a:graphic xmlns:a="http://schemas.openxmlformats.org/drawingml/2006/main">
          <a:graphicData uri="http://schemas.openxmlformats.org/drawingml/2006/chart">
            <c:chart xmlns:r="http://schemas.openxmlformats.org/officeDocument/2006/relationships" xmlns:c="http://schemas.openxmlformats.org/drawingml/2006/chart" r:id="Rf63fa5e5c31c484f"/>
          </a:graphicData>
        </a:graphic>
      </p:graphicFrame>
    </p:spTree>
    <p:extLst>
      <p:ext uri="{BB962C8B-B14F-4D97-AF65-F5344CB8AC3E}">
        <p14:creationId xmlns:p14="http://schemas.microsoft.com/office/powerpoint/2010/main" val="1053874133"/>
      </p:ext>
    </p:extLst>
  </p:cSld>
</p:sld>
</file>

<file path=ppt/slides/slide19.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6BB08FBF-4280-4832-B011-D0DB45279C5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EBBFAEB6-1A1C-499E-A59C-9BD6E9707EF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60B7C69-82DC-48D2-B4BE-AB8C1F03EF09}"/>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MATCHED COMPARISON</a:t>
            </a:r>
          </a:p>
        </p:txBody>
      </p:sp>
      <p:sp>
        <p:nvSpPr>
          <p:cNvPr id="4" name="Rectangle 3">
            <a:extLst xmlns:a="http://schemas.openxmlformats.org/drawingml/2006/main">
              <a:ext uri="{FF2B5EF4-FFF2-40B4-BE49-F238E27FC236}">
                <a16:creationId xmlns:a16="http://schemas.microsoft.com/office/drawing/2014/main" id="{B28A4BE1-4762-4991-9AC5-857A07A3043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Seven complete 1UBQ–linker–2GB1 constructs; identical AF2-ptm settings; no preregistered winner threshold</a:t>
            </a:r>
          </a:p>
        </p:txBody>
      </p:sp>
      <p:sp>
        <p:nvSpPr>
          <p:cNvPr id="5" name="Rectangle 4">
            <a:extLst xmlns:a="http://schemas.openxmlformats.org/drawingml/2006/main">
              <a:ext uri="{FF2B5EF4-FFF2-40B4-BE49-F238E27FC236}">
                <a16:creationId xmlns:a16="http://schemas.microsoft.com/office/drawing/2014/main" id="{444036D9-09A9-41A6-8C41-62B94676EA0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19</a:t>
            </a:r>
          </a:p>
        </p:txBody>
      </p:sp>
      <p:sp>
        <p:nvSpPr>
          <p:cNvPr id="6" name="Rectangle 5">
            <a:extLst xmlns:a="http://schemas.openxmlformats.org/drawingml/2006/main">
              <a:ext uri="{FF2B5EF4-FFF2-40B4-BE49-F238E27FC236}">
                <a16:creationId xmlns:a16="http://schemas.microsoft.com/office/drawing/2014/main" id="{CF08EA3E-2561-45E7-9F1B-54C0039DE11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Reference-pair structural sensitivity panel</a:t>
            </a:r>
          </a:p>
        </p:txBody>
      </p:sp>
      <p:sp>
        <p:nvSpPr>
          <p:cNvPr id="7" name="Rectangle 6">
            <a:extLst xmlns:a="http://schemas.openxmlformats.org/drawingml/2006/main">
              <a:ext uri="{FF2B5EF4-FFF2-40B4-BE49-F238E27FC236}">
                <a16:creationId xmlns:a16="http://schemas.microsoft.com/office/drawing/2014/main" id="{6D7E2D04-774D-4D92-84A4-4635E7CC2D5B}"/>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All constructs passed the limited Cα pre-screen. Global confidence remained modest</a:t>
            </a:r>
          </a:p>
        </p:txBody>
      </p:sp>
      <p:sp>
        <p:nvSpPr>
          <p:cNvPr id="9" name="Rectangle 8">
            <a:extLst xmlns:a="http://schemas.openxmlformats.org/drawingml/2006/main">
              <a:ext uri="{FF2B5EF4-FFF2-40B4-BE49-F238E27FC236}">
                <a16:creationId xmlns:a16="http://schemas.microsoft.com/office/drawing/2014/main" id="{DB6C2F33-255E-429F-839C-E7DD037381CF}"/>
              </a:ext>
            </a:extLst>
          </p:cNvPr>
          <p:cNvSpPr>
            <a:spLocks xmlns:a="http://schemas.openxmlformats.org/drawingml/2006/main" noGrp="1"/>
          </p:cNvSpPr>
          <p:nvPr/>
        </p:nvSpPr>
        <p:spPr>
          <a:xfrm xmlns:a="http://schemas.openxmlformats.org/drawingml/2006/main">
            <a:off x="695325" y="560070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pTM range</a:t>
            </a:r>
          </a:p>
        </p:txBody>
      </p:sp>
      <p:sp>
        <p:nvSpPr>
          <p:cNvPr id="10" name="Rectangle 9">
            <a:extLst xmlns:a="http://schemas.openxmlformats.org/drawingml/2006/main">
              <a:ext uri="{FF2B5EF4-FFF2-40B4-BE49-F238E27FC236}">
                <a16:creationId xmlns:a16="http://schemas.microsoft.com/office/drawing/2014/main" id="{EA51E8CB-A2A6-4D8C-9460-5C3E2933161F}"/>
              </a:ext>
            </a:extLst>
          </p:cNvPr>
          <p:cNvSpPr>
            <a:spLocks xmlns:a="http://schemas.openxmlformats.org/drawingml/2006/main" noGrp="1"/>
          </p:cNvSpPr>
          <p:nvPr/>
        </p:nvSpPr>
        <p:spPr>
          <a:xfrm xmlns:a="http://schemas.openxmlformats.org/drawingml/2006/main">
            <a:off x="695325" y="581977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defPPr algn="l">
              <a:defRPr sz="1800" b="1" i="0">
                <a:solidFill>
                  <a:srgbClr val="E84AAB"/>
                </a:solidFill>
                <a:latin typeface="Arial"/>
                <a:ea typeface="Arial"/>
                <a:cs typeface="Arial"/>
              </a:defRPr>
            </a:defPPr>
            <a:lvl1pPr algn="l">
              <a:buNone/>
              <a:defRPr sz="1800" b="1" i="0">
                <a:solidFill>
                  <a:srgbClr val="E84AAB"/>
                </a:solidFill>
                <a:latin typeface="Arial"/>
                <a:ea typeface="Arial"/>
                <a:cs typeface="Arial"/>
              </a:defRPr>
            </a:lvl1pPr>
            <a:lvl2pPr algn="l">
              <a:buNone/>
              <a:defRPr sz="1800" b="1" i="0">
                <a:solidFill>
                  <a:srgbClr val="E84AAB"/>
                </a:solidFill>
                <a:latin typeface="Arial"/>
                <a:ea typeface="Arial"/>
                <a:cs typeface="Arial"/>
              </a:defRPr>
            </a:lvl2pPr>
            <a:lvl3pPr algn="l">
              <a:buNone/>
              <a:defRPr sz="1800" b="1" i="0">
                <a:solidFill>
                  <a:srgbClr val="E84AAB"/>
                </a:solidFill>
                <a:latin typeface="Arial"/>
                <a:ea typeface="Arial"/>
                <a:cs typeface="Arial"/>
              </a:defRPr>
            </a:lvl3pPr>
            <a:lvl4pPr algn="l">
              <a:buNone/>
              <a:defRPr sz="1800" b="1" i="0">
                <a:solidFill>
                  <a:srgbClr val="E84AAB"/>
                </a:solidFill>
                <a:latin typeface="Arial"/>
                <a:ea typeface="Arial"/>
                <a:cs typeface="Arial"/>
              </a:defRPr>
            </a:lvl4pPr>
            <a:lvl5pPr algn="l">
              <a:buNone/>
              <a:defRPr sz="1800" b="1" i="0">
                <a:solidFill>
                  <a:srgbClr val="E84AAB"/>
                </a:solidFill>
                <a:latin typeface="Arial"/>
                <a:ea typeface="Arial"/>
                <a:cs typeface="Arial"/>
              </a:defRPr>
            </a:lvl5pPr>
            <a:lvl6pPr algn="l">
              <a:buNone/>
              <a:defRPr sz="1800" b="1" i="0">
                <a:solidFill>
                  <a:srgbClr val="E84AAB"/>
                </a:solidFill>
                <a:latin typeface="Arial"/>
                <a:ea typeface="Arial"/>
                <a:cs typeface="Arial"/>
              </a:defRPr>
            </a:lvl6pPr>
            <a:lvl7pPr algn="l">
              <a:buNone/>
              <a:defRPr sz="1800" b="1" i="0">
                <a:solidFill>
                  <a:srgbClr val="E84AAB"/>
                </a:solidFill>
                <a:latin typeface="Arial"/>
                <a:ea typeface="Arial"/>
                <a:cs typeface="Arial"/>
              </a:defRPr>
            </a:lvl7pPr>
            <a:lvl8pPr algn="l">
              <a:buNone/>
              <a:defRPr sz="1800" b="1" i="0">
                <a:solidFill>
                  <a:srgbClr val="E84AAB"/>
                </a:solidFill>
                <a:latin typeface="Arial"/>
                <a:ea typeface="Arial"/>
                <a:cs typeface="Arial"/>
              </a:defRPr>
            </a:lvl8pPr>
            <a:lvl9pPr algn="l">
              <a:buNone/>
              <a:defRPr sz="1800" b="1" i="0">
                <a:solidFill>
                  <a:srgbClr val="E84AAB"/>
                </a:solidFill>
                <a:latin typeface="Arial"/>
                <a:ea typeface="Arial"/>
                <a:cs typeface="Arial"/>
              </a:defRPr>
            </a:lvl9pPr>
          </a:lstStyle>
          <a:p xmlns:a="http://schemas.openxmlformats.org/drawingml/2006/main">
            <a:pPr algn="l">
              <a:buNone/>
              <a:defRPr sz="1800" b="1" i="0">
                <a:solidFill>
                  <a:srgbClr val="E84AAB"/>
                </a:solidFill>
                <a:latin typeface="Arial"/>
                <a:ea typeface="Arial"/>
                <a:cs typeface="Arial"/>
              </a:defRPr>
            </a:pPr>
            <a:r>
              <a:rPr sz="1800" b="1" i="0">
                <a:solidFill>
                  <a:srgbClr val="E84AAB"/>
                </a:solidFill>
                <a:latin typeface="Arial"/>
                <a:ea typeface="Arial"/>
                <a:cs typeface="Arial"/>
              </a:rPr>
              <a:t>0.51–0.61</a:t>
            </a:r>
          </a:p>
        </p:txBody>
      </p:sp>
      <p:sp>
        <p:nvSpPr>
          <p:cNvPr id="11" name="Rectangle 10">
            <a:extLst xmlns:a="http://schemas.openxmlformats.org/drawingml/2006/main">
              <a:ext uri="{FF2B5EF4-FFF2-40B4-BE49-F238E27FC236}">
                <a16:creationId xmlns:a16="http://schemas.microsoft.com/office/drawing/2014/main" id="{2D2896BA-EC1B-4C42-9A67-9C3758B54753}"/>
              </a:ext>
            </a:extLst>
          </p:cNvPr>
          <p:cNvSpPr>
            <a:spLocks xmlns:a="http://schemas.openxmlformats.org/drawingml/2006/main" noGrp="1"/>
          </p:cNvSpPr>
          <p:nvPr/>
        </p:nvSpPr>
        <p:spPr>
          <a:xfrm xmlns:a="http://schemas.openxmlformats.org/drawingml/2006/main">
            <a:off x="3143250" y="56007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Cross-domain PAE range</a:t>
            </a:r>
          </a:p>
        </p:txBody>
      </p:sp>
      <p:sp>
        <p:nvSpPr>
          <p:cNvPr id="12" name="Rectangle 11">
            <a:extLst xmlns:a="http://schemas.openxmlformats.org/drawingml/2006/main">
              <a:ext uri="{FF2B5EF4-FFF2-40B4-BE49-F238E27FC236}">
                <a16:creationId xmlns:a16="http://schemas.microsoft.com/office/drawing/2014/main" id="{B4F9C17D-40F4-414A-9041-970EB8266F63}"/>
              </a:ext>
            </a:extLst>
          </p:cNvPr>
          <p:cNvSpPr>
            <a:spLocks xmlns:a="http://schemas.openxmlformats.org/drawingml/2006/main" noGrp="1"/>
          </p:cNvSpPr>
          <p:nvPr/>
        </p:nvSpPr>
        <p:spPr>
          <a:xfrm xmlns:a="http://schemas.openxmlformats.org/drawingml/2006/main">
            <a:off x="3143250" y="581977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defPPr algn="l">
              <a:defRPr sz="1800" b="1" i="0">
                <a:solidFill>
                  <a:srgbClr val="E46760"/>
                </a:solidFill>
                <a:latin typeface="Arial"/>
                <a:ea typeface="Arial"/>
                <a:cs typeface="Arial"/>
              </a:defRPr>
            </a:defPPr>
            <a:lvl1pPr algn="l">
              <a:buNone/>
              <a:defRPr sz="1800" b="1" i="0">
                <a:solidFill>
                  <a:srgbClr val="E46760"/>
                </a:solidFill>
                <a:latin typeface="Arial"/>
                <a:ea typeface="Arial"/>
                <a:cs typeface="Arial"/>
              </a:defRPr>
            </a:lvl1pPr>
            <a:lvl2pPr algn="l">
              <a:buNone/>
              <a:defRPr sz="1800" b="1" i="0">
                <a:solidFill>
                  <a:srgbClr val="E46760"/>
                </a:solidFill>
                <a:latin typeface="Arial"/>
                <a:ea typeface="Arial"/>
                <a:cs typeface="Arial"/>
              </a:defRPr>
            </a:lvl2pPr>
            <a:lvl3pPr algn="l">
              <a:buNone/>
              <a:defRPr sz="1800" b="1" i="0">
                <a:solidFill>
                  <a:srgbClr val="E46760"/>
                </a:solidFill>
                <a:latin typeface="Arial"/>
                <a:ea typeface="Arial"/>
                <a:cs typeface="Arial"/>
              </a:defRPr>
            </a:lvl3pPr>
            <a:lvl4pPr algn="l">
              <a:buNone/>
              <a:defRPr sz="1800" b="1" i="0">
                <a:solidFill>
                  <a:srgbClr val="E46760"/>
                </a:solidFill>
                <a:latin typeface="Arial"/>
                <a:ea typeface="Arial"/>
                <a:cs typeface="Arial"/>
              </a:defRPr>
            </a:lvl4pPr>
            <a:lvl5pPr algn="l">
              <a:buNone/>
              <a:defRPr sz="1800" b="1" i="0">
                <a:solidFill>
                  <a:srgbClr val="E46760"/>
                </a:solidFill>
                <a:latin typeface="Arial"/>
                <a:ea typeface="Arial"/>
                <a:cs typeface="Arial"/>
              </a:defRPr>
            </a:lvl5pPr>
            <a:lvl6pPr algn="l">
              <a:buNone/>
              <a:defRPr sz="1800" b="1" i="0">
                <a:solidFill>
                  <a:srgbClr val="E46760"/>
                </a:solidFill>
                <a:latin typeface="Arial"/>
                <a:ea typeface="Arial"/>
                <a:cs typeface="Arial"/>
              </a:defRPr>
            </a:lvl6pPr>
            <a:lvl7pPr algn="l">
              <a:buNone/>
              <a:defRPr sz="1800" b="1" i="0">
                <a:solidFill>
                  <a:srgbClr val="E46760"/>
                </a:solidFill>
                <a:latin typeface="Arial"/>
                <a:ea typeface="Arial"/>
                <a:cs typeface="Arial"/>
              </a:defRPr>
            </a:lvl7pPr>
            <a:lvl8pPr algn="l">
              <a:buNone/>
              <a:defRPr sz="1800" b="1" i="0">
                <a:solidFill>
                  <a:srgbClr val="E46760"/>
                </a:solidFill>
                <a:latin typeface="Arial"/>
                <a:ea typeface="Arial"/>
                <a:cs typeface="Arial"/>
              </a:defRPr>
            </a:lvl8pPr>
            <a:lvl9pPr algn="l">
              <a:buNone/>
              <a:defRPr sz="1800" b="1" i="0">
                <a:solidFill>
                  <a:srgbClr val="E46760"/>
                </a:solidFill>
                <a:latin typeface="Arial"/>
                <a:ea typeface="Arial"/>
                <a:cs typeface="Arial"/>
              </a:defRPr>
            </a:lvl9pPr>
          </a:lstStyle>
          <a:p xmlns:a="http://schemas.openxmlformats.org/drawingml/2006/main">
            <a:pPr algn="l">
              <a:buNone/>
              <a:defRPr sz="1800" b="1" i="0">
                <a:solidFill>
                  <a:srgbClr val="E46760"/>
                </a:solidFill>
                <a:latin typeface="Arial"/>
                <a:ea typeface="Arial"/>
                <a:cs typeface="Arial"/>
              </a:defRPr>
            </a:pPr>
            <a:r>
              <a:rPr sz="1800" b="1" i="0">
                <a:solidFill>
                  <a:srgbClr val="E46760"/>
                </a:solidFill>
                <a:latin typeface="Arial"/>
                <a:ea typeface="Arial"/>
                <a:cs typeface="Arial"/>
              </a:rPr>
              <a:t>16.74–24.90 Å</a:t>
            </a:r>
          </a:p>
        </p:txBody>
      </p:sp>
      <p:sp>
        <p:nvSpPr>
          <p:cNvPr id="13" name="Rectangle 12">
            <a:extLst xmlns:a="http://schemas.openxmlformats.org/drawingml/2006/main">
              <a:ext uri="{FF2B5EF4-FFF2-40B4-BE49-F238E27FC236}">
                <a16:creationId xmlns:a16="http://schemas.microsoft.com/office/drawing/2014/main" id="{65D6A56A-F976-403C-B11E-BDD2531C8C39}"/>
              </a:ext>
            </a:extLst>
          </p:cNvPr>
          <p:cNvSpPr>
            <a:spLocks xmlns:a="http://schemas.openxmlformats.org/drawingml/2006/main" noGrp="1"/>
          </p:cNvSpPr>
          <p:nvPr/>
        </p:nvSpPr>
        <p:spPr>
          <a:xfrm xmlns:a="http://schemas.openxmlformats.org/drawingml/2006/main">
            <a:off x="6086475" y="5695950"/>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r">
              <a:defRPr sz="1275" b="1" i="0">
                <a:solidFill>
                  <a:srgbClr val="F4F7F5"/>
                </a:solidFill>
                <a:latin typeface="Arial"/>
                <a:ea typeface="Arial"/>
                <a:cs typeface="Arial"/>
              </a:defRPr>
            </a:defPPr>
            <a:lvl1pPr algn="r">
              <a:buNone/>
              <a:defRPr sz="1275" b="1" i="0">
                <a:solidFill>
                  <a:srgbClr val="F4F7F5"/>
                </a:solidFill>
                <a:latin typeface="Arial"/>
                <a:ea typeface="Arial"/>
                <a:cs typeface="Arial"/>
              </a:defRPr>
            </a:lvl1pPr>
            <a:lvl2pPr algn="r">
              <a:buNone/>
              <a:defRPr sz="1275" b="1" i="0">
                <a:solidFill>
                  <a:srgbClr val="F4F7F5"/>
                </a:solidFill>
                <a:latin typeface="Arial"/>
                <a:ea typeface="Arial"/>
                <a:cs typeface="Arial"/>
              </a:defRPr>
            </a:lvl2pPr>
            <a:lvl3pPr algn="r">
              <a:buNone/>
              <a:defRPr sz="1275" b="1" i="0">
                <a:solidFill>
                  <a:srgbClr val="F4F7F5"/>
                </a:solidFill>
                <a:latin typeface="Arial"/>
                <a:ea typeface="Arial"/>
                <a:cs typeface="Arial"/>
              </a:defRPr>
            </a:lvl3pPr>
            <a:lvl4pPr algn="r">
              <a:buNone/>
              <a:defRPr sz="1275" b="1" i="0">
                <a:solidFill>
                  <a:srgbClr val="F4F7F5"/>
                </a:solidFill>
                <a:latin typeface="Arial"/>
                <a:ea typeface="Arial"/>
                <a:cs typeface="Arial"/>
              </a:defRPr>
            </a:lvl4pPr>
            <a:lvl5pPr algn="r">
              <a:buNone/>
              <a:defRPr sz="1275" b="1" i="0">
                <a:solidFill>
                  <a:srgbClr val="F4F7F5"/>
                </a:solidFill>
                <a:latin typeface="Arial"/>
                <a:ea typeface="Arial"/>
                <a:cs typeface="Arial"/>
              </a:defRPr>
            </a:lvl5pPr>
            <a:lvl6pPr algn="r">
              <a:buNone/>
              <a:defRPr sz="1275" b="1" i="0">
                <a:solidFill>
                  <a:srgbClr val="F4F7F5"/>
                </a:solidFill>
                <a:latin typeface="Arial"/>
                <a:ea typeface="Arial"/>
                <a:cs typeface="Arial"/>
              </a:defRPr>
            </a:lvl6pPr>
            <a:lvl7pPr algn="r">
              <a:buNone/>
              <a:defRPr sz="1275" b="1" i="0">
                <a:solidFill>
                  <a:srgbClr val="F4F7F5"/>
                </a:solidFill>
                <a:latin typeface="Arial"/>
                <a:ea typeface="Arial"/>
                <a:cs typeface="Arial"/>
              </a:defRPr>
            </a:lvl7pPr>
            <a:lvl8pPr algn="r">
              <a:buNone/>
              <a:defRPr sz="1275" b="1" i="0">
                <a:solidFill>
                  <a:srgbClr val="F4F7F5"/>
                </a:solidFill>
                <a:latin typeface="Arial"/>
                <a:ea typeface="Arial"/>
                <a:cs typeface="Arial"/>
              </a:defRPr>
            </a:lvl8pPr>
            <a:lvl9pPr algn="r">
              <a:buNone/>
              <a:defRPr sz="1275" b="1" i="0">
                <a:solidFill>
                  <a:srgbClr val="F4F7F5"/>
                </a:solidFill>
                <a:latin typeface="Arial"/>
                <a:ea typeface="Arial"/>
                <a:cs typeface="Arial"/>
              </a:defRPr>
            </a:lvl9pPr>
          </a:lstStyle>
          <a:p xmlns:a="http://schemas.openxmlformats.org/drawingml/2006/main">
            <a:pPr algn="r">
              <a:buNone/>
              <a:defRPr sz="1275" b="1" i="0">
                <a:solidFill>
                  <a:srgbClr val="F4F7F5"/>
                </a:solidFill>
                <a:latin typeface="Arial"/>
                <a:ea typeface="Arial"/>
                <a:cs typeface="Arial"/>
              </a:defRPr>
            </a:pPr>
            <a:r>
              <a:rPr sz="1275" b="1" i="0">
                <a:solidFill>
                  <a:srgbClr val="F4F7F5"/>
                </a:solidFill>
                <a:latin typeface="Arial"/>
                <a:ea typeface="Arial"/>
                <a:cs typeface="Arial"/>
              </a:rPr>
              <a:t>No preregistered decision threshold, no independent test family, and no biological winner claim.</a:t>
            </a:r>
          </a:p>
        </p:txBody>
      </p:sp>
      <p:graphicFrame>
        <p:nvGraphicFramePr>
          <p:cNvPr id="15" name="Chart">
            <a:extLst xmlns:a="http://schemas.openxmlformats.org/drawingml/2006/main">
              <a:ext uri="{FF2B5EF4-FFF2-40B4-BE49-F238E27FC236}">
                <a16:creationId xmlns:a16="http://schemas.microsoft.com/office/drawing/2014/main" id="{8B9403CC-172C-4BDF-94CB-2F022E691864}"/>
              </a:ext>
            </a:extLst>
          </p:cNvPr>
          <p:cNvGraphicFramePr/>
          <p:nvPr/>
        </p:nvGraphicFramePr>
        <p:xfrm>
          <a:off xmlns:a="http://schemas.openxmlformats.org/drawingml/2006/main" x="542925" y="1571625"/>
          <a:ext xmlns:a="http://schemas.openxmlformats.org/drawingml/2006/main" cx="11087100" cy="3790950"/>
        </p:xfrm>
        <a:graphic xmlns:a="http://schemas.openxmlformats.org/drawingml/2006/main">
          <a:graphicData uri="http://schemas.openxmlformats.org/drawingml/2006/chart">
            <c:chart xmlns:r="http://schemas.openxmlformats.org/officeDocument/2006/relationships" xmlns:c="http://schemas.openxmlformats.org/drawingml/2006/chart" r:id="Rabd25497df5a4d44"/>
          </a:graphicData>
        </a:graphic>
      </p:graphicFrame>
    </p:spTree>
    <p:extLst>
      <p:ext uri="{BB962C8B-B14F-4D97-AF65-F5344CB8AC3E}">
        <p14:creationId xmlns:p14="http://schemas.microsoft.com/office/powerpoint/2010/main" val="1363104455"/>
      </p:ext>
    </p:extLst>
  </p:cSld>
</p:sld>
</file>

<file path=ppt/slides/slide20.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9" name="Rectangle 28">
            <a:extLst xmlns:a="http://schemas.openxmlformats.org/drawingml/2006/main">
              <a:ext uri="{FF2B5EF4-FFF2-40B4-BE49-F238E27FC236}">
                <a16:creationId xmlns:a16="http://schemas.microsoft.com/office/drawing/2014/main" id="{667D01EE-5B86-4D7A-BF1C-62BD584DAA1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B3C1702F-F43E-4197-80E2-E8A29A2ACFF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D868D6B5-4101-4BB7-BF94-D7505965512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EXECUTION EVIDENCE</a:t>
            </a:r>
          </a:p>
        </p:txBody>
      </p:sp>
      <p:sp>
        <p:nvSpPr>
          <p:cNvPr id="4" name="Rectangle 3">
            <a:extLst xmlns:a="http://schemas.openxmlformats.org/drawingml/2006/main">
              <a:ext uri="{FF2B5EF4-FFF2-40B4-BE49-F238E27FC236}">
                <a16:creationId xmlns:a16="http://schemas.microsoft.com/office/drawing/2014/main" id="{CF185C58-8D7D-4F71-B4AB-B60249EE2B0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Local run manifests, evidence checklists, and smoke-test outputs</a:t>
            </a:r>
          </a:p>
        </p:txBody>
      </p:sp>
      <p:sp>
        <p:nvSpPr>
          <p:cNvPr id="5" name="Rectangle 4">
            <a:extLst xmlns:a="http://schemas.openxmlformats.org/drawingml/2006/main">
              <a:ext uri="{FF2B5EF4-FFF2-40B4-BE49-F238E27FC236}">
                <a16:creationId xmlns:a16="http://schemas.microsoft.com/office/drawing/2014/main" id="{85D3ECDA-F961-41FE-B5F5-10A880FBD36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20</a:t>
            </a:r>
          </a:p>
        </p:txBody>
      </p:sp>
      <p:sp>
        <p:nvSpPr>
          <p:cNvPr id="6" name="Rectangle 5">
            <a:extLst xmlns:a="http://schemas.openxmlformats.org/drawingml/2006/main">
              <a:ext uri="{FF2B5EF4-FFF2-40B4-BE49-F238E27FC236}">
                <a16:creationId xmlns:a16="http://schemas.microsoft.com/office/drawing/2014/main" id="{6A450260-CBCD-4F68-956E-9CEDBB1DBD8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Execution evidence by tool</a:t>
            </a:r>
          </a:p>
        </p:txBody>
      </p:sp>
      <p:sp>
        <p:nvSpPr>
          <p:cNvPr id="7" name="Rectangle 6">
            <a:extLst xmlns:a="http://schemas.openxmlformats.org/drawingml/2006/main">
              <a:ext uri="{FF2B5EF4-FFF2-40B4-BE49-F238E27FC236}">
                <a16:creationId xmlns:a16="http://schemas.microsoft.com/office/drawing/2014/main" id="{B59418AE-6256-4F02-B4CE-5572E0E29AE0}"/>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result has a distinct scientific interpretation</a:t>
            </a:r>
          </a:p>
        </p:txBody>
      </p:sp>
      <p:sp>
        <p:nvSpPr>
          <p:cNvPr id="8" name="Rectangle 7">
            <a:extLst xmlns:a="http://schemas.openxmlformats.org/drawingml/2006/main">
              <a:ext uri="{FF2B5EF4-FFF2-40B4-BE49-F238E27FC236}">
                <a16:creationId xmlns:a16="http://schemas.microsoft.com/office/drawing/2014/main" id="{99B082E3-3FA5-4533-A6AC-69652650F9B4}"/>
              </a:ext>
            </a:extLst>
          </p:cNvPr>
          <p:cNvSpPr>
            <a:spLocks xmlns:a="http://schemas.openxmlformats.org/drawingml/2006/main" noGrp="1"/>
          </p:cNvSpPr>
          <p:nvPr/>
        </p:nvSpPr>
        <p:spPr>
          <a:xfrm xmlns:a="http://schemas.openxmlformats.org/drawingml/2006/main">
            <a:off x="619125" y="1790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E84AAB"/>
                </a:solidFill>
                <a:latin typeface="Arial"/>
                <a:ea typeface="Arial"/>
                <a:cs typeface="Arial"/>
              </a:defRPr>
            </a:defPPr>
            <a:lvl1pPr algn="l">
              <a:buNone/>
              <a:defRPr sz="1725" b="1" i="0">
                <a:solidFill>
                  <a:srgbClr val="E84AAB"/>
                </a:solidFill>
                <a:latin typeface="Arial"/>
                <a:ea typeface="Arial"/>
                <a:cs typeface="Arial"/>
              </a:defRPr>
            </a:lvl1pPr>
            <a:lvl2pPr algn="l">
              <a:buNone/>
              <a:defRPr sz="1725" b="1" i="0">
                <a:solidFill>
                  <a:srgbClr val="E84AAB"/>
                </a:solidFill>
                <a:latin typeface="Arial"/>
                <a:ea typeface="Arial"/>
                <a:cs typeface="Arial"/>
              </a:defRPr>
            </a:lvl2pPr>
            <a:lvl3pPr algn="l">
              <a:buNone/>
              <a:defRPr sz="1725" b="1" i="0">
                <a:solidFill>
                  <a:srgbClr val="E84AAB"/>
                </a:solidFill>
                <a:latin typeface="Arial"/>
                <a:ea typeface="Arial"/>
                <a:cs typeface="Arial"/>
              </a:defRPr>
            </a:lvl3pPr>
            <a:lvl4pPr algn="l">
              <a:buNone/>
              <a:defRPr sz="1725" b="1" i="0">
                <a:solidFill>
                  <a:srgbClr val="E84AAB"/>
                </a:solidFill>
                <a:latin typeface="Arial"/>
                <a:ea typeface="Arial"/>
                <a:cs typeface="Arial"/>
              </a:defRPr>
            </a:lvl4pPr>
            <a:lvl5pPr algn="l">
              <a:buNone/>
              <a:defRPr sz="1725" b="1" i="0">
                <a:solidFill>
                  <a:srgbClr val="E84AAB"/>
                </a:solidFill>
                <a:latin typeface="Arial"/>
                <a:ea typeface="Arial"/>
                <a:cs typeface="Arial"/>
              </a:defRPr>
            </a:lvl5pPr>
            <a:lvl6pPr algn="l">
              <a:buNone/>
              <a:defRPr sz="1725" b="1" i="0">
                <a:solidFill>
                  <a:srgbClr val="E84AAB"/>
                </a:solidFill>
                <a:latin typeface="Arial"/>
                <a:ea typeface="Arial"/>
                <a:cs typeface="Arial"/>
              </a:defRPr>
            </a:lvl6pPr>
            <a:lvl7pPr algn="l">
              <a:buNone/>
              <a:defRPr sz="1725" b="1" i="0">
                <a:solidFill>
                  <a:srgbClr val="E84AAB"/>
                </a:solidFill>
                <a:latin typeface="Arial"/>
                <a:ea typeface="Arial"/>
                <a:cs typeface="Arial"/>
              </a:defRPr>
            </a:lvl7pPr>
            <a:lvl8pPr algn="l">
              <a:buNone/>
              <a:defRPr sz="1725" b="1" i="0">
                <a:solidFill>
                  <a:srgbClr val="E84AAB"/>
                </a:solidFill>
                <a:latin typeface="Arial"/>
                <a:ea typeface="Arial"/>
                <a:cs typeface="Arial"/>
              </a:defRPr>
            </a:lvl8pPr>
            <a:lvl9pPr algn="l">
              <a:buNone/>
              <a:defRPr sz="1725" b="1" i="0">
                <a:solidFill>
                  <a:srgbClr val="E84AAB"/>
                </a:solidFill>
                <a:latin typeface="Arial"/>
                <a:ea typeface="Arial"/>
                <a:cs typeface="Arial"/>
              </a:defRPr>
            </a:lvl9pPr>
          </a:lstStyle>
          <a:p xmlns:a="http://schemas.openxmlformats.org/drawingml/2006/main">
            <a:pPr algn="l">
              <a:buNone/>
              <a:defRPr sz="1725" b="1" i="0">
                <a:solidFill>
                  <a:srgbClr val="E84AAB"/>
                </a:solidFill>
                <a:latin typeface="Arial"/>
                <a:ea typeface="Arial"/>
                <a:cs typeface="Arial"/>
              </a:defRPr>
            </a:pPr>
            <a:r>
              <a:rPr sz="1725" b="1" i="0">
                <a:solidFill>
                  <a:srgbClr val="E84AAB"/>
                </a:solidFill>
                <a:latin typeface="Arial"/>
                <a:ea typeface="Arial"/>
                <a:cs typeface="Arial"/>
              </a:rPr>
              <a:t>ColabFold</a:t>
            </a:r>
          </a:p>
        </p:txBody>
      </p:sp>
      <p:sp>
        <p:nvSpPr>
          <p:cNvPr id="9" name="Rectangle 8">
            <a:extLst xmlns:a="http://schemas.openxmlformats.org/drawingml/2006/main">
              <a:ext uri="{FF2B5EF4-FFF2-40B4-BE49-F238E27FC236}">
                <a16:creationId xmlns:a16="http://schemas.microsoft.com/office/drawing/2014/main" id="{F4C425DD-7FCA-44A1-8B13-98EE86E3F0C8}"/>
              </a:ext>
            </a:extLst>
          </p:cNvPr>
          <p:cNvSpPr>
            <a:spLocks xmlns:a="http://schemas.openxmlformats.org/drawingml/2006/main" noGrp="1"/>
          </p:cNvSpPr>
          <p:nvPr/>
        </p:nvSpPr>
        <p:spPr>
          <a:xfrm xmlns:a="http://schemas.openxmlformats.org/drawingml/2006/main">
            <a:off x="2857500" y="17811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3 public pairs · 18 linker constructs</a:t>
            </a:r>
          </a:p>
        </p:txBody>
      </p:sp>
      <p:sp>
        <p:nvSpPr>
          <p:cNvPr id="10" name="Rectangle 9">
            <a:extLst xmlns:a="http://schemas.openxmlformats.org/drawingml/2006/main">
              <a:ext uri="{FF2B5EF4-FFF2-40B4-BE49-F238E27FC236}">
                <a16:creationId xmlns:a16="http://schemas.microsoft.com/office/drawing/2014/main" id="{08F2FE3D-8033-458B-A8F0-51C59554CBF9}"/>
              </a:ext>
            </a:extLst>
          </p:cNvPr>
          <p:cNvSpPr>
            <a:spLocks xmlns:a="http://schemas.openxmlformats.org/drawingml/2006/main" noGrp="1"/>
          </p:cNvSpPr>
          <p:nvPr/>
        </p:nvSpPr>
        <p:spPr>
          <a:xfrm xmlns:a="http://schemas.openxmlformats.org/drawingml/2006/main">
            <a:off x="6667500" y="17811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90 rankable models</a:t>
            </a:r>
          </a:p>
        </p:txBody>
      </p:sp>
      <p:sp>
        <p:nvSpPr>
          <p:cNvPr id="11" name="Rectangle: Rounded Corners 10">
            <a:extLst xmlns:a="http://schemas.openxmlformats.org/drawingml/2006/main">
              <a:ext uri="{FF2B5EF4-FFF2-40B4-BE49-F238E27FC236}">
                <a16:creationId xmlns:a16="http://schemas.microsoft.com/office/drawing/2014/main" id="{39F69E51-68B7-4FA2-9999-9C11B1F9BA14}"/>
              </a:ext>
            </a:extLst>
          </p:cNvPr>
          <p:cNvSpPr>
            <a:spLocks xmlns:a="http://schemas.openxmlformats.org/drawingml/2006/main" noGrp="1"/>
          </p:cNvSpPr>
          <p:nvPr/>
        </p:nvSpPr>
        <p:spPr>
          <a:xfrm xmlns:a="http://schemas.openxmlformats.org/drawingml/2006/main">
            <a:off x="9525000" y="17526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STRUCTURE EXECUTION</a:t>
            </a:r>
          </a:p>
        </p:txBody>
      </p:sp>
      <p:sp>
        <p:nvSpPr>
          <p:cNvPr id="12" name="Straight Connector 11">
            <a:extLst xmlns:a="http://schemas.openxmlformats.org/drawingml/2006/main">
              <a:ext uri="{FF2B5EF4-FFF2-40B4-BE49-F238E27FC236}">
                <a16:creationId xmlns:a16="http://schemas.microsoft.com/office/drawing/2014/main" id="{DFF01F92-063F-4EC7-8180-C600AC12FA43}"/>
              </a:ext>
            </a:extLst>
          </p:cNvPr>
          <p:cNvSpPr>
            <a:spLocks xmlns:a="http://schemas.openxmlformats.org/drawingml/2006/main" noGrp="1"/>
          </p:cNvSpPr>
          <p:nvPr/>
        </p:nvSpPr>
        <p:spPr>
          <a:xfrm xmlns:a="http://schemas.openxmlformats.org/drawingml/2006/main">
            <a:off x="619125" y="24003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3" name="Rectangle 12">
            <a:extLst xmlns:a="http://schemas.openxmlformats.org/drawingml/2006/main">
              <a:ext uri="{FF2B5EF4-FFF2-40B4-BE49-F238E27FC236}">
                <a16:creationId xmlns:a16="http://schemas.microsoft.com/office/drawing/2014/main" id="{99DA4518-C191-4E5D-9F57-7B0ACA42AE4D}"/>
              </a:ext>
            </a:extLst>
          </p:cNvPr>
          <p:cNvSpPr>
            <a:spLocks xmlns:a="http://schemas.openxmlformats.org/drawingml/2006/main" noGrp="1"/>
          </p:cNvSpPr>
          <p:nvPr/>
        </p:nvSpPr>
        <p:spPr>
          <a:xfrm xmlns:a="http://schemas.openxmlformats.org/drawingml/2006/main">
            <a:off x="619125" y="27432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3FC6D6"/>
                </a:solidFill>
                <a:latin typeface="Arial"/>
                <a:ea typeface="Arial"/>
                <a:cs typeface="Arial"/>
              </a:defRPr>
            </a:defPPr>
            <a:lvl1pPr algn="l">
              <a:buNone/>
              <a:defRPr sz="1725" b="1" i="0">
                <a:solidFill>
                  <a:srgbClr val="3FC6D6"/>
                </a:solidFill>
                <a:latin typeface="Arial"/>
                <a:ea typeface="Arial"/>
                <a:cs typeface="Arial"/>
              </a:defRPr>
            </a:lvl1pPr>
            <a:lvl2pPr algn="l">
              <a:buNone/>
              <a:defRPr sz="1725" b="1" i="0">
                <a:solidFill>
                  <a:srgbClr val="3FC6D6"/>
                </a:solidFill>
                <a:latin typeface="Arial"/>
                <a:ea typeface="Arial"/>
                <a:cs typeface="Arial"/>
              </a:defRPr>
            </a:lvl2pPr>
            <a:lvl3pPr algn="l">
              <a:buNone/>
              <a:defRPr sz="1725" b="1" i="0">
                <a:solidFill>
                  <a:srgbClr val="3FC6D6"/>
                </a:solidFill>
                <a:latin typeface="Arial"/>
                <a:ea typeface="Arial"/>
                <a:cs typeface="Arial"/>
              </a:defRPr>
            </a:lvl3pPr>
            <a:lvl4pPr algn="l">
              <a:buNone/>
              <a:defRPr sz="1725" b="1" i="0">
                <a:solidFill>
                  <a:srgbClr val="3FC6D6"/>
                </a:solidFill>
                <a:latin typeface="Arial"/>
                <a:ea typeface="Arial"/>
                <a:cs typeface="Arial"/>
              </a:defRPr>
            </a:lvl4pPr>
            <a:lvl5pPr algn="l">
              <a:buNone/>
              <a:defRPr sz="1725" b="1" i="0">
                <a:solidFill>
                  <a:srgbClr val="3FC6D6"/>
                </a:solidFill>
                <a:latin typeface="Arial"/>
                <a:ea typeface="Arial"/>
                <a:cs typeface="Arial"/>
              </a:defRPr>
            </a:lvl5pPr>
            <a:lvl6pPr algn="l">
              <a:buNone/>
              <a:defRPr sz="1725" b="1" i="0">
                <a:solidFill>
                  <a:srgbClr val="3FC6D6"/>
                </a:solidFill>
                <a:latin typeface="Arial"/>
                <a:ea typeface="Arial"/>
                <a:cs typeface="Arial"/>
              </a:defRPr>
            </a:lvl6pPr>
            <a:lvl7pPr algn="l">
              <a:buNone/>
              <a:defRPr sz="1725" b="1" i="0">
                <a:solidFill>
                  <a:srgbClr val="3FC6D6"/>
                </a:solidFill>
                <a:latin typeface="Arial"/>
                <a:ea typeface="Arial"/>
                <a:cs typeface="Arial"/>
              </a:defRPr>
            </a:lvl7pPr>
            <a:lvl8pPr algn="l">
              <a:buNone/>
              <a:defRPr sz="1725" b="1" i="0">
                <a:solidFill>
                  <a:srgbClr val="3FC6D6"/>
                </a:solidFill>
                <a:latin typeface="Arial"/>
                <a:ea typeface="Arial"/>
                <a:cs typeface="Arial"/>
              </a:defRPr>
            </a:lvl8pPr>
            <a:lvl9pPr algn="l">
              <a:buNone/>
              <a:defRPr sz="1725" b="1" i="0">
                <a:solidFill>
                  <a:srgbClr val="3FC6D6"/>
                </a:solidFill>
                <a:latin typeface="Arial"/>
                <a:ea typeface="Arial"/>
                <a:cs typeface="Arial"/>
              </a:defRPr>
            </a:lvl9pPr>
          </a:lstStyle>
          <a:p xmlns:a="http://schemas.openxmlformats.org/drawingml/2006/main">
            <a:pPr algn="l">
              <a:buNone/>
              <a:defRPr sz="1725" b="1" i="0">
                <a:solidFill>
                  <a:srgbClr val="3FC6D6"/>
                </a:solidFill>
                <a:latin typeface="Arial"/>
                <a:ea typeface="Arial"/>
                <a:cs typeface="Arial"/>
              </a:defRPr>
            </a:pPr>
            <a:r>
              <a:rPr sz="1725" b="1" i="0">
                <a:solidFill>
                  <a:srgbClr val="3FC6D6"/>
                </a:solidFill>
                <a:latin typeface="Arial"/>
                <a:ea typeface="Arial"/>
                <a:cs typeface="Arial"/>
              </a:rPr>
              <a:t>DFLpred</a:t>
            </a:r>
          </a:p>
        </p:txBody>
      </p:sp>
      <p:sp>
        <p:nvSpPr>
          <p:cNvPr id="14" name="Rectangle 13">
            <a:extLst xmlns:a="http://schemas.openxmlformats.org/drawingml/2006/main">
              <a:ext uri="{FF2B5EF4-FFF2-40B4-BE49-F238E27FC236}">
                <a16:creationId xmlns:a16="http://schemas.microsoft.com/office/drawing/2014/main" id="{BA80C184-864A-498E-9DE5-47EA56D0900D}"/>
              </a:ext>
            </a:extLst>
          </p:cNvPr>
          <p:cNvSpPr>
            <a:spLocks xmlns:a="http://schemas.openxmlformats.org/drawingml/2006/main" noGrp="1"/>
          </p:cNvSpPr>
          <p:nvPr/>
        </p:nvSpPr>
        <p:spPr>
          <a:xfrm xmlns:a="http://schemas.openxmlformats.org/drawingml/2006/main">
            <a:off x="2857500" y="27336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28 constructs</a:t>
            </a:r>
          </a:p>
        </p:txBody>
      </p:sp>
      <p:sp>
        <p:nvSpPr>
          <p:cNvPr id="15" name="Rectangle 14">
            <a:extLst xmlns:a="http://schemas.openxmlformats.org/drawingml/2006/main">
              <a:ext uri="{FF2B5EF4-FFF2-40B4-BE49-F238E27FC236}">
                <a16:creationId xmlns:a16="http://schemas.microsoft.com/office/drawing/2014/main" id="{90FBE210-BB99-4529-978C-00E5C8E6F61C}"/>
              </a:ext>
            </a:extLst>
          </p:cNvPr>
          <p:cNvSpPr>
            <a:spLocks xmlns:a="http://schemas.openxmlformats.org/drawingml/2006/main" noGrp="1"/>
          </p:cNvSpPr>
          <p:nvPr/>
        </p:nvSpPr>
        <p:spPr>
          <a:xfrm xmlns:a="http://schemas.openxmlformats.org/drawingml/2006/main">
            <a:off x="6667500" y="27336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sensitivity only</a:t>
            </a:r>
          </a:p>
        </p:txBody>
      </p:sp>
      <p:sp>
        <p:nvSpPr>
          <p:cNvPr id="16" name="Rectangle: Rounded Corners 15">
            <a:extLst xmlns:a="http://schemas.openxmlformats.org/drawingml/2006/main">
              <a:ext uri="{FF2B5EF4-FFF2-40B4-BE49-F238E27FC236}">
                <a16:creationId xmlns:a16="http://schemas.microsoft.com/office/drawing/2014/main" id="{67F63000-8BA7-4A86-947A-33E4A688BF46}"/>
              </a:ext>
            </a:extLst>
          </p:cNvPr>
          <p:cNvSpPr>
            <a:spLocks xmlns:a="http://schemas.openxmlformats.org/drawingml/2006/main" noGrp="1"/>
          </p:cNvSpPr>
          <p:nvPr/>
        </p:nvSpPr>
        <p:spPr>
          <a:xfrm xmlns:a="http://schemas.openxmlformats.org/drawingml/2006/main">
            <a:off x="9525000" y="27051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LINKER-RESIDUE DETECTOR</a:t>
            </a:r>
          </a:p>
        </p:txBody>
      </p:sp>
      <p:sp>
        <p:nvSpPr>
          <p:cNvPr id="17" name="Straight Connector 16">
            <a:extLst xmlns:a="http://schemas.openxmlformats.org/drawingml/2006/main">
              <a:ext uri="{FF2B5EF4-FFF2-40B4-BE49-F238E27FC236}">
                <a16:creationId xmlns:a16="http://schemas.microsoft.com/office/drawing/2014/main" id="{40736425-0F3B-4844-B56A-C9F706F3A77F}"/>
              </a:ext>
            </a:extLst>
          </p:cNvPr>
          <p:cNvSpPr>
            <a:spLocks xmlns:a="http://schemas.openxmlformats.org/drawingml/2006/main" noGrp="1"/>
          </p:cNvSpPr>
          <p:nvPr/>
        </p:nvSpPr>
        <p:spPr>
          <a:xfrm xmlns:a="http://schemas.openxmlformats.org/drawingml/2006/main">
            <a:off x="619125" y="33528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8" name="Rectangle 17">
            <a:extLst xmlns:a="http://schemas.openxmlformats.org/drawingml/2006/main">
              <a:ext uri="{FF2B5EF4-FFF2-40B4-BE49-F238E27FC236}">
                <a16:creationId xmlns:a16="http://schemas.microsoft.com/office/drawing/2014/main" id="{2C257C2A-CCC9-414F-A41A-B99B70A613CC}"/>
              </a:ext>
            </a:extLst>
          </p:cNvPr>
          <p:cNvSpPr>
            <a:spLocks xmlns:a="http://schemas.openxmlformats.org/drawingml/2006/main" noGrp="1"/>
          </p:cNvSpPr>
          <p:nvPr/>
        </p:nvSpPr>
        <p:spPr>
          <a:xfrm xmlns:a="http://schemas.openxmlformats.org/drawingml/2006/main">
            <a:off x="619125" y="3695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2DBD73"/>
                </a:solidFill>
                <a:latin typeface="Arial"/>
                <a:ea typeface="Arial"/>
                <a:cs typeface="Arial"/>
              </a:defRPr>
            </a:defPPr>
            <a:lvl1pPr algn="l">
              <a:buNone/>
              <a:defRPr sz="1725" b="1" i="0">
                <a:solidFill>
                  <a:srgbClr val="2DBD73"/>
                </a:solidFill>
                <a:latin typeface="Arial"/>
                <a:ea typeface="Arial"/>
                <a:cs typeface="Arial"/>
              </a:defRPr>
            </a:lvl1pPr>
            <a:lvl2pPr algn="l">
              <a:buNone/>
              <a:defRPr sz="1725" b="1" i="0">
                <a:solidFill>
                  <a:srgbClr val="2DBD73"/>
                </a:solidFill>
                <a:latin typeface="Arial"/>
                <a:ea typeface="Arial"/>
                <a:cs typeface="Arial"/>
              </a:defRPr>
            </a:lvl2pPr>
            <a:lvl3pPr algn="l">
              <a:buNone/>
              <a:defRPr sz="1725" b="1" i="0">
                <a:solidFill>
                  <a:srgbClr val="2DBD73"/>
                </a:solidFill>
                <a:latin typeface="Arial"/>
                <a:ea typeface="Arial"/>
                <a:cs typeface="Arial"/>
              </a:defRPr>
            </a:lvl3pPr>
            <a:lvl4pPr algn="l">
              <a:buNone/>
              <a:defRPr sz="1725" b="1" i="0">
                <a:solidFill>
                  <a:srgbClr val="2DBD73"/>
                </a:solidFill>
                <a:latin typeface="Arial"/>
                <a:ea typeface="Arial"/>
                <a:cs typeface="Arial"/>
              </a:defRPr>
            </a:lvl4pPr>
            <a:lvl5pPr algn="l">
              <a:buNone/>
              <a:defRPr sz="1725" b="1" i="0">
                <a:solidFill>
                  <a:srgbClr val="2DBD73"/>
                </a:solidFill>
                <a:latin typeface="Arial"/>
                <a:ea typeface="Arial"/>
                <a:cs typeface="Arial"/>
              </a:defRPr>
            </a:lvl5pPr>
            <a:lvl6pPr algn="l">
              <a:buNone/>
              <a:defRPr sz="1725" b="1" i="0">
                <a:solidFill>
                  <a:srgbClr val="2DBD73"/>
                </a:solidFill>
                <a:latin typeface="Arial"/>
                <a:ea typeface="Arial"/>
                <a:cs typeface="Arial"/>
              </a:defRPr>
            </a:lvl6pPr>
            <a:lvl7pPr algn="l">
              <a:buNone/>
              <a:defRPr sz="1725" b="1" i="0">
                <a:solidFill>
                  <a:srgbClr val="2DBD73"/>
                </a:solidFill>
                <a:latin typeface="Arial"/>
                <a:ea typeface="Arial"/>
                <a:cs typeface="Arial"/>
              </a:defRPr>
            </a:lvl7pPr>
            <a:lvl8pPr algn="l">
              <a:buNone/>
              <a:defRPr sz="1725" b="1" i="0">
                <a:solidFill>
                  <a:srgbClr val="2DBD73"/>
                </a:solidFill>
                <a:latin typeface="Arial"/>
                <a:ea typeface="Arial"/>
                <a:cs typeface="Arial"/>
              </a:defRPr>
            </a:lvl8pPr>
            <a:lvl9pPr algn="l">
              <a:buNone/>
              <a:defRPr sz="1725" b="1" i="0">
                <a:solidFill>
                  <a:srgbClr val="2DBD73"/>
                </a:solidFill>
                <a:latin typeface="Arial"/>
                <a:ea typeface="Arial"/>
                <a:cs typeface="Arial"/>
              </a:defRPr>
            </a:lvl9pPr>
          </a:lstStyle>
          <a:p xmlns:a="http://schemas.openxmlformats.org/drawingml/2006/main">
            <a:pPr algn="l">
              <a:buNone/>
              <a:defRPr sz="1725" b="1" i="0">
                <a:solidFill>
                  <a:srgbClr val="2DBD73"/>
                </a:solidFill>
                <a:latin typeface="Arial"/>
                <a:ea typeface="Arial"/>
                <a:cs typeface="Arial"/>
              </a:defRPr>
            </a:pPr>
            <a:r>
              <a:rPr sz="1725" b="1" i="0">
                <a:solidFill>
                  <a:srgbClr val="2DBD73"/>
                </a:solidFill>
                <a:latin typeface="Arial"/>
                <a:ea typeface="Arial"/>
                <a:cs typeface="Arial"/>
              </a:rPr>
              <a:t>OpenMM</a:t>
            </a:r>
          </a:p>
        </p:txBody>
      </p:sp>
      <p:sp>
        <p:nvSpPr>
          <p:cNvPr id="19" name="Rectangle 18">
            <a:extLst xmlns:a="http://schemas.openxmlformats.org/drawingml/2006/main">
              <a:ext uri="{FF2B5EF4-FFF2-40B4-BE49-F238E27FC236}">
                <a16:creationId xmlns:a16="http://schemas.microsoft.com/office/drawing/2014/main" id="{F85BE668-3600-4BAB-A1D0-3A4F09D252C2}"/>
              </a:ext>
            </a:extLst>
          </p:cNvPr>
          <p:cNvSpPr>
            <a:spLocks xmlns:a="http://schemas.openxmlformats.org/drawingml/2006/main" noGrp="1"/>
          </p:cNvSpPr>
          <p:nvPr/>
        </p:nvSpPr>
        <p:spPr>
          <a:xfrm xmlns:a="http://schemas.openxmlformats.org/drawingml/2006/main">
            <a:off x="2857500" y="36861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3 replicas × 50 ps</a:t>
            </a:r>
          </a:p>
        </p:txBody>
      </p:sp>
      <p:sp>
        <p:nvSpPr>
          <p:cNvPr id="20" name="Rectangle 19">
            <a:extLst xmlns:a="http://schemas.openxmlformats.org/drawingml/2006/main">
              <a:ext uri="{FF2B5EF4-FFF2-40B4-BE49-F238E27FC236}">
                <a16:creationId xmlns:a16="http://schemas.microsoft.com/office/drawing/2014/main" id="{C10214B7-1EE6-40E8-9BCB-FD21455C5D05}"/>
              </a:ext>
            </a:extLst>
          </p:cNvPr>
          <p:cNvSpPr>
            <a:spLocks xmlns:a="http://schemas.openxmlformats.org/drawingml/2006/main" noGrp="1"/>
          </p:cNvSpPr>
          <p:nvPr/>
        </p:nvSpPr>
        <p:spPr>
          <a:xfrm xmlns:a="http://schemas.openxmlformats.org/drawingml/2006/main">
            <a:off x="6667500" y="36861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36,751 atoms, CUDA</a:t>
            </a:r>
          </a:p>
        </p:txBody>
      </p:sp>
      <p:sp>
        <p:nvSpPr>
          <p:cNvPr id="21" name="Rectangle: Rounded Corners 20">
            <a:extLst xmlns:a="http://schemas.openxmlformats.org/drawingml/2006/main">
              <a:ext uri="{FF2B5EF4-FFF2-40B4-BE49-F238E27FC236}">
                <a16:creationId xmlns:a16="http://schemas.microsoft.com/office/drawing/2014/main" id="{3CCE2FF2-2616-4677-9ED4-879DA230DD53}"/>
              </a:ext>
            </a:extLst>
          </p:cNvPr>
          <p:cNvSpPr>
            <a:spLocks xmlns:a="http://schemas.openxmlformats.org/drawingml/2006/main" noGrp="1"/>
          </p:cNvSpPr>
          <p:nvPr/>
        </p:nvSpPr>
        <p:spPr>
          <a:xfrm xmlns:a="http://schemas.openxmlformats.org/drawingml/2006/main">
            <a:off x="9525000" y="36576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MD SMOKE TEST</a:t>
            </a:r>
          </a:p>
        </p:txBody>
      </p:sp>
      <p:sp>
        <p:nvSpPr>
          <p:cNvPr id="22" name="Straight Connector 21">
            <a:extLst xmlns:a="http://schemas.openxmlformats.org/drawingml/2006/main">
              <a:ext uri="{FF2B5EF4-FFF2-40B4-BE49-F238E27FC236}">
                <a16:creationId xmlns:a16="http://schemas.microsoft.com/office/drawing/2014/main" id="{D8793115-1D30-436D-9AA1-C4A2510A2F1B}"/>
              </a:ext>
            </a:extLst>
          </p:cNvPr>
          <p:cNvSpPr>
            <a:spLocks xmlns:a="http://schemas.openxmlformats.org/drawingml/2006/main" noGrp="1"/>
          </p:cNvSpPr>
          <p:nvPr/>
        </p:nvSpPr>
        <p:spPr>
          <a:xfrm xmlns:a="http://schemas.openxmlformats.org/drawingml/2006/main">
            <a:off x="619125" y="43053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3" name="Rectangle 22">
            <a:extLst xmlns:a="http://schemas.openxmlformats.org/drawingml/2006/main">
              <a:ext uri="{FF2B5EF4-FFF2-40B4-BE49-F238E27FC236}">
                <a16:creationId xmlns:a16="http://schemas.microsoft.com/office/drawing/2014/main" id="{4A473945-D547-4AD7-A6D1-E93DAB764961}"/>
              </a:ext>
            </a:extLst>
          </p:cNvPr>
          <p:cNvSpPr>
            <a:spLocks xmlns:a="http://schemas.openxmlformats.org/drawingml/2006/main" noGrp="1"/>
          </p:cNvSpPr>
          <p:nvPr/>
        </p:nvSpPr>
        <p:spPr>
          <a:xfrm xmlns:a="http://schemas.openxmlformats.org/drawingml/2006/main">
            <a:off x="619125" y="46482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4E9BEC"/>
                </a:solidFill>
                <a:latin typeface="Arial"/>
                <a:ea typeface="Arial"/>
                <a:cs typeface="Arial"/>
              </a:defRPr>
            </a:defPPr>
            <a:lvl1pPr algn="l">
              <a:buNone/>
              <a:defRPr sz="1725" b="1" i="0">
                <a:solidFill>
                  <a:srgbClr val="4E9BEC"/>
                </a:solidFill>
                <a:latin typeface="Arial"/>
                <a:ea typeface="Arial"/>
                <a:cs typeface="Arial"/>
              </a:defRPr>
            </a:lvl1pPr>
            <a:lvl2pPr algn="l">
              <a:buNone/>
              <a:defRPr sz="1725" b="1" i="0">
                <a:solidFill>
                  <a:srgbClr val="4E9BEC"/>
                </a:solidFill>
                <a:latin typeface="Arial"/>
                <a:ea typeface="Arial"/>
                <a:cs typeface="Arial"/>
              </a:defRPr>
            </a:lvl2pPr>
            <a:lvl3pPr algn="l">
              <a:buNone/>
              <a:defRPr sz="1725" b="1" i="0">
                <a:solidFill>
                  <a:srgbClr val="4E9BEC"/>
                </a:solidFill>
                <a:latin typeface="Arial"/>
                <a:ea typeface="Arial"/>
                <a:cs typeface="Arial"/>
              </a:defRPr>
            </a:lvl3pPr>
            <a:lvl4pPr algn="l">
              <a:buNone/>
              <a:defRPr sz="1725" b="1" i="0">
                <a:solidFill>
                  <a:srgbClr val="4E9BEC"/>
                </a:solidFill>
                <a:latin typeface="Arial"/>
                <a:ea typeface="Arial"/>
                <a:cs typeface="Arial"/>
              </a:defRPr>
            </a:lvl4pPr>
            <a:lvl5pPr algn="l">
              <a:buNone/>
              <a:defRPr sz="1725" b="1" i="0">
                <a:solidFill>
                  <a:srgbClr val="4E9BEC"/>
                </a:solidFill>
                <a:latin typeface="Arial"/>
                <a:ea typeface="Arial"/>
                <a:cs typeface="Arial"/>
              </a:defRPr>
            </a:lvl5pPr>
            <a:lvl6pPr algn="l">
              <a:buNone/>
              <a:defRPr sz="1725" b="1" i="0">
                <a:solidFill>
                  <a:srgbClr val="4E9BEC"/>
                </a:solidFill>
                <a:latin typeface="Arial"/>
                <a:ea typeface="Arial"/>
                <a:cs typeface="Arial"/>
              </a:defRPr>
            </a:lvl6pPr>
            <a:lvl7pPr algn="l">
              <a:buNone/>
              <a:defRPr sz="1725" b="1" i="0">
                <a:solidFill>
                  <a:srgbClr val="4E9BEC"/>
                </a:solidFill>
                <a:latin typeface="Arial"/>
                <a:ea typeface="Arial"/>
                <a:cs typeface="Arial"/>
              </a:defRPr>
            </a:lvl7pPr>
            <a:lvl8pPr algn="l">
              <a:buNone/>
              <a:defRPr sz="1725" b="1" i="0">
                <a:solidFill>
                  <a:srgbClr val="4E9BEC"/>
                </a:solidFill>
                <a:latin typeface="Arial"/>
                <a:ea typeface="Arial"/>
                <a:cs typeface="Arial"/>
              </a:defRPr>
            </a:lvl8pPr>
            <a:lvl9pPr algn="l">
              <a:buNone/>
              <a:defRPr sz="1725" b="1" i="0">
                <a:solidFill>
                  <a:srgbClr val="4E9BEC"/>
                </a:solidFill>
                <a:latin typeface="Arial"/>
                <a:ea typeface="Arial"/>
                <a:cs typeface="Arial"/>
              </a:defRPr>
            </a:lvl9pPr>
          </a:lstStyle>
          <a:p xmlns:a="http://schemas.openxmlformats.org/drawingml/2006/main">
            <a:pPr algn="l">
              <a:buNone/>
              <a:defRPr sz="1725" b="1" i="0">
                <a:solidFill>
                  <a:srgbClr val="4E9BEC"/>
                </a:solidFill>
                <a:latin typeface="Arial"/>
                <a:ea typeface="Arial"/>
                <a:cs typeface="Arial"/>
              </a:defRPr>
            </a:pPr>
            <a:r>
              <a:rPr sz="1725" b="1" i="0">
                <a:solidFill>
                  <a:srgbClr val="4E9BEC"/>
                </a:solidFill>
                <a:latin typeface="Arial"/>
                <a:ea typeface="Arial"/>
                <a:cs typeface="Arial"/>
              </a:rPr>
              <a:t>PyMOL / 3Dmol</a:t>
            </a:r>
          </a:p>
        </p:txBody>
      </p:sp>
      <p:sp>
        <p:nvSpPr>
          <p:cNvPr id="24" name="Rectangle 23">
            <a:extLst xmlns:a="http://schemas.openxmlformats.org/drawingml/2006/main">
              <a:ext uri="{FF2B5EF4-FFF2-40B4-BE49-F238E27FC236}">
                <a16:creationId xmlns:a16="http://schemas.microsoft.com/office/drawing/2014/main" id="{CC0F3B5C-A7F0-4FF9-B155-6CDFEEFA7F8E}"/>
              </a:ext>
            </a:extLst>
          </p:cNvPr>
          <p:cNvSpPr>
            <a:spLocks xmlns:a="http://schemas.openxmlformats.org/drawingml/2006/main" noGrp="1"/>
          </p:cNvSpPr>
          <p:nvPr/>
        </p:nvSpPr>
        <p:spPr>
          <a:xfrm xmlns:a="http://schemas.openxmlformats.org/drawingml/2006/main">
            <a:off x="2857500" y="46386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matched models</a:t>
            </a:r>
          </a:p>
        </p:txBody>
      </p:sp>
      <p:sp>
        <p:nvSpPr>
          <p:cNvPr id="25" name="Rectangle 24">
            <a:extLst xmlns:a="http://schemas.openxmlformats.org/drawingml/2006/main">
              <a:ext uri="{FF2B5EF4-FFF2-40B4-BE49-F238E27FC236}">
                <a16:creationId xmlns:a16="http://schemas.microsoft.com/office/drawing/2014/main" id="{2E67947F-F13E-4E51-9BBC-97FA2D65322C}"/>
              </a:ext>
            </a:extLst>
          </p:cNvPr>
          <p:cNvSpPr>
            <a:spLocks xmlns:a="http://schemas.openxmlformats.org/drawingml/2006/main" noGrp="1"/>
          </p:cNvSpPr>
          <p:nvPr/>
        </p:nvSpPr>
        <p:spPr>
          <a:xfrm xmlns:a="http://schemas.openxmlformats.org/drawingml/2006/main">
            <a:off x="6667500" y="46386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visual review + figures</a:t>
            </a:r>
          </a:p>
        </p:txBody>
      </p:sp>
      <p:sp>
        <p:nvSpPr>
          <p:cNvPr id="26" name="Rectangle: Rounded Corners 25">
            <a:extLst xmlns:a="http://schemas.openxmlformats.org/drawingml/2006/main">
              <a:ext uri="{FF2B5EF4-FFF2-40B4-BE49-F238E27FC236}">
                <a16:creationId xmlns:a16="http://schemas.microsoft.com/office/drawing/2014/main" id="{553C81EE-D423-4E6B-BCA9-9F090823248C}"/>
              </a:ext>
            </a:extLst>
          </p:cNvPr>
          <p:cNvSpPr>
            <a:spLocks xmlns:a="http://schemas.openxmlformats.org/drawingml/2006/main" noGrp="1"/>
          </p:cNvSpPr>
          <p:nvPr/>
        </p:nvSpPr>
        <p:spPr>
          <a:xfrm xmlns:a="http://schemas.openxmlformats.org/drawingml/2006/main">
            <a:off x="9525000" y="46101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INSPECTION</a:t>
            </a:r>
          </a:p>
        </p:txBody>
      </p:sp>
      <p:sp>
        <p:nvSpPr>
          <p:cNvPr id="27" name="Rectangle: Rounded Corners 26">
            <a:extLst xmlns:a="http://schemas.openxmlformats.org/drawingml/2006/main">
              <a:ext uri="{FF2B5EF4-FFF2-40B4-BE49-F238E27FC236}">
                <a16:creationId xmlns:a16="http://schemas.microsoft.com/office/drawing/2014/main" id="{BBAB7161-A25A-49E3-AD40-904A743CEE85}"/>
              </a:ext>
            </a:extLst>
          </p:cNvPr>
          <p:cNvSpPr>
            <a:spLocks xmlns:a="http://schemas.openxmlformats.org/drawingml/2006/main" noGrp="1"/>
          </p:cNvSpPr>
          <p:nvPr/>
        </p:nvSpPr>
        <p:spPr>
          <a:xfrm xmlns:a="http://schemas.openxmlformats.org/drawingml/2006/main">
            <a:off x="619125" y="5638800"/>
            <a:ext cx="10906125" cy="552450"/>
          </a:xfrm>
          <a:prstGeom xmlns:a="http://schemas.openxmlformats.org/drawingml/2006/main" prst="roundRect">
            <a:avLst>
              <a:gd name="adj" fmla="val 13793"/>
            </a:avLst>
          </a:prstGeom>
          <a:solidFill xmlns:a="http://schemas.openxmlformats.org/drawingml/2006/main">
            <a:srgbClr val="FBECEB"/>
          </a:solidFill>
          <a:ln xmlns:a="http://schemas.openxmlformats.org/drawingml/2006/main" w="9525">
            <a:solidFill>
              <a:srgbClr val="E46760"/>
            </a:solidFill>
            <a:prstDash val="solid"/>
          </a:ln>
        </p:spPr>
      </p:sp>
      <p:sp>
        <p:nvSpPr>
          <p:cNvPr id="28" name="Rectangle 27">
            <a:extLst xmlns:a="http://schemas.openxmlformats.org/drawingml/2006/main">
              <a:ext uri="{FF2B5EF4-FFF2-40B4-BE49-F238E27FC236}">
                <a16:creationId xmlns:a16="http://schemas.microsoft.com/office/drawing/2014/main" id="{0DD5C94E-0C1B-434A-AEB4-4FD2E10F6232}"/>
              </a:ext>
            </a:extLst>
          </p:cNvPr>
          <p:cNvSpPr>
            <a:spLocks xmlns:a="http://schemas.openxmlformats.org/drawingml/2006/main" noGrp="1"/>
          </p:cNvSpPr>
          <p:nvPr/>
        </p:nvSpPr>
        <p:spPr>
          <a:xfrm xmlns:a="http://schemas.openxmlformats.org/drawingml/2006/main">
            <a:off x="866775" y="5772150"/>
            <a:ext cx="10382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80302B"/>
                </a:solidFill>
                <a:latin typeface="Arial"/>
                <a:ea typeface="Arial"/>
                <a:cs typeface="Arial"/>
              </a:defRPr>
            </a:defPPr>
            <a:lvl1pPr algn="ctr">
              <a:buNone/>
              <a:defRPr sz="1275" b="1" i="0">
                <a:solidFill>
                  <a:srgbClr val="80302B"/>
                </a:solidFill>
                <a:latin typeface="Arial"/>
                <a:ea typeface="Arial"/>
                <a:cs typeface="Arial"/>
              </a:defRPr>
            </a:lvl1pPr>
            <a:lvl2pPr algn="ctr">
              <a:buNone/>
              <a:defRPr sz="1275" b="1" i="0">
                <a:solidFill>
                  <a:srgbClr val="80302B"/>
                </a:solidFill>
                <a:latin typeface="Arial"/>
                <a:ea typeface="Arial"/>
                <a:cs typeface="Arial"/>
              </a:defRPr>
            </a:lvl2pPr>
            <a:lvl3pPr algn="ctr">
              <a:buNone/>
              <a:defRPr sz="1275" b="1" i="0">
                <a:solidFill>
                  <a:srgbClr val="80302B"/>
                </a:solidFill>
                <a:latin typeface="Arial"/>
                <a:ea typeface="Arial"/>
                <a:cs typeface="Arial"/>
              </a:defRPr>
            </a:lvl3pPr>
            <a:lvl4pPr algn="ctr">
              <a:buNone/>
              <a:defRPr sz="1275" b="1" i="0">
                <a:solidFill>
                  <a:srgbClr val="80302B"/>
                </a:solidFill>
                <a:latin typeface="Arial"/>
                <a:ea typeface="Arial"/>
                <a:cs typeface="Arial"/>
              </a:defRPr>
            </a:lvl4pPr>
            <a:lvl5pPr algn="ctr">
              <a:buNone/>
              <a:defRPr sz="1275" b="1" i="0">
                <a:solidFill>
                  <a:srgbClr val="80302B"/>
                </a:solidFill>
                <a:latin typeface="Arial"/>
                <a:ea typeface="Arial"/>
                <a:cs typeface="Arial"/>
              </a:defRPr>
            </a:lvl5pPr>
            <a:lvl6pPr algn="ctr">
              <a:buNone/>
              <a:defRPr sz="1275" b="1" i="0">
                <a:solidFill>
                  <a:srgbClr val="80302B"/>
                </a:solidFill>
                <a:latin typeface="Arial"/>
                <a:ea typeface="Arial"/>
                <a:cs typeface="Arial"/>
              </a:defRPr>
            </a:lvl6pPr>
            <a:lvl7pPr algn="ctr">
              <a:buNone/>
              <a:defRPr sz="1275" b="1" i="0">
                <a:solidFill>
                  <a:srgbClr val="80302B"/>
                </a:solidFill>
                <a:latin typeface="Arial"/>
                <a:ea typeface="Arial"/>
                <a:cs typeface="Arial"/>
              </a:defRPr>
            </a:lvl7pPr>
            <a:lvl8pPr algn="ctr">
              <a:buNone/>
              <a:defRPr sz="1275" b="1" i="0">
                <a:solidFill>
                  <a:srgbClr val="80302B"/>
                </a:solidFill>
                <a:latin typeface="Arial"/>
                <a:ea typeface="Arial"/>
                <a:cs typeface="Arial"/>
              </a:defRPr>
            </a:lvl8pPr>
            <a:lvl9pPr algn="ctr">
              <a:buNone/>
              <a:defRPr sz="1275" b="1" i="0">
                <a:solidFill>
                  <a:srgbClr val="80302B"/>
                </a:solidFill>
                <a:latin typeface="Arial"/>
                <a:ea typeface="Arial"/>
                <a:cs typeface="Arial"/>
              </a:defRPr>
            </a:lvl9pPr>
          </a:lstStyle>
          <a:p xmlns:a="http://schemas.openxmlformats.org/drawingml/2006/main">
            <a:pPr algn="ctr">
              <a:buNone/>
              <a:defRPr sz="1275" b="1" i="0">
                <a:solidFill>
                  <a:srgbClr val="80302B"/>
                </a:solidFill>
                <a:latin typeface="Arial"/>
                <a:ea typeface="Arial"/>
                <a:cs typeface="Arial"/>
              </a:defRPr>
            </a:pPr>
            <a:r>
              <a:rPr sz="1275" b="1" i="0">
                <a:solidFill>
                  <a:srgbClr val="80302B"/>
                </a:solidFill>
                <a:latin typeface="Arial"/>
                <a:ea typeface="Arial"/>
                <a:cs typeface="Arial"/>
              </a:rPr>
              <a:t>Interpretation limits: 3 × 50 ps confirms execution only. DFL detection does not measure pair-specific compatibility.</a:t>
            </a:r>
          </a:p>
        </p:txBody>
      </p:sp>
    </p:spTree>
    <p:extLst>
      <p:ext uri="{BB962C8B-B14F-4D97-AF65-F5344CB8AC3E}">
        <p14:creationId xmlns:p14="http://schemas.microsoft.com/office/powerpoint/2010/main" val="616825238"/>
      </p:ext>
    </p:extLst>
  </p:cSld>
</p:sld>
</file>

<file path=ppt/slides/slide21.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11F857F7-91B5-4D59-A5E0-BA3EC801719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EE638D82-946E-4488-9340-FE5B0B22F43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3C957B4-3568-4BE3-8A97-7EDAAEDB4F83}"/>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INTERFACE</a:t>
            </a:r>
          </a:p>
        </p:txBody>
      </p:sp>
      <p:sp>
        <p:nvSpPr>
          <p:cNvPr id="4" name="Rectangle 3">
            <a:extLst xmlns:a="http://schemas.openxmlformats.org/drawingml/2006/main">
              <a:ext uri="{FF2B5EF4-FFF2-40B4-BE49-F238E27FC236}">
                <a16:creationId xmlns:a16="http://schemas.microsoft.com/office/drawing/2014/main" id="{0D8CA513-A531-46AB-B8D0-0033BB717F40}"/>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Current local Tauri/Vite interface captured from http://127.0.0.1:5174</a:t>
            </a:r>
          </a:p>
        </p:txBody>
      </p:sp>
      <p:sp>
        <p:nvSpPr>
          <p:cNvPr id="5" name="Rectangle 4">
            <a:extLst xmlns:a="http://schemas.openxmlformats.org/drawingml/2006/main">
              <a:ext uri="{FF2B5EF4-FFF2-40B4-BE49-F238E27FC236}">
                <a16:creationId xmlns:a16="http://schemas.microsoft.com/office/drawing/2014/main" id="{FDEF26D6-BAA3-46BF-B45E-B4C1B98E720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21</a:t>
            </a:r>
          </a:p>
        </p:txBody>
      </p:sp>
      <p:sp>
        <p:nvSpPr>
          <p:cNvPr id="6" name="Rectangle 5">
            <a:extLst xmlns:a="http://schemas.openxmlformats.org/drawingml/2006/main">
              <a:ext uri="{FF2B5EF4-FFF2-40B4-BE49-F238E27FC236}">
                <a16:creationId xmlns:a16="http://schemas.microsoft.com/office/drawing/2014/main" id="{5F4517DB-FA1B-4E9F-8F8F-C6395488C40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Design and structure review in one workspace</a:t>
            </a:r>
          </a:p>
        </p:txBody>
      </p:sp>
      <p:sp>
        <p:nvSpPr>
          <p:cNvPr id="7" name="Rectangle 6">
            <a:extLst xmlns:a="http://schemas.openxmlformats.org/drawingml/2006/main">
              <a:ext uri="{FF2B5EF4-FFF2-40B4-BE49-F238E27FC236}">
                <a16:creationId xmlns:a16="http://schemas.microsoft.com/office/drawing/2014/main" id="{4A97C0B0-90E9-4CCC-A570-70BB5865A10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interface keeps each sequence, candidate set, and prediction view in the same session</a:t>
            </a:r>
          </a:p>
        </p:txBody>
      </p:sp>
      <p:pic>
        <p:nvPicPr>
          <p:cNvPr id="8" name="Picture 7">
            <a:extLst xmlns:a="http://schemas.openxmlformats.org/drawingml/2006/main">
              <a:ext uri="{FF2B5EF4-FFF2-40B4-BE49-F238E27FC236}">
                <a16:creationId xmlns:a16="http://schemas.microsoft.com/office/drawing/2014/main" id="{65196640-87F0-48F5-AD05-39EBC13D1416}"/>
              </a:ext>
            </a:extLst>
          </p:cNvPr>
          <p:cNvPicPr>
            <a:picLocks xmlns:a="http://schemas.openxmlformats.org/drawingml/2006/main" noChangeAspect="1"/>
          </p:cNvPicPr>
          <p:nvPr/>
        </p:nvPicPr>
        <p:blipFill>
          <a:blip xmlns:r="http://schemas.openxmlformats.org/officeDocument/2006/relationships" xmlns:a="http://schemas.openxmlformats.org/drawingml/2006/main" r:embed="Rbcc19ce74fe542c8"/>
          <a:stretch xmlns:a="http://schemas.openxmlformats.org/drawingml/2006/main"/>
        </p:blipFill>
        <p:spPr>
          <a:xfrm xmlns:a="http://schemas.openxmlformats.org/drawingml/2006/main">
            <a:off x="2476500" y="1504950"/>
            <a:ext cx="7239000" cy="4524375"/>
          </a:xfrm>
          <a:prstGeom xmlns:a="http://schemas.openxmlformats.org/drawingml/2006/main" prst="rect">
            <a:avLst/>
          </a:prstGeom>
        </p:spPr>
      </p:pic>
      <p:sp>
        <p:nvSpPr>
          <p:cNvPr id="9" name="Oval 8">
            <a:extLst xmlns:a="http://schemas.openxmlformats.org/drawingml/2006/main">
              <a:ext uri="{FF2B5EF4-FFF2-40B4-BE49-F238E27FC236}">
                <a16:creationId xmlns:a16="http://schemas.microsoft.com/office/drawing/2014/main" id="{C93C6C6A-FF7A-49D8-A1CE-FDB3C197C3F1}"/>
              </a:ext>
            </a:extLst>
          </p:cNvPr>
          <p:cNvSpPr>
            <a:spLocks xmlns:a="http://schemas.openxmlformats.org/drawingml/2006/main" noGrp="1"/>
          </p:cNvSpPr>
          <p:nvPr/>
        </p:nvSpPr>
        <p:spPr>
          <a:xfrm xmlns:a="http://schemas.openxmlformats.org/drawingml/2006/main">
            <a:off x="2676525" y="1771650"/>
            <a:ext cx="285750" cy="285750"/>
          </a:xfrm>
          <a:prstGeom xmlns:a="http://schemas.openxmlformats.org/drawingml/2006/main" prst="ellipse">
            <a:avLst/>
          </a:prstGeom>
          <a:solidFill xmlns:a="http://schemas.openxmlformats.org/drawingml/2006/main">
            <a:srgbClr val="3FC6D6"/>
          </a:solidFill>
          <a:ln xmlns:a="http://schemas.openxmlformats.org/drawingml/2006/main" w="9525">
            <a:solidFill>
              <a:srgbClr val="FFFFFF"/>
            </a:solidFill>
            <a:prstDash val="solid"/>
          </a:ln>
        </p:spPr>
      </p:sp>
      <p:sp>
        <p:nvSpPr>
          <p:cNvPr id="10" name="Rectangle 9">
            <a:extLst xmlns:a="http://schemas.openxmlformats.org/drawingml/2006/main">
              <a:ext uri="{FF2B5EF4-FFF2-40B4-BE49-F238E27FC236}">
                <a16:creationId xmlns:a16="http://schemas.microsoft.com/office/drawing/2014/main" id="{86672D2A-E61F-4BFA-93AC-0FBDBB52C26A}"/>
              </a:ext>
            </a:extLst>
          </p:cNvPr>
          <p:cNvSpPr>
            <a:spLocks xmlns:a="http://schemas.openxmlformats.org/drawingml/2006/main" noGrp="1"/>
          </p:cNvSpPr>
          <p:nvPr/>
        </p:nvSpPr>
        <p:spPr>
          <a:xfrm xmlns:a="http://schemas.openxmlformats.org/drawingml/2006/main">
            <a:off x="2676525" y="180022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1</a:t>
            </a:r>
          </a:p>
        </p:txBody>
      </p:sp>
      <p:sp>
        <p:nvSpPr>
          <p:cNvPr id="11" name="Oval 10">
            <a:extLst xmlns:a="http://schemas.openxmlformats.org/drawingml/2006/main">
              <a:ext uri="{FF2B5EF4-FFF2-40B4-BE49-F238E27FC236}">
                <a16:creationId xmlns:a16="http://schemas.microsoft.com/office/drawing/2014/main" id="{CE22FC6A-70B6-47C2-A783-8D0156C14725}"/>
              </a:ext>
            </a:extLst>
          </p:cNvPr>
          <p:cNvSpPr>
            <a:spLocks xmlns:a="http://schemas.openxmlformats.org/drawingml/2006/main" noGrp="1"/>
          </p:cNvSpPr>
          <p:nvPr/>
        </p:nvSpPr>
        <p:spPr>
          <a:xfrm xmlns:a="http://schemas.openxmlformats.org/drawingml/2006/main">
            <a:off x="5953125" y="2009775"/>
            <a:ext cx="285750" cy="285750"/>
          </a:xfrm>
          <a:prstGeom xmlns:a="http://schemas.openxmlformats.org/drawingml/2006/main" prst="ellipse">
            <a:avLst/>
          </a:prstGeom>
          <a:solidFill xmlns:a="http://schemas.openxmlformats.org/drawingml/2006/main">
            <a:srgbClr val="E84AAB"/>
          </a:solidFill>
          <a:ln xmlns:a="http://schemas.openxmlformats.org/drawingml/2006/main" w="9525">
            <a:solidFill>
              <a:srgbClr val="FFFFFF"/>
            </a:solidFill>
            <a:prstDash val="solid"/>
          </a:ln>
        </p:spPr>
      </p:sp>
      <p:sp>
        <p:nvSpPr>
          <p:cNvPr id="12" name="Rectangle 11">
            <a:extLst xmlns:a="http://schemas.openxmlformats.org/drawingml/2006/main">
              <a:ext uri="{FF2B5EF4-FFF2-40B4-BE49-F238E27FC236}">
                <a16:creationId xmlns:a16="http://schemas.microsoft.com/office/drawing/2014/main" id="{B978D5E0-04D1-4614-ACAB-9AA756550696}"/>
              </a:ext>
            </a:extLst>
          </p:cNvPr>
          <p:cNvSpPr>
            <a:spLocks xmlns:a="http://schemas.openxmlformats.org/drawingml/2006/main" noGrp="1"/>
          </p:cNvSpPr>
          <p:nvPr/>
        </p:nvSpPr>
        <p:spPr>
          <a:xfrm xmlns:a="http://schemas.openxmlformats.org/drawingml/2006/main">
            <a:off x="5953125" y="203835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2</a:t>
            </a:r>
          </a:p>
        </p:txBody>
      </p:sp>
      <p:sp>
        <p:nvSpPr>
          <p:cNvPr id="13" name="Oval 12">
            <a:extLst xmlns:a="http://schemas.openxmlformats.org/drawingml/2006/main">
              <a:ext uri="{FF2B5EF4-FFF2-40B4-BE49-F238E27FC236}">
                <a16:creationId xmlns:a16="http://schemas.microsoft.com/office/drawing/2014/main" id="{910142A8-9579-41CB-9ABD-23973A0321A3}"/>
              </a:ext>
            </a:extLst>
          </p:cNvPr>
          <p:cNvSpPr>
            <a:spLocks xmlns:a="http://schemas.openxmlformats.org/drawingml/2006/main" noGrp="1"/>
          </p:cNvSpPr>
          <p:nvPr/>
        </p:nvSpPr>
        <p:spPr>
          <a:xfrm xmlns:a="http://schemas.openxmlformats.org/drawingml/2006/main">
            <a:off x="9467850" y="2600325"/>
            <a:ext cx="285750" cy="285750"/>
          </a:xfrm>
          <a:prstGeom xmlns:a="http://schemas.openxmlformats.org/drawingml/2006/main" prst="ellipse">
            <a:avLst/>
          </a:prstGeom>
          <a:solidFill xmlns:a="http://schemas.openxmlformats.org/drawingml/2006/main">
            <a:srgbClr val="4E9BEC"/>
          </a:solidFill>
          <a:ln xmlns:a="http://schemas.openxmlformats.org/drawingml/2006/main" w="9525">
            <a:solidFill>
              <a:srgbClr val="FFFFFF"/>
            </a:solidFill>
            <a:prstDash val="solid"/>
          </a:ln>
        </p:spPr>
      </p:sp>
      <p:sp>
        <p:nvSpPr>
          <p:cNvPr id="14" name="Rectangle 13">
            <a:extLst xmlns:a="http://schemas.openxmlformats.org/drawingml/2006/main">
              <a:ext uri="{FF2B5EF4-FFF2-40B4-BE49-F238E27FC236}">
                <a16:creationId xmlns:a16="http://schemas.microsoft.com/office/drawing/2014/main" id="{E0E2B5D4-4B3E-4567-8F27-7987DE5E910E}"/>
              </a:ext>
            </a:extLst>
          </p:cNvPr>
          <p:cNvSpPr>
            <a:spLocks xmlns:a="http://schemas.openxmlformats.org/drawingml/2006/main" noGrp="1"/>
          </p:cNvSpPr>
          <p:nvPr/>
        </p:nvSpPr>
        <p:spPr>
          <a:xfrm xmlns:a="http://schemas.openxmlformats.org/drawingml/2006/main">
            <a:off x="9467850" y="262890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3</a:t>
            </a:r>
          </a:p>
        </p:txBody>
      </p:sp>
      <p:sp>
        <p:nvSpPr>
          <p:cNvPr id="15" name="Rectangle 14">
            <a:extLst xmlns:a="http://schemas.openxmlformats.org/drawingml/2006/main">
              <a:ext uri="{FF2B5EF4-FFF2-40B4-BE49-F238E27FC236}">
                <a16:creationId xmlns:a16="http://schemas.microsoft.com/office/drawing/2014/main" id="{111EE5F1-C1AF-4089-93A2-87C496545E8F}"/>
              </a:ext>
            </a:extLst>
          </p:cNvPr>
          <p:cNvSpPr>
            <a:spLocks xmlns:a="http://schemas.openxmlformats.org/drawingml/2006/main" noGrp="1"/>
          </p:cNvSpPr>
          <p:nvPr/>
        </p:nvSpPr>
        <p:spPr>
          <a:xfrm xmlns:a="http://schemas.openxmlformats.org/drawingml/2006/main">
            <a:off x="2495550" y="61341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1  Saved designs</a:t>
            </a:r>
          </a:p>
        </p:txBody>
      </p:sp>
      <p:sp>
        <p:nvSpPr>
          <p:cNvPr id="16" name="Rectangle 15">
            <a:extLst xmlns:a="http://schemas.openxmlformats.org/drawingml/2006/main">
              <a:ext uri="{FF2B5EF4-FFF2-40B4-BE49-F238E27FC236}">
                <a16:creationId xmlns:a16="http://schemas.microsoft.com/office/drawing/2014/main" id="{0D697370-4698-4BFB-B855-C7266905C028}"/>
              </a:ext>
            </a:extLst>
          </p:cNvPr>
          <p:cNvSpPr>
            <a:spLocks xmlns:a="http://schemas.openxmlformats.org/drawingml/2006/main" noGrp="1"/>
          </p:cNvSpPr>
          <p:nvPr/>
        </p:nvSpPr>
        <p:spPr>
          <a:xfrm xmlns:a="http://schemas.openxmlformats.org/drawingml/2006/main">
            <a:off x="5095875" y="613410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ctr">
              <a:defRPr sz="1125" b="1" i="0">
                <a:solidFill>
                  <a:srgbClr val="E84AAB"/>
                </a:solidFill>
                <a:latin typeface="Arial"/>
                <a:ea typeface="Arial"/>
                <a:cs typeface="Arial"/>
              </a:defRPr>
            </a:defPPr>
            <a:lvl1pPr algn="ctr">
              <a:buNone/>
              <a:defRPr sz="1125" b="1" i="0">
                <a:solidFill>
                  <a:srgbClr val="E84AAB"/>
                </a:solidFill>
                <a:latin typeface="Arial"/>
                <a:ea typeface="Arial"/>
                <a:cs typeface="Arial"/>
              </a:defRPr>
            </a:lvl1pPr>
            <a:lvl2pPr algn="ctr">
              <a:buNone/>
              <a:defRPr sz="1125" b="1" i="0">
                <a:solidFill>
                  <a:srgbClr val="E84AAB"/>
                </a:solidFill>
                <a:latin typeface="Arial"/>
                <a:ea typeface="Arial"/>
                <a:cs typeface="Arial"/>
              </a:defRPr>
            </a:lvl2pPr>
            <a:lvl3pPr algn="ctr">
              <a:buNone/>
              <a:defRPr sz="1125" b="1" i="0">
                <a:solidFill>
                  <a:srgbClr val="E84AAB"/>
                </a:solidFill>
                <a:latin typeface="Arial"/>
                <a:ea typeface="Arial"/>
                <a:cs typeface="Arial"/>
              </a:defRPr>
            </a:lvl3pPr>
            <a:lvl4pPr algn="ctr">
              <a:buNone/>
              <a:defRPr sz="1125" b="1" i="0">
                <a:solidFill>
                  <a:srgbClr val="E84AAB"/>
                </a:solidFill>
                <a:latin typeface="Arial"/>
                <a:ea typeface="Arial"/>
                <a:cs typeface="Arial"/>
              </a:defRPr>
            </a:lvl4pPr>
            <a:lvl5pPr algn="ctr">
              <a:buNone/>
              <a:defRPr sz="1125" b="1" i="0">
                <a:solidFill>
                  <a:srgbClr val="E84AAB"/>
                </a:solidFill>
                <a:latin typeface="Arial"/>
                <a:ea typeface="Arial"/>
                <a:cs typeface="Arial"/>
              </a:defRPr>
            </a:lvl5pPr>
            <a:lvl6pPr algn="ctr">
              <a:buNone/>
              <a:defRPr sz="1125" b="1" i="0">
                <a:solidFill>
                  <a:srgbClr val="E84AAB"/>
                </a:solidFill>
                <a:latin typeface="Arial"/>
                <a:ea typeface="Arial"/>
                <a:cs typeface="Arial"/>
              </a:defRPr>
            </a:lvl6pPr>
            <a:lvl7pPr algn="ctr">
              <a:buNone/>
              <a:defRPr sz="1125" b="1" i="0">
                <a:solidFill>
                  <a:srgbClr val="E84AAB"/>
                </a:solidFill>
                <a:latin typeface="Arial"/>
                <a:ea typeface="Arial"/>
                <a:cs typeface="Arial"/>
              </a:defRPr>
            </a:lvl7pPr>
            <a:lvl8pPr algn="ctr">
              <a:buNone/>
              <a:defRPr sz="1125" b="1" i="0">
                <a:solidFill>
                  <a:srgbClr val="E84AAB"/>
                </a:solidFill>
                <a:latin typeface="Arial"/>
                <a:ea typeface="Arial"/>
                <a:cs typeface="Arial"/>
              </a:defRPr>
            </a:lvl8pPr>
            <a:lvl9pPr algn="ctr">
              <a:buNone/>
              <a:defRPr sz="1125" b="1" i="0">
                <a:solidFill>
                  <a:srgbClr val="E84AAB"/>
                </a:solidFill>
                <a:latin typeface="Arial"/>
                <a:ea typeface="Arial"/>
                <a:cs typeface="Arial"/>
              </a:defRPr>
            </a:lvl9pPr>
          </a:lstStyle>
          <a:p xmlns:a="http://schemas.openxmlformats.org/drawingml/2006/main">
            <a:pPr algn="ctr">
              <a:buNone/>
              <a:defRPr sz="1125" b="1" i="0">
                <a:solidFill>
                  <a:srgbClr val="E84AAB"/>
                </a:solidFill>
                <a:latin typeface="Arial"/>
                <a:ea typeface="Arial"/>
                <a:cs typeface="Arial"/>
              </a:defRPr>
            </a:pPr>
            <a:r>
              <a:rPr sz="1125" b="1" i="0">
                <a:solidFill>
                  <a:srgbClr val="E84AAB"/>
                </a:solidFill>
                <a:latin typeface="Arial"/>
                <a:ea typeface="Arial"/>
                <a:cs typeface="Arial"/>
              </a:rPr>
              <a:t>2  Candidate controls</a:t>
            </a:r>
          </a:p>
        </p:txBody>
      </p:sp>
      <p:sp>
        <p:nvSpPr>
          <p:cNvPr id="17" name="Rectangle 16">
            <a:extLst xmlns:a="http://schemas.openxmlformats.org/drawingml/2006/main">
              <a:ext uri="{FF2B5EF4-FFF2-40B4-BE49-F238E27FC236}">
                <a16:creationId xmlns:a16="http://schemas.microsoft.com/office/drawing/2014/main" id="{BF8DC555-BBA8-4380-8BA8-5F9F078C0A56}"/>
              </a:ext>
            </a:extLst>
          </p:cNvPr>
          <p:cNvSpPr>
            <a:spLocks xmlns:a="http://schemas.openxmlformats.org/drawingml/2006/main" noGrp="1"/>
          </p:cNvSpPr>
          <p:nvPr/>
        </p:nvSpPr>
        <p:spPr>
          <a:xfrm xmlns:a="http://schemas.openxmlformats.org/drawingml/2006/main">
            <a:off x="7810500" y="61341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r">
              <a:defRPr sz="1125" b="1" i="0">
                <a:solidFill>
                  <a:srgbClr val="4E9BEC"/>
                </a:solidFill>
                <a:latin typeface="Arial"/>
                <a:ea typeface="Arial"/>
                <a:cs typeface="Arial"/>
              </a:defRPr>
            </a:defPPr>
            <a:lvl1pPr algn="r">
              <a:buNone/>
              <a:defRPr sz="1125" b="1" i="0">
                <a:solidFill>
                  <a:srgbClr val="4E9BEC"/>
                </a:solidFill>
                <a:latin typeface="Arial"/>
                <a:ea typeface="Arial"/>
                <a:cs typeface="Arial"/>
              </a:defRPr>
            </a:lvl1pPr>
            <a:lvl2pPr algn="r">
              <a:buNone/>
              <a:defRPr sz="1125" b="1" i="0">
                <a:solidFill>
                  <a:srgbClr val="4E9BEC"/>
                </a:solidFill>
                <a:latin typeface="Arial"/>
                <a:ea typeface="Arial"/>
                <a:cs typeface="Arial"/>
              </a:defRPr>
            </a:lvl2pPr>
            <a:lvl3pPr algn="r">
              <a:buNone/>
              <a:defRPr sz="1125" b="1" i="0">
                <a:solidFill>
                  <a:srgbClr val="4E9BEC"/>
                </a:solidFill>
                <a:latin typeface="Arial"/>
                <a:ea typeface="Arial"/>
                <a:cs typeface="Arial"/>
              </a:defRPr>
            </a:lvl3pPr>
            <a:lvl4pPr algn="r">
              <a:buNone/>
              <a:defRPr sz="1125" b="1" i="0">
                <a:solidFill>
                  <a:srgbClr val="4E9BEC"/>
                </a:solidFill>
                <a:latin typeface="Arial"/>
                <a:ea typeface="Arial"/>
                <a:cs typeface="Arial"/>
              </a:defRPr>
            </a:lvl4pPr>
            <a:lvl5pPr algn="r">
              <a:buNone/>
              <a:defRPr sz="1125" b="1" i="0">
                <a:solidFill>
                  <a:srgbClr val="4E9BEC"/>
                </a:solidFill>
                <a:latin typeface="Arial"/>
                <a:ea typeface="Arial"/>
                <a:cs typeface="Arial"/>
              </a:defRPr>
            </a:lvl5pPr>
            <a:lvl6pPr algn="r">
              <a:buNone/>
              <a:defRPr sz="1125" b="1" i="0">
                <a:solidFill>
                  <a:srgbClr val="4E9BEC"/>
                </a:solidFill>
                <a:latin typeface="Arial"/>
                <a:ea typeface="Arial"/>
                <a:cs typeface="Arial"/>
              </a:defRPr>
            </a:lvl6pPr>
            <a:lvl7pPr algn="r">
              <a:buNone/>
              <a:defRPr sz="1125" b="1" i="0">
                <a:solidFill>
                  <a:srgbClr val="4E9BEC"/>
                </a:solidFill>
                <a:latin typeface="Arial"/>
                <a:ea typeface="Arial"/>
                <a:cs typeface="Arial"/>
              </a:defRPr>
            </a:lvl7pPr>
            <a:lvl8pPr algn="r">
              <a:buNone/>
              <a:defRPr sz="1125" b="1" i="0">
                <a:solidFill>
                  <a:srgbClr val="4E9BEC"/>
                </a:solidFill>
                <a:latin typeface="Arial"/>
                <a:ea typeface="Arial"/>
                <a:cs typeface="Arial"/>
              </a:defRPr>
            </a:lvl8pPr>
            <a:lvl9pPr algn="r">
              <a:buNone/>
              <a:defRPr sz="1125" b="1" i="0">
                <a:solidFill>
                  <a:srgbClr val="4E9BEC"/>
                </a:solidFill>
                <a:latin typeface="Arial"/>
                <a:ea typeface="Arial"/>
                <a:cs typeface="Arial"/>
              </a:defRPr>
            </a:lvl9pPr>
          </a:lstStyle>
          <a:p xmlns:a="http://schemas.openxmlformats.org/drawingml/2006/main">
            <a:pPr algn="r">
              <a:buNone/>
              <a:defRPr sz="1125" b="1" i="0">
                <a:solidFill>
                  <a:srgbClr val="4E9BEC"/>
                </a:solidFill>
                <a:latin typeface="Arial"/>
                <a:ea typeface="Arial"/>
                <a:cs typeface="Arial"/>
              </a:defRPr>
            </a:pPr>
            <a:r>
              <a:rPr sz="1125" b="1" i="0">
                <a:solidFill>
                  <a:srgbClr val="4E9BEC"/>
                </a:solidFill>
                <a:latin typeface="Arial"/>
                <a:ea typeface="Arial"/>
                <a:cs typeface="Arial"/>
              </a:rPr>
              <a:t>3  Full-fusion and domain views</a:t>
            </a:r>
          </a:p>
        </p:txBody>
      </p:sp>
    </p:spTree>
    <p:extLst>
      <p:ext uri="{BB962C8B-B14F-4D97-AF65-F5344CB8AC3E}">
        <p14:creationId xmlns:p14="http://schemas.microsoft.com/office/powerpoint/2010/main" val="1674143019"/>
      </p:ext>
    </p:extLst>
  </p:cSld>
</p:sld>
</file>

<file path=ppt/slides/slide22.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41F1F165-EE92-4EE8-A313-BAD4313D19A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95718170-33DD-4B47-9143-969D91F8745B}"/>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087A733D-01D0-41CE-BC12-9F4240C17098}"/>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PUBLICATION READINESS</a:t>
            </a:r>
          </a:p>
        </p:txBody>
      </p:sp>
      <p:sp>
        <p:nvSpPr>
          <p:cNvPr id="4" name="Rectangle 3">
            <a:extLst xmlns:a="http://schemas.openxmlformats.org/drawingml/2006/main">
              <a:ext uri="{FF2B5EF4-FFF2-40B4-BE49-F238E27FC236}">
                <a16:creationId xmlns:a16="http://schemas.microsoft.com/office/drawing/2014/main" id="{9D7CF9A3-1754-4063-B6DA-989690B0174B}"/>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docs/PROFESSIONAL_PUBLICATION_READINESS_AUDIT_2026-10-20.md; README.md</a:t>
            </a:r>
          </a:p>
        </p:txBody>
      </p:sp>
      <p:sp>
        <p:nvSpPr>
          <p:cNvPr id="5" name="Rectangle 4">
            <a:extLst xmlns:a="http://schemas.openxmlformats.org/drawingml/2006/main">
              <a:ext uri="{FF2B5EF4-FFF2-40B4-BE49-F238E27FC236}">
                <a16:creationId xmlns:a16="http://schemas.microsoft.com/office/drawing/2014/main" id="{1614411C-76B1-4D1C-ACD0-611EF6EFCE66}"/>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22</a:t>
            </a:r>
          </a:p>
        </p:txBody>
      </p:sp>
      <p:sp>
        <p:nvSpPr>
          <p:cNvPr id="6" name="Rectangle 5">
            <a:extLst xmlns:a="http://schemas.openxmlformats.org/drawingml/2006/main">
              <a:ext uri="{FF2B5EF4-FFF2-40B4-BE49-F238E27FC236}">
                <a16:creationId xmlns:a16="http://schemas.microsoft.com/office/drawing/2014/main" id="{5E502A6A-22AA-4589-A12F-87814578235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Publication readiness</a:t>
            </a:r>
          </a:p>
        </p:txBody>
      </p:sp>
      <p:sp>
        <p:nvSpPr>
          <p:cNvPr id="7" name="Rectangle 6">
            <a:extLst xmlns:a="http://schemas.openxmlformats.org/drawingml/2006/main">
              <a:ext uri="{FF2B5EF4-FFF2-40B4-BE49-F238E27FC236}">
                <a16:creationId xmlns:a16="http://schemas.microsoft.com/office/drawing/2014/main" id="{B0D2676C-ED4A-4541-AE7D-C7955DDA387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software prototype and the scientific performance claim have separate evidence gates</a:t>
            </a:r>
          </a:p>
        </p:txBody>
      </p:sp>
      <p:graphicFrame>
        <p:nvGraphicFramePr>
          <p:cNvPr id="8" name="Table 7">
            <a:extLst xmlns:a="http://schemas.openxmlformats.org/drawingml/2006/main">
              <a:ext uri="{FF2B5EF4-FFF2-40B4-BE49-F238E27FC236}">
                <a16:creationId xmlns:a16="http://schemas.microsoft.com/office/drawing/2014/main" id="{16A7FC18-DBB9-462F-AC08-F70E380944EE}"/>
              </a:ext>
            </a:extLst>
          </p:cNvPr>
          <p:cNvGraphicFramePr/>
          <p:nvPr/>
        </p:nvGraphicFramePr>
        <p:xfrm>
          <a:off xmlns:a="http://schemas.openxmlformats.org/drawingml/2006/main" x="552450" y="1619250"/>
          <a:ext xmlns:a="http://schemas.openxmlformats.org/drawingml/2006/main" cx="11087100" cy="3848100"/>
        </p:xfrm>
        <a:graphic xmlns:a="http://schemas.openxmlformats.org/drawingml/2006/main">
          <a:graphicData uri="http://schemas.openxmlformats.org/drawingml/2006/table">
            <a:tbl>
              <a:tblPr/>
              <a:tblGrid>
                <a:gridCol w="5257800"/>
                <a:gridCol w="5829300"/>
              </a:tblGrid>
              <a:tr h="549729">
                <a:tc>
                  <a:txBody>
                    <a:bodyPr/>
                    <a:lstStyle/>
                    <a:p>
                      <a:r>
                        <a:rPr sz="1125" b="1">
                          <a:solidFill>
                            <a:srgbClr val="FFFFFF"/>
                          </a:solidFill>
                          <a:latin typeface="Arial"/>
                          <a:ea typeface="Arial"/>
                          <a:cs typeface="Arial"/>
                        </a:rPr>
                        <a:t>Implemented / verified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2DBD73"/>
                    </a:solidFill>
                  </a:tcPr>
                </a:tc>
                <a:tc>
                  <a:txBody>
                    <a:bodyPr/>
                    <a:lstStyle/>
                    <a:p>
                      <a:r>
                        <a:rPr sz="1125" b="1">
                          <a:solidFill>
                            <a:srgbClr val="FFFFFF"/>
                          </a:solidFill>
                          <a:latin typeface="Arial"/>
                          <a:ea typeface="Arial"/>
                          <a:cs typeface="Arial"/>
                        </a:rPr>
                        <a:t>Still required before model-performance publication</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E84AAB"/>
                    </a:solidFill>
                  </a:tcPr>
                </a:tc>
              </a:tr>
              <a:tr h="549729">
                <a:tc>
                  <a:txBody>
                    <a:bodyPr/>
                    <a:lstStyle/>
                    <a:p>
                      <a:r>
                        <a:rPr sz="975">
                          <a:solidFill>
                            <a:srgbClr val="F4F7F5"/>
                          </a:solidFill>
                          <a:latin typeface="Arial"/>
                          <a:ea typeface="Arial"/>
                          <a:cs typeface="Arial"/>
                        </a:rPr>
                        <a:t>Exact-sequence full-chain prediction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Validated compatibility dataset and calibrated ranker</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pLDDT, PAE, pTM ingestion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Untouched family-disjoint matched benchmark</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Domain RMSD and protected-site screen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Licensed Rosetta all-atom assessment</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Versioned schemas and checksummed bundle</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More domain families and structure-model families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Durable detached pipelines</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Production-duration replicated MD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Tauri / Windows research interface</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Code signing and approved institutional cloud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bl>
          </a:graphicData>
        </a:graphic>
      </p:graphicFrame>
      <p:sp>
        <p:nvSpPr>
          <p:cNvPr id="9" name="Rectangle: Rounded Corners 8">
            <a:extLst xmlns:a="http://schemas.openxmlformats.org/drawingml/2006/main">
              <a:ext uri="{FF2B5EF4-FFF2-40B4-BE49-F238E27FC236}">
                <a16:creationId xmlns:a16="http://schemas.microsoft.com/office/drawing/2014/main" id="{5FAC8D33-8BB3-4D68-8D14-34729A0813E4}"/>
              </a:ext>
            </a:extLst>
          </p:cNvPr>
          <p:cNvSpPr>
            <a:spLocks xmlns:a="http://schemas.openxmlformats.org/drawingml/2006/main" noGrp="1"/>
          </p:cNvSpPr>
          <p:nvPr/>
        </p:nvSpPr>
        <p:spPr>
          <a:xfrm xmlns:a="http://schemas.openxmlformats.org/drawingml/2006/main">
            <a:off x="552450" y="5667375"/>
            <a:ext cx="11087100" cy="561975"/>
          </a:xfrm>
          <a:prstGeom xmlns:a="http://schemas.openxmlformats.org/drawingml/2006/main" prst="roundRect">
            <a:avLst>
              <a:gd name="adj" fmla="val 13559"/>
            </a:avLst>
          </a:prstGeom>
          <a:solidFill xmlns:a="http://schemas.openxmlformats.org/drawingml/2006/main">
            <a:srgbClr val="102720"/>
          </a:solidFill>
          <a:ln xmlns:a="http://schemas.openxmlformats.org/drawingml/2006/main" w="0">
            <a:solidFill>
              <a:srgbClr val="102720"/>
            </a:solidFill>
            <a:prstDash val="solid"/>
          </a:ln>
        </p:spPr>
      </p:sp>
      <p:sp>
        <p:nvSpPr>
          <p:cNvPr id="10" name="Rectangle 9">
            <a:extLst xmlns:a="http://schemas.openxmlformats.org/drawingml/2006/main">
              <a:ext uri="{FF2B5EF4-FFF2-40B4-BE49-F238E27FC236}">
                <a16:creationId xmlns:a16="http://schemas.microsoft.com/office/drawing/2014/main" id="{0943107B-E430-4F8B-9FDD-92D601EE94DB}"/>
              </a:ext>
            </a:extLst>
          </p:cNvPr>
          <p:cNvSpPr>
            <a:spLocks xmlns:a="http://schemas.openxmlformats.org/drawingml/2006/main" noGrp="1"/>
          </p:cNvSpPr>
          <p:nvPr/>
        </p:nvSpPr>
        <p:spPr>
          <a:xfrm xmlns:a="http://schemas.openxmlformats.org/drawingml/2006/main">
            <a:off x="790575" y="5791200"/>
            <a:ext cx="1059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FFFFFF"/>
                </a:solidFill>
                <a:latin typeface="Arial"/>
                <a:ea typeface="Arial"/>
                <a:cs typeface="Arial"/>
              </a:defRPr>
            </a:defPPr>
            <a:lvl1pPr algn="ctr">
              <a:buNone/>
              <a:defRPr sz="1275" b="1" i="0">
                <a:solidFill>
                  <a:srgbClr val="FFFFFF"/>
                </a:solidFill>
                <a:latin typeface="Arial"/>
                <a:ea typeface="Arial"/>
                <a:cs typeface="Arial"/>
              </a:defRPr>
            </a:lvl1pPr>
            <a:lvl2pPr algn="ctr">
              <a:buNone/>
              <a:defRPr sz="1275" b="1" i="0">
                <a:solidFill>
                  <a:srgbClr val="FFFFFF"/>
                </a:solidFill>
                <a:latin typeface="Arial"/>
                <a:ea typeface="Arial"/>
                <a:cs typeface="Arial"/>
              </a:defRPr>
            </a:lvl2pPr>
            <a:lvl3pPr algn="ctr">
              <a:buNone/>
              <a:defRPr sz="1275" b="1" i="0">
                <a:solidFill>
                  <a:srgbClr val="FFFFFF"/>
                </a:solidFill>
                <a:latin typeface="Arial"/>
                <a:ea typeface="Arial"/>
                <a:cs typeface="Arial"/>
              </a:defRPr>
            </a:lvl3pPr>
            <a:lvl4pPr algn="ctr">
              <a:buNone/>
              <a:defRPr sz="1275" b="1" i="0">
                <a:solidFill>
                  <a:srgbClr val="FFFFFF"/>
                </a:solidFill>
                <a:latin typeface="Arial"/>
                <a:ea typeface="Arial"/>
                <a:cs typeface="Arial"/>
              </a:defRPr>
            </a:lvl4pPr>
            <a:lvl5pPr algn="ctr">
              <a:buNone/>
              <a:defRPr sz="1275" b="1" i="0">
                <a:solidFill>
                  <a:srgbClr val="FFFFFF"/>
                </a:solidFill>
                <a:latin typeface="Arial"/>
                <a:ea typeface="Arial"/>
                <a:cs typeface="Arial"/>
              </a:defRPr>
            </a:lvl5pPr>
            <a:lvl6pPr algn="ctr">
              <a:buNone/>
              <a:defRPr sz="1275" b="1" i="0">
                <a:solidFill>
                  <a:srgbClr val="FFFFFF"/>
                </a:solidFill>
                <a:latin typeface="Arial"/>
                <a:ea typeface="Arial"/>
                <a:cs typeface="Arial"/>
              </a:defRPr>
            </a:lvl6pPr>
            <a:lvl7pPr algn="ctr">
              <a:buNone/>
              <a:defRPr sz="1275" b="1" i="0">
                <a:solidFill>
                  <a:srgbClr val="FFFFFF"/>
                </a:solidFill>
                <a:latin typeface="Arial"/>
                <a:ea typeface="Arial"/>
                <a:cs typeface="Arial"/>
              </a:defRPr>
            </a:lvl7pPr>
            <a:lvl8pPr algn="ctr">
              <a:buNone/>
              <a:defRPr sz="1275" b="1" i="0">
                <a:solidFill>
                  <a:srgbClr val="FFFFFF"/>
                </a:solidFill>
                <a:latin typeface="Arial"/>
                <a:ea typeface="Arial"/>
                <a:cs typeface="Arial"/>
              </a:defRPr>
            </a:lvl8pPr>
            <a:lvl9pPr algn="ctr">
              <a:buNone/>
              <a:defRPr sz="1275" b="1" i="0">
                <a:solidFill>
                  <a:srgbClr val="FFFFFF"/>
                </a:solidFill>
                <a:latin typeface="Arial"/>
                <a:ea typeface="Arial"/>
                <a:cs typeface="Arial"/>
              </a:defRPr>
            </a:lvl9pPr>
          </a:lstStyle>
          <a:p xmlns:a="http://schemas.openxmlformats.org/drawingml/2006/main">
            <a:pPr algn="ctr">
              <a:buNone/>
              <a:defRPr sz="1275" b="1" i="0">
                <a:solidFill>
                  <a:srgbClr val="FFFFFF"/>
                </a:solidFill>
                <a:latin typeface="Arial"/>
                <a:ea typeface="Arial"/>
                <a:cs typeface="Arial"/>
              </a:defRPr>
            </a:pPr>
            <a:r>
              <a:rPr sz="1275" b="1" i="0">
                <a:solidFill>
                  <a:srgbClr val="FFFFFF"/>
                </a:solidFill>
                <a:latin typeface="Arial"/>
                <a:ea typeface="Arial"/>
                <a:cs typeface="Arial"/>
              </a:rPr>
              <a:t>Wet-lab work is outside this project scope. Claims of biological performance would still require external experimental evidence.</a:t>
            </a:r>
          </a:p>
        </p:txBody>
      </p:sp>
    </p:spTree>
    <p:extLst>
      <p:ext uri="{BB962C8B-B14F-4D97-AF65-F5344CB8AC3E}">
        <p14:creationId xmlns:p14="http://schemas.microsoft.com/office/powerpoint/2010/main" val="2095635830"/>
      </p:ext>
    </p:extLst>
  </p:cSld>
</p:sld>
</file>

<file path=ppt/slides/slide23.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F60C482-CF8B-41B3-9634-6326FC12B64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05AD3CE-1338-4478-9A1D-F64DDE998BAD}"/>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D0CE0637-9DC7-47F7-93BB-F4294870E7C7}"/>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B80F8C0D-30BE-4475-9ECE-6D83B605D27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Public-sequence panel manifest + versioned comparison schema; protected labels were not read</a:t>
            </a:r>
          </a:p>
        </p:txBody>
      </p:sp>
      <p:sp>
        <p:nvSpPr>
          <p:cNvPr id="5" name="">
            <a:extLst xmlns:a="http://schemas.openxmlformats.org/drawingml/2006/main">
              <a:ext uri="{FF2B5EF4-FFF2-40B4-BE49-F238E27FC236}">
                <a16:creationId xmlns:a16="http://schemas.microsoft.com/office/drawing/2014/main" id="{2CB41EB6-864C-4180-BEC7-9198FF866097}"/>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23</a:t>
            </a:r>
          </a:p>
        </p:txBody>
      </p:sp>
      <p:sp>
        <p:nvSpPr>
          <p:cNvPr id="6" name="">
            <a:extLst xmlns:a="http://schemas.openxmlformats.org/drawingml/2006/main">
              <a:ext uri="{FF2B5EF4-FFF2-40B4-BE49-F238E27FC236}">
                <a16:creationId xmlns:a16="http://schemas.microsoft.com/office/drawing/2014/main" id="{C852B74F-787A-4EF4-8271-1D8434DF751E}"/>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Acceptance run design and verification gates</a:t>
            </a:r>
          </a:p>
        </p:txBody>
      </p:sp>
      <p:sp>
        <p:nvSpPr>
          <p:cNvPr id="7" name="">
            <a:extLst xmlns:a="http://schemas.openxmlformats.org/drawingml/2006/main">
              <a:ext uri="{FF2B5EF4-FFF2-40B4-BE49-F238E27FC236}">
                <a16:creationId xmlns:a16="http://schemas.microsoft.com/office/drawing/2014/main" id="{2AFB44E1-6C04-427B-A969-ABE74833B7C3}"/>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Matched settings across three short public domain pairs; every linker-containing condition is retained</a:t>
            </a:r>
          </a:p>
        </p:txBody>
      </p:sp>
      <p:sp>
        <p:nvSpPr>
          <p:cNvPr id="8" name="">
            <a:extLst xmlns:a="http://schemas.openxmlformats.org/drawingml/2006/main">
              <a:ext uri="{FF2B5EF4-FFF2-40B4-BE49-F238E27FC236}">
                <a16:creationId xmlns:a16="http://schemas.microsoft.com/office/drawing/2014/main" id="{8FB4633C-C9C9-41C7-A820-692AC1966A4E}"/>
              </a:ext>
            </a:extLst>
          </p:cNvPr>
          <p:cNvSpPr>
            <a:spLocks xmlns:a="http://schemas.openxmlformats.org/drawingml/2006/main" noGrp="1"/>
          </p:cNvSpPr>
          <p:nvPr/>
        </p:nvSpPr>
        <p:spPr>
          <a:xfrm xmlns:a="http://schemas.openxmlformats.org/drawingml/2006/main">
            <a:off x="514350"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1C91D189-65C7-4566-8929-3BC3D5DC0154}"/>
              </a:ext>
            </a:extLst>
          </p:cNvPr>
          <p:cNvSpPr>
            <a:spLocks xmlns:a="http://schemas.openxmlformats.org/drawingml/2006/main" noGrp="1"/>
          </p:cNvSpPr>
          <p:nvPr/>
        </p:nvSpPr>
        <p:spPr>
          <a:xfrm xmlns:a="http://schemas.openxmlformats.org/drawingml/2006/main">
            <a:off x="514350" y="1771650"/>
            <a:ext cx="57150" cy="146685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71FDC0C-F1AC-4C9B-A9C2-BF7826E7E833}"/>
              </a:ext>
            </a:extLst>
          </p:cNvPr>
          <p:cNvSpPr>
            <a:spLocks xmlns:a="http://schemas.openxmlformats.org/drawingml/2006/main" noGrp="1"/>
          </p:cNvSpPr>
          <p:nvPr/>
        </p:nvSpPr>
        <p:spPr>
          <a:xfrm xmlns:a="http://schemas.openxmlformats.org/drawingml/2006/main">
            <a:off x="723900"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PROTEIN PAIRS</a:t>
            </a:r>
          </a:p>
        </p:txBody>
      </p:sp>
      <p:sp>
        <p:nvSpPr>
          <p:cNvPr id="11" name="">
            <a:extLst xmlns:a="http://schemas.openxmlformats.org/drawingml/2006/main">
              <a:ext uri="{FF2B5EF4-FFF2-40B4-BE49-F238E27FC236}">
                <a16:creationId xmlns:a16="http://schemas.microsoft.com/office/drawing/2014/main" id="{2D179FEE-5AF7-4BBD-B34A-3CFA688E7282}"/>
              </a:ext>
            </a:extLst>
          </p:cNvPr>
          <p:cNvSpPr>
            <a:spLocks xmlns:a="http://schemas.openxmlformats.org/drawingml/2006/main" noGrp="1"/>
          </p:cNvSpPr>
          <p:nvPr/>
        </p:nvSpPr>
        <p:spPr>
          <a:xfrm xmlns:a="http://schemas.openxmlformats.org/drawingml/2006/main">
            <a:off x="723900"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3 public pairs</a:t>
            </a:r>
          </a:p>
        </p:txBody>
      </p:sp>
      <p:sp>
        <p:nvSpPr>
          <p:cNvPr id="12" name="">
            <a:extLst xmlns:a="http://schemas.openxmlformats.org/drawingml/2006/main">
              <a:ext uri="{FF2B5EF4-FFF2-40B4-BE49-F238E27FC236}">
                <a16:creationId xmlns:a16="http://schemas.microsoft.com/office/drawing/2014/main" id="{57BF6184-161B-4BDC-B2D9-5DB50D8364B0}"/>
              </a:ext>
            </a:extLst>
          </p:cNvPr>
          <p:cNvSpPr>
            <a:spLocks xmlns:a="http://schemas.openxmlformats.org/drawingml/2006/main" noGrp="1"/>
          </p:cNvSpPr>
          <p:nvPr/>
        </p:nvSpPr>
        <p:spPr>
          <a:xfrm xmlns:a="http://schemas.openxmlformats.org/drawingml/2006/main">
            <a:off x="723900"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Ubiquitin–GB1, crambin–BPTI, and protein G–repressor</a:t>
            </a:r>
          </a:p>
        </p:txBody>
      </p:sp>
      <p:sp>
        <p:nvSpPr>
          <p:cNvPr id="13" name="">
            <a:extLst xmlns:a="http://schemas.openxmlformats.org/drawingml/2006/main">
              <a:ext uri="{FF2B5EF4-FFF2-40B4-BE49-F238E27FC236}">
                <a16:creationId xmlns:a16="http://schemas.microsoft.com/office/drawing/2014/main" id="{A86BDA44-8D60-4912-B9EC-C4C551F19125}"/>
              </a:ext>
            </a:extLst>
          </p:cNvPr>
          <p:cNvSpPr>
            <a:spLocks xmlns:a="http://schemas.openxmlformats.org/drawingml/2006/main" noGrp="1"/>
          </p:cNvSpPr>
          <p:nvPr/>
        </p:nvSpPr>
        <p:spPr>
          <a:xfrm xmlns:a="http://schemas.openxmlformats.org/drawingml/2006/main">
            <a:off x="3190875"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4" name="">
            <a:extLst xmlns:a="http://schemas.openxmlformats.org/drawingml/2006/main">
              <a:ext uri="{FF2B5EF4-FFF2-40B4-BE49-F238E27FC236}">
                <a16:creationId xmlns:a16="http://schemas.microsoft.com/office/drawing/2014/main" id="{C4FE1757-325B-4AE0-98FD-C0B5E084206C}"/>
              </a:ext>
            </a:extLst>
          </p:cNvPr>
          <p:cNvSpPr>
            <a:spLocks xmlns:a="http://schemas.openxmlformats.org/drawingml/2006/main" noGrp="1"/>
          </p:cNvSpPr>
          <p:nvPr/>
        </p:nvSpPr>
        <p:spPr>
          <a:xfrm xmlns:a="http://schemas.openxmlformats.org/drawingml/2006/main">
            <a:off x="3190875" y="1771650"/>
            <a:ext cx="57150" cy="14668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FFE1251-AEFD-4620-92A3-937BCB0600C6}"/>
              </a:ext>
            </a:extLst>
          </p:cNvPr>
          <p:cNvSpPr>
            <a:spLocks xmlns:a="http://schemas.openxmlformats.org/drawingml/2006/main" noGrp="1"/>
          </p:cNvSpPr>
          <p:nvPr/>
        </p:nvSpPr>
        <p:spPr>
          <a:xfrm xmlns:a="http://schemas.openxmlformats.org/drawingml/2006/main">
            <a:off x="3400425"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CONSTRUCTS</a:t>
            </a:r>
          </a:p>
        </p:txBody>
      </p:sp>
      <p:sp>
        <p:nvSpPr>
          <p:cNvPr id="16" name="">
            <a:extLst xmlns:a="http://schemas.openxmlformats.org/drawingml/2006/main">
              <a:ext uri="{FF2B5EF4-FFF2-40B4-BE49-F238E27FC236}">
                <a16:creationId xmlns:a16="http://schemas.microsoft.com/office/drawing/2014/main" id="{EE64AD97-E906-400F-A156-4A1769547B7B}"/>
              </a:ext>
            </a:extLst>
          </p:cNvPr>
          <p:cNvSpPr>
            <a:spLocks xmlns:a="http://schemas.openxmlformats.org/drawingml/2006/main" noGrp="1"/>
          </p:cNvSpPr>
          <p:nvPr/>
        </p:nvSpPr>
        <p:spPr>
          <a:xfrm xmlns:a="http://schemas.openxmlformats.org/drawingml/2006/main">
            <a:off x="3400425"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18 linker fusions</a:t>
            </a:r>
          </a:p>
        </p:txBody>
      </p:sp>
      <p:sp>
        <p:nvSpPr>
          <p:cNvPr id="17" name="">
            <a:extLst xmlns:a="http://schemas.openxmlformats.org/drawingml/2006/main">
              <a:ext uri="{FF2B5EF4-FFF2-40B4-BE49-F238E27FC236}">
                <a16:creationId xmlns:a16="http://schemas.microsoft.com/office/drawing/2014/main" id="{65ABBB51-8AC0-4DD2-B1FD-A55B1B4C7DA2}"/>
              </a:ext>
            </a:extLst>
          </p:cNvPr>
          <p:cNvSpPr>
            <a:spLocks xmlns:a="http://schemas.openxmlformats.org/drawingml/2006/main" noGrp="1"/>
          </p:cNvSpPr>
          <p:nvPr/>
        </p:nvSpPr>
        <p:spPr>
          <a:xfrm xmlns:a="http://schemas.openxmlformats.org/drawingml/2006/main">
            <a:off x="3400425"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Six matched linker conditions per pair</a:t>
            </a:r>
          </a:p>
        </p:txBody>
      </p:sp>
      <p:sp>
        <p:nvSpPr>
          <p:cNvPr id="18" name="">
            <a:extLst xmlns:a="http://schemas.openxmlformats.org/drawingml/2006/main">
              <a:ext uri="{FF2B5EF4-FFF2-40B4-BE49-F238E27FC236}">
                <a16:creationId xmlns:a16="http://schemas.microsoft.com/office/drawing/2014/main" id="{22453809-0EAE-465E-8368-91EC7FD84AD3}"/>
              </a:ext>
            </a:extLst>
          </p:cNvPr>
          <p:cNvSpPr>
            <a:spLocks xmlns:a="http://schemas.openxmlformats.org/drawingml/2006/main" noGrp="1"/>
          </p:cNvSpPr>
          <p:nvPr/>
        </p:nvSpPr>
        <p:spPr>
          <a:xfrm xmlns:a="http://schemas.openxmlformats.org/drawingml/2006/main">
            <a:off x="5867400"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F106A765-39F7-4107-B8F1-42CD24D6A676}"/>
              </a:ext>
            </a:extLst>
          </p:cNvPr>
          <p:cNvSpPr>
            <a:spLocks xmlns:a="http://schemas.openxmlformats.org/drawingml/2006/main" noGrp="1"/>
          </p:cNvSpPr>
          <p:nvPr/>
        </p:nvSpPr>
        <p:spPr>
          <a:xfrm xmlns:a="http://schemas.openxmlformats.org/drawingml/2006/main">
            <a:off x="5867400" y="1771650"/>
            <a:ext cx="57150" cy="146685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E25C01E-7476-49F5-B968-DA5783736145}"/>
              </a:ext>
            </a:extLst>
          </p:cNvPr>
          <p:cNvSpPr>
            <a:spLocks xmlns:a="http://schemas.openxmlformats.org/drawingml/2006/main" noGrp="1"/>
          </p:cNvSpPr>
          <p:nvPr/>
        </p:nvSpPr>
        <p:spPr>
          <a:xfrm xmlns:a="http://schemas.openxmlformats.org/drawingml/2006/main">
            <a:off x="6076950"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STRUCTURE MODELS</a:t>
            </a:r>
          </a:p>
        </p:txBody>
      </p:sp>
      <p:sp>
        <p:nvSpPr>
          <p:cNvPr id="21" name="">
            <a:extLst xmlns:a="http://schemas.openxmlformats.org/drawingml/2006/main">
              <a:ext uri="{FF2B5EF4-FFF2-40B4-BE49-F238E27FC236}">
                <a16:creationId xmlns:a16="http://schemas.microsoft.com/office/drawing/2014/main" id="{3DB03AF0-DBFF-40FB-B710-E0896C5D6DBB}"/>
              </a:ext>
            </a:extLst>
          </p:cNvPr>
          <p:cNvSpPr>
            <a:spLocks xmlns:a="http://schemas.openxmlformats.org/drawingml/2006/main" noGrp="1"/>
          </p:cNvSpPr>
          <p:nvPr/>
        </p:nvSpPr>
        <p:spPr>
          <a:xfrm xmlns:a="http://schemas.openxmlformats.org/drawingml/2006/main">
            <a:off x="6076950"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90 rankable models</a:t>
            </a:r>
          </a:p>
        </p:txBody>
      </p:sp>
      <p:sp>
        <p:nvSpPr>
          <p:cNvPr id="22" name="">
            <a:extLst xmlns:a="http://schemas.openxmlformats.org/drawingml/2006/main">
              <a:ext uri="{FF2B5EF4-FFF2-40B4-BE49-F238E27FC236}">
                <a16:creationId xmlns:a16="http://schemas.microsoft.com/office/drawing/2014/main" id="{B25C8FFC-94C5-4ABE-8B54-17850A6DC5FF}"/>
              </a:ext>
            </a:extLst>
          </p:cNvPr>
          <p:cNvSpPr>
            <a:spLocks xmlns:a="http://schemas.openxmlformats.org/drawingml/2006/main" noGrp="1"/>
          </p:cNvSpPr>
          <p:nvPr/>
        </p:nvSpPr>
        <p:spPr>
          <a:xfrm xmlns:a="http://schemas.openxmlformats.org/drawingml/2006/main">
            <a:off x="6076950"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Five AlphaFold2-ptm models per construct; rank 1 summarized</a:t>
            </a:r>
          </a:p>
        </p:txBody>
      </p:sp>
      <p:sp>
        <p:nvSpPr>
          <p:cNvPr id="23" name="">
            <a:extLst xmlns:a="http://schemas.openxmlformats.org/drawingml/2006/main">
              <a:ext uri="{FF2B5EF4-FFF2-40B4-BE49-F238E27FC236}">
                <a16:creationId xmlns:a16="http://schemas.microsoft.com/office/drawing/2014/main" id="{5A8B9E1D-26AA-44FA-B8D3-B8B6F243A95F}"/>
              </a:ext>
            </a:extLst>
          </p:cNvPr>
          <p:cNvSpPr>
            <a:spLocks xmlns:a="http://schemas.openxmlformats.org/drawingml/2006/main" noGrp="1"/>
          </p:cNvSpPr>
          <p:nvPr/>
        </p:nvSpPr>
        <p:spPr>
          <a:xfrm xmlns:a="http://schemas.openxmlformats.org/drawingml/2006/main">
            <a:off x="8543925" y="1771650"/>
            <a:ext cx="31337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24" name="">
            <a:extLst xmlns:a="http://schemas.openxmlformats.org/drawingml/2006/main">
              <a:ext uri="{FF2B5EF4-FFF2-40B4-BE49-F238E27FC236}">
                <a16:creationId xmlns:a16="http://schemas.microsoft.com/office/drawing/2014/main" id="{8FE64B32-6B39-44CF-8B13-F1693A10E7F5}"/>
              </a:ext>
            </a:extLst>
          </p:cNvPr>
          <p:cNvSpPr>
            <a:spLocks xmlns:a="http://schemas.openxmlformats.org/drawingml/2006/main" noGrp="1"/>
          </p:cNvSpPr>
          <p:nvPr/>
        </p:nvSpPr>
        <p:spPr>
          <a:xfrm xmlns:a="http://schemas.openxmlformats.org/drawingml/2006/main">
            <a:off x="8543925" y="1771650"/>
            <a:ext cx="57150" cy="1466850"/>
          </a:xfrm>
          <a:prstGeom xmlns:a="http://schemas.openxmlformats.org/drawingml/2006/main" prst="rect">
            <a:avLst/>
          </a:prstGeom>
          <a:solidFill xmlns:a="http://schemas.openxmlformats.org/drawingml/2006/main">
            <a:srgbClr val="2DBD7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86850DC-16BE-463E-8802-7999D28F3694}"/>
              </a:ext>
            </a:extLst>
          </p:cNvPr>
          <p:cNvSpPr>
            <a:spLocks xmlns:a="http://schemas.openxmlformats.org/drawingml/2006/main" noGrp="1"/>
          </p:cNvSpPr>
          <p:nvPr/>
        </p:nvSpPr>
        <p:spPr>
          <a:xfrm xmlns:a="http://schemas.openxmlformats.org/drawingml/2006/main">
            <a:off x="8753475" y="1943100"/>
            <a:ext cx="27336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2DBD73"/>
                </a:solidFill>
                <a:latin typeface="Arial"/>
                <a:ea typeface="Arial"/>
                <a:cs typeface="Arial"/>
              </a:defRPr>
            </a:defPPr>
            <a:lvl1pPr algn="l">
              <a:defRPr sz="900" b="1" i="0">
                <a:solidFill>
                  <a:srgbClr val="2DBD73"/>
                </a:solidFill>
                <a:latin typeface="Arial"/>
                <a:ea typeface="Arial"/>
                <a:cs typeface="Arial"/>
              </a:defRPr>
            </a:lvl1pPr>
            <a:lvl2pPr algn="l">
              <a:defRPr sz="900" b="1" i="0">
                <a:solidFill>
                  <a:srgbClr val="2DBD73"/>
                </a:solidFill>
                <a:latin typeface="Arial"/>
                <a:ea typeface="Arial"/>
                <a:cs typeface="Arial"/>
              </a:defRPr>
            </a:lvl2pPr>
            <a:lvl3pPr algn="l">
              <a:defRPr sz="900" b="1" i="0">
                <a:solidFill>
                  <a:srgbClr val="2DBD73"/>
                </a:solidFill>
                <a:latin typeface="Arial"/>
                <a:ea typeface="Arial"/>
                <a:cs typeface="Arial"/>
              </a:defRPr>
            </a:lvl3pPr>
            <a:lvl4pPr algn="l">
              <a:defRPr sz="900" b="1" i="0">
                <a:solidFill>
                  <a:srgbClr val="2DBD73"/>
                </a:solidFill>
                <a:latin typeface="Arial"/>
                <a:ea typeface="Arial"/>
                <a:cs typeface="Arial"/>
              </a:defRPr>
            </a:lvl4pPr>
            <a:lvl5pPr algn="l">
              <a:defRPr sz="900" b="1" i="0">
                <a:solidFill>
                  <a:srgbClr val="2DBD73"/>
                </a:solidFill>
                <a:latin typeface="Arial"/>
                <a:ea typeface="Arial"/>
                <a:cs typeface="Arial"/>
              </a:defRPr>
            </a:lvl5pPr>
            <a:lvl6pPr algn="l">
              <a:defRPr sz="900" b="1" i="0">
                <a:solidFill>
                  <a:srgbClr val="2DBD73"/>
                </a:solidFill>
                <a:latin typeface="Arial"/>
                <a:ea typeface="Arial"/>
                <a:cs typeface="Arial"/>
              </a:defRPr>
            </a:lvl6pPr>
            <a:lvl7pPr algn="l">
              <a:defRPr sz="900" b="1" i="0">
                <a:solidFill>
                  <a:srgbClr val="2DBD73"/>
                </a:solidFill>
                <a:latin typeface="Arial"/>
                <a:ea typeface="Arial"/>
                <a:cs typeface="Arial"/>
              </a:defRPr>
            </a:lvl7pPr>
            <a:lvl8pPr algn="l">
              <a:defRPr sz="900" b="1" i="0">
                <a:solidFill>
                  <a:srgbClr val="2DBD73"/>
                </a:solidFill>
                <a:latin typeface="Arial"/>
                <a:ea typeface="Arial"/>
                <a:cs typeface="Arial"/>
              </a:defRPr>
            </a:lvl8pPr>
            <a:lvl9pPr algn="l">
              <a:defRPr sz="900" b="1" i="0">
                <a:solidFill>
                  <a:srgbClr val="2DBD73"/>
                </a:solidFill>
                <a:latin typeface="Arial"/>
                <a:ea typeface="Arial"/>
                <a:cs typeface="Arial"/>
              </a:defRPr>
            </a:lvl9pPr>
          </a:lstStyle>
          <a:p xmlns:a="http://schemas.openxmlformats.org/drawingml/2006/main">
            <a:pPr algn="l">
              <a:defRPr sz="900" b="1" i="0">
                <a:solidFill>
                  <a:srgbClr val="2DBD73"/>
                </a:solidFill>
                <a:latin typeface="Arial"/>
                <a:ea typeface="Arial"/>
                <a:cs typeface="Arial"/>
              </a:defRPr>
            </a:pPr>
            <a:r>
              <a:rPr sz="900" b="1" i="0">
                <a:solidFill>
                  <a:srgbClr val="2DBD73"/>
                </a:solidFill>
                <a:latin typeface="Arial"/>
                <a:ea typeface="Arial"/>
                <a:cs typeface="Arial"/>
              </a:rPr>
              <a:t>FIREWALL</a:t>
            </a:r>
          </a:p>
        </p:txBody>
      </p:sp>
      <p:sp>
        <p:nvSpPr>
          <p:cNvPr id="26" name="">
            <a:extLst xmlns:a="http://schemas.openxmlformats.org/drawingml/2006/main">
              <a:ext uri="{FF2B5EF4-FFF2-40B4-BE49-F238E27FC236}">
                <a16:creationId xmlns:a16="http://schemas.microsoft.com/office/drawing/2014/main" id="{25A59AA9-AD04-4C73-B5AC-5D8FDEE46DD2}"/>
              </a:ext>
            </a:extLst>
          </p:cNvPr>
          <p:cNvSpPr>
            <a:spLocks xmlns:a="http://schemas.openxmlformats.org/drawingml/2006/main" noGrp="1"/>
          </p:cNvSpPr>
          <p:nvPr/>
        </p:nvSpPr>
        <p:spPr>
          <a:xfrm xmlns:a="http://schemas.openxmlformats.org/drawingml/2006/main">
            <a:off x="8753475" y="2228850"/>
            <a:ext cx="27336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Protected labels: not read</a:t>
            </a:r>
          </a:p>
        </p:txBody>
      </p:sp>
      <p:sp>
        <p:nvSpPr>
          <p:cNvPr id="27" name="">
            <a:extLst xmlns:a="http://schemas.openxmlformats.org/drawingml/2006/main">
              <a:ext uri="{FF2B5EF4-FFF2-40B4-BE49-F238E27FC236}">
                <a16:creationId xmlns:a16="http://schemas.microsoft.com/office/drawing/2014/main" id="{8219E514-2F67-49D2-91CB-C9AFD4EF3412}"/>
              </a:ext>
            </a:extLst>
          </p:cNvPr>
          <p:cNvSpPr>
            <a:spLocks xmlns:a="http://schemas.openxmlformats.org/drawingml/2006/main" noGrp="1"/>
          </p:cNvSpPr>
          <p:nvPr/>
        </p:nvSpPr>
        <p:spPr>
          <a:xfrm xmlns:a="http://schemas.openxmlformats.org/drawingml/2006/main">
            <a:off x="8753475" y="2638425"/>
            <a:ext cx="2733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Public sequences only; no training or threshold selection</a:t>
            </a:r>
          </a:p>
        </p:txBody>
      </p:sp>
      <p:graphicFrame>
        <p:nvGraphicFramePr>
          <p:cNvPr id="28" name="">
            <a:extLst xmlns:a="http://schemas.openxmlformats.org/drawingml/2006/main">
              <a:ext uri="{FF2B5EF4-FFF2-40B4-BE49-F238E27FC236}">
                <a16:creationId xmlns:a16="http://schemas.microsoft.com/office/drawing/2014/main" id="{1F4BAAE8-F992-4A5C-9A40-C90B0CD2E224}"/>
              </a:ext>
            </a:extLst>
          </p:cNvPr>
          <p:cNvGraphicFramePr/>
          <p:nvPr/>
        </p:nvGraphicFramePr>
        <p:xfrm>
          <a:off xmlns:a="http://schemas.openxmlformats.org/drawingml/2006/main" x="514350" y="3552825"/>
          <a:ext xmlns:a="http://schemas.openxmlformats.org/drawingml/2006/main" cx="11163300" cy="2381250"/>
        </p:xfrm>
        <a:graphic xmlns:a="http://schemas.openxmlformats.org/drawingml/2006/main">
          <a:graphicData uri="http://schemas.openxmlformats.org/drawingml/2006/table">
            <a:tbl>
              <a:tblPr/>
              <a:tblGrid>
                <a:gridCol w="2428875"/>
                <a:gridCol w="6667500"/>
                <a:gridCol w="2066925"/>
              </a:tblGrid>
              <a:tr h="396875">
                <a:tc>
                  <a:txBody>
                    <a:bodyPr/>
                    <a:lstStyle/>
                    <a:p>
                      <a:r>
                        <a:rPr sz="900" b="1">
                          <a:solidFill>
                            <a:srgbClr val="FFFFFF"/>
                          </a:solidFill>
                          <a:latin typeface="Arial"/>
                          <a:ea typeface="Arial"/>
                          <a:cs typeface="Arial"/>
                        </a:rPr>
                        <a:t>Gate</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Recorded evidence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Outcome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396875">
                <a:tc>
                  <a:txBody>
                    <a:bodyPr/>
                    <a:lstStyle/>
                    <a:p>
                      <a:r>
                        <a:rPr sz="900">
                          <a:solidFill>
                            <a:srgbClr val="F4F7F5"/>
                          </a:solidFill>
                          <a:latin typeface="Arial"/>
                          <a:ea typeface="Arial"/>
                          <a:cs typeface="Arial"/>
                        </a:rPr>
                        <a:t>Matched predictor settings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AF2-ptm · seed 0 · templates off · same MSA mode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02720"/>
                    </a:solidFill>
                  </a:tcPr>
                </a:tc>
              </a:tr>
              <a:tr h="396875">
                <a:tc>
                  <a:txBody>
                    <a:bodyPr/>
                    <a:lstStyle/>
                    <a:p>
                      <a:r>
                        <a:rPr sz="900">
                          <a:solidFill>
                            <a:srgbClr val="F4F7F5"/>
                          </a:solidFill>
                          <a:latin typeface="Arial"/>
                          <a:ea typeface="Arial"/>
                          <a:cs typeface="Arial"/>
                        </a:rPr>
                        <a:t>Completeness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18/18 linker constructs · 90/90 rankable models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43128"/>
                    </a:solidFill>
                  </a:tcPr>
                </a:tc>
              </a:tr>
              <a:tr h="396875">
                <a:tc>
                  <a:txBody>
                    <a:bodyPr/>
                    <a:lstStyle/>
                    <a:p>
                      <a:r>
                        <a:rPr sz="900">
                          <a:solidFill>
                            <a:srgbClr val="F4F7F5"/>
                          </a:solidFill>
                          <a:latin typeface="Arial"/>
                          <a:ea typeface="Arial"/>
                          <a:cs typeface="Arial"/>
                        </a:rPr>
                        <a:t>Sequence identity</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Rank-1 PDB sequence checked against immutable input</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02720"/>
                    </a:solidFill>
                  </a:tcPr>
                </a:tc>
              </a:tr>
              <a:tr h="396875">
                <a:tc>
                  <a:txBody>
                    <a:bodyPr/>
                    <a:lstStyle/>
                    <a:p>
                      <a:r>
                        <a:rPr sz="900">
                          <a:solidFill>
                            <a:srgbClr val="F4F7F5"/>
                          </a:solidFill>
                          <a:latin typeface="Arial"/>
                          <a:ea typeface="Arial"/>
                          <a:cs typeface="Arial"/>
                        </a:rPr>
                        <a:t>Traceability</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PDB + score JSON paths and SHA-256 per result</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43128"/>
                    </a:solidFill>
                  </a:tcPr>
                </a:tc>
              </a:tr>
              <a:tr h="396875">
                <a:tc>
                  <a:txBody>
                    <a:bodyPr/>
                    <a:lstStyle/>
                    <a:p>
                      <a:r>
                        <a:rPr sz="900">
                          <a:solidFill>
                            <a:srgbClr val="F4F7F5"/>
                          </a:solidFill>
                          <a:latin typeface="Arial"/>
                          <a:ea typeface="Arial"/>
                          <a:cs typeface="Arial"/>
                        </a:rPr>
                        <a:t>Claim firewall</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No compatibility, function, stability, or optimality label</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Enforced</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Tree>
    <p:extLst>
      <p:ext uri="{BB962C8B-B14F-4D97-AF65-F5344CB8AC3E}">
        <p14:creationId xmlns:p14="http://schemas.microsoft.com/office/powerpoint/2010/main" val="2121594703"/>
      </p:ext>
    </p:extLst>
  </p:cSld>
</p:sld>
</file>

<file path=ppt/slides/slide24.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8DB2C79-F33B-49A9-9CD4-4DB3177F7F2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D33399-26C4-436A-984C-01ACE427CE73}"/>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899E21DA-1D05-4F36-B22C-89E81B1EDD34}"/>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D53388C8-4078-4A02-BC64-98E88E4386CF}"/>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Rank-1 AlphaFold2-ptm model; highest whole-fusion mean pLDDT among the 18 linker-containing constructs</a:t>
            </a:r>
          </a:p>
        </p:txBody>
      </p:sp>
      <p:sp>
        <p:nvSpPr>
          <p:cNvPr id="5" name="">
            <a:extLst xmlns:a="http://schemas.openxmlformats.org/drawingml/2006/main">
              <a:ext uri="{FF2B5EF4-FFF2-40B4-BE49-F238E27FC236}">
                <a16:creationId xmlns:a16="http://schemas.microsoft.com/office/drawing/2014/main" id="{FF110DDF-4AA3-4BAA-AB81-92C080E7DF48}"/>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24</a:t>
            </a:r>
          </a:p>
        </p:txBody>
      </p:sp>
      <p:sp>
        <p:nvSpPr>
          <p:cNvPr id="6" name="">
            <a:extLst xmlns:a="http://schemas.openxmlformats.org/drawingml/2006/main">
              <a:ext uri="{FF2B5EF4-FFF2-40B4-BE49-F238E27FC236}">
                <a16:creationId xmlns:a16="http://schemas.microsoft.com/office/drawing/2014/main" id="{9F967A6B-7CC2-433F-B4A9-5F3874FD4253}"/>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Highest-confidence linker-containing example</a:t>
            </a:r>
          </a:p>
        </p:txBody>
      </p:sp>
      <p:sp>
        <p:nvSpPr>
          <p:cNvPr id="7" name="">
            <a:extLst xmlns:a="http://schemas.openxmlformats.org/drawingml/2006/main">
              <a:ext uri="{FF2B5EF4-FFF2-40B4-BE49-F238E27FC236}">
                <a16:creationId xmlns:a16="http://schemas.microsoft.com/office/drawing/2014/main" id="{67E4DD79-93ED-42A8-8583-97C60CD34840}"/>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Crambin–BPTI with eaaak_15: EAAAKEAAAKEAAAK</a:t>
            </a:r>
          </a:p>
        </p:txBody>
      </p:sp>
      <p:pic>
        <p:nvPicPr>
          <p:cNvPr id="8" name="">
            <a:extLst xmlns:a="http://schemas.openxmlformats.org/drawingml/2006/main">
              <a:ext uri="{FF2B5EF4-FFF2-40B4-BE49-F238E27FC236}">
                <a16:creationId xmlns:a16="http://schemas.microsoft.com/office/drawing/2014/main" id="{706E0928-D847-4C3A-9D0E-CC6338DE33B9}"/>
              </a:ext>
            </a:extLst>
          </p:cNvPr>
          <p:cNvPicPr>
            <a:picLocks xmlns:a="http://schemas.openxmlformats.org/drawingml/2006/main" noChangeAspect="1"/>
          </p:cNvPicPr>
          <p:nvPr/>
        </p:nvPicPr>
        <p:blipFill>
          <a:blip xmlns:r="http://schemas.openxmlformats.org/officeDocument/2006/relationships" xmlns:a="http://schemas.openxmlformats.org/drawingml/2006/main" r:embed="Rf1a4a04d4f734213"/>
          <a:stretch xmlns:a="http://schemas.openxmlformats.org/drawingml/2006/main"/>
        </p:blipFill>
        <p:spPr>
          <a:xfrm xmlns:a="http://schemas.openxmlformats.org/drawingml/2006/main">
            <a:off x="734500" y="1543050"/>
            <a:ext cx="6636774" cy="4114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29F63C4-A332-496E-B1CD-760092682A84}"/>
              </a:ext>
            </a:extLst>
          </p:cNvPr>
          <p:cNvSpPr>
            <a:spLocks xmlns:a="http://schemas.openxmlformats.org/drawingml/2006/main" noGrp="1"/>
          </p:cNvSpPr>
          <p:nvPr/>
        </p:nvSpPr>
        <p:spPr>
          <a:xfrm xmlns:a="http://schemas.openxmlformats.org/drawingml/2006/main">
            <a:off x="990600" y="55149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DOMAIN A</a:t>
            </a:r>
          </a:p>
        </p:txBody>
      </p:sp>
      <p:sp>
        <p:nvSpPr>
          <p:cNvPr id="10" name="">
            <a:extLst xmlns:a="http://schemas.openxmlformats.org/drawingml/2006/main">
              <a:ext uri="{FF2B5EF4-FFF2-40B4-BE49-F238E27FC236}">
                <a16:creationId xmlns:a16="http://schemas.microsoft.com/office/drawing/2014/main" id="{C4C5A711-BCAC-4F7D-912E-F92388D4EFBF}"/>
              </a:ext>
            </a:extLst>
          </p:cNvPr>
          <p:cNvSpPr>
            <a:spLocks xmlns:a="http://schemas.openxmlformats.org/drawingml/2006/main" noGrp="1"/>
          </p:cNvSpPr>
          <p:nvPr/>
        </p:nvSpPr>
        <p:spPr>
          <a:xfrm xmlns:a="http://schemas.openxmlformats.org/drawingml/2006/main">
            <a:off x="2952750" y="55149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a:t>
            </a:r>
          </a:p>
        </p:txBody>
      </p:sp>
      <p:sp>
        <p:nvSpPr>
          <p:cNvPr id="11" name="">
            <a:extLst xmlns:a="http://schemas.openxmlformats.org/drawingml/2006/main">
              <a:ext uri="{FF2B5EF4-FFF2-40B4-BE49-F238E27FC236}">
                <a16:creationId xmlns:a16="http://schemas.microsoft.com/office/drawing/2014/main" id="{8C730122-39A5-4CA4-995F-5566C0F561E1}"/>
              </a:ext>
            </a:extLst>
          </p:cNvPr>
          <p:cNvSpPr>
            <a:spLocks xmlns:a="http://schemas.openxmlformats.org/drawingml/2006/main" noGrp="1"/>
          </p:cNvSpPr>
          <p:nvPr/>
        </p:nvSpPr>
        <p:spPr>
          <a:xfrm xmlns:a="http://schemas.openxmlformats.org/drawingml/2006/main">
            <a:off x="4953000" y="55149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46760"/>
                </a:solidFill>
                <a:latin typeface="Arial"/>
                <a:ea typeface="Arial"/>
                <a:cs typeface="Arial"/>
              </a:defRPr>
            </a:defPPr>
            <a:lvl1pPr algn="l">
              <a:defRPr sz="900" b="1" i="0">
                <a:solidFill>
                  <a:srgbClr val="E46760"/>
                </a:solidFill>
                <a:latin typeface="Arial"/>
                <a:ea typeface="Arial"/>
                <a:cs typeface="Arial"/>
              </a:defRPr>
            </a:lvl1pPr>
            <a:lvl2pPr algn="l">
              <a:defRPr sz="900" b="1" i="0">
                <a:solidFill>
                  <a:srgbClr val="E46760"/>
                </a:solidFill>
                <a:latin typeface="Arial"/>
                <a:ea typeface="Arial"/>
                <a:cs typeface="Arial"/>
              </a:defRPr>
            </a:lvl2pPr>
            <a:lvl3pPr algn="l">
              <a:defRPr sz="900" b="1" i="0">
                <a:solidFill>
                  <a:srgbClr val="E46760"/>
                </a:solidFill>
                <a:latin typeface="Arial"/>
                <a:ea typeface="Arial"/>
                <a:cs typeface="Arial"/>
              </a:defRPr>
            </a:lvl3pPr>
            <a:lvl4pPr algn="l">
              <a:defRPr sz="900" b="1" i="0">
                <a:solidFill>
                  <a:srgbClr val="E46760"/>
                </a:solidFill>
                <a:latin typeface="Arial"/>
                <a:ea typeface="Arial"/>
                <a:cs typeface="Arial"/>
              </a:defRPr>
            </a:lvl4pPr>
            <a:lvl5pPr algn="l">
              <a:defRPr sz="900" b="1" i="0">
                <a:solidFill>
                  <a:srgbClr val="E46760"/>
                </a:solidFill>
                <a:latin typeface="Arial"/>
                <a:ea typeface="Arial"/>
                <a:cs typeface="Arial"/>
              </a:defRPr>
            </a:lvl5pPr>
            <a:lvl6pPr algn="l">
              <a:defRPr sz="900" b="1" i="0">
                <a:solidFill>
                  <a:srgbClr val="E46760"/>
                </a:solidFill>
                <a:latin typeface="Arial"/>
                <a:ea typeface="Arial"/>
                <a:cs typeface="Arial"/>
              </a:defRPr>
            </a:lvl6pPr>
            <a:lvl7pPr algn="l">
              <a:defRPr sz="900" b="1" i="0">
                <a:solidFill>
                  <a:srgbClr val="E46760"/>
                </a:solidFill>
                <a:latin typeface="Arial"/>
                <a:ea typeface="Arial"/>
                <a:cs typeface="Arial"/>
              </a:defRPr>
            </a:lvl7pPr>
            <a:lvl8pPr algn="l">
              <a:defRPr sz="900" b="1" i="0">
                <a:solidFill>
                  <a:srgbClr val="E46760"/>
                </a:solidFill>
                <a:latin typeface="Arial"/>
                <a:ea typeface="Arial"/>
                <a:cs typeface="Arial"/>
              </a:defRPr>
            </a:lvl8pPr>
            <a:lvl9pPr algn="l">
              <a:defRPr sz="900" b="1" i="0">
                <a:solidFill>
                  <a:srgbClr val="E46760"/>
                </a:solidFill>
                <a:latin typeface="Arial"/>
                <a:ea typeface="Arial"/>
                <a:cs typeface="Arial"/>
              </a:defRPr>
            </a:lvl9pPr>
          </a:lstStyle>
          <a:p xmlns:a="http://schemas.openxmlformats.org/drawingml/2006/main">
            <a:pPr algn="l">
              <a:defRPr sz="900" b="1" i="0">
                <a:solidFill>
                  <a:srgbClr val="E46760"/>
                </a:solidFill>
                <a:latin typeface="Arial"/>
                <a:ea typeface="Arial"/>
                <a:cs typeface="Arial"/>
              </a:defRPr>
            </a:pPr>
            <a:r>
              <a:rPr sz="900" b="1" i="0">
                <a:solidFill>
                  <a:srgbClr val="E46760"/>
                </a:solidFill>
                <a:latin typeface="Arial"/>
                <a:ea typeface="Arial"/>
                <a:cs typeface="Arial"/>
              </a:rPr>
              <a:t>DOMAIN B</a:t>
            </a:r>
          </a:p>
        </p:txBody>
      </p:sp>
      <p:sp>
        <p:nvSpPr>
          <p:cNvPr id="12" name="">
            <a:extLst xmlns:a="http://schemas.openxmlformats.org/drawingml/2006/main">
              <a:ext uri="{FF2B5EF4-FFF2-40B4-BE49-F238E27FC236}">
                <a16:creationId xmlns:a16="http://schemas.microsoft.com/office/drawing/2014/main" id="{FA5C390D-97FE-4A94-B768-34EFCE8369BB}"/>
              </a:ext>
            </a:extLst>
          </p:cNvPr>
          <p:cNvSpPr>
            <a:spLocks xmlns:a="http://schemas.openxmlformats.org/drawingml/2006/main" noGrp="1"/>
          </p:cNvSpPr>
          <p:nvPr/>
        </p:nvSpPr>
        <p:spPr>
          <a:xfrm xmlns:a="http://schemas.openxmlformats.org/drawingml/2006/main">
            <a:off x="8096250" y="16859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681"/>
          </a:bodyPr>
          <a:lstStyle xmlns:a="http://schemas.openxmlformats.org/drawingml/2006/main">
            <a:defPPr algn="l">
              <a:defRPr sz="3450" b="1" i="0">
                <a:solidFill>
                  <a:srgbClr val="3FC6D6"/>
                </a:solidFill>
                <a:latin typeface="Arial"/>
                <a:ea typeface="Arial"/>
                <a:cs typeface="Arial"/>
              </a:defRPr>
            </a:defPPr>
            <a:lvl1pPr algn="l">
              <a:defRPr sz="3450" b="1" i="0">
                <a:solidFill>
                  <a:srgbClr val="3FC6D6"/>
                </a:solidFill>
                <a:latin typeface="Arial"/>
                <a:ea typeface="Arial"/>
                <a:cs typeface="Arial"/>
              </a:defRPr>
            </a:lvl1pPr>
            <a:lvl2pPr algn="l">
              <a:defRPr sz="3450" b="1" i="0">
                <a:solidFill>
                  <a:srgbClr val="3FC6D6"/>
                </a:solidFill>
                <a:latin typeface="Arial"/>
                <a:ea typeface="Arial"/>
                <a:cs typeface="Arial"/>
              </a:defRPr>
            </a:lvl2pPr>
            <a:lvl3pPr algn="l">
              <a:defRPr sz="3450" b="1" i="0">
                <a:solidFill>
                  <a:srgbClr val="3FC6D6"/>
                </a:solidFill>
                <a:latin typeface="Arial"/>
                <a:ea typeface="Arial"/>
                <a:cs typeface="Arial"/>
              </a:defRPr>
            </a:lvl3pPr>
            <a:lvl4pPr algn="l">
              <a:defRPr sz="3450" b="1" i="0">
                <a:solidFill>
                  <a:srgbClr val="3FC6D6"/>
                </a:solidFill>
                <a:latin typeface="Arial"/>
                <a:ea typeface="Arial"/>
                <a:cs typeface="Arial"/>
              </a:defRPr>
            </a:lvl4pPr>
            <a:lvl5pPr algn="l">
              <a:defRPr sz="3450" b="1" i="0">
                <a:solidFill>
                  <a:srgbClr val="3FC6D6"/>
                </a:solidFill>
                <a:latin typeface="Arial"/>
                <a:ea typeface="Arial"/>
                <a:cs typeface="Arial"/>
              </a:defRPr>
            </a:lvl5pPr>
            <a:lvl6pPr algn="l">
              <a:defRPr sz="3450" b="1" i="0">
                <a:solidFill>
                  <a:srgbClr val="3FC6D6"/>
                </a:solidFill>
                <a:latin typeface="Arial"/>
                <a:ea typeface="Arial"/>
                <a:cs typeface="Arial"/>
              </a:defRPr>
            </a:lvl6pPr>
            <a:lvl7pPr algn="l">
              <a:defRPr sz="3450" b="1" i="0">
                <a:solidFill>
                  <a:srgbClr val="3FC6D6"/>
                </a:solidFill>
                <a:latin typeface="Arial"/>
                <a:ea typeface="Arial"/>
                <a:cs typeface="Arial"/>
              </a:defRPr>
            </a:lvl7pPr>
            <a:lvl8pPr algn="l">
              <a:defRPr sz="3450" b="1" i="0">
                <a:solidFill>
                  <a:srgbClr val="3FC6D6"/>
                </a:solidFill>
                <a:latin typeface="Arial"/>
                <a:ea typeface="Arial"/>
                <a:cs typeface="Arial"/>
              </a:defRPr>
            </a:lvl8pPr>
            <a:lvl9pPr algn="l">
              <a:defRPr sz="3450" b="1" i="0">
                <a:solidFill>
                  <a:srgbClr val="3FC6D6"/>
                </a:solidFill>
                <a:latin typeface="Arial"/>
                <a:ea typeface="Arial"/>
                <a:cs typeface="Arial"/>
              </a:defRPr>
            </a:lvl9pPr>
          </a:lstStyle>
          <a:p xmlns:a="http://schemas.openxmlformats.org/drawingml/2006/main">
            <a:pPr algn="l">
              <a:defRPr sz="3450" b="1" i="0">
                <a:solidFill>
                  <a:srgbClr val="3FC6D6"/>
                </a:solidFill>
                <a:latin typeface="Arial"/>
                <a:ea typeface="Arial"/>
                <a:cs typeface="Arial"/>
              </a:defRPr>
            </a:pPr>
            <a:r>
              <a:rPr sz="3450" b="1" i="0">
                <a:solidFill>
                  <a:srgbClr val="3FC6D6"/>
                </a:solidFill>
                <a:latin typeface="Arial"/>
                <a:ea typeface="Arial"/>
                <a:cs typeface="Arial"/>
              </a:rPr>
              <a:t>93.8</a:t>
            </a:r>
          </a:p>
        </p:txBody>
      </p:sp>
      <p:sp>
        <p:nvSpPr>
          <p:cNvPr id="13" name="">
            <a:extLst xmlns:a="http://schemas.openxmlformats.org/drawingml/2006/main">
              <a:ext uri="{FF2B5EF4-FFF2-40B4-BE49-F238E27FC236}">
                <a16:creationId xmlns:a16="http://schemas.microsoft.com/office/drawing/2014/main" id="{4CE6EDF7-0E99-4A4B-9816-364C5D324F82}"/>
              </a:ext>
            </a:extLst>
          </p:cNvPr>
          <p:cNvSpPr>
            <a:spLocks xmlns:a="http://schemas.openxmlformats.org/drawingml/2006/main" noGrp="1"/>
          </p:cNvSpPr>
          <p:nvPr/>
        </p:nvSpPr>
        <p:spPr>
          <a:xfrm xmlns:a="http://schemas.openxmlformats.org/drawingml/2006/main">
            <a:off x="8096250" y="22002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AFC0B8"/>
                </a:solidFill>
                <a:latin typeface="Arial"/>
                <a:ea typeface="Arial"/>
                <a:cs typeface="Arial"/>
              </a:defRPr>
            </a:defPPr>
            <a:lvl1pPr algn="l">
              <a:defRPr sz="1200" b="1" i="0">
                <a:solidFill>
                  <a:srgbClr val="AFC0B8"/>
                </a:solidFill>
                <a:latin typeface="Arial"/>
                <a:ea typeface="Arial"/>
                <a:cs typeface="Arial"/>
              </a:defRPr>
            </a:lvl1pPr>
            <a:lvl2pPr algn="l">
              <a:defRPr sz="1200" b="1" i="0">
                <a:solidFill>
                  <a:srgbClr val="AFC0B8"/>
                </a:solidFill>
                <a:latin typeface="Arial"/>
                <a:ea typeface="Arial"/>
                <a:cs typeface="Arial"/>
              </a:defRPr>
            </a:lvl2pPr>
            <a:lvl3pPr algn="l">
              <a:defRPr sz="1200" b="1" i="0">
                <a:solidFill>
                  <a:srgbClr val="AFC0B8"/>
                </a:solidFill>
                <a:latin typeface="Arial"/>
                <a:ea typeface="Arial"/>
                <a:cs typeface="Arial"/>
              </a:defRPr>
            </a:lvl3pPr>
            <a:lvl4pPr algn="l">
              <a:defRPr sz="1200" b="1" i="0">
                <a:solidFill>
                  <a:srgbClr val="AFC0B8"/>
                </a:solidFill>
                <a:latin typeface="Arial"/>
                <a:ea typeface="Arial"/>
                <a:cs typeface="Arial"/>
              </a:defRPr>
            </a:lvl4pPr>
            <a:lvl5pPr algn="l">
              <a:defRPr sz="1200" b="1" i="0">
                <a:solidFill>
                  <a:srgbClr val="AFC0B8"/>
                </a:solidFill>
                <a:latin typeface="Arial"/>
                <a:ea typeface="Arial"/>
                <a:cs typeface="Arial"/>
              </a:defRPr>
            </a:lvl5pPr>
            <a:lvl6pPr algn="l">
              <a:defRPr sz="1200" b="1" i="0">
                <a:solidFill>
                  <a:srgbClr val="AFC0B8"/>
                </a:solidFill>
                <a:latin typeface="Arial"/>
                <a:ea typeface="Arial"/>
                <a:cs typeface="Arial"/>
              </a:defRPr>
            </a:lvl6pPr>
            <a:lvl7pPr algn="l">
              <a:defRPr sz="1200" b="1" i="0">
                <a:solidFill>
                  <a:srgbClr val="AFC0B8"/>
                </a:solidFill>
                <a:latin typeface="Arial"/>
                <a:ea typeface="Arial"/>
                <a:cs typeface="Arial"/>
              </a:defRPr>
            </a:lvl7pPr>
            <a:lvl8pPr algn="l">
              <a:defRPr sz="1200" b="1" i="0">
                <a:solidFill>
                  <a:srgbClr val="AFC0B8"/>
                </a:solidFill>
                <a:latin typeface="Arial"/>
                <a:ea typeface="Arial"/>
                <a:cs typeface="Arial"/>
              </a:defRPr>
            </a:lvl8pPr>
            <a:lvl9pPr algn="l">
              <a:defRPr sz="1200" b="1" i="0">
                <a:solidFill>
                  <a:srgbClr val="AFC0B8"/>
                </a:solidFill>
                <a:latin typeface="Arial"/>
                <a:ea typeface="Arial"/>
                <a:cs typeface="Arial"/>
              </a:defRPr>
            </a:lvl9pPr>
          </a:lstStyle>
          <a:p xmlns:a="http://schemas.openxmlformats.org/drawingml/2006/main">
            <a:pPr algn="l">
              <a:defRPr sz="1200" b="1" i="0">
                <a:solidFill>
                  <a:srgbClr val="AFC0B8"/>
                </a:solidFill>
                <a:latin typeface="Arial"/>
                <a:ea typeface="Arial"/>
                <a:cs typeface="Arial"/>
              </a:defRPr>
            </a:pPr>
            <a:r>
              <a:rPr sz="1200" b="1" i="0">
                <a:solidFill>
                  <a:srgbClr val="AFC0B8"/>
                </a:solidFill>
                <a:latin typeface="Arial"/>
                <a:ea typeface="Arial"/>
                <a:cs typeface="Arial"/>
              </a:rPr>
              <a:t>Fusion mean pLDDT</a:t>
            </a:r>
          </a:p>
        </p:txBody>
      </p:sp>
      <p:sp>
        <p:nvSpPr>
          <p:cNvPr id="14" name="">
            <a:extLst xmlns:a="http://schemas.openxmlformats.org/drawingml/2006/main">
              <a:ext uri="{FF2B5EF4-FFF2-40B4-BE49-F238E27FC236}">
                <a16:creationId xmlns:a16="http://schemas.microsoft.com/office/drawing/2014/main" id="{39F71627-8640-44E0-A314-B16A5E01B940}"/>
              </a:ext>
            </a:extLst>
          </p:cNvPr>
          <p:cNvSpPr>
            <a:spLocks xmlns:a="http://schemas.openxmlformats.org/drawingml/2006/main" noGrp="1"/>
          </p:cNvSpPr>
          <p:nvPr/>
        </p:nvSpPr>
        <p:spPr>
          <a:xfrm xmlns:a="http://schemas.openxmlformats.org/drawingml/2006/main">
            <a:off x="8096250" y="27241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E84AAB"/>
                </a:solidFill>
                <a:latin typeface="Arial"/>
                <a:ea typeface="Arial"/>
                <a:cs typeface="Arial"/>
              </a:defRPr>
            </a:defPPr>
            <a:lvl1pPr algn="l">
              <a:defRPr sz="1650" b="1" i="0">
                <a:solidFill>
                  <a:srgbClr val="E84AAB"/>
                </a:solidFill>
                <a:latin typeface="Arial"/>
                <a:ea typeface="Arial"/>
                <a:cs typeface="Arial"/>
              </a:defRPr>
            </a:lvl1pPr>
            <a:lvl2pPr algn="l">
              <a:defRPr sz="1650" b="1" i="0">
                <a:solidFill>
                  <a:srgbClr val="E84AAB"/>
                </a:solidFill>
                <a:latin typeface="Arial"/>
                <a:ea typeface="Arial"/>
                <a:cs typeface="Arial"/>
              </a:defRPr>
            </a:lvl2pPr>
            <a:lvl3pPr algn="l">
              <a:defRPr sz="1650" b="1" i="0">
                <a:solidFill>
                  <a:srgbClr val="E84AAB"/>
                </a:solidFill>
                <a:latin typeface="Arial"/>
                <a:ea typeface="Arial"/>
                <a:cs typeface="Arial"/>
              </a:defRPr>
            </a:lvl3pPr>
            <a:lvl4pPr algn="l">
              <a:defRPr sz="1650" b="1" i="0">
                <a:solidFill>
                  <a:srgbClr val="E84AAB"/>
                </a:solidFill>
                <a:latin typeface="Arial"/>
                <a:ea typeface="Arial"/>
                <a:cs typeface="Arial"/>
              </a:defRPr>
            </a:lvl4pPr>
            <a:lvl5pPr algn="l">
              <a:defRPr sz="1650" b="1" i="0">
                <a:solidFill>
                  <a:srgbClr val="E84AAB"/>
                </a:solidFill>
                <a:latin typeface="Arial"/>
                <a:ea typeface="Arial"/>
                <a:cs typeface="Arial"/>
              </a:defRPr>
            </a:lvl5pPr>
            <a:lvl6pPr algn="l">
              <a:defRPr sz="1650" b="1" i="0">
                <a:solidFill>
                  <a:srgbClr val="E84AAB"/>
                </a:solidFill>
                <a:latin typeface="Arial"/>
                <a:ea typeface="Arial"/>
                <a:cs typeface="Arial"/>
              </a:defRPr>
            </a:lvl6pPr>
            <a:lvl7pPr algn="l">
              <a:defRPr sz="1650" b="1" i="0">
                <a:solidFill>
                  <a:srgbClr val="E84AAB"/>
                </a:solidFill>
                <a:latin typeface="Arial"/>
                <a:ea typeface="Arial"/>
                <a:cs typeface="Arial"/>
              </a:defRPr>
            </a:lvl7pPr>
            <a:lvl8pPr algn="l">
              <a:defRPr sz="1650" b="1" i="0">
                <a:solidFill>
                  <a:srgbClr val="E84AAB"/>
                </a:solidFill>
                <a:latin typeface="Arial"/>
                <a:ea typeface="Arial"/>
                <a:cs typeface="Arial"/>
              </a:defRPr>
            </a:lvl8pPr>
            <a:lvl9pPr algn="l">
              <a:defRPr sz="1650" b="1" i="0">
                <a:solidFill>
                  <a:srgbClr val="E84AAB"/>
                </a:solidFill>
                <a:latin typeface="Arial"/>
                <a:ea typeface="Arial"/>
                <a:cs typeface="Arial"/>
              </a:defRPr>
            </a:lvl9pPr>
          </a:lstStyle>
          <a:p xmlns:a="http://schemas.openxmlformats.org/drawingml/2006/main">
            <a:pPr algn="l">
              <a:defRPr sz="1650" b="1" i="0">
                <a:solidFill>
                  <a:srgbClr val="E84AAB"/>
                </a:solidFill>
                <a:latin typeface="Arial"/>
                <a:ea typeface="Arial"/>
                <a:cs typeface="Arial"/>
              </a:defRPr>
            </a:pPr>
            <a:r>
              <a:rPr sz="1650" b="1" i="0">
                <a:solidFill>
                  <a:srgbClr val="E84AAB"/>
                </a:solidFill>
                <a:latin typeface="Arial"/>
                <a:ea typeface="Arial"/>
                <a:cs typeface="Arial"/>
              </a:rPr>
              <a:t>Linker pLDDT  84.9</a:t>
            </a:r>
          </a:p>
        </p:txBody>
      </p:sp>
      <p:sp>
        <p:nvSpPr>
          <p:cNvPr id="15" name="">
            <a:extLst xmlns:a="http://schemas.openxmlformats.org/drawingml/2006/main">
              <a:ext uri="{FF2B5EF4-FFF2-40B4-BE49-F238E27FC236}">
                <a16:creationId xmlns:a16="http://schemas.microsoft.com/office/drawing/2014/main" id="{FDD8744A-93CC-44A4-9472-3D662110E585}"/>
              </a:ext>
            </a:extLst>
          </p:cNvPr>
          <p:cNvSpPr>
            <a:spLocks xmlns:a="http://schemas.openxmlformats.org/drawingml/2006/main" noGrp="1"/>
          </p:cNvSpPr>
          <p:nvPr/>
        </p:nvSpPr>
        <p:spPr>
          <a:xfrm xmlns:a="http://schemas.openxmlformats.org/drawingml/2006/main">
            <a:off x="8096250" y="31813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4E9BEC"/>
                </a:solidFill>
                <a:latin typeface="Arial"/>
                <a:ea typeface="Arial"/>
                <a:cs typeface="Arial"/>
              </a:defRPr>
            </a:defPPr>
            <a:lvl1pPr algn="l">
              <a:defRPr sz="1650" b="1" i="0">
                <a:solidFill>
                  <a:srgbClr val="4E9BEC"/>
                </a:solidFill>
                <a:latin typeface="Arial"/>
                <a:ea typeface="Arial"/>
                <a:cs typeface="Arial"/>
              </a:defRPr>
            </a:lvl1pPr>
            <a:lvl2pPr algn="l">
              <a:defRPr sz="1650" b="1" i="0">
                <a:solidFill>
                  <a:srgbClr val="4E9BEC"/>
                </a:solidFill>
                <a:latin typeface="Arial"/>
                <a:ea typeface="Arial"/>
                <a:cs typeface="Arial"/>
              </a:defRPr>
            </a:lvl2pPr>
            <a:lvl3pPr algn="l">
              <a:defRPr sz="1650" b="1" i="0">
                <a:solidFill>
                  <a:srgbClr val="4E9BEC"/>
                </a:solidFill>
                <a:latin typeface="Arial"/>
                <a:ea typeface="Arial"/>
                <a:cs typeface="Arial"/>
              </a:defRPr>
            </a:lvl3pPr>
            <a:lvl4pPr algn="l">
              <a:defRPr sz="1650" b="1" i="0">
                <a:solidFill>
                  <a:srgbClr val="4E9BEC"/>
                </a:solidFill>
                <a:latin typeface="Arial"/>
                <a:ea typeface="Arial"/>
                <a:cs typeface="Arial"/>
              </a:defRPr>
            </a:lvl4pPr>
            <a:lvl5pPr algn="l">
              <a:defRPr sz="1650" b="1" i="0">
                <a:solidFill>
                  <a:srgbClr val="4E9BEC"/>
                </a:solidFill>
                <a:latin typeface="Arial"/>
                <a:ea typeface="Arial"/>
                <a:cs typeface="Arial"/>
              </a:defRPr>
            </a:lvl5pPr>
            <a:lvl6pPr algn="l">
              <a:defRPr sz="1650" b="1" i="0">
                <a:solidFill>
                  <a:srgbClr val="4E9BEC"/>
                </a:solidFill>
                <a:latin typeface="Arial"/>
                <a:ea typeface="Arial"/>
                <a:cs typeface="Arial"/>
              </a:defRPr>
            </a:lvl6pPr>
            <a:lvl7pPr algn="l">
              <a:defRPr sz="1650" b="1" i="0">
                <a:solidFill>
                  <a:srgbClr val="4E9BEC"/>
                </a:solidFill>
                <a:latin typeface="Arial"/>
                <a:ea typeface="Arial"/>
                <a:cs typeface="Arial"/>
              </a:defRPr>
            </a:lvl7pPr>
            <a:lvl8pPr algn="l">
              <a:defRPr sz="1650" b="1" i="0">
                <a:solidFill>
                  <a:srgbClr val="4E9BEC"/>
                </a:solidFill>
                <a:latin typeface="Arial"/>
                <a:ea typeface="Arial"/>
                <a:cs typeface="Arial"/>
              </a:defRPr>
            </a:lvl8pPr>
            <a:lvl9pPr algn="l">
              <a:defRPr sz="1650" b="1" i="0">
                <a:solidFill>
                  <a:srgbClr val="4E9BEC"/>
                </a:solidFill>
                <a:latin typeface="Arial"/>
                <a:ea typeface="Arial"/>
                <a:cs typeface="Arial"/>
              </a:defRPr>
            </a:lvl9pPr>
          </a:lstStyle>
          <a:p xmlns:a="http://schemas.openxmlformats.org/drawingml/2006/main">
            <a:pPr algn="l">
              <a:defRPr sz="1650" b="1" i="0">
                <a:solidFill>
                  <a:srgbClr val="4E9BEC"/>
                </a:solidFill>
                <a:latin typeface="Arial"/>
                <a:ea typeface="Arial"/>
                <a:cs typeface="Arial"/>
              </a:defRPr>
            </a:pPr>
            <a:r>
              <a:rPr sz="1650" b="1" i="0">
                <a:solidFill>
                  <a:srgbClr val="4E9BEC"/>
                </a:solidFill>
                <a:latin typeface="Arial"/>
                <a:ea typeface="Arial"/>
                <a:cs typeface="Arial"/>
              </a:rPr>
              <a:t>pTM  0.69</a:t>
            </a:r>
          </a:p>
        </p:txBody>
      </p:sp>
      <p:sp>
        <p:nvSpPr>
          <p:cNvPr id="16" name="">
            <a:extLst xmlns:a="http://schemas.openxmlformats.org/drawingml/2006/main">
              <a:ext uri="{FF2B5EF4-FFF2-40B4-BE49-F238E27FC236}">
                <a16:creationId xmlns:a16="http://schemas.microsoft.com/office/drawing/2014/main" id="{31447C80-CAF8-4C23-BCF2-BF7021D1AB25}"/>
              </a:ext>
            </a:extLst>
          </p:cNvPr>
          <p:cNvSpPr>
            <a:spLocks xmlns:a="http://schemas.openxmlformats.org/drawingml/2006/main" noGrp="1"/>
          </p:cNvSpPr>
          <p:nvPr/>
        </p:nvSpPr>
        <p:spPr>
          <a:xfrm xmlns:a="http://schemas.openxmlformats.org/drawingml/2006/main">
            <a:off x="8096250" y="36385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F1C84B"/>
                </a:solidFill>
                <a:latin typeface="Arial"/>
                <a:ea typeface="Arial"/>
                <a:cs typeface="Arial"/>
              </a:defRPr>
            </a:defPPr>
            <a:lvl1pPr algn="l">
              <a:defRPr sz="1650" b="1" i="0">
                <a:solidFill>
                  <a:srgbClr val="F1C84B"/>
                </a:solidFill>
                <a:latin typeface="Arial"/>
                <a:ea typeface="Arial"/>
                <a:cs typeface="Arial"/>
              </a:defRPr>
            </a:lvl1pPr>
            <a:lvl2pPr algn="l">
              <a:defRPr sz="1650" b="1" i="0">
                <a:solidFill>
                  <a:srgbClr val="F1C84B"/>
                </a:solidFill>
                <a:latin typeface="Arial"/>
                <a:ea typeface="Arial"/>
                <a:cs typeface="Arial"/>
              </a:defRPr>
            </a:lvl2pPr>
            <a:lvl3pPr algn="l">
              <a:defRPr sz="1650" b="1" i="0">
                <a:solidFill>
                  <a:srgbClr val="F1C84B"/>
                </a:solidFill>
                <a:latin typeface="Arial"/>
                <a:ea typeface="Arial"/>
                <a:cs typeface="Arial"/>
              </a:defRPr>
            </a:lvl3pPr>
            <a:lvl4pPr algn="l">
              <a:defRPr sz="1650" b="1" i="0">
                <a:solidFill>
                  <a:srgbClr val="F1C84B"/>
                </a:solidFill>
                <a:latin typeface="Arial"/>
                <a:ea typeface="Arial"/>
                <a:cs typeface="Arial"/>
              </a:defRPr>
            </a:lvl4pPr>
            <a:lvl5pPr algn="l">
              <a:defRPr sz="1650" b="1" i="0">
                <a:solidFill>
                  <a:srgbClr val="F1C84B"/>
                </a:solidFill>
                <a:latin typeface="Arial"/>
                <a:ea typeface="Arial"/>
                <a:cs typeface="Arial"/>
              </a:defRPr>
            </a:lvl5pPr>
            <a:lvl6pPr algn="l">
              <a:defRPr sz="1650" b="1" i="0">
                <a:solidFill>
                  <a:srgbClr val="F1C84B"/>
                </a:solidFill>
                <a:latin typeface="Arial"/>
                <a:ea typeface="Arial"/>
                <a:cs typeface="Arial"/>
              </a:defRPr>
            </a:lvl6pPr>
            <a:lvl7pPr algn="l">
              <a:defRPr sz="1650" b="1" i="0">
                <a:solidFill>
                  <a:srgbClr val="F1C84B"/>
                </a:solidFill>
                <a:latin typeface="Arial"/>
                <a:ea typeface="Arial"/>
                <a:cs typeface="Arial"/>
              </a:defRPr>
            </a:lvl7pPr>
            <a:lvl8pPr algn="l">
              <a:defRPr sz="1650" b="1" i="0">
                <a:solidFill>
                  <a:srgbClr val="F1C84B"/>
                </a:solidFill>
                <a:latin typeface="Arial"/>
                <a:ea typeface="Arial"/>
                <a:cs typeface="Arial"/>
              </a:defRPr>
            </a:lvl8pPr>
            <a:lvl9pPr algn="l">
              <a:defRPr sz="1650" b="1" i="0">
                <a:solidFill>
                  <a:srgbClr val="F1C84B"/>
                </a:solidFill>
                <a:latin typeface="Arial"/>
                <a:ea typeface="Arial"/>
                <a:cs typeface="Arial"/>
              </a:defRPr>
            </a:lvl9pPr>
          </a:lstStyle>
          <a:p xmlns:a="http://schemas.openxmlformats.org/drawingml/2006/main">
            <a:pPr algn="l">
              <a:defRPr sz="1650" b="1" i="0">
                <a:solidFill>
                  <a:srgbClr val="F1C84B"/>
                </a:solidFill>
                <a:latin typeface="Arial"/>
                <a:ea typeface="Arial"/>
                <a:cs typeface="Arial"/>
              </a:defRPr>
            </a:pPr>
            <a:r>
              <a:rPr sz="1650" b="1" i="0">
                <a:solidFill>
                  <a:srgbClr val="F1C84B"/>
                </a:solidFill>
                <a:latin typeface="Arial"/>
                <a:ea typeface="Arial"/>
                <a:cs typeface="Arial"/>
              </a:rPr>
              <a:t>Cross-domain PAE  9.7 Å</a:t>
            </a:r>
          </a:p>
        </p:txBody>
      </p:sp>
      <p:sp>
        <p:nvSpPr>
          <p:cNvPr id="17" name="">
            <a:extLst xmlns:a="http://schemas.openxmlformats.org/drawingml/2006/main">
              <a:ext uri="{FF2B5EF4-FFF2-40B4-BE49-F238E27FC236}">
                <a16:creationId xmlns:a16="http://schemas.microsoft.com/office/drawing/2014/main" id="{AA4E43F6-1BCC-4044-953C-DC7394C62733}"/>
              </a:ext>
            </a:extLst>
          </p:cNvPr>
          <p:cNvSpPr>
            <a:spLocks xmlns:a="http://schemas.openxmlformats.org/drawingml/2006/main" noGrp="1"/>
          </p:cNvSpPr>
          <p:nvPr/>
        </p:nvSpPr>
        <p:spPr>
          <a:xfrm xmlns:a="http://schemas.openxmlformats.org/drawingml/2006/main">
            <a:off x="8096250" y="4210050"/>
            <a:ext cx="328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187"/>
          </a:bodyPr>
          <a:lstStyle xmlns:a="http://schemas.openxmlformats.org/drawingml/2006/main">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xmlns:a="http://schemas.openxmlformats.org/drawingml/2006/main">
            <a:pPr algn="l">
              <a:defRPr sz="1200" b="1" i="0">
                <a:solidFill>
                  <a:srgbClr val="F4F7F5"/>
                </a:solidFill>
                <a:latin typeface="Arial"/>
                <a:ea typeface="Arial"/>
                <a:cs typeface="Arial"/>
              </a:defRPr>
            </a:pPr>
            <a:r>
              <a:rPr sz="1200" b="1" i="0">
                <a:solidFill>
                  <a:srgbClr val="F4F7F5"/>
                </a:solidFill>
                <a:latin typeface="Arial"/>
                <a:ea typeface="Arial"/>
                <a:cs typeface="Arial"/>
              </a:rPr>
              <a:t>Displayed rank 1 of 18 linker-containing constructs</a:t>
            </a:r>
          </a:p>
        </p:txBody>
      </p:sp>
      <p:sp>
        <p:nvSpPr>
          <p:cNvPr id="18" name="">
            <a:extLst xmlns:a="http://schemas.openxmlformats.org/drawingml/2006/main">
              <a:ext uri="{FF2B5EF4-FFF2-40B4-BE49-F238E27FC236}">
                <a16:creationId xmlns:a16="http://schemas.microsoft.com/office/drawing/2014/main" id="{3D1A3BF3-46CF-4279-8C62-6AF488F9C474}"/>
              </a:ext>
            </a:extLst>
          </p:cNvPr>
          <p:cNvSpPr>
            <a:spLocks xmlns:a="http://schemas.openxmlformats.org/drawingml/2006/main" noGrp="1"/>
          </p:cNvSpPr>
          <p:nvPr/>
        </p:nvSpPr>
        <p:spPr>
          <a:xfrm xmlns:a="http://schemas.openxmlformats.org/drawingml/2006/main">
            <a:off x="7905750" y="4819650"/>
            <a:ext cx="3619500" cy="1000125"/>
          </a:xfrm>
          <a:prstGeom xmlns:a="http://schemas.openxmlformats.org/drawingml/2006/main" prst="roundRect">
            <a:avLst>
              <a:gd name="adj" fmla="val 7619"/>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160B7547-34E4-45C0-9903-216C6D5A6925}"/>
              </a:ext>
            </a:extLst>
          </p:cNvPr>
          <p:cNvSpPr>
            <a:spLocks xmlns:a="http://schemas.openxmlformats.org/drawingml/2006/main" noGrp="1"/>
          </p:cNvSpPr>
          <p:nvPr/>
        </p:nvSpPr>
        <p:spPr>
          <a:xfrm xmlns:a="http://schemas.openxmlformats.org/drawingml/2006/main">
            <a:off x="8096250" y="4981575"/>
            <a:ext cx="323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1" i="0">
                <a:solidFill>
                  <a:srgbClr val="AFC0B8"/>
                </a:solidFill>
                <a:latin typeface="Arial"/>
                <a:ea typeface="Arial"/>
                <a:cs typeface="Arial"/>
              </a:defRPr>
            </a:defPPr>
            <a:lvl1pPr algn="l">
              <a:defRPr sz="1050" b="1" i="0">
                <a:solidFill>
                  <a:srgbClr val="AFC0B8"/>
                </a:solidFill>
                <a:latin typeface="Arial"/>
                <a:ea typeface="Arial"/>
                <a:cs typeface="Arial"/>
              </a:defRPr>
            </a:lvl1pPr>
            <a:lvl2pPr algn="l">
              <a:defRPr sz="1050" b="1" i="0">
                <a:solidFill>
                  <a:srgbClr val="AFC0B8"/>
                </a:solidFill>
                <a:latin typeface="Arial"/>
                <a:ea typeface="Arial"/>
                <a:cs typeface="Arial"/>
              </a:defRPr>
            </a:lvl2pPr>
            <a:lvl3pPr algn="l">
              <a:defRPr sz="1050" b="1" i="0">
                <a:solidFill>
                  <a:srgbClr val="AFC0B8"/>
                </a:solidFill>
                <a:latin typeface="Arial"/>
                <a:ea typeface="Arial"/>
                <a:cs typeface="Arial"/>
              </a:defRPr>
            </a:lvl3pPr>
            <a:lvl4pPr algn="l">
              <a:defRPr sz="1050" b="1" i="0">
                <a:solidFill>
                  <a:srgbClr val="AFC0B8"/>
                </a:solidFill>
                <a:latin typeface="Arial"/>
                <a:ea typeface="Arial"/>
                <a:cs typeface="Arial"/>
              </a:defRPr>
            </a:lvl4pPr>
            <a:lvl5pPr algn="l">
              <a:defRPr sz="1050" b="1" i="0">
                <a:solidFill>
                  <a:srgbClr val="AFC0B8"/>
                </a:solidFill>
                <a:latin typeface="Arial"/>
                <a:ea typeface="Arial"/>
                <a:cs typeface="Arial"/>
              </a:defRPr>
            </a:lvl5pPr>
            <a:lvl6pPr algn="l">
              <a:defRPr sz="1050" b="1" i="0">
                <a:solidFill>
                  <a:srgbClr val="AFC0B8"/>
                </a:solidFill>
                <a:latin typeface="Arial"/>
                <a:ea typeface="Arial"/>
                <a:cs typeface="Arial"/>
              </a:defRPr>
            </a:lvl6pPr>
            <a:lvl7pPr algn="l">
              <a:defRPr sz="1050" b="1" i="0">
                <a:solidFill>
                  <a:srgbClr val="AFC0B8"/>
                </a:solidFill>
                <a:latin typeface="Arial"/>
                <a:ea typeface="Arial"/>
                <a:cs typeface="Arial"/>
              </a:defRPr>
            </a:lvl7pPr>
            <a:lvl8pPr algn="l">
              <a:defRPr sz="1050" b="1" i="0">
                <a:solidFill>
                  <a:srgbClr val="AFC0B8"/>
                </a:solidFill>
                <a:latin typeface="Arial"/>
                <a:ea typeface="Arial"/>
                <a:cs typeface="Arial"/>
              </a:defRPr>
            </a:lvl8pPr>
            <a:lvl9pPr algn="l">
              <a:defRPr sz="1050" b="1" i="0">
                <a:solidFill>
                  <a:srgbClr val="AFC0B8"/>
                </a:solidFill>
                <a:latin typeface="Arial"/>
                <a:ea typeface="Arial"/>
                <a:cs typeface="Arial"/>
              </a:defRPr>
            </a:lvl9pPr>
          </a:lstStyle>
          <a:p xmlns:a="http://schemas.openxmlformats.org/drawingml/2006/main">
            <a:pPr algn="l">
              <a:defRPr sz="1050" b="1" i="0">
                <a:solidFill>
                  <a:srgbClr val="AFC0B8"/>
                </a:solidFill>
                <a:latin typeface="Arial"/>
                <a:ea typeface="Arial"/>
                <a:cs typeface="Arial"/>
              </a:defRPr>
            </a:pPr>
            <a:r>
              <a:rPr sz="1050" b="1" i="0">
                <a:solidFill>
                  <a:srgbClr val="AFC0B8"/>
                </a:solidFill>
                <a:latin typeface="Arial"/>
                <a:ea typeface="Arial"/>
                <a:cs typeface="Arial"/>
              </a:rPr>
              <a:t>Public inputs: PDB 1CRN chain A and PDB 4PTI chain A. Linker: EAAAKEAAAKEAAAK. Complete fusion: 119 residues.</a:t>
            </a:r>
          </a:p>
        </p:txBody>
      </p:sp>
      <p:sp>
        <p:nvSpPr>
          <p:cNvPr id="20" name="">
            <a:extLst xmlns:a="http://schemas.openxmlformats.org/drawingml/2006/main">
              <a:ext uri="{FF2B5EF4-FFF2-40B4-BE49-F238E27FC236}">
                <a16:creationId xmlns:a16="http://schemas.microsoft.com/office/drawing/2014/main" id="{0CB21BCC-4192-45F2-A781-A3F13F73D18C}"/>
              </a:ext>
            </a:extLst>
          </p:cNvPr>
          <p:cNvSpPr>
            <a:spLocks xmlns:a="http://schemas.openxmlformats.org/drawingml/2006/main" noGrp="1"/>
          </p:cNvSpPr>
          <p:nvPr/>
        </p:nvSpPr>
        <p:spPr>
          <a:xfrm xmlns:a="http://schemas.openxmlformats.org/drawingml/2006/main">
            <a:off x="552450" y="5953125"/>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00" b="1" i="0">
                <a:solidFill>
                  <a:srgbClr val="F1C84B"/>
                </a:solidFill>
                <a:latin typeface="Arial"/>
                <a:ea typeface="Arial"/>
                <a:cs typeface="Arial"/>
              </a:defRPr>
            </a:defPPr>
            <a:lvl1pPr algn="ctr">
              <a:defRPr sz="1200" b="1" i="0">
                <a:solidFill>
                  <a:srgbClr val="F1C84B"/>
                </a:solidFill>
                <a:latin typeface="Arial"/>
                <a:ea typeface="Arial"/>
                <a:cs typeface="Arial"/>
              </a:defRPr>
            </a:lvl1pPr>
            <a:lvl2pPr algn="ctr">
              <a:defRPr sz="1200" b="1" i="0">
                <a:solidFill>
                  <a:srgbClr val="F1C84B"/>
                </a:solidFill>
                <a:latin typeface="Arial"/>
                <a:ea typeface="Arial"/>
                <a:cs typeface="Arial"/>
              </a:defRPr>
            </a:lvl2pPr>
            <a:lvl3pPr algn="ctr">
              <a:defRPr sz="1200" b="1" i="0">
                <a:solidFill>
                  <a:srgbClr val="F1C84B"/>
                </a:solidFill>
                <a:latin typeface="Arial"/>
                <a:ea typeface="Arial"/>
                <a:cs typeface="Arial"/>
              </a:defRPr>
            </a:lvl3pPr>
            <a:lvl4pPr algn="ctr">
              <a:defRPr sz="1200" b="1" i="0">
                <a:solidFill>
                  <a:srgbClr val="F1C84B"/>
                </a:solidFill>
                <a:latin typeface="Arial"/>
                <a:ea typeface="Arial"/>
                <a:cs typeface="Arial"/>
              </a:defRPr>
            </a:lvl4pPr>
            <a:lvl5pPr algn="ctr">
              <a:defRPr sz="1200" b="1" i="0">
                <a:solidFill>
                  <a:srgbClr val="F1C84B"/>
                </a:solidFill>
                <a:latin typeface="Arial"/>
                <a:ea typeface="Arial"/>
                <a:cs typeface="Arial"/>
              </a:defRPr>
            </a:lvl5pPr>
            <a:lvl6pPr algn="ctr">
              <a:defRPr sz="1200" b="1" i="0">
                <a:solidFill>
                  <a:srgbClr val="F1C84B"/>
                </a:solidFill>
                <a:latin typeface="Arial"/>
                <a:ea typeface="Arial"/>
                <a:cs typeface="Arial"/>
              </a:defRPr>
            </a:lvl6pPr>
            <a:lvl7pPr algn="ctr">
              <a:defRPr sz="1200" b="1" i="0">
                <a:solidFill>
                  <a:srgbClr val="F1C84B"/>
                </a:solidFill>
                <a:latin typeface="Arial"/>
                <a:ea typeface="Arial"/>
                <a:cs typeface="Arial"/>
              </a:defRPr>
            </a:lvl7pPr>
            <a:lvl8pPr algn="ctr">
              <a:defRPr sz="1200" b="1" i="0">
                <a:solidFill>
                  <a:srgbClr val="F1C84B"/>
                </a:solidFill>
                <a:latin typeface="Arial"/>
                <a:ea typeface="Arial"/>
                <a:cs typeface="Arial"/>
              </a:defRPr>
            </a:lvl8pPr>
            <a:lvl9pPr algn="ctr">
              <a:defRPr sz="1200" b="1" i="0">
                <a:solidFill>
                  <a:srgbClr val="F1C84B"/>
                </a:solidFill>
                <a:latin typeface="Arial"/>
                <a:ea typeface="Arial"/>
                <a:cs typeface="Arial"/>
              </a:defRPr>
            </a:lvl9pPr>
          </a:lstStyle>
          <a:p xmlns:a="http://schemas.openxmlformats.org/drawingml/2006/main">
            <a:pPr algn="ctr">
              <a:defRPr sz="1200" b="1" i="0">
                <a:solidFill>
                  <a:srgbClr val="F1C84B"/>
                </a:solidFill>
                <a:latin typeface="Arial"/>
                <a:ea typeface="Arial"/>
                <a:cs typeface="Arial"/>
              </a:defRPr>
            </a:pPr>
            <a:r>
              <a:rPr sz="1200" b="1" i="0">
                <a:solidFill>
                  <a:srgbClr val="F1C84B"/>
                </a:solidFill>
                <a:latin typeface="Arial"/>
                <a:ea typeface="Arial"/>
                <a:cs typeface="Arial"/>
              </a:rPr>
              <a:t>Model confidence supports structural inspection. It does not prove expression, activity, stability, or linker superiority.</a:t>
            </a:r>
          </a:p>
        </p:txBody>
      </p:sp>
    </p:spTree>
    <p:extLst>
      <p:ext uri="{BB962C8B-B14F-4D97-AF65-F5344CB8AC3E}">
        <p14:creationId xmlns:p14="http://schemas.microsoft.com/office/powerpoint/2010/main" val="1924043376"/>
      </p:ext>
    </p:extLst>
  </p:cSld>
</p:sld>
</file>

<file path=ppt/slides/slide25.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1AB397A-61C2-4D8B-8C47-4B0D7C3E19C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B645991-2124-4BB4-B350-C5D48206DD10}"/>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BF24E0DC-C361-4EBA-8D3C-F7E48906A37A}"/>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MATCHED PUBLIC PANEL</a:t>
            </a:r>
          </a:p>
        </p:txBody>
      </p:sp>
      <p:sp>
        <p:nvSpPr>
          <p:cNvPr id="4" name="">
            <a:extLst xmlns:a="http://schemas.openxmlformats.org/drawingml/2006/main">
              <a:ext uri="{FF2B5EF4-FFF2-40B4-BE49-F238E27FC236}">
                <a16:creationId xmlns:a16="http://schemas.microsoft.com/office/drawing/2014/main" id="{83D273F9-8E1B-43F3-9808-DC0C12060320}"/>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Rank-1 AlphaFold2-ptm confidence; descriptive top linker-containing row per pair; all 18 linker constructs retained</a:t>
            </a:r>
          </a:p>
        </p:txBody>
      </p:sp>
      <p:sp>
        <p:nvSpPr>
          <p:cNvPr id="5" name="">
            <a:extLst xmlns:a="http://schemas.openxmlformats.org/drawingml/2006/main">
              <a:ext uri="{FF2B5EF4-FFF2-40B4-BE49-F238E27FC236}">
                <a16:creationId xmlns:a16="http://schemas.microsoft.com/office/drawing/2014/main" id="{D4C28ECE-662C-49F6-B382-9028A983AB17}"/>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25</a:t>
            </a:r>
          </a:p>
        </p:txBody>
      </p:sp>
      <p:sp>
        <p:nvSpPr>
          <p:cNvPr id="6" name="">
            <a:extLst xmlns:a="http://schemas.openxmlformats.org/drawingml/2006/main">
              <a:ext uri="{FF2B5EF4-FFF2-40B4-BE49-F238E27FC236}">
                <a16:creationId xmlns:a16="http://schemas.microsoft.com/office/drawing/2014/main" id="{C82C901C-339D-49B0-A7C3-3D1035BE0A83}"/>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Confidence comparison across three protein pairs</a:t>
            </a:r>
          </a:p>
        </p:txBody>
      </p:sp>
      <p:sp>
        <p:nvSpPr>
          <p:cNvPr id="7" name="">
            <a:extLst xmlns:a="http://schemas.openxmlformats.org/drawingml/2006/main">
              <a:ext uri="{FF2B5EF4-FFF2-40B4-BE49-F238E27FC236}">
                <a16:creationId xmlns:a16="http://schemas.microsoft.com/office/drawing/2014/main" id="{BE5ABFCB-2B1D-49D8-8F4C-CE524222CAAA}"/>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chart uses the highest linker-containing mean pLDDT observed for each pair</a:t>
            </a:r>
          </a:p>
        </p:txBody>
      </p:sp>
      <p:graphicFrame>
        <p:nvGraphicFramePr>
          <p:cNvPr id="8" name="Chart">
            <a:extLst xmlns:a="http://schemas.openxmlformats.org/drawingml/2006/main">
              <a:ext uri="{FF2B5EF4-FFF2-40B4-BE49-F238E27FC236}">
                <a16:creationId xmlns:a16="http://schemas.microsoft.com/office/drawing/2014/main" id="{8969774E-1592-4BDD-8A40-CCF17909D99B}"/>
              </a:ext>
            </a:extLst>
          </p:cNvPr>
          <p:cNvGraphicFramePr/>
          <p:nvPr/>
        </p:nvGraphicFramePr>
        <p:xfrm>
          <a:off xmlns:a="http://schemas.openxmlformats.org/drawingml/2006/main" x="533400" y="1638300"/>
          <a:ext xmlns:a="http://schemas.openxmlformats.org/drawingml/2006/main" cx="11125200" cy="3476625"/>
        </p:xfrm>
        <a:graphic xmlns:a="http://schemas.openxmlformats.org/drawingml/2006/main">
          <a:graphicData uri="http://schemas.openxmlformats.org/drawingml/2006/chart">
            <c:chart xmlns:r="http://schemas.openxmlformats.org/officeDocument/2006/relationships" xmlns:c="http://schemas.openxmlformats.org/drawingml/2006/chart" r:id="Rea1d84b748ce4776"/>
          </a:graphicData>
        </a:graphic>
      </p:graphicFrame>
      <p:sp>
        <p:nvSpPr>
          <p:cNvPr id="9" name="">
            <a:extLst xmlns:a="http://schemas.openxmlformats.org/drawingml/2006/main">
              <a:ext uri="{FF2B5EF4-FFF2-40B4-BE49-F238E27FC236}">
                <a16:creationId xmlns:a16="http://schemas.microsoft.com/office/drawing/2014/main" id="{ABD87657-F4CD-4095-BC69-1905E38EFE5C}"/>
              </a:ext>
            </a:extLst>
          </p:cNvPr>
          <p:cNvSpPr>
            <a:spLocks xmlns:a="http://schemas.openxmlformats.org/drawingml/2006/main" noGrp="1"/>
          </p:cNvSpPr>
          <p:nvPr/>
        </p:nvSpPr>
        <p:spPr>
          <a:xfrm xmlns:a="http://schemas.openxmlformats.org/drawingml/2006/main">
            <a:off x="533400" y="5372100"/>
            <a:ext cx="11125200" cy="781050"/>
          </a:xfrm>
          <a:prstGeom xmlns:a="http://schemas.openxmlformats.org/drawingml/2006/main" prst="roundRect">
            <a:avLst>
              <a:gd name="adj" fmla="val 9756"/>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9777F1BA-8178-432C-83A5-31F545BCDDDB}"/>
              </a:ext>
            </a:extLst>
          </p:cNvPr>
          <p:cNvSpPr>
            <a:spLocks xmlns:a="http://schemas.openxmlformats.org/drawingml/2006/main" noGrp="1"/>
          </p:cNvSpPr>
          <p:nvPr/>
        </p:nvSpPr>
        <p:spPr>
          <a:xfrm xmlns:a="http://schemas.openxmlformats.org/drawingml/2006/main">
            <a:off x="762000" y="55149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F1C84B"/>
                </a:solidFill>
                <a:latin typeface="Arial"/>
                <a:ea typeface="Arial"/>
                <a:cs typeface="Arial"/>
              </a:defRPr>
            </a:defPPr>
            <a:lvl1pPr algn="l">
              <a:defRPr sz="1125" b="1" i="0">
                <a:solidFill>
                  <a:srgbClr val="F1C84B"/>
                </a:solidFill>
                <a:latin typeface="Arial"/>
                <a:ea typeface="Arial"/>
                <a:cs typeface="Arial"/>
              </a:defRPr>
            </a:lvl1pPr>
            <a:lvl2pPr algn="l">
              <a:defRPr sz="1125" b="1" i="0">
                <a:solidFill>
                  <a:srgbClr val="F1C84B"/>
                </a:solidFill>
                <a:latin typeface="Arial"/>
                <a:ea typeface="Arial"/>
                <a:cs typeface="Arial"/>
              </a:defRPr>
            </a:lvl2pPr>
            <a:lvl3pPr algn="l">
              <a:defRPr sz="1125" b="1" i="0">
                <a:solidFill>
                  <a:srgbClr val="F1C84B"/>
                </a:solidFill>
                <a:latin typeface="Arial"/>
                <a:ea typeface="Arial"/>
                <a:cs typeface="Arial"/>
              </a:defRPr>
            </a:lvl3pPr>
            <a:lvl4pPr algn="l">
              <a:defRPr sz="1125" b="1" i="0">
                <a:solidFill>
                  <a:srgbClr val="F1C84B"/>
                </a:solidFill>
                <a:latin typeface="Arial"/>
                <a:ea typeface="Arial"/>
                <a:cs typeface="Arial"/>
              </a:defRPr>
            </a:lvl4pPr>
            <a:lvl5pPr algn="l">
              <a:defRPr sz="1125" b="1" i="0">
                <a:solidFill>
                  <a:srgbClr val="F1C84B"/>
                </a:solidFill>
                <a:latin typeface="Arial"/>
                <a:ea typeface="Arial"/>
                <a:cs typeface="Arial"/>
              </a:defRPr>
            </a:lvl5pPr>
            <a:lvl6pPr algn="l">
              <a:defRPr sz="1125" b="1" i="0">
                <a:solidFill>
                  <a:srgbClr val="F1C84B"/>
                </a:solidFill>
                <a:latin typeface="Arial"/>
                <a:ea typeface="Arial"/>
                <a:cs typeface="Arial"/>
              </a:defRPr>
            </a:lvl6pPr>
            <a:lvl7pPr algn="l">
              <a:defRPr sz="1125" b="1" i="0">
                <a:solidFill>
                  <a:srgbClr val="F1C84B"/>
                </a:solidFill>
                <a:latin typeface="Arial"/>
                <a:ea typeface="Arial"/>
                <a:cs typeface="Arial"/>
              </a:defRPr>
            </a:lvl7pPr>
            <a:lvl8pPr algn="l">
              <a:defRPr sz="1125" b="1" i="0">
                <a:solidFill>
                  <a:srgbClr val="F1C84B"/>
                </a:solidFill>
                <a:latin typeface="Arial"/>
                <a:ea typeface="Arial"/>
                <a:cs typeface="Arial"/>
              </a:defRPr>
            </a:lvl8pPr>
            <a:lvl9pPr algn="l">
              <a:defRPr sz="1125" b="1" i="0">
                <a:solidFill>
                  <a:srgbClr val="F1C84B"/>
                </a:solidFill>
                <a:latin typeface="Arial"/>
                <a:ea typeface="Arial"/>
                <a:cs typeface="Arial"/>
              </a:defRPr>
            </a:lvl9pPr>
          </a:lstStyle>
          <a:p xmlns:a="http://schemas.openxmlformats.org/drawingml/2006/main">
            <a:pPr algn="l">
              <a:defRPr sz="1125" b="1" i="0">
                <a:solidFill>
                  <a:srgbClr val="F1C84B"/>
                </a:solidFill>
                <a:latin typeface="Arial"/>
                <a:ea typeface="Arial"/>
                <a:cs typeface="Arial"/>
              </a:defRPr>
            </a:pPr>
            <a:r>
              <a:rPr sz="1125" b="1" i="0">
                <a:solidFill>
                  <a:srgbClr val="F1C84B"/>
                </a:solidFill>
                <a:latin typeface="Arial"/>
                <a:ea typeface="Arial"/>
                <a:cs typeface="Arial"/>
              </a:rPr>
              <a:t>Interpretation</a:t>
            </a:r>
          </a:p>
        </p:txBody>
      </p:sp>
      <p:sp>
        <p:nvSpPr>
          <p:cNvPr id="11" name="">
            <a:extLst xmlns:a="http://schemas.openxmlformats.org/drawingml/2006/main">
              <a:ext uri="{FF2B5EF4-FFF2-40B4-BE49-F238E27FC236}">
                <a16:creationId xmlns:a16="http://schemas.microsoft.com/office/drawing/2014/main" id="{E7C9D0AD-752C-466A-B2E2-F46E7ECD6DD7}"/>
              </a:ext>
            </a:extLst>
          </p:cNvPr>
          <p:cNvSpPr>
            <a:spLocks xmlns:a="http://schemas.openxmlformats.org/drawingml/2006/main" noGrp="1"/>
          </p:cNvSpPr>
          <p:nvPr/>
        </p:nvSpPr>
        <p:spPr>
          <a:xfrm xmlns:a="http://schemas.openxmlformats.org/drawingml/2006/main">
            <a:off x="2190750" y="5505450"/>
            <a:ext cx="9144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569"/>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These values compare model confidence under matched settings. They do not measure compatibility, stability, expression, or activity.</a:t>
            </a:r>
          </a:p>
        </p:txBody>
      </p:sp>
    </p:spTree>
    <p:extLst>
      <p:ext uri="{BB962C8B-B14F-4D97-AF65-F5344CB8AC3E}">
        <p14:creationId xmlns:p14="http://schemas.microsoft.com/office/powerpoint/2010/main" val="2040909480"/>
      </p:ext>
    </p:extLst>
  </p:cSld>
</p:sld>
</file>

<file path=ppt/slides/slide26.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2BCC172-BB96-4A65-963A-BF45B5E475B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0C3D26-1341-4565-BF86-16D2D02A1F3F}"/>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450C80A6-8247-44AB-A1CD-BA51193DC50F}"/>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3B5147D4-8B2B-41D1-8840-BBAADB1E403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1UBQ_2GB1; all six linker-containing conditions retained</a:t>
            </a:r>
          </a:p>
        </p:txBody>
      </p:sp>
      <p:sp>
        <p:nvSpPr>
          <p:cNvPr id="5" name="">
            <a:extLst xmlns:a="http://schemas.openxmlformats.org/drawingml/2006/main">
              <a:ext uri="{FF2B5EF4-FFF2-40B4-BE49-F238E27FC236}">
                <a16:creationId xmlns:a16="http://schemas.microsoft.com/office/drawing/2014/main" id="{9DE974C9-CAE3-43FC-83B6-80F895054A61}"/>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26</a:t>
            </a:r>
          </a:p>
        </p:txBody>
      </p:sp>
      <p:sp>
        <p:nvSpPr>
          <p:cNvPr id="6" name="">
            <a:extLst xmlns:a="http://schemas.openxmlformats.org/drawingml/2006/main">
              <a:ext uri="{FF2B5EF4-FFF2-40B4-BE49-F238E27FC236}">
                <a16:creationId xmlns:a16="http://schemas.microsoft.com/office/drawing/2014/main" id="{85EC92CA-0193-4779-8E0E-EE90051B84B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Ubiquitin–GB1: every linker condition</a:t>
            </a:r>
          </a:p>
        </p:txBody>
      </p:sp>
      <p:sp>
        <p:nvSpPr>
          <p:cNvPr id="7" name="">
            <a:extLst xmlns:a="http://schemas.openxmlformats.org/drawingml/2006/main">
              <a:ext uri="{FF2B5EF4-FFF2-40B4-BE49-F238E27FC236}">
                <a16:creationId xmlns:a16="http://schemas.microsoft.com/office/drawing/2014/main" id="{88826B7C-3030-48A8-BCA2-2942A993E32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1UBQ chain A + PDB 2GB1 chain 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C37427F3-7F26-45A8-B052-E673D532599E}"/>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87.9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50.9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48.6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21.1</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44.4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21.8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14</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82.7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39.0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0.53</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23.4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16</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81.7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37.7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22.8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17</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80.2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44.9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24.3</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8402D73C-A064-4605-ABEE-B6BFE0490562}"/>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1A72BBA6-D99B-4223-A4ED-0021BD472F0F}"/>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5D6B2A4A-D123-474C-8483-0AA0587174F7}"/>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940958825"/>
      </p:ext>
    </p:extLst>
  </p:cSld>
</p:sld>
</file>

<file path=ppt/slides/slide27.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1AA0BC2-1390-438A-AE29-FC35221679D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3783A38-5B24-4586-89C3-EDE7DD7AAB5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B67DE1AF-B147-4D62-8EE2-9FCD717CDBB5}"/>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1BC0400D-6A0E-49E6-8071-294977F9996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1CRN_4PTI; all six linker-containing conditions retained</a:t>
            </a:r>
          </a:p>
        </p:txBody>
      </p:sp>
      <p:sp>
        <p:nvSpPr>
          <p:cNvPr id="5" name="">
            <a:extLst xmlns:a="http://schemas.openxmlformats.org/drawingml/2006/main">
              <a:ext uri="{FF2B5EF4-FFF2-40B4-BE49-F238E27FC236}">
                <a16:creationId xmlns:a16="http://schemas.microsoft.com/office/drawing/2014/main" id="{44FB83C0-6EAA-46E5-8455-72E60AF2EA7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27</a:t>
            </a:r>
          </a:p>
        </p:txBody>
      </p:sp>
      <p:sp>
        <p:nvSpPr>
          <p:cNvPr id="6" name="">
            <a:extLst xmlns:a="http://schemas.openxmlformats.org/drawingml/2006/main">
              <a:ext uri="{FF2B5EF4-FFF2-40B4-BE49-F238E27FC236}">
                <a16:creationId xmlns:a16="http://schemas.microsoft.com/office/drawing/2014/main" id="{851AF42D-6132-4B5D-905E-43F536E9A1EE}"/>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Crambin–BPTI: every linker condition</a:t>
            </a:r>
          </a:p>
        </p:txBody>
      </p:sp>
      <p:sp>
        <p:nvSpPr>
          <p:cNvPr id="7" name="">
            <a:extLst xmlns:a="http://schemas.openxmlformats.org/drawingml/2006/main">
              <a:ext uri="{FF2B5EF4-FFF2-40B4-BE49-F238E27FC236}">
                <a16:creationId xmlns:a16="http://schemas.microsoft.com/office/drawing/2014/main" id="{020AB30F-6C58-46D7-B2CD-27D87ED0126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1CRN chain A (RCSB FASTA) + PDB 4PTI chain A (RCSB FASTA)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E25B7C3D-B192-4F25-9976-7323B297320A}"/>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93.8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0.69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0.60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16.2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9</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86.4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48.0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20.1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11</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85.0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60.9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52.3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13</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83.4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46.4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20.4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313AFFAB-1664-4277-AE44-A5F7D51F372B}"/>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025A55CC-F2C7-4BE0-AB07-C0BB5E05D230}"/>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DF6A702A-68C1-4158-9651-D429A58EF3E6}"/>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606888924"/>
      </p:ext>
    </p:extLst>
  </p:cSld>
</p:sld>
</file>

<file path=ppt/slides/slide28.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24FCB97-C3E8-4B27-9C40-C57F09715CD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9D83E8B-4516-45EE-A62B-8D1007E1BF99}"/>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968A549D-FB42-4B78-9661-79944D41B19F}"/>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25BC4D98-0A96-4796-93B8-F206E9B3811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1PGA_1LMB; all six linker-containing conditions retained</a:t>
            </a:r>
          </a:p>
        </p:txBody>
      </p:sp>
      <p:sp>
        <p:nvSpPr>
          <p:cNvPr id="5" name="">
            <a:extLst xmlns:a="http://schemas.openxmlformats.org/drawingml/2006/main">
              <a:ext uri="{FF2B5EF4-FFF2-40B4-BE49-F238E27FC236}">
                <a16:creationId xmlns:a16="http://schemas.microsoft.com/office/drawing/2014/main" id="{5E1C550F-E55B-491B-9B44-9051BC1AE71F}"/>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28</a:t>
            </a:r>
          </a:p>
        </p:txBody>
      </p:sp>
      <p:sp>
        <p:nvSpPr>
          <p:cNvPr id="6" name="">
            <a:extLst xmlns:a="http://schemas.openxmlformats.org/drawingml/2006/main">
              <a:ext uri="{FF2B5EF4-FFF2-40B4-BE49-F238E27FC236}">
                <a16:creationId xmlns:a16="http://schemas.microsoft.com/office/drawing/2014/main" id="{D6C652E8-2996-4C57-953C-488C5E61010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Protein G–repressor: every linker condition</a:t>
            </a:r>
          </a:p>
        </p:txBody>
      </p:sp>
      <p:sp>
        <p:nvSpPr>
          <p:cNvPr id="7" name="">
            <a:extLst xmlns:a="http://schemas.openxmlformats.org/drawingml/2006/main">
              <a:ext uri="{FF2B5EF4-FFF2-40B4-BE49-F238E27FC236}">
                <a16:creationId xmlns:a16="http://schemas.microsoft.com/office/drawing/2014/main" id="{1A300265-116A-46D6-A22F-AA09CDB3893A}"/>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1PGA chain A (RCSB FASTA) + PDB 1LMB protein chain C/D (RCSB FASTA)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E1FB1236-D944-42C3-9158-F8EA9AA68B6C}"/>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92.2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48.9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90.2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40.5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23.8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3</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89.7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52.8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0.56</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89.7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64.9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26.0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88.6</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36.9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26.0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6</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41.6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25.4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7</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56F16A13-D926-43F5-A253-E4C43DC1EF74}"/>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C5FBA50E-27AB-46E8-B84A-E2DC127BD252}"/>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833AC662-7FA6-4F3B-ADCD-921A155BD786}"/>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151706154"/>
      </p:ext>
    </p:extLst>
  </p:cSld>
</p:sld>
</file>

<file path=ppt/slides/slide29.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67670CB-5D91-462C-AC65-DD54EE09A2D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34CDF9F-26B1-42E9-A828-3779A2C732F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79F62AE7-4DAE-4E8A-B59D-DFC2C3C6D49C}"/>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INTERPRETATION</a:t>
            </a:r>
          </a:p>
        </p:txBody>
      </p:sp>
      <p:sp>
        <p:nvSpPr>
          <p:cNvPr id="4" name="">
            <a:extLst xmlns:a="http://schemas.openxmlformats.org/drawingml/2006/main">
              <a:ext uri="{FF2B5EF4-FFF2-40B4-BE49-F238E27FC236}">
                <a16:creationId xmlns:a16="http://schemas.microsoft.com/office/drawing/2014/main" id="{D6668A2C-2C43-4FE4-8F85-D0AE69B451CF}"/>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Metric definitions are taken from the versioned comparison JSON and AlphaFold/ColabFold output semantics</a:t>
            </a:r>
          </a:p>
        </p:txBody>
      </p:sp>
      <p:sp>
        <p:nvSpPr>
          <p:cNvPr id="5" name="">
            <a:extLst xmlns:a="http://schemas.openxmlformats.org/drawingml/2006/main">
              <a:ext uri="{FF2B5EF4-FFF2-40B4-BE49-F238E27FC236}">
                <a16:creationId xmlns:a16="http://schemas.microsoft.com/office/drawing/2014/main" id="{082D8702-F170-46CB-AF52-DA78C1E87DC0}"/>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29</a:t>
            </a:r>
          </a:p>
        </p:txBody>
      </p:sp>
      <p:sp>
        <p:nvSpPr>
          <p:cNvPr id="6" name="">
            <a:extLst xmlns:a="http://schemas.openxmlformats.org/drawingml/2006/main">
              <a:ext uri="{FF2B5EF4-FFF2-40B4-BE49-F238E27FC236}">
                <a16:creationId xmlns:a16="http://schemas.microsoft.com/office/drawing/2014/main" id="{2278C885-E223-48BB-9307-1289F95EBD3B}"/>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What the structure confidence does—and does not—mean</a:t>
            </a:r>
          </a:p>
        </p:txBody>
      </p:sp>
      <p:sp>
        <p:nvSpPr>
          <p:cNvPr id="7" name="">
            <a:extLst xmlns:a="http://schemas.openxmlformats.org/drawingml/2006/main">
              <a:ext uri="{FF2B5EF4-FFF2-40B4-BE49-F238E27FC236}">
                <a16:creationId xmlns:a16="http://schemas.microsoft.com/office/drawing/2014/main" id="{9BFE5D4F-CB76-4936-AE4E-4439FC30774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All four values come from ColabFold/AlphaFold2-ptm outputs, not from the proposed LinkerForge ranker</a:t>
            </a:r>
          </a:p>
        </p:txBody>
      </p:sp>
      <p:sp>
        <p:nvSpPr>
          <p:cNvPr id="8" name="">
            <a:extLst xmlns:a="http://schemas.openxmlformats.org/drawingml/2006/main">
              <a:ext uri="{FF2B5EF4-FFF2-40B4-BE49-F238E27FC236}">
                <a16:creationId xmlns:a16="http://schemas.microsoft.com/office/drawing/2014/main" id="{80947826-D267-4D71-A8ED-FE200F9663CA}"/>
              </a:ext>
            </a:extLst>
          </p:cNvPr>
          <p:cNvSpPr>
            <a:spLocks xmlns:a="http://schemas.openxmlformats.org/drawingml/2006/main" noGrp="1"/>
          </p:cNvSpPr>
          <p:nvPr/>
        </p:nvSpPr>
        <p:spPr>
          <a:xfrm xmlns:a="http://schemas.openxmlformats.org/drawingml/2006/main">
            <a:off x="514350" y="175260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E9AB39BD-B695-42C4-B610-EC7763AFDBC0}"/>
              </a:ext>
            </a:extLst>
          </p:cNvPr>
          <p:cNvSpPr>
            <a:spLocks xmlns:a="http://schemas.openxmlformats.org/drawingml/2006/main" noGrp="1"/>
          </p:cNvSpPr>
          <p:nvPr/>
        </p:nvSpPr>
        <p:spPr>
          <a:xfrm xmlns:a="http://schemas.openxmlformats.org/drawingml/2006/main">
            <a:off x="514350" y="1752600"/>
            <a:ext cx="57150" cy="14668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C87E8FA-7872-4CAE-A958-9B1C70FF055F}"/>
              </a:ext>
            </a:extLst>
          </p:cNvPr>
          <p:cNvSpPr>
            <a:spLocks xmlns:a="http://schemas.openxmlformats.org/drawingml/2006/main" noGrp="1"/>
          </p:cNvSpPr>
          <p:nvPr/>
        </p:nvSpPr>
        <p:spPr>
          <a:xfrm xmlns:a="http://schemas.openxmlformats.org/drawingml/2006/main">
            <a:off x="723900" y="192405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FUSION MEAN PLDDT</a:t>
            </a:r>
          </a:p>
        </p:txBody>
      </p:sp>
      <p:sp>
        <p:nvSpPr>
          <p:cNvPr id="11" name="">
            <a:extLst xmlns:a="http://schemas.openxmlformats.org/drawingml/2006/main">
              <a:ext uri="{FF2B5EF4-FFF2-40B4-BE49-F238E27FC236}">
                <a16:creationId xmlns:a16="http://schemas.microsoft.com/office/drawing/2014/main" id="{D53DD38E-99A1-4556-A58B-0282781F4955}"/>
              </a:ext>
            </a:extLst>
          </p:cNvPr>
          <p:cNvSpPr>
            <a:spLocks xmlns:a="http://schemas.openxmlformats.org/drawingml/2006/main" noGrp="1"/>
          </p:cNvSpPr>
          <p:nvPr/>
        </p:nvSpPr>
        <p:spPr>
          <a:xfrm xmlns:a="http://schemas.openxmlformats.org/drawingml/2006/main">
            <a:off x="723900" y="220980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Local-coordinate confidence</a:t>
            </a:r>
          </a:p>
        </p:txBody>
      </p:sp>
      <p:sp>
        <p:nvSpPr>
          <p:cNvPr id="12" name="">
            <a:extLst xmlns:a="http://schemas.openxmlformats.org/drawingml/2006/main">
              <a:ext uri="{FF2B5EF4-FFF2-40B4-BE49-F238E27FC236}">
                <a16:creationId xmlns:a16="http://schemas.microsoft.com/office/drawing/2014/main" id="{C244B040-43FB-4024-BF99-4A6FE3FC5C4A}"/>
              </a:ext>
            </a:extLst>
          </p:cNvPr>
          <p:cNvSpPr>
            <a:spLocks xmlns:a="http://schemas.openxmlformats.org/drawingml/2006/main" noGrp="1"/>
          </p:cNvSpPr>
          <p:nvPr/>
        </p:nvSpPr>
        <p:spPr>
          <a:xfrm xmlns:a="http://schemas.openxmlformats.org/drawingml/2006/main">
            <a:off x="723900" y="261937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Average over the complete fusion. High values do not establish function, expression, stability, or correct domain orientation.</a:t>
            </a:r>
          </a:p>
        </p:txBody>
      </p:sp>
      <p:sp>
        <p:nvSpPr>
          <p:cNvPr id="13" name="">
            <a:extLst xmlns:a="http://schemas.openxmlformats.org/drawingml/2006/main">
              <a:ext uri="{FF2B5EF4-FFF2-40B4-BE49-F238E27FC236}">
                <a16:creationId xmlns:a16="http://schemas.microsoft.com/office/drawing/2014/main" id="{29B7F381-13EC-4EA2-ADEB-D566584D9721}"/>
              </a:ext>
            </a:extLst>
          </p:cNvPr>
          <p:cNvSpPr>
            <a:spLocks xmlns:a="http://schemas.openxmlformats.org/drawingml/2006/main" noGrp="1"/>
          </p:cNvSpPr>
          <p:nvPr/>
        </p:nvSpPr>
        <p:spPr>
          <a:xfrm xmlns:a="http://schemas.openxmlformats.org/drawingml/2006/main">
            <a:off x="6343650" y="175260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4" name="">
            <a:extLst xmlns:a="http://schemas.openxmlformats.org/drawingml/2006/main">
              <a:ext uri="{FF2B5EF4-FFF2-40B4-BE49-F238E27FC236}">
                <a16:creationId xmlns:a16="http://schemas.microsoft.com/office/drawing/2014/main" id="{C8A44970-C1B4-4E61-9B9E-ABD9691B0F32}"/>
              </a:ext>
            </a:extLst>
          </p:cNvPr>
          <p:cNvSpPr>
            <a:spLocks xmlns:a="http://schemas.openxmlformats.org/drawingml/2006/main" noGrp="1"/>
          </p:cNvSpPr>
          <p:nvPr/>
        </p:nvSpPr>
        <p:spPr>
          <a:xfrm xmlns:a="http://schemas.openxmlformats.org/drawingml/2006/main">
            <a:off x="6343650" y="1752600"/>
            <a:ext cx="57150" cy="146685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25549E5-965B-41FA-A1E6-96EC5545687D}"/>
              </a:ext>
            </a:extLst>
          </p:cNvPr>
          <p:cNvSpPr>
            <a:spLocks xmlns:a="http://schemas.openxmlformats.org/drawingml/2006/main" noGrp="1"/>
          </p:cNvSpPr>
          <p:nvPr/>
        </p:nvSpPr>
        <p:spPr>
          <a:xfrm xmlns:a="http://schemas.openxmlformats.org/drawingml/2006/main">
            <a:off x="6553200" y="192405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 MEAN PLDDT</a:t>
            </a:r>
          </a:p>
        </p:txBody>
      </p:sp>
      <p:sp>
        <p:nvSpPr>
          <p:cNvPr id="16" name="">
            <a:extLst xmlns:a="http://schemas.openxmlformats.org/drawingml/2006/main">
              <a:ext uri="{FF2B5EF4-FFF2-40B4-BE49-F238E27FC236}">
                <a16:creationId xmlns:a16="http://schemas.microsoft.com/office/drawing/2014/main" id="{51D2DD25-61DA-42F9-A93D-CA8F51EA0A1C}"/>
              </a:ext>
            </a:extLst>
          </p:cNvPr>
          <p:cNvSpPr>
            <a:spLocks xmlns:a="http://schemas.openxmlformats.org/drawingml/2006/main" noGrp="1"/>
          </p:cNvSpPr>
          <p:nvPr/>
        </p:nvSpPr>
        <p:spPr>
          <a:xfrm xmlns:a="http://schemas.openxmlformats.org/drawingml/2006/main">
            <a:off x="6553200" y="220980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Inserted-residue confidence</a:t>
            </a:r>
          </a:p>
        </p:txBody>
      </p:sp>
      <p:sp>
        <p:nvSpPr>
          <p:cNvPr id="17" name="">
            <a:extLst xmlns:a="http://schemas.openxmlformats.org/drawingml/2006/main">
              <a:ext uri="{FF2B5EF4-FFF2-40B4-BE49-F238E27FC236}">
                <a16:creationId xmlns:a16="http://schemas.microsoft.com/office/drawing/2014/main" id="{FA6E6E42-864B-4664-AA17-9DF7C565E749}"/>
              </a:ext>
            </a:extLst>
          </p:cNvPr>
          <p:cNvSpPr>
            <a:spLocks xmlns:a="http://schemas.openxmlformats.org/drawingml/2006/main" noGrp="1"/>
          </p:cNvSpPr>
          <p:nvPr/>
        </p:nvSpPr>
        <p:spPr>
          <a:xfrm xmlns:a="http://schemas.openxmlformats.org/drawingml/2006/main">
            <a:off x="6553200" y="261937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Low values may be consistent with flexibility, but they do not prove flexibility or incompatibility.</a:t>
            </a:r>
          </a:p>
        </p:txBody>
      </p:sp>
      <p:sp>
        <p:nvSpPr>
          <p:cNvPr id="18" name="">
            <a:extLst xmlns:a="http://schemas.openxmlformats.org/drawingml/2006/main">
              <a:ext uri="{FF2B5EF4-FFF2-40B4-BE49-F238E27FC236}">
                <a16:creationId xmlns:a16="http://schemas.microsoft.com/office/drawing/2014/main" id="{70238934-B18B-431F-A40D-0B67973426E5}"/>
              </a:ext>
            </a:extLst>
          </p:cNvPr>
          <p:cNvSpPr>
            <a:spLocks xmlns:a="http://schemas.openxmlformats.org/drawingml/2006/main" noGrp="1"/>
          </p:cNvSpPr>
          <p:nvPr/>
        </p:nvSpPr>
        <p:spPr>
          <a:xfrm xmlns:a="http://schemas.openxmlformats.org/drawingml/2006/main">
            <a:off x="514350" y="348615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AA14C3F2-19AC-4522-8EE1-B22C17A69F54}"/>
              </a:ext>
            </a:extLst>
          </p:cNvPr>
          <p:cNvSpPr>
            <a:spLocks xmlns:a="http://schemas.openxmlformats.org/drawingml/2006/main" noGrp="1"/>
          </p:cNvSpPr>
          <p:nvPr/>
        </p:nvSpPr>
        <p:spPr>
          <a:xfrm xmlns:a="http://schemas.openxmlformats.org/drawingml/2006/main">
            <a:off x="514350" y="3486150"/>
            <a:ext cx="57150" cy="146685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A62E9B8-E230-41F8-A3D1-83C0C24F39E9}"/>
              </a:ext>
            </a:extLst>
          </p:cNvPr>
          <p:cNvSpPr>
            <a:spLocks xmlns:a="http://schemas.openxmlformats.org/drawingml/2006/main" noGrp="1"/>
          </p:cNvSpPr>
          <p:nvPr/>
        </p:nvSpPr>
        <p:spPr>
          <a:xfrm xmlns:a="http://schemas.openxmlformats.org/drawingml/2006/main">
            <a:off x="723900" y="365760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PTM</a:t>
            </a:r>
          </a:p>
        </p:txBody>
      </p:sp>
      <p:sp>
        <p:nvSpPr>
          <p:cNvPr id="21" name="">
            <a:extLst xmlns:a="http://schemas.openxmlformats.org/drawingml/2006/main">
              <a:ext uri="{FF2B5EF4-FFF2-40B4-BE49-F238E27FC236}">
                <a16:creationId xmlns:a16="http://schemas.microsoft.com/office/drawing/2014/main" id="{D85B7215-0EC3-4193-818F-361A8AC03600}"/>
              </a:ext>
            </a:extLst>
          </p:cNvPr>
          <p:cNvSpPr>
            <a:spLocks xmlns:a="http://schemas.openxmlformats.org/drawingml/2006/main" noGrp="1"/>
          </p:cNvSpPr>
          <p:nvPr/>
        </p:nvSpPr>
        <p:spPr>
          <a:xfrm xmlns:a="http://schemas.openxmlformats.org/drawingml/2006/main">
            <a:off x="723900" y="394335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Global topology confidence</a:t>
            </a:r>
          </a:p>
        </p:txBody>
      </p:sp>
      <p:sp>
        <p:nvSpPr>
          <p:cNvPr id="22" name="">
            <a:extLst xmlns:a="http://schemas.openxmlformats.org/drawingml/2006/main">
              <a:ext uri="{FF2B5EF4-FFF2-40B4-BE49-F238E27FC236}">
                <a16:creationId xmlns:a16="http://schemas.microsoft.com/office/drawing/2014/main" id="{1AD56710-3F84-4590-B0E9-2B766AA1E053}"/>
              </a:ext>
            </a:extLst>
          </p:cNvPr>
          <p:cNvSpPr>
            <a:spLocks xmlns:a="http://schemas.openxmlformats.org/drawingml/2006/main" noGrp="1"/>
          </p:cNvSpPr>
          <p:nvPr/>
        </p:nvSpPr>
        <p:spPr>
          <a:xfrm xmlns:a="http://schemas.openxmlformats.org/drawingml/2006/main">
            <a:off x="723900" y="435292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A model-level AlphaFold estimate. It is not a linker-specific success probability.</a:t>
            </a:r>
          </a:p>
        </p:txBody>
      </p:sp>
      <p:sp>
        <p:nvSpPr>
          <p:cNvPr id="23" name="">
            <a:extLst xmlns:a="http://schemas.openxmlformats.org/drawingml/2006/main">
              <a:ext uri="{FF2B5EF4-FFF2-40B4-BE49-F238E27FC236}">
                <a16:creationId xmlns:a16="http://schemas.microsoft.com/office/drawing/2014/main" id="{3FC679FD-F464-4343-BDF2-193DAA83ECDA}"/>
              </a:ext>
            </a:extLst>
          </p:cNvPr>
          <p:cNvSpPr>
            <a:spLocks xmlns:a="http://schemas.openxmlformats.org/drawingml/2006/main" noGrp="1"/>
          </p:cNvSpPr>
          <p:nvPr/>
        </p:nvSpPr>
        <p:spPr>
          <a:xfrm xmlns:a="http://schemas.openxmlformats.org/drawingml/2006/main">
            <a:off x="6343650" y="348615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24" name="">
            <a:extLst xmlns:a="http://schemas.openxmlformats.org/drawingml/2006/main">
              <a:ext uri="{FF2B5EF4-FFF2-40B4-BE49-F238E27FC236}">
                <a16:creationId xmlns:a16="http://schemas.microsoft.com/office/drawing/2014/main" id="{18944D11-47CE-47BF-80FD-1845ED788391}"/>
              </a:ext>
            </a:extLst>
          </p:cNvPr>
          <p:cNvSpPr>
            <a:spLocks xmlns:a="http://schemas.openxmlformats.org/drawingml/2006/main" noGrp="1"/>
          </p:cNvSpPr>
          <p:nvPr/>
        </p:nvSpPr>
        <p:spPr>
          <a:xfrm xmlns:a="http://schemas.openxmlformats.org/drawingml/2006/main">
            <a:off x="6343650" y="3486150"/>
            <a:ext cx="57150" cy="1466850"/>
          </a:xfrm>
          <a:prstGeom xmlns:a="http://schemas.openxmlformats.org/drawingml/2006/main" prst="rect">
            <a:avLst/>
          </a:prstGeom>
          <a:solidFill xmlns:a="http://schemas.openxmlformats.org/drawingml/2006/main">
            <a:srgbClr val="F1C84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ED56530-1785-40E1-80DD-AE4014C11BE1}"/>
              </a:ext>
            </a:extLst>
          </p:cNvPr>
          <p:cNvSpPr>
            <a:spLocks xmlns:a="http://schemas.openxmlformats.org/drawingml/2006/main" noGrp="1"/>
          </p:cNvSpPr>
          <p:nvPr/>
        </p:nvSpPr>
        <p:spPr>
          <a:xfrm xmlns:a="http://schemas.openxmlformats.org/drawingml/2006/main">
            <a:off x="6553200" y="365760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F1C84B"/>
                </a:solidFill>
                <a:latin typeface="Arial"/>
                <a:ea typeface="Arial"/>
                <a:cs typeface="Arial"/>
              </a:defRPr>
            </a:defPPr>
            <a:lvl1pPr algn="l">
              <a:defRPr sz="900" b="1" i="0">
                <a:solidFill>
                  <a:srgbClr val="F1C84B"/>
                </a:solidFill>
                <a:latin typeface="Arial"/>
                <a:ea typeface="Arial"/>
                <a:cs typeface="Arial"/>
              </a:defRPr>
            </a:lvl1pPr>
            <a:lvl2pPr algn="l">
              <a:defRPr sz="900" b="1" i="0">
                <a:solidFill>
                  <a:srgbClr val="F1C84B"/>
                </a:solidFill>
                <a:latin typeface="Arial"/>
                <a:ea typeface="Arial"/>
                <a:cs typeface="Arial"/>
              </a:defRPr>
            </a:lvl2pPr>
            <a:lvl3pPr algn="l">
              <a:defRPr sz="900" b="1" i="0">
                <a:solidFill>
                  <a:srgbClr val="F1C84B"/>
                </a:solidFill>
                <a:latin typeface="Arial"/>
                <a:ea typeface="Arial"/>
                <a:cs typeface="Arial"/>
              </a:defRPr>
            </a:lvl3pPr>
            <a:lvl4pPr algn="l">
              <a:defRPr sz="900" b="1" i="0">
                <a:solidFill>
                  <a:srgbClr val="F1C84B"/>
                </a:solidFill>
                <a:latin typeface="Arial"/>
                <a:ea typeface="Arial"/>
                <a:cs typeface="Arial"/>
              </a:defRPr>
            </a:lvl4pPr>
            <a:lvl5pPr algn="l">
              <a:defRPr sz="900" b="1" i="0">
                <a:solidFill>
                  <a:srgbClr val="F1C84B"/>
                </a:solidFill>
                <a:latin typeface="Arial"/>
                <a:ea typeface="Arial"/>
                <a:cs typeface="Arial"/>
              </a:defRPr>
            </a:lvl5pPr>
            <a:lvl6pPr algn="l">
              <a:defRPr sz="900" b="1" i="0">
                <a:solidFill>
                  <a:srgbClr val="F1C84B"/>
                </a:solidFill>
                <a:latin typeface="Arial"/>
                <a:ea typeface="Arial"/>
                <a:cs typeface="Arial"/>
              </a:defRPr>
            </a:lvl6pPr>
            <a:lvl7pPr algn="l">
              <a:defRPr sz="900" b="1" i="0">
                <a:solidFill>
                  <a:srgbClr val="F1C84B"/>
                </a:solidFill>
                <a:latin typeface="Arial"/>
                <a:ea typeface="Arial"/>
                <a:cs typeface="Arial"/>
              </a:defRPr>
            </a:lvl7pPr>
            <a:lvl8pPr algn="l">
              <a:defRPr sz="900" b="1" i="0">
                <a:solidFill>
                  <a:srgbClr val="F1C84B"/>
                </a:solidFill>
                <a:latin typeface="Arial"/>
                <a:ea typeface="Arial"/>
                <a:cs typeface="Arial"/>
              </a:defRPr>
            </a:lvl8pPr>
            <a:lvl9pPr algn="l">
              <a:defRPr sz="900" b="1" i="0">
                <a:solidFill>
                  <a:srgbClr val="F1C84B"/>
                </a:solidFill>
                <a:latin typeface="Arial"/>
                <a:ea typeface="Arial"/>
                <a:cs typeface="Arial"/>
              </a:defRPr>
            </a:lvl9pPr>
          </a:lstStyle>
          <a:p xmlns:a="http://schemas.openxmlformats.org/drawingml/2006/main">
            <a:pPr algn="l">
              <a:defRPr sz="900" b="1" i="0">
                <a:solidFill>
                  <a:srgbClr val="F1C84B"/>
                </a:solidFill>
                <a:latin typeface="Arial"/>
                <a:ea typeface="Arial"/>
                <a:cs typeface="Arial"/>
              </a:defRPr>
            </a:pPr>
            <a:r>
              <a:rPr sz="900" b="1" i="0">
                <a:solidFill>
                  <a:srgbClr val="F1C84B"/>
                </a:solidFill>
                <a:latin typeface="Arial"/>
                <a:ea typeface="Arial"/>
                <a:cs typeface="Arial"/>
              </a:rPr>
              <a:t>CROSS-DOMAIN PAE</a:t>
            </a:r>
          </a:p>
        </p:txBody>
      </p:sp>
      <p:sp>
        <p:nvSpPr>
          <p:cNvPr id="26" name="">
            <a:extLst xmlns:a="http://schemas.openxmlformats.org/drawingml/2006/main">
              <a:ext uri="{FF2B5EF4-FFF2-40B4-BE49-F238E27FC236}">
                <a16:creationId xmlns:a16="http://schemas.microsoft.com/office/drawing/2014/main" id="{384F678D-862C-46A0-A59D-0A0899EA3CC5}"/>
              </a:ext>
            </a:extLst>
          </p:cNvPr>
          <p:cNvSpPr>
            <a:spLocks xmlns:a="http://schemas.openxmlformats.org/drawingml/2006/main" noGrp="1"/>
          </p:cNvSpPr>
          <p:nvPr/>
        </p:nvSpPr>
        <p:spPr>
          <a:xfrm xmlns:a="http://schemas.openxmlformats.org/drawingml/2006/main">
            <a:off x="6553200" y="394335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Relative-placement uncertainty</a:t>
            </a:r>
          </a:p>
        </p:txBody>
      </p:sp>
      <p:sp>
        <p:nvSpPr>
          <p:cNvPr id="27" name="">
            <a:extLst xmlns:a="http://schemas.openxmlformats.org/drawingml/2006/main">
              <a:ext uri="{FF2B5EF4-FFF2-40B4-BE49-F238E27FC236}">
                <a16:creationId xmlns:a16="http://schemas.microsoft.com/office/drawing/2014/main" id="{B40AC460-1CA4-4C6B-BA3E-B17578B6F6A3}"/>
              </a:ext>
            </a:extLst>
          </p:cNvPr>
          <p:cNvSpPr>
            <a:spLocks xmlns:a="http://schemas.openxmlformats.org/drawingml/2006/main" noGrp="1"/>
          </p:cNvSpPr>
          <p:nvPr/>
        </p:nvSpPr>
        <p:spPr>
          <a:xfrm xmlns:a="http://schemas.openxmlformats.org/drawingml/2006/main">
            <a:off x="6553200" y="435292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Mean bidirectional Domain A↔Domain B PAE. Lower values imply more confident relative placement, not validated activity.</a:t>
            </a:r>
          </a:p>
        </p:txBody>
      </p:sp>
      <p:sp>
        <p:nvSpPr>
          <p:cNvPr id="28" name="">
            <a:extLst xmlns:a="http://schemas.openxmlformats.org/drawingml/2006/main">
              <a:ext uri="{FF2B5EF4-FFF2-40B4-BE49-F238E27FC236}">
                <a16:creationId xmlns:a16="http://schemas.microsoft.com/office/drawing/2014/main" id="{D6F4CE61-71C1-4A73-AA34-AEBA1E8712F3}"/>
              </a:ext>
            </a:extLst>
          </p:cNvPr>
          <p:cNvSpPr>
            <a:spLocks xmlns:a="http://schemas.openxmlformats.org/drawingml/2006/main" noGrp="1"/>
          </p:cNvSpPr>
          <p:nvPr/>
        </p:nvSpPr>
        <p:spPr>
          <a:xfrm xmlns:a="http://schemas.openxmlformats.org/drawingml/2006/main">
            <a:off x="514350" y="5314950"/>
            <a:ext cx="11163300" cy="819150"/>
          </a:xfrm>
          <a:prstGeom xmlns:a="http://schemas.openxmlformats.org/drawingml/2006/main" prst="roundRect">
            <a:avLst>
              <a:gd name="adj" fmla="val 9302"/>
            </a:avLst>
          </a:prstGeom>
          <a:solidFill xmlns:a="http://schemas.openxmlformats.org/drawingml/2006/main">
            <a:srgbClr val="102720"/>
          </a:solidFill>
          <a:ln xmlns:a="http://schemas.openxmlformats.org/drawingml/2006/main" w="9525">
            <a:solidFill>
              <a:srgbClr val="E46760"/>
            </a:solidFill>
            <a:prstDash val="solid"/>
          </a:ln>
        </p:spPr>
      </p:sp>
      <p:sp>
        <p:nvSpPr>
          <p:cNvPr id="29" name="">
            <a:extLst xmlns:a="http://schemas.openxmlformats.org/drawingml/2006/main">
              <a:ext uri="{FF2B5EF4-FFF2-40B4-BE49-F238E27FC236}">
                <a16:creationId xmlns:a16="http://schemas.microsoft.com/office/drawing/2014/main" id="{911E1E85-9B58-451C-946C-9A965D224A78}"/>
              </a:ext>
            </a:extLst>
          </p:cNvPr>
          <p:cNvSpPr>
            <a:spLocks xmlns:a="http://schemas.openxmlformats.org/drawingml/2006/main" noGrp="1"/>
          </p:cNvSpPr>
          <p:nvPr/>
        </p:nvSpPr>
        <p:spPr>
          <a:xfrm xmlns:a="http://schemas.openxmlformats.org/drawingml/2006/main">
            <a:off x="742950" y="54864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E46760"/>
                </a:solidFill>
                <a:latin typeface="Arial"/>
                <a:ea typeface="Arial"/>
                <a:cs typeface="Arial"/>
              </a:defRPr>
            </a:defPPr>
            <a:lvl1pPr algn="l">
              <a:defRPr sz="1125" b="1" i="0">
                <a:solidFill>
                  <a:srgbClr val="E46760"/>
                </a:solidFill>
                <a:latin typeface="Arial"/>
                <a:ea typeface="Arial"/>
                <a:cs typeface="Arial"/>
              </a:defRPr>
            </a:lvl1pPr>
            <a:lvl2pPr algn="l">
              <a:defRPr sz="1125" b="1" i="0">
                <a:solidFill>
                  <a:srgbClr val="E46760"/>
                </a:solidFill>
                <a:latin typeface="Arial"/>
                <a:ea typeface="Arial"/>
                <a:cs typeface="Arial"/>
              </a:defRPr>
            </a:lvl2pPr>
            <a:lvl3pPr algn="l">
              <a:defRPr sz="1125" b="1" i="0">
                <a:solidFill>
                  <a:srgbClr val="E46760"/>
                </a:solidFill>
                <a:latin typeface="Arial"/>
                <a:ea typeface="Arial"/>
                <a:cs typeface="Arial"/>
              </a:defRPr>
            </a:lvl3pPr>
            <a:lvl4pPr algn="l">
              <a:defRPr sz="1125" b="1" i="0">
                <a:solidFill>
                  <a:srgbClr val="E46760"/>
                </a:solidFill>
                <a:latin typeface="Arial"/>
                <a:ea typeface="Arial"/>
                <a:cs typeface="Arial"/>
              </a:defRPr>
            </a:lvl4pPr>
            <a:lvl5pPr algn="l">
              <a:defRPr sz="1125" b="1" i="0">
                <a:solidFill>
                  <a:srgbClr val="E46760"/>
                </a:solidFill>
                <a:latin typeface="Arial"/>
                <a:ea typeface="Arial"/>
                <a:cs typeface="Arial"/>
              </a:defRPr>
            </a:lvl5pPr>
            <a:lvl6pPr algn="l">
              <a:defRPr sz="1125" b="1" i="0">
                <a:solidFill>
                  <a:srgbClr val="E46760"/>
                </a:solidFill>
                <a:latin typeface="Arial"/>
                <a:ea typeface="Arial"/>
                <a:cs typeface="Arial"/>
              </a:defRPr>
            </a:lvl6pPr>
            <a:lvl7pPr algn="l">
              <a:defRPr sz="1125" b="1" i="0">
                <a:solidFill>
                  <a:srgbClr val="E46760"/>
                </a:solidFill>
                <a:latin typeface="Arial"/>
                <a:ea typeface="Arial"/>
                <a:cs typeface="Arial"/>
              </a:defRPr>
            </a:lvl7pPr>
            <a:lvl8pPr algn="l">
              <a:defRPr sz="1125" b="1" i="0">
                <a:solidFill>
                  <a:srgbClr val="E46760"/>
                </a:solidFill>
                <a:latin typeface="Arial"/>
                <a:ea typeface="Arial"/>
                <a:cs typeface="Arial"/>
              </a:defRPr>
            </a:lvl8pPr>
            <a:lvl9pPr algn="l">
              <a:defRPr sz="1125" b="1" i="0">
                <a:solidFill>
                  <a:srgbClr val="E46760"/>
                </a:solidFill>
                <a:latin typeface="Arial"/>
                <a:ea typeface="Arial"/>
                <a:cs typeface="Arial"/>
              </a:defRPr>
            </a:lvl9pPr>
          </a:lstStyle>
          <a:p xmlns:a="http://schemas.openxmlformats.org/drawingml/2006/main">
            <a:pPr algn="l">
              <a:defRPr sz="1125" b="1" i="0">
                <a:solidFill>
                  <a:srgbClr val="E46760"/>
                </a:solidFill>
                <a:latin typeface="Arial"/>
                <a:ea typeface="Arial"/>
                <a:cs typeface="Arial"/>
              </a:defRPr>
            </a:pPr>
            <a:r>
              <a:rPr sz="1125" b="1" i="0">
                <a:solidFill>
                  <a:srgbClr val="E46760"/>
                </a:solidFill>
                <a:latin typeface="Arial"/>
                <a:ea typeface="Arial"/>
                <a:cs typeface="Arial"/>
              </a:rPr>
              <a:t>Permitted claim</a:t>
            </a:r>
          </a:p>
        </p:txBody>
      </p:sp>
      <p:sp>
        <p:nvSpPr>
          <p:cNvPr id="30" name="">
            <a:extLst xmlns:a="http://schemas.openxmlformats.org/drawingml/2006/main">
              <a:ext uri="{FF2B5EF4-FFF2-40B4-BE49-F238E27FC236}">
                <a16:creationId xmlns:a16="http://schemas.microsoft.com/office/drawing/2014/main" id="{2C2E939B-6524-47DA-AC66-EC03DE6E8809}"/>
              </a:ext>
            </a:extLst>
          </p:cNvPr>
          <p:cNvSpPr>
            <a:spLocks xmlns:a="http://schemas.openxmlformats.org/drawingml/2006/main" noGrp="1"/>
          </p:cNvSpPr>
          <p:nvPr/>
        </p:nvSpPr>
        <p:spPr>
          <a:xfrm xmlns:a="http://schemas.openxmlformats.org/drawingml/2006/main">
            <a:off x="2286000" y="5429250"/>
            <a:ext cx="90963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This panel demonstrates repeatable structure prediction and confidence extraction across public constructs only.</a:t>
            </a:r>
          </a:p>
        </p:txBody>
      </p:sp>
    </p:spTree>
    <p:extLst>
      <p:ext uri="{BB962C8B-B14F-4D97-AF65-F5344CB8AC3E}">
        <p14:creationId xmlns:p14="http://schemas.microsoft.com/office/powerpoint/2010/main" val="247412220"/>
      </p:ext>
    </p:extLst>
  </p:cSld>
</p:sld>
</file>

<file path=ppt/slides/slide30.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4A00BFCF-6370-439E-B5E2-DE5334E2BF8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0B2171B-F955-42C9-B316-995F0D90762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AA7E633C-D911-4186-AD3A-02C30BC53DCD}"/>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REPRODUCIBILITY</a:t>
            </a:r>
          </a:p>
        </p:txBody>
      </p:sp>
      <p:sp>
        <p:nvSpPr>
          <p:cNvPr id="4" name="">
            <a:extLst xmlns:a="http://schemas.openxmlformats.org/drawingml/2006/main">
              <a:ext uri="{FF2B5EF4-FFF2-40B4-BE49-F238E27FC236}">
                <a16:creationId xmlns:a16="http://schemas.microsoft.com/office/drawing/2014/main" id="{60888B64-6E38-417E-9045-5B6212249E6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Versioned JSON + CSV + exact PDB/score files + SHA-256 hashes; generated only after full-panel completion</a:t>
            </a:r>
          </a:p>
        </p:txBody>
      </p:sp>
      <p:sp>
        <p:nvSpPr>
          <p:cNvPr id="5" name="">
            <a:extLst xmlns:a="http://schemas.openxmlformats.org/drawingml/2006/main">
              <a:ext uri="{FF2B5EF4-FFF2-40B4-BE49-F238E27FC236}">
                <a16:creationId xmlns:a16="http://schemas.microsoft.com/office/drawing/2014/main" id="{8FFC14C1-5860-48D9-92A0-A37603945D68}"/>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30</a:t>
            </a:r>
          </a:p>
        </p:txBody>
      </p:sp>
      <p:sp>
        <p:nvSpPr>
          <p:cNvPr id="6" name="">
            <a:extLst xmlns:a="http://schemas.openxmlformats.org/drawingml/2006/main">
              <a:ext uri="{FF2B5EF4-FFF2-40B4-BE49-F238E27FC236}">
                <a16:creationId xmlns:a16="http://schemas.microsoft.com/office/drawing/2014/main" id="{8161B0AD-47B6-450D-B8F9-97B9790AFC79}"/>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Acceptance evidence can be traced back to every file</a:t>
            </a:r>
          </a:p>
        </p:txBody>
      </p:sp>
      <p:sp>
        <p:nvSpPr>
          <p:cNvPr id="7" name="">
            <a:extLst xmlns:a="http://schemas.openxmlformats.org/drawingml/2006/main">
              <a:ext uri="{FF2B5EF4-FFF2-40B4-BE49-F238E27FC236}">
                <a16:creationId xmlns:a16="http://schemas.microsoft.com/office/drawing/2014/main" id="{BA441F5D-2757-4D9E-9047-C9BC594AB54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slide deck is a view of the run artifacts—not the sole scientific record</a:t>
            </a:r>
          </a:p>
        </p:txBody>
      </p:sp>
      <p:sp>
        <p:nvSpPr>
          <p:cNvPr id="8" name="">
            <a:extLst xmlns:a="http://schemas.openxmlformats.org/drawingml/2006/main">
              <a:ext uri="{FF2B5EF4-FFF2-40B4-BE49-F238E27FC236}">
                <a16:creationId xmlns:a16="http://schemas.microsoft.com/office/drawing/2014/main" id="{BB200B90-F1F2-4AAF-BE14-E3862F14F212}"/>
              </a:ext>
            </a:extLst>
          </p:cNvPr>
          <p:cNvSpPr>
            <a:spLocks xmlns:a="http://schemas.openxmlformats.org/drawingml/2006/main" noGrp="1"/>
          </p:cNvSpPr>
          <p:nvPr/>
        </p:nvSpPr>
        <p:spPr>
          <a:xfrm xmlns:a="http://schemas.openxmlformats.org/drawingml/2006/main">
            <a:off x="514350" y="163830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5420EFCA-0666-45F4-A0F9-BD5B3BC57366}"/>
              </a:ext>
            </a:extLst>
          </p:cNvPr>
          <p:cNvSpPr>
            <a:spLocks xmlns:a="http://schemas.openxmlformats.org/drawingml/2006/main" noGrp="1"/>
          </p:cNvSpPr>
          <p:nvPr/>
        </p:nvSpPr>
        <p:spPr>
          <a:xfrm xmlns:a="http://schemas.openxmlformats.org/drawingml/2006/main">
            <a:off x="685800" y="1781175"/>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39EF386-3DEB-4D6F-903A-836DE42FCEFE}"/>
              </a:ext>
            </a:extLst>
          </p:cNvPr>
          <p:cNvSpPr>
            <a:spLocks xmlns:a="http://schemas.openxmlformats.org/drawingml/2006/main" noGrp="1"/>
          </p:cNvSpPr>
          <p:nvPr/>
        </p:nvSpPr>
        <p:spPr>
          <a:xfrm xmlns:a="http://schemas.openxmlformats.org/drawingml/2006/main">
            <a:off x="685800" y="18573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41C26054-BDA9-4105-9E71-ECBD82C69552}"/>
              </a:ext>
            </a:extLst>
          </p:cNvPr>
          <p:cNvSpPr>
            <a:spLocks xmlns:a="http://schemas.openxmlformats.org/drawingml/2006/main" noGrp="1"/>
          </p:cNvSpPr>
          <p:nvPr/>
        </p:nvSpPr>
        <p:spPr>
          <a:xfrm xmlns:a="http://schemas.openxmlformats.org/drawingml/2006/main">
            <a:off x="1295400" y="176212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Immutable inputs</a:t>
            </a:r>
          </a:p>
        </p:txBody>
      </p:sp>
      <p:sp>
        <p:nvSpPr>
          <p:cNvPr id="12" name="">
            <a:extLst xmlns:a="http://schemas.openxmlformats.org/drawingml/2006/main">
              <a:ext uri="{FF2B5EF4-FFF2-40B4-BE49-F238E27FC236}">
                <a16:creationId xmlns:a16="http://schemas.microsoft.com/office/drawing/2014/main" id="{1D8A0C54-87E5-49FD-9BBA-A8F3B695EA16}"/>
              </a:ext>
            </a:extLst>
          </p:cNvPr>
          <p:cNvSpPr>
            <a:spLocks xmlns:a="http://schemas.openxmlformats.org/drawingml/2006/main" noGrp="1"/>
          </p:cNvSpPr>
          <p:nvPr/>
        </p:nvSpPr>
        <p:spPr>
          <a:xfrm xmlns:a="http://schemas.openxmlformats.org/drawingml/2006/main">
            <a:off x="3429000" y="17526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panel.fasta + panel_manifest.json</a:t>
            </a:r>
          </a:p>
        </p:txBody>
      </p:sp>
      <p:sp>
        <p:nvSpPr>
          <p:cNvPr id="13" name="">
            <a:extLst xmlns:a="http://schemas.openxmlformats.org/drawingml/2006/main">
              <a:ext uri="{FF2B5EF4-FFF2-40B4-BE49-F238E27FC236}">
                <a16:creationId xmlns:a16="http://schemas.microsoft.com/office/drawing/2014/main" id="{EC0F4817-0567-4CFF-9CFC-974030ED79B8}"/>
              </a:ext>
            </a:extLst>
          </p:cNvPr>
          <p:cNvSpPr>
            <a:spLocks xmlns:a="http://schemas.openxmlformats.org/drawingml/2006/main" noGrp="1"/>
          </p:cNvSpPr>
          <p:nvPr/>
        </p:nvSpPr>
        <p:spPr>
          <a:xfrm xmlns:a="http://schemas.openxmlformats.org/drawingml/2006/main">
            <a:off x="7686675" y="174307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Sequence hashes, public sources, matched settings</a:t>
            </a:r>
          </a:p>
        </p:txBody>
      </p:sp>
      <p:sp>
        <p:nvSpPr>
          <p:cNvPr id="14" name="">
            <a:extLst xmlns:a="http://schemas.openxmlformats.org/drawingml/2006/main">
              <a:ext uri="{FF2B5EF4-FFF2-40B4-BE49-F238E27FC236}">
                <a16:creationId xmlns:a16="http://schemas.microsoft.com/office/drawing/2014/main" id="{DCAD8C5F-C270-45FB-B679-96018F2B252D}"/>
              </a:ext>
            </a:extLst>
          </p:cNvPr>
          <p:cNvSpPr>
            <a:spLocks xmlns:a="http://schemas.openxmlformats.org/drawingml/2006/main" noGrp="1"/>
          </p:cNvSpPr>
          <p:nvPr/>
        </p:nvSpPr>
        <p:spPr>
          <a:xfrm xmlns:a="http://schemas.openxmlformats.org/drawingml/2006/main">
            <a:off x="514350" y="2486025"/>
            <a:ext cx="11163300" cy="685800"/>
          </a:xfrm>
          <a:prstGeom xmlns:a="http://schemas.openxmlformats.org/drawingml/2006/main" prst="roundRect">
            <a:avLst>
              <a:gd name="adj" fmla="val 11111"/>
            </a:avLst>
          </a:prstGeom>
          <a:solidFill xmlns:a="http://schemas.openxmlformats.org/drawingml/2006/main">
            <a:srgbClr val="143128"/>
          </a:solidFill>
          <a:ln xmlns:a="http://schemas.openxmlformats.org/drawingml/2006/main" w="9525">
            <a:solidFill>
              <a:srgbClr val="29433A"/>
            </a:solidFill>
            <a:prstDash val="solid"/>
          </a:ln>
        </p:spPr>
      </p:sp>
      <p:sp>
        <p:nvSpPr>
          <p:cNvPr id="15" name="">
            <a:extLst xmlns:a="http://schemas.openxmlformats.org/drawingml/2006/main">
              <a:ext uri="{FF2B5EF4-FFF2-40B4-BE49-F238E27FC236}">
                <a16:creationId xmlns:a16="http://schemas.microsoft.com/office/drawing/2014/main" id="{BF240414-311E-4270-BE0D-E0EC20DDFC73}"/>
              </a:ext>
            </a:extLst>
          </p:cNvPr>
          <p:cNvSpPr>
            <a:spLocks xmlns:a="http://schemas.openxmlformats.org/drawingml/2006/main" noGrp="1"/>
          </p:cNvSpPr>
          <p:nvPr/>
        </p:nvSpPr>
        <p:spPr>
          <a:xfrm xmlns:a="http://schemas.openxmlformats.org/drawingml/2006/main">
            <a:off x="685800" y="262890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CD3C855-8C2D-43C1-8DA5-90DC257FA619}"/>
              </a:ext>
            </a:extLst>
          </p:cNvPr>
          <p:cNvSpPr>
            <a:spLocks xmlns:a="http://schemas.openxmlformats.org/drawingml/2006/main" noGrp="1"/>
          </p:cNvSpPr>
          <p:nvPr/>
        </p:nvSpPr>
        <p:spPr>
          <a:xfrm xmlns:a="http://schemas.openxmlformats.org/drawingml/2006/main">
            <a:off x="685800" y="27051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526FC48D-A80E-4EA9-B14D-8B6AAFD4D677}"/>
              </a:ext>
            </a:extLst>
          </p:cNvPr>
          <p:cNvSpPr>
            <a:spLocks xmlns:a="http://schemas.openxmlformats.org/drawingml/2006/main" noGrp="1"/>
          </p:cNvSpPr>
          <p:nvPr/>
        </p:nvSpPr>
        <p:spPr>
          <a:xfrm xmlns:a="http://schemas.openxmlformats.org/drawingml/2006/main">
            <a:off x="1295400" y="26098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Displayed predictions</a:t>
            </a:r>
          </a:p>
        </p:txBody>
      </p:sp>
      <p:sp>
        <p:nvSpPr>
          <p:cNvPr id="18" name="">
            <a:extLst xmlns:a="http://schemas.openxmlformats.org/drawingml/2006/main">
              <a:ext uri="{FF2B5EF4-FFF2-40B4-BE49-F238E27FC236}">
                <a16:creationId xmlns:a16="http://schemas.microsoft.com/office/drawing/2014/main" id="{BDA0FC26-5818-4AE7-873F-A6A3BCFDF178}"/>
              </a:ext>
            </a:extLst>
          </p:cNvPr>
          <p:cNvSpPr>
            <a:spLocks xmlns:a="http://schemas.openxmlformats.org/drawingml/2006/main" noGrp="1"/>
          </p:cNvSpPr>
          <p:nvPr/>
        </p:nvSpPr>
        <p:spPr>
          <a:xfrm xmlns:a="http://schemas.openxmlformats.org/drawingml/2006/main">
            <a:off x="3429000" y="260032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90 score JSON files + 90 PDB models</a:t>
            </a:r>
          </a:p>
        </p:txBody>
      </p:sp>
      <p:sp>
        <p:nvSpPr>
          <p:cNvPr id="19" name="">
            <a:extLst xmlns:a="http://schemas.openxmlformats.org/drawingml/2006/main">
              <a:ext uri="{FF2B5EF4-FFF2-40B4-BE49-F238E27FC236}">
                <a16:creationId xmlns:a16="http://schemas.microsoft.com/office/drawing/2014/main" id="{0C511770-5CDF-46FA-BAC4-5208A1E25E2C}"/>
              </a:ext>
            </a:extLst>
          </p:cNvPr>
          <p:cNvSpPr>
            <a:spLocks xmlns:a="http://schemas.openxmlformats.org/drawingml/2006/main" noGrp="1"/>
          </p:cNvSpPr>
          <p:nvPr/>
        </p:nvSpPr>
        <p:spPr>
          <a:xfrm xmlns:a="http://schemas.openxmlformats.org/drawingml/2006/main">
            <a:off x="7686675" y="2590800"/>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Five models per linker construct; rank-1 path retained</a:t>
            </a:r>
          </a:p>
        </p:txBody>
      </p:sp>
      <p:sp>
        <p:nvSpPr>
          <p:cNvPr id="20" name="">
            <a:extLst xmlns:a="http://schemas.openxmlformats.org/drawingml/2006/main">
              <a:ext uri="{FF2B5EF4-FFF2-40B4-BE49-F238E27FC236}">
                <a16:creationId xmlns:a16="http://schemas.microsoft.com/office/drawing/2014/main" id="{E62313C6-BCDF-4168-89F2-F22B0A39D40A}"/>
              </a:ext>
            </a:extLst>
          </p:cNvPr>
          <p:cNvSpPr>
            <a:spLocks xmlns:a="http://schemas.openxmlformats.org/drawingml/2006/main" noGrp="1"/>
          </p:cNvSpPr>
          <p:nvPr/>
        </p:nvSpPr>
        <p:spPr>
          <a:xfrm xmlns:a="http://schemas.openxmlformats.org/drawingml/2006/main">
            <a:off x="514350" y="333375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21" name="">
            <a:extLst xmlns:a="http://schemas.openxmlformats.org/drawingml/2006/main">
              <a:ext uri="{FF2B5EF4-FFF2-40B4-BE49-F238E27FC236}">
                <a16:creationId xmlns:a16="http://schemas.microsoft.com/office/drawing/2014/main" id="{77261901-498F-428D-B1E8-5B05F4C4E682}"/>
              </a:ext>
            </a:extLst>
          </p:cNvPr>
          <p:cNvSpPr>
            <a:spLocks xmlns:a="http://schemas.openxmlformats.org/drawingml/2006/main" noGrp="1"/>
          </p:cNvSpPr>
          <p:nvPr/>
        </p:nvSpPr>
        <p:spPr>
          <a:xfrm xmlns:a="http://schemas.openxmlformats.org/drawingml/2006/main">
            <a:off x="685800" y="3476625"/>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A437E77-5124-47F1-80D5-9D417491D3F9}"/>
              </a:ext>
            </a:extLst>
          </p:cNvPr>
          <p:cNvSpPr>
            <a:spLocks xmlns:a="http://schemas.openxmlformats.org/drawingml/2006/main" noGrp="1"/>
          </p:cNvSpPr>
          <p:nvPr/>
        </p:nvSpPr>
        <p:spPr>
          <a:xfrm xmlns:a="http://schemas.openxmlformats.org/drawingml/2006/main">
            <a:off x="685800" y="35528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03</a:t>
            </a:r>
          </a:p>
        </p:txBody>
      </p:sp>
      <p:sp>
        <p:nvSpPr>
          <p:cNvPr id="23" name="">
            <a:extLst xmlns:a="http://schemas.openxmlformats.org/drawingml/2006/main">
              <a:ext uri="{FF2B5EF4-FFF2-40B4-BE49-F238E27FC236}">
                <a16:creationId xmlns:a16="http://schemas.microsoft.com/office/drawing/2014/main" id="{A57A058F-2CE4-42B8-A854-681872CBD15B}"/>
              </a:ext>
            </a:extLst>
          </p:cNvPr>
          <p:cNvSpPr>
            <a:spLocks xmlns:a="http://schemas.openxmlformats.org/drawingml/2006/main" noGrp="1"/>
          </p:cNvSpPr>
          <p:nvPr/>
        </p:nvSpPr>
        <p:spPr>
          <a:xfrm xmlns:a="http://schemas.openxmlformats.org/drawingml/2006/main">
            <a:off x="1295400" y="345757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Versioned summary</a:t>
            </a:r>
          </a:p>
        </p:txBody>
      </p:sp>
      <p:sp>
        <p:nvSpPr>
          <p:cNvPr id="24" name="">
            <a:extLst xmlns:a="http://schemas.openxmlformats.org/drawingml/2006/main">
              <a:ext uri="{FF2B5EF4-FFF2-40B4-BE49-F238E27FC236}">
                <a16:creationId xmlns:a16="http://schemas.microsoft.com/office/drawing/2014/main" id="{353A12F0-6673-4F57-B55F-F05858DAD773}"/>
              </a:ext>
            </a:extLst>
          </p:cNvPr>
          <p:cNvSpPr>
            <a:spLocks xmlns:a="http://schemas.openxmlformats.org/drawingml/2006/main" noGrp="1"/>
          </p:cNvSpPr>
          <p:nvPr/>
        </p:nvSpPr>
        <p:spPr>
          <a:xfrm xmlns:a="http://schemas.openxmlformats.org/drawingml/2006/main">
            <a:off x="3429000" y="3448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three_pair_comparison.json + .csv</a:t>
            </a:r>
          </a:p>
        </p:txBody>
      </p:sp>
      <p:sp>
        <p:nvSpPr>
          <p:cNvPr id="25" name="">
            <a:extLst xmlns:a="http://schemas.openxmlformats.org/drawingml/2006/main">
              <a:ext uri="{FF2B5EF4-FFF2-40B4-BE49-F238E27FC236}">
                <a16:creationId xmlns:a16="http://schemas.microsoft.com/office/drawing/2014/main" id="{66F11E29-9A19-473E-B1FE-E79397B64CF4}"/>
              </a:ext>
            </a:extLst>
          </p:cNvPr>
          <p:cNvSpPr>
            <a:spLocks xmlns:a="http://schemas.openxmlformats.org/drawingml/2006/main" noGrp="1"/>
          </p:cNvSpPr>
          <p:nvPr/>
        </p:nvSpPr>
        <p:spPr>
          <a:xfrm xmlns:a="http://schemas.openxmlformats.org/drawingml/2006/main">
            <a:off x="7686675" y="343852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All 18 displayed linker rows, metrics, limitations</a:t>
            </a:r>
          </a:p>
        </p:txBody>
      </p:sp>
      <p:sp>
        <p:nvSpPr>
          <p:cNvPr id="26" name="">
            <a:extLst xmlns:a="http://schemas.openxmlformats.org/drawingml/2006/main">
              <a:ext uri="{FF2B5EF4-FFF2-40B4-BE49-F238E27FC236}">
                <a16:creationId xmlns:a16="http://schemas.microsoft.com/office/drawing/2014/main" id="{6DB18EAF-3BC1-4194-AC8D-1FEED45FB92D}"/>
              </a:ext>
            </a:extLst>
          </p:cNvPr>
          <p:cNvSpPr>
            <a:spLocks xmlns:a="http://schemas.openxmlformats.org/drawingml/2006/main" noGrp="1"/>
          </p:cNvSpPr>
          <p:nvPr/>
        </p:nvSpPr>
        <p:spPr>
          <a:xfrm xmlns:a="http://schemas.openxmlformats.org/drawingml/2006/main">
            <a:off x="514350" y="4181475"/>
            <a:ext cx="11163300" cy="685800"/>
          </a:xfrm>
          <a:prstGeom xmlns:a="http://schemas.openxmlformats.org/drawingml/2006/main" prst="roundRect">
            <a:avLst>
              <a:gd name="adj" fmla="val 11111"/>
            </a:avLst>
          </a:prstGeom>
          <a:solidFill xmlns:a="http://schemas.openxmlformats.org/drawingml/2006/main">
            <a:srgbClr val="143128"/>
          </a:solidFill>
          <a:ln xmlns:a="http://schemas.openxmlformats.org/drawingml/2006/main" w="9525">
            <a:solidFill>
              <a:srgbClr val="29433A"/>
            </a:solidFill>
            <a:prstDash val="solid"/>
          </a:ln>
        </p:spPr>
      </p:sp>
      <p:sp>
        <p:nvSpPr>
          <p:cNvPr id="27" name="">
            <a:extLst xmlns:a="http://schemas.openxmlformats.org/drawingml/2006/main">
              <a:ext uri="{FF2B5EF4-FFF2-40B4-BE49-F238E27FC236}">
                <a16:creationId xmlns:a16="http://schemas.microsoft.com/office/drawing/2014/main" id="{87E5174C-0184-45AD-B823-09970C8CE92C}"/>
              </a:ext>
            </a:extLst>
          </p:cNvPr>
          <p:cNvSpPr>
            <a:spLocks xmlns:a="http://schemas.openxmlformats.org/drawingml/2006/main" noGrp="1"/>
          </p:cNvSpPr>
          <p:nvPr/>
        </p:nvSpPr>
        <p:spPr>
          <a:xfrm xmlns:a="http://schemas.openxmlformats.org/drawingml/2006/main">
            <a:off x="685800" y="432435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3DF2088-57EA-4CC3-A715-F80114918FB0}"/>
              </a:ext>
            </a:extLst>
          </p:cNvPr>
          <p:cNvSpPr>
            <a:spLocks xmlns:a="http://schemas.openxmlformats.org/drawingml/2006/main" noGrp="1"/>
          </p:cNvSpPr>
          <p:nvPr/>
        </p:nvSpPr>
        <p:spPr>
          <a:xfrm xmlns:a="http://schemas.openxmlformats.org/drawingml/2006/main">
            <a:off x="685800" y="44005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04</a:t>
            </a:r>
          </a:p>
        </p:txBody>
      </p:sp>
      <p:sp>
        <p:nvSpPr>
          <p:cNvPr id="29" name="">
            <a:extLst xmlns:a="http://schemas.openxmlformats.org/drawingml/2006/main">
              <a:ext uri="{FF2B5EF4-FFF2-40B4-BE49-F238E27FC236}">
                <a16:creationId xmlns:a16="http://schemas.microsoft.com/office/drawing/2014/main" id="{64D8F0EF-B271-4406-B706-C0147FEB2C87}"/>
              </a:ext>
            </a:extLst>
          </p:cNvPr>
          <p:cNvSpPr>
            <a:spLocks xmlns:a="http://schemas.openxmlformats.org/drawingml/2006/main" noGrp="1"/>
          </p:cNvSpPr>
          <p:nvPr/>
        </p:nvSpPr>
        <p:spPr>
          <a:xfrm xmlns:a="http://schemas.openxmlformats.org/drawingml/2006/main">
            <a:off x="1295400" y="430530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Integrity</a:t>
            </a:r>
          </a:p>
        </p:txBody>
      </p:sp>
      <p:sp>
        <p:nvSpPr>
          <p:cNvPr id="30" name="">
            <a:extLst xmlns:a="http://schemas.openxmlformats.org/drawingml/2006/main">
              <a:ext uri="{FF2B5EF4-FFF2-40B4-BE49-F238E27FC236}">
                <a16:creationId xmlns:a16="http://schemas.microsoft.com/office/drawing/2014/main" id="{F399CFD5-3DD5-490E-BBDA-1CDA8151DB34}"/>
              </a:ext>
            </a:extLst>
          </p:cNvPr>
          <p:cNvSpPr>
            <a:spLocks xmlns:a="http://schemas.openxmlformats.org/drawingml/2006/main" noGrp="1"/>
          </p:cNvSpPr>
          <p:nvPr/>
        </p:nvSpPr>
        <p:spPr>
          <a:xfrm xmlns:a="http://schemas.openxmlformats.org/drawingml/2006/main">
            <a:off x="3429000" y="42957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Per-row PDB and score SHA-256</a:t>
            </a:r>
          </a:p>
        </p:txBody>
      </p:sp>
      <p:sp>
        <p:nvSpPr>
          <p:cNvPr id="31" name="">
            <a:extLst xmlns:a="http://schemas.openxmlformats.org/drawingml/2006/main">
              <a:ext uri="{FF2B5EF4-FFF2-40B4-BE49-F238E27FC236}">
                <a16:creationId xmlns:a16="http://schemas.microsoft.com/office/drawing/2014/main" id="{E65B5F79-7BCE-4AD3-BB86-09B2F38C8F1C}"/>
              </a:ext>
            </a:extLst>
          </p:cNvPr>
          <p:cNvSpPr>
            <a:spLocks xmlns:a="http://schemas.openxmlformats.org/drawingml/2006/main" noGrp="1"/>
          </p:cNvSpPr>
          <p:nvPr/>
        </p:nvSpPr>
        <p:spPr>
          <a:xfrm xmlns:a="http://schemas.openxmlformats.org/drawingml/2006/main">
            <a:off x="7686675" y="4286250"/>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Detects file substitution after reporting</a:t>
            </a:r>
          </a:p>
        </p:txBody>
      </p:sp>
      <p:sp>
        <p:nvSpPr>
          <p:cNvPr id="32" name="">
            <a:extLst xmlns:a="http://schemas.openxmlformats.org/drawingml/2006/main">
              <a:ext uri="{FF2B5EF4-FFF2-40B4-BE49-F238E27FC236}">
                <a16:creationId xmlns:a16="http://schemas.microsoft.com/office/drawing/2014/main" id="{A6DF4B95-DE69-4518-8B90-7B2D0F516CB7}"/>
              </a:ext>
            </a:extLst>
          </p:cNvPr>
          <p:cNvSpPr>
            <a:spLocks xmlns:a="http://schemas.openxmlformats.org/drawingml/2006/main" noGrp="1"/>
          </p:cNvSpPr>
          <p:nvPr/>
        </p:nvSpPr>
        <p:spPr>
          <a:xfrm xmlns:a="http://schemas.openxmlformats.org/drawingml/2006/main">
            <a:off x="514350" y="502920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33" name="">
            <a:extLst xmlns:a="http://schemas.openxmlformats.org/drawingml/2006/main">
              <a:ext uri="{FF2B5EF4-FFF2-40B4-BE49-F238E27FC236}">
                <a16:creationId xmlns:a16="http://schemas.microsoft.com/office/drawing/2014/main" id="{83D49AC6-08A2-4546-9188-B96BD5CB32D6}"/>
              </a:ext>
            </a:extLst>
          </p:cNvPr>
          <p:cNvSpPr>
            <a:spLocks xmlns:a="http://schemas.openxmlformats.org/drawingml/2006/main" noGrp="1"/>
          </p:cNvSpPr>
          <p:nvPr/>
        </p:nvSpPr>
        <p:spPr>
          <a:xfrm xmlns:a="http://schemas.openxmlformats.org/drawingml/2006/main">
            <a:off x="685800" y="5172075"/>
            <a:ext cx="400050" cy="4000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63B6873-03C0-4577-BA31-80B72E2FC4FF}"/>
              </a:ext>
            </a:extLst>
          </p:cNvPr>
          <p:cNvSpPr>
            <a:spLocks xmlns:a="http://schemas.openxmlformats.org/drawingml/2006/main" noGrp="1"/>
          </p:cNvSpPr>
          <p:nvPr/>
        </p:nvSpPr>
        <p:spPr>
          <a:xfrm xmlns:a="http://schemas.openxmlformats.org/drawingml/2006/main">
            <a:off x="685800" y="52482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05</a:t>
            </a:r>
          </a:p>
        </p:txBody>
      </p:sp>
      <p:sp>
        <p:nvSpPr>
          <p:cNvPr id="35" name="">
            <a:extLst xmlns:a="http://schemas.openxmlformats.org/drawingml/2006/main">
              <a:ext uri="{FF2B5EF4-FFF2-40B4-BE49-F238E27FC236}">
                <a16:creationId xmlns:a16="http://schemas.microsoft.com/office/drawing/2014/main" id="{24CE9D0D-8160-40F9-BFC4-0E961C72D490}"/>
              </a:ext>
            </a:extLst>
          </p:cNvPr>
          <p:cNvSpPr>
            <a:spLocks xmlns:a="http://schemas.openxmlformats.org/drawingml/2006/main" noGrp="1"/>
          </p:cNvSpPr>
          <p:nvPr/>
        </p:nvSpPr>
        <p:spPr>
          <a:xfrm xmlns:a="http://schemas.openxmlformats.org/drawingml/2006/main">
            <a:off x="1295400" y="515302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Presentation</a:t>
            </a:r>
          </a:p>
        </p:txBody>
      </p:sp>
      <p:sp>
        <p:nvSpPr>
          <p:cNvPr id="36" name="">
            <a:extLst xmlns:a="http://schemas.openxmlformats.org/drawingml/2006/main">
              <a:ext uri="{FF2B5EF4-FFF2-40B4-BE49-F238E27FC236}">
                <a16:creationId xmlns:a16="http://schemas.microsoft.com/office/drawing/2014/main" id="{8E774A7E-4C5A-4310-B356-C991969D0504}"/>
              </a:ext>
            </a:extLst>
          </p:cNvPr>
          <p:cNvSpPr>
            <a:spLocks xmlns:a="http://schemas.openxmlformats.org/drawingml/2006/main" noGrp="1"/>
          </p:cNvSpPr>
          <p:nvPr/>
        </p:nvSpPr>
        <p:spPr>
          <a:xfrm xmlns:a="http://schemas.openxmlformats.org/drawingml/2006/main">
            <a:off x="3429000" y="51435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Editable charts, tables, and speaker notes</a:t>
            </a:r>
          </a:p>
        </p:txBody>
      </p:sp>
      <p:sp>
        <p:nvSpPr>
          <p:cNvPr id="37" name="">
            <a:extLst xmlns:a="http://schemas.openxmlformats.org/drawingml/2006/main">
              <a:ext uri="{FF2B5EF4-FFF2-40B4-BE49-F238E27FC236}">
                <a16:creationId xmlns:a16="http://schemas.microsoft.com/office/drawing/2014/main" id="{18328A71-111C-40AB-8219-45C6A6FF3591}"/>
              </a:ext>
            </a:extLst>
          </p:cNvPr>
          <p:cNvSpPr>
            <a:spLocks xmlns:a="http://schemas.openxmlformats.org/drawingml/2006/main" noGrp="1"/>
          </p:cNvSpPr>
          <p:nvPr/>
        </p:nvSpPr>
        <p:spPr>
          <a:xfrm xmlns:a="http://schemas.openxmlformats.org/drawingml/2006/main">
            <a:off x="7686675" y="513397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All numbers derived from the JSON summary</a:t>
            </a:r>
          </a:p>
        </p:txBody>
      </p:sp>
    </p:spTree>
    <p:extLst>
      <p:ext uri="{BB962C8B-B14F-4D97-AF65-F5344CB8AC3E}">
        <p14:creationId xmlns:p14="http://schemas.microsoft.com/office/powerpoint/2010/main" val="1156868199"/>
      </p:ext>
    </p:extLst>
  </p:cSld>
</p:sld>
</file>

<file path=ppt/slides/slide31.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DD45588-E169-4657-AC74-8CF44A2A341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39EFE96-A5DE-4DEC-856C-CF711A68347C}"/>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05B6E9C6-1983-4CEF-8C81-97B44DB161D5}"/>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FUTURE STRUCTURAL VALIDATION</a:t>
            </a:r>
          </a:p>
        </p:txBody>
      </p:sp>
      <p:sp>
        <p:nvSpPr>
          <p:cNvPr id="4" name="">
            <a:extLst xmlns:a="http://schemas.openxmlformats.org/drawingml/2006/main">
              <a:ext uri="{FF2B5EF4-FFF2-40B4-BE49-F238E27FC236}">
                <a16:creationId xmlns:a16="http://schemas.microsoft.com/office/drawing/2014/main" id="{631F883D-8D56-4D27-AE95-C872851FD10A}"/>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Deferred by decision; not executed by this acceptance run; full protocols are documented in the future roadmap</a:t>
            </a:r>
          </a:p>
        </p:txBody>
      </p:sp>
      <p:sp>
        <p:nvSpPr>
          <p:cNvPr id="5" name="">
            <a:extLst xmlns:a="http://schemas.openxmlformats.org/drawingml/2006/main">
              <a:ext uri="{FF2B5EF4-FFF2-40B4-BE49-F238E27FC236}">
                <a16:creationId xmlns:a16="http://schemas.microsoft.com/office/drawing/2014/main" id="{4E9BCD99-9B94-4259-BA7C-DAA704210537}"/>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4  ·  31</a:t>
            </a:r>
          </a:p>
        </p:txBody>
      </p:sp>
      <p:sp>
        <p:nvSpPr>
          <p:cNvPr id="6" name="">
            <a:extLst xmlns:a="http://schemas.openxmlformats.org/drawingml/2006/main">
              <a:ext uri="{FF2B5EF4-FFF2-40B4-BE49-F238E27FC236}">
                <a16:creationId xmlns:a16="http://schemas.microsoft.com/office/drawing/2014/main" id="{86E75D61-99C5-4A22-A3E3-CD606CBA2283}"/>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Deferred analyses and why they remain useful</a:t>
            </a:r>
          </a:p>
        </p:txBody>
      </p:sp>
      <p:sp>
        <p:nvSpPr>
          <p:cNvPr id="7" name="">
            <a:extLst xmlns:a="http://schemas.openxmlformats.org/drawingml/2006/main">
              <a:ext uri="{FF2B5EF4-FFF2-40B4-BE49-F238E27FC236}">
                <a16:creationId xmlns:a16="http://schemas.microsoft.com/office/drawing/2014/main" id="{79E3F7CD-8AC0-4932-B729-68D97D047D4C}"/>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These methods add orthogonal evidence later; none can retroactively turn this panel into biological validation</a:t>
            </a:r>
          </a:p>
        </p:txBody>
      </p:sp>
      <p:graphicFrame>
        <p:nvGraphicFramePr>
          <p:cNvPr id="8" name="">
            <a:extLst xmlns:a="http://schemas.openxmlformats.org/drawingml/2006/main">
              <a:ext uri="{FF2B5EF4-FFF2-40B4-BE49-F238E27FC236}">
                <a16:creationId xmlns:a16="http://schemas.microsoft.com/office/drawing/2014/main" id="{905C00A7-0D02-44C5-BA89-EF4A31E5A020}"/>
              </a:ext>
            </a:extLst>
          </p:cNvPr>
          <p:cNvGraphicFramePr/>
          <p:nvPr/>
        </p:nvGraphicFramePr>
        <p:xfrm>
          <a:off xmlns:a="http://schemas.openxmlformats.org/drawingml/2006/main" x="476250" y="1562100"/>
          <a:ext xmlns:a="http://schemas.openxmlformats.org/drawingml/2006/main" cx="11239500" cy="4324350"/>
        </p:xfrm>
        <a:graphic xmlns:a="http://schemas.openxmlformats.org/drawingml/2006/main">
          <a:graphicData uri="http://schemas.openxmlformats.org/drawingml/2006/table">
            <a:tbl>
              <a:tblPr/>
              <a:tblGrid>
                <a:gridCol w="2476500"/>
                <a:gridCol w="4000500"/>
                <a:gridCol w="4762500"/>
              </a:tblGrid>
              <a:tr h="617764">
                <a:tc>
                  <a:txBody>
                    <a:bodyPr/>
                    <a:lstStyle/>
                    <a:p>
                      <a:r>
                        <a:rPr sz="900" b="1">
                          <a:solidFill>
                            <a:srgbClr val="FFFFFF"/>
                          </a:solidFill>
                          <a:latin typeface="Arial"/>
                          <a:ea typeface="Arial"/>
                          <a:cs typeface="Arial"/>
                        </a:rPr>
                        <a:t>Deferred 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Why it is needed</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How it would be run later</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17764">
                <a:tc>
                  <a:txBody>
                    <a:bodyPr/>
                    <a:lstStyle/>
                    <a:p>
                      <a:r>
                        <a:rPr sz="788">
                          <a:solidFill>
                            <a:srgbClr val="F4F7F5"/>
                          </a:solidFill>
                          <a:latin typeface="Arial"/>
                          <a:ea typeface="Arial"/>
                          <a:cs typeface="Arial"/>
                        </a:rPr>
                        <a:t>Ensemble agreement</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Separates one-model confidence from repeatability</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Compare seeds/models and report residue- and domain-level dispersion</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Reference lDDT / TM-score</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Tests domain preservation beyond RMSD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Align each predicted domain to the sequence-matched PDB reference</a:t>
                      </a:r>
                    </a:p>
                  </a:txBody>
                  <a:tcPr marL="91440" marR="91440" marT="45720" marB="45720">
                    <a:lnR w="9525">
                      <a:solidFill>
                        <a:srgbClr val="29433A"/>
                      </a:solidFill>
                      <a:prstDash val="solid"/>
                    </a:lnR>
                    <a:lnB w="9525">
                      <a:solidFill>
                        <a:srgbClr val="29433A"/>
                      </a:solidFill>
                      <a:prstDash val="solid"/>
                    </a:lnB>
                    <a:solidFill>
                      <a:srgbClr val="143128"/>
                    </a:solidFill>
                  </a:tcPr>
                </a:tc>
              </a:tr>
              <a:tr h="617764">
                <a:tc>
                  <a:txBody>
                    <a:bodyPr/>
                    <a:lstStyle/>
                    <a:p>
                      <a:r>
                        <a:rPr sz="788">
                          <a:solidFill>
                            <a:srgbClr val="F4F7F5"/>
                          </a:solidFill>
                          <a:latin typeface="Arial"/>
                          <a:ea typeface="Arial"/>
                          <a:cs typeface="Arial"/>
                        </a:rPr>
                        <a:t>Automatic functional-site mapping</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Checks whether protected sites remain spatially accessible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Map curated residues; calculate exposure, occlusion, and linker proximity</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DSSP</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Tracks secondary-structure changes near junctions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Run DSSP on references and predictions; compare junction windows</a:t>
                      </a:r>
                    </a:p>
                  </a:txBody>
                  <a:tcPr marL="91440" marR="91440" marT="45720" marB="45720">
                    <a:lnR w="9525">
                      <a:solidFill>
                        <a:srgbClr val="29433A"/>
                      </a:solidFill>
                      <a:prstDash val="solid"/>
                    </a:lnR>
                    <a:lnB w="9525">
                      <a:solidFill>
                        <a:srgbClr val="29433A"/>
                      </a:solidFill>
                      <a:prstDash val="solid"/>
                    </a:lnB>
                    <a:solidFill>
                      <a:srgbClr val="143128"/>
                    </a:solidFill>
                  </a:tcPr>
                </a:tc>
              </a:tr>
              <a:tr h="617764">
                <a:tc>
                  <a:txBody>
                    <a:bodyPr/>
                    <a:lstStyle/>
                    <a:p>
                      <a:r>
                        <a:rPr sz="788">
                          <a:solidFill>
                            <a:srgbClr val="F4F7F5"/>
                          </a:solidFill>
                          <a:latin typeface="Arial"/>
                          <a:ea typeface="Arial"/>
                          <a:cs typeface="Arial"/>
                        </a:rPr>
                        <a:t>Post-OpenMM change analysis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Measures drift from the starting prediction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Compare minimized/replicated trajectories with the same structural metrics</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Production OpenMM</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Tests longer-timescale mechanical stability</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Pre-register protocol; run replicated GPU trajectories only after resource approval</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3784E7D9-B6B7-4C83-95C5-AF156EBBA302}"/>
              </a:ext>
            </a:extLst>
          </p:cNvPr>
          <p:cNvSpPr>
            <a:spLocks xmlns:a="http://schemas.openxmlformats.org/drawingml/2006/main" noGrp="1"/>
          </p:cNvSpPr>
          <p:nvPr/>
        </p:nvSpPr>
        <p:spPr>
          <a:xfrm xmlns:a="http://schemas.openxmlformats.org/drawingml/2006/main">
            <a:off x="476250" y="6010275"/>
            <a:ext cx="11239500" cy="304800"/>
          </a:xfrm>
          <a:prstGeom xmlns:a="http://schemas.openxmlformats.org/drawingml/2006/main" prst="roundRect">
            <a:avLst>
              <a:gd name="adj" fmla="val 25000"/>
            </a:avLst>
          </a:prstGeom>
          <a:solidFill xmlns:a="http://schemas.openxmlformats.org/drawingml/2006/main">
            <a:srgbClr val="102720"/>
          </a:solidFill>
          <a:ln xmlns:a="http://schemas.openxmlformats.org/drawingml/2006/main" w="9525">
            <a:solidFill>
              <a:srgbClr val="F1C84B"/>
            </a:solidFill>
            <a:prstDash val="solid"/>
          </a:ln>
        </p:spPr>
      </p:sp>
      <p:sp>
        <p:nvSpPr>
          <p:cNvPr id="10" name="">
            <a:extLst xmlns:a="http://schemas.openxmlformats.org/drawingml/2006/main">
              <a:ext uri="{FF2B5EF4-FFF2-40B4-BE49-F238E27FC236}">
                <a16:creationId xmlns:a16="http://schemas.microsoft.com/office/drawing/2014/main" id="{F881D234-4CB3-428C-B213-5EA88A4C6E80}"/>
              </a:ext>
            </a:extLst>
          </p:cNvPr>
          <p:cNvSpPr>
            <a:spLocks xmlns:a="http://schemas.openxmlformats.org/drawingml/2006/main" noGrp="1"/>
          </p:cNvSpPr>
          <p:nvPr/>
        </p:nvSpPr>
        <p:spPr>
          <a:xfrm xmlns:a="http://schemas.openxmlformats.org/drawingml/2006/main">
            <a:off x="666750" y="6067425"/>
            <a:ext cx="1085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ctr">
              <a:defRPr sz="975" b="1" i="0">
                <a:solidFill>
                  <a:srgbClr val="F4F7F5"/>
                </a:solidFill>
                <a:latin typeface="Arial"/>
                <a:ea typeface="Arial"/>
                <a:cs typeface="Arial"/>
              </a:defRPr>
            </a:defPPr>
            <a:lvl1pPr algn="ctr">
              <a:defRPr sz="975" b="1" i="0">
                <a:solidFill>
                  <a:srgbClr val="F4F7F5"/>
                </a:solidFill>
                <a:latin typeface="Arial"/>
                <a:ea typeface="Arial"/>
                <a:cs typeface="Arial"/>
              </a:defRPr>
            </a:lvl1pPr>
            <a:lvl2pPr algn="ctr">
              <a:defRPr sz="975" b="1" i="0">
                <a:solidFill>
                  <a:srgbClr val="F4F7F5"/>
                </a:solidFill>
                <a:latin typeface="Arial"/>
                <a:ea typeface="Arial"/>
                <a:cs typeface="Arial"/>
              </a:defRPr>
            </a:lvl2pPr>
            <a:lvl3pPr algn="ctr">
              <a:defRPr sz="975" b="1" i="0">
                <a:solidFill>
                  <a:srgbClr val="F4F7F5"/>
                </a:solidFill>
                <a:latin typeface="Arial"/>
                <a:ea typeface="Arial"/>
                <a:cs typeface="Arial"/>
              </a:defRPr>
            </a:lvl3pPr>
            <a:lvl4pPr algn="ctr">
              <a:defRPr sz="975" b="1" i="0">
                <a:solidFill>
                  <a:srgbClr val="F4F7F5"/>
                </a:solidFill>
                <a:latin typeface="Arial"/>
                <a:ea typeface="Arial"/>
                <a:cs typeface="Arial"/>
              </a:defRPr>
            </a:lvl4pPr>
            <a:lvl5pPr algn="ctr">
              <a:defRPr sz="975" b="1" i="0">
                <a:solidFill>
                  <a:srgbClr val="F4F7F5"/>
                </a:solidFill>
                <a:latin typeface="Arial"/>
                <a:ea typeface="Arial"/>
                <a:cs typeface="Arial"/>
              </a:defRPr>
            </a:lvl5pPr>
            <a:lvl6pPr algn="ctr">
              <a:defRPr sz="975" b="1" i="0">
                <a:solidFill>
                  <a:srgbClr val="F4F7F5"/>
                </a:solidFill>
                <a:latin typeface="Arial"/>
                <a:ea typeface="Arial"/>
                <a:cs typeface="Arial"/>
              </a:defRPr>
            </a:lvl6pPr>
            <a:lvl7pPr algn="ctr">
              <a:defRPr sz="975" b="1" i="0">
                <a:solidFill>
                  <a:srgbClr val="F4F7F5"/>
                </a:solidFill>
                <a:latin typeface="Arial"/>
                <a:ea typeface="Arial"/>
                <a:cs typeface="Arial"/>
              </a:defRPr>
            </a:lvl7pPr>
            <a:lvl8pPr algn="ctr">
              <a:defRPr sz="975" b="1" i="0">
                <a:solidFill>
                  <a:srgbClr val="F4F7F5"/>
                </a:solidFill>
                <a:latin typeface="Arial"/>
                <a:ea typeface="Arial"/>
                <a:cs typeface="Arial"/>
              </a:defRPr>
            </a:lvl8pPr>
            <a:lvl9pPr algn="ctr">
              <a:defRPr sz="975" b="1" i="0">
                <a:solidFill>
                  <a:srgbClr val="F4F7F5"/>
                </a:solidFill>
                <a:latin typeface="Arial"/>
                <a:ea typeface="Arial"/>
                <a:cs typeface="Arial"/>
              </a:defRPr>
            </a:lvl9pPr>
          </a:lstStyle>
          <a:p xmlns:a="http://schemas.openxmlformats.org/drawingml/2006/main">
            <a:pPr algn="ctr">
              <a:defRPr sz="975" b="1" i="0">
                <a:solidFill>
                  <a:srgbClr val="F4F7F5"/>
                </a:solidFill>
                <a:latin typeface="Arial"/>
                <a:ea typeface="Arial"/>
                <a:cs typeface="Arial"/>
              </a:defRPr>
            </a:pPr>
            <a:r>
              <a:rPr sz="975" b="1" i="0">
                <a:solidFill>
                  <a:srgbClr val="F4F7F5"/>
                </a:solidFill>
                <a:latin typeface="Arial"/>
                <a:ea typeface="Arial"/>
                <a:cs typeface="Arial"/>
              </a:rPr>
              <a:t>OpenMM remains on hold. Rosetta and independent predictor families also remain future integrations; no hidden substitute is claimed.</a:t>
            </a:r>
          </a:p>
        </p:txBody>
      </p:sp>
    </p:spTree>
    <p:extLst>
      <p:ext uri="{BB962C8B-B14F-4D97-AF65-F5344CB8AC3E}">
        <p14:creationId xmlns:p14="http://schemas.microsoft.com/office/powerpoint/2010/main" val="826855413"/>
      </p:ext>
    </p:extLst>
  </p:cSld>
</p:sld>
</file>

<file path=ppt/slides/slide32.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BB807104-9631-4CBD-A716-C9CED8C03CC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409EC30-499C-45E0-B5C1-13FD8BEDDD7A}"/>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497D7F82-32BA-41AA-A8D9-441BBF02C15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REFERENCES</a:t>
            </a:r>
          </a:p>
        </p:txBody>
      </p:sp>
      <p:sp>
        <p:nvSpPr>
          <p:cNvPr id="4" name="Rectangle 3">
            <a:extLst xmlns:a="http://schemas.openxmlformats.org/drawingml/2006/main">
              <a:ext uri="{FF2B5EF4-FFF2-40B4-BE49-F238E27FC236}">
                <a16:creationId xmlns:a16="http://schemas.microsoft.com/office/drawing/2014/main" id="{0DAC9E4F-6673-42B1-B99B-C2BAD2C0B1F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Full bibliography and citation-use rules: LINKERFORGE_CURRENT_CITATIONS.md</a:t>
            </a:r>
          </a:p>
        </p:txBody>
      </p:sp>
      <p:sp>
        <p:nvSpPr>
          <p:cNvPr id="5" name="Rectangle 4">
            <a:extLst xmlns:a="http://schemas.openxmlformats.org/drawingml/2006/main">
              <a:ext uri="{FF2B5EF4-FFF2-40B4-BE49-F238E27FC236}">
                <a16:creationId xmlns:a16="http://schemas.microsoft.com/office/drawing/2014/main" id="{543A78BB-7290-4873-A6E2-BD4B2BCFC78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32</a:t>
            </a:r>
          </a:p>
        </p:txBody>
      </p:sp>
      <p:sp>
        <p:nvSpPr>
          <p:cNvPr id="6" name="Rectangle 5">
            <a:extLst xmlns:a="http://schemas.openxmlformats.org/drawingml/2006/main">
              <a:ext uri="{FF2B5EF4-FFF2-40B4-BE49-F238E27FC236}">
                <a16:creationId xmlns:a16="http://schemas.microsoft.com/office/drawing/2014/main" id="{AED5E1F8-86B9-46C8-A5EE-36EB4E9B07B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References: linker biology and computational models</a:t>
            </a:r>
          </a:p>
        </p:txBody>
      </p:sp>
      <p:sp>
        <p:nvSpPr>
          <p:cNvPr id="7" name="Rectangle 6">
            <a:extLst xmlns:a="http://schemas.openxmlformats.org/drawingml/2006/main">
              <a:ext uri="{FF2B5EF4-FFF2-40B4-BE49-F238E27FC236}">
                <a16:creationId xmlns:a16="http://schemas.microsoft.com/office/drawing/2014/main" id="{873A09CB-3694-4769-ADCC-0804B9B04BE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Primary papers supporting the problem, quotations, architecture, and structural workflow</a:t>
            </a:r>
          </a:p>
        </p:txBody>
      </p:sp>
      <p:sp>
        <p:nvSpPr>
          <p:cNvPr id="8" name="Rectangle 7">
            <a:extLst xmlns:a="http://schemas.openxmlformats.org/drawingml/2006/main">
              <a:ext uri="{FF2B5EF4-FFF2-40B4-BE49-F238E27FC236}">
                <a16:creationId xmlns:a16="http://schemas.microsoft.com/office/drawing/2014/main" id="{21543A66-F6C8-466B-B9A6-131F53360479}"/>
              </a:ext>
            </a:extLst>
          </p:cNvPr>
          <p:cNvSpPr>
            <a:spLocks xmlns:a="http://schemas.openxmlformats.org/drawingml/2006/main" noGrp="1"/>
          </p:cNvSpPr>
          <p:nvPr/>
        </p:nvSpPr>
        <p:spPr>
          <a:xfrm xmlns:a="http://schemas.openxmlformats.org/drawingml/2006/main">
            <a:off x="552450" y="15716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 Crasto CJ, Feng J. LINKER: a program to generate linker sequences for fusion proteins. Protein Eng. 2000;13:309–312. doi:10.1093/protein/13.5.309</a:t>
            </a:r>
          </a:p>
        </p:txBody>
      </p:sp>
      <p:sp>
        <p:nvSpPr>
          <p:cNvPr id="9" name="Rectangle 8">
            <a:extLst xmlns:a="http://schemas.openxmlformats.org/drawingml/2006/main">
              <a:ext uri="{FF2B5EF4-FFF2-40B4-BE49-F238E27FC236}">
                <a16:creationId xmlns:a16="http://schemas.microsoft.com/office/drawing/2014/main" id="{8BDFA0C4-9B86-41D3-8095-151EE5A87F19}"/>
              </a:ext>
            </a:extLst>
          </p:cNvPr>
          <p:cNvSpPr>
            <a:spLocks xmlns:a="http://schemas.openxmlformats.org/drawingml/2006/main" noGrp="1"/>
          </p:cNvSpPr>
          <p:nvPr/>
        </p:nvSpPr>
        <p:spPr>
          <a:xfrm xmlns:a="http://schemas.openxmlformats.org/drawingml/2006/main">
            <a:off x="552450" y="23145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 George RA, Heringa J. An analysis of protein domain linkers. Protein Eng. 2002;15:871–879. doi:10.1093/protein/15.11.871</a:t>
            </a:r>
          </a:p>
        </p:txBody>
      </p:sp>
      <p:sp>
        <p:nvSpPr>
          <p:cNvPr id="10" name="Rectangle 9">
            <a:extLst xmlns:a="http://schemas.openxmlformats.org/drawingml/2006/main">
              <a:ext uri="{FF2B5EF4-FFF2-40B4-BE49-F238E27FC236}">
                <a16:creationId xmlns:a16="http://schemas.microsoft.com/office/drawing/2014/main" id="{9B84E9CD-BC3D-42F7-92FA-72156EE1D751}"/>
              </a:ext>
            </a:extLst>
          </p:cNvPr>
          <p:cNvSpPr>
            <a:spLocks xmlns:a="http://schemas.openxmlformats.org/drawingml/2006/main" noGrp="1"/>
          </p:cNvSpPr>
          <p:nvPr/>
        </p:nvSpPr>
        <p:spPr>
          <a:xfrm xmlns:a="http://schemas.openxmlformats.org/drawingml/2006/main">
            <a:off x="552450" y="30575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3. Chen X, Zaro JL, Shen WC. Fusion protein linkers: property, design and functionality. Adv Drug Deliv Rev. 2013;65:1357–1369. doi:10.1016/j.addr.2012.09.039</a:t>
            </a:r>
          </a:p>
        </p:txBody>
      </p:sp>
      <p:sp>
        <p:nvSpPr>
          <p:cNvPr id="11" name="Rectangle 10">
            <a:extLst xmlns:a="http://schemas.openxmlformats.org/drawingml/2006/main">
              <a:ext uri="{FF2B5EF4-FFF2-40B4-BE49-F238E27FC236}">
                <a16:creationId xmlns:a16="http://schemas.microsoft.com/office/drawing/2014/main" id="{FA605BA5-5F14-4559-BD1F-BA9F892B6D08}"/>
              </a:ext>
            </a:extLst>
          </p:cNvPr>
          <p:cNvSpPr>
            <a:spLocks xmlns:a="http://schemas.openxmlformats.org/drawingml/2006/main" noGrp="1"/>
          </p:cNvSpPr>
          <p:nvPr/>
        </p:nvSpPr>
        <p:spPr>
          <a:xfrm xmlns:a="http://schemas.openxmlformats.org/drawingml/2006/main">
            <a:off x="552450" y="38004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4. Liu C, Chin JX, Lee DY. SynLinker. Bioinformatics. 2015;31:3700–3702. doi:10.1093/bioinformatics/btv447</a:t>
            </a:r>
          </a:p>
        </p:txBody>
      </p:sp>
      <p:sp>
        <p:nvSpPr>
          <p:cNvPr id="12" name="Rectangle 11">
            <a:extLst xmlns:a="http://schemas.openxmlformats.org/drawingml/2006/main">
              <a:ext uri="{FF2B5EF4-FFF2-40B4-BE49-F238E27FC236}">
                <a16:creationId xmlns:a16="http://schemas.microsoft.com/office/drawing/2014/main" id="{DC005883-43C7-4D90-9535-1E119A220B6D}"/>
              </a:ext>
            </a:extLst>
          </p:cNvPr>
          <p:cNvSpPr>
            <a:spLocks xmlns:a="http://schemas.openxmlformats.org/drawingml/2006/main" noGrp="1"/>
          </p:cNvSpPr>
          <p:nvPr/>
        </p:nvSpPr>
        <p:spPr>
          <a:xfrm xmlns:a="http://schemas.openxmlformats.org/drawingml/2006/main">
            <a:off x="552450" y="45434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5. Sharma A et al. DFLpred: prediction of disordered flexible linker regions. Bioinformatics. 2016. doi:10.1093/bioinformatics/btw280</a:t>
            </a:r>
          </a:p>
        </p:txBody>
      </p:sp>
      <p:sp>
        <p:nvSpPr>
          <p:cNvPr id="13" name="Rectangle 12">
            <a:extLst xmlns:a="http://schemas.openxmlformats.org/drawingml/2006/main">
              <a:ext uri="{FF2B5EF4-FFF2-40B4-BE49-F238E27FC236}">
                <a16:creationId xmlns:a16="http://schemas.microsoft.com/office/drawing/2014/main" id="{84037CEA-DFFC-4DA6-88AC-4CC8FF9E94E9}"/>
              </a:ext>
            </a:extLst>
          </p:cNvPr>
          <p:cNvSpPr>
            <a:spLocks xmlns:a="http://schemas.openxmlformats.org/drawingml/2006/main" noGrp="1"/>
          </p:cNvSpPr>
          <p:nvPr/>
        </p:nvSpPr>
        <p:spPr>
          <a:xfrm xmlns:a="http://schemas.openxmlformats.org/drawingml/2006/main">
            <a:off x="552450" y="52863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6. Li Z et al. Functional customization of peptide linkers through multimodal deep learning. Synth Syst Biotechnol. 2026;13:362–375. doi:10.1016/j.synbio.2026.02.003</a:t>
            </a:r>
          </a:p>
        </p:txBody>
      </p:sp>
      <p:sp>
        <p:nvSpPr>
          <p:cNvPr id="14" name="Rectangle 13">
            <a:extLst xmlns:a="http://schemas.openxmlformats.org/drawingml/2006/main">
              <a:ext uri="{FF2B5EF4-FFF2-40B4-BE49-F238E27FC236}">
                <a16:creationId xmlns:a16="http://schemas.microsoft.com/office/drawing/2014/main" id="{B5F5631E-ED31-4A6A-B0BA-3887852D6CAA}"/>
              </a:ext>
            </a:extLst>
          </p:cNvPr>
          <p:cNvSpPr>
            <a:spLocks xmlns:a="http://schemas.openxmlformats.org/drawingml/2006/main" noGrp="1"/>
          </p:cNvSpPr>
          <p:nvPr/>
        </p:nvSpPr>
        <p:spPr>
          <a:xfrm xmlns:a="http://schemas.openxmlformats.org/drawingml/2006/main">
            <a:off x="6267450" y="15716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7. McBride JM et al. Predicting pose distribution of protein domains connected by flexible linkers is an unsolved problem. Proteins. 2026. doi:10.1002/prot.70062</a:t>
            </a:r>
          </a:p>
        </p:txBody>
      </p:sp>
      <p:sp>
        <p:nvSpPr>
          <p:cNvPr id="15" name="Rectangle 14">
            <a:extLst xmlns:a="http://schemas.openxmlformats.org/drawingml/2006/main">
              <a:ext uri="{FF2B5EF4-FFF2-40B4-BE49-F238E27FC236}">
                <a16:creationId xmlns:a16="http://schemas.microsoft.com/office/drawing/2014/main" id="{59C1ED7F-BEF5-4A47-9635-E2493668959D}"/>
              </a:ext>
            </a:extLst>
          </p:cNvPr>
          <p:cNvSpPr>
            <a:spLocks xmlns:a="http://schemas.openxmlformats.org/drawingml/2006/main" noGrp="1"/>
          </p:cNvSpPr>
          <p:nvPr/>
        </p:nvSpPr>
        <p:spPr>
          <a:xfrm xmlns:a="http://schemas.openxmlformats.org/drawingml/2006/main">
            <a:off x="6267450" y="23145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8. Lin Z et al. Evolutionary-scale prediction of atomic-level protein structure with a language model. Science. 2023;379:1123–1130. doi:10.1126/science.ade2574</a:t>
            </a:r>
          </a:p>
        </p:txBody>
      </p:sp>
      <p:sp>
        <p:nvSpPr>
          <p:cNvPr id="16" name="Rectangle 15">
            <a:extLst xmlns:a="http://schemas.openxmlformats.org/drawingml/2006/main">
              <a:ext uri="{FF2B5EF4-FFF2-40B4-BE49-F238E27FC236}">
                <a16:creationId xmlns:a16="http://schemas.microsoft.com/office/drawing/2014/main" id="{843D5D9F-0BC0-4D55-B70A-B2650F2B40DB}"/>
              </a:ext>
            </a:extLst>
          </p:cNvPr>
          <p:cNvSpPr>
            <a:spLocks xmlns:a="http://schemas.openxmlformats.org/drawingml/2006/main" noGrp="1"/>
          </p:cNvSpPr>
          <p:nvPr/>
        </p:nvSpPr>
        <p:spPr>
          <a:xfrm xmlns:a="http://schemas.openxmlformats.org/drawingml/2006/main">
            <a:off x="6267450" y="30575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9. Jing B et al. Learning from protein structure with geometric vector perceptrons. ICLR. 2021. openreview.net/forum?id=1YLJDvSx6J4</a:t>
            </a:r>
          </a:p>
        </p:txBody>
      </p:sp>
      <p:sp>
        <p:nvSpPr>
          <p:cNvPr id="17" name="Rectangle 16">
            <a:extLst xmlns:a="http://schemas.openxmlformats.org/drawingml/2006/main">
              <a:ext uri="{FF2B5EF4-FFF2-40B4-BE49-F238E27FC236}">
                <a16:creationId xmlns:a16="http://schemas.microsoft.com/office/drawing/2014/main" id="{1BF2160F-E74D-4FA6-897F-DE88139C26FC}"/>
              </a:ext>
            </a:extLst>
          </p:cNvPr>
          <p:cNvSpPr>
            <a:spLocks xmlns:a="http://schemas.openxmlformats.org/drawingml/2006/main" noGrp="1"/>
          </p:cNvSpPr>
          <p:nvPr/>
        </p:nvSpPr>
        <p:spPr>
          <a:xfrm xmlns:a="http://schemas.openxmlformats.org/drawingml/2006/main">
            <a:off x="6267450" y="38004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10. Jumper J et al. Highly accurate protein structure prediction with AlphaFold. Nature. 2021;596:583–589. doi:10.1038/s41586-021-03819-2</a:t>
            </a:r>
          </a:p>
        </p:txBody>
      </p:sp>
      <p:sp>
        <p:nvSpPr>
          <p:cNvPr id="18" name="Rectangle 17">
            <a:extLst xmlns:a="http://schemas.openxmlformats.org/drawingml/2006/main">
              <a:ext uri="{FF2B5EF4-FFF2-40B4-BE49-F238E27FC236}">
                <a16:creationId xmlns:a16="http://schemas.microsoft.com/office/drawing/2014/main" id="{D480A1CB-840E-421D-A86F-864382236CC1}"/>
              </a:ext>
            </a:extLst>
          </p:cNvPr>
          <p:cNvSpPr>
            <a:spLocks xmlns:a="http://schemas.openxmlformats.org/drawingml/2006/main" noGrp="1"/>
          </p:cNvSpPr>
          <p:nvPr/>
        </p:nvSpPr>
        <p:spPr>
          <a:xfrm xmlns:a="http://schemas.openxmlformats.org/drawingml/2006/main">
            <a:off x="6267450" y="45434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11. Mirdita M et al. ColabFold: making protein folding accessible to all. Nat Methods. 2022;19:679–682. doi:10.1038/s41592-022-01488-1</a:t>
            </a:r>
          </a:p>
        </p:txBody>
      </p:sp>
      <p:sp>
        <p:nvSpPr>
          <p:cNvPr id="19" name="Rectangle 18">
            <a:extLst xmlns:a="http://schemas.openxmlformats.org/drawingml/2006/main">
              <a:ext uri="{FF2B5EF4-FFF2-40B4-BE49-F238E27FC236}">
                <a16:creationId xmlns:a16="http://schemas.microsoft.com/office/drawing/2014/main" id="{2DBFA75B-80C3-4463-9D3B-010124DC24A0}"/>
              </a:ext>
            </a:extLst>
          </p:cNvPr>
          <p:cNvSpPr>
            <a:spLocks xmlns:a="http://schemas.openxmlformats.org/drawingml/2006/main" noGrp="1"/>
          </p:cNvSpPr>
          <p:nvPr/>
        </p:nvSpPr>
        <p:spPr>
          <a:xfrm xmlns:a="http://schemas.openxmlformats.org/drawingml/2006/main">
            <a:off x="6267450" y="52863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12. Vymětal J et al. Fusion of two unrelated protein domains and its 3D prediction. Proteins. 2022;90:2067–2079. doi:10.1002/prot.26398</a:t>
            </a:r>
          </a:p>
        </p:txBody>
      </p:sp>
      <p:sp>
        <p:nvSpPr>
          <p:cNvPr id="20" name="Straight Connector 19">
            <a:extLst xmlns:a="http://schemas.openxmlformats.org/drawingml/2006/main">
              <a:ext uri="{FF2B5EF4-FFF2-40B4-BE49-F238E27FC236}">
                <a16:creationId xmlns:a16="http://schemas.microsoft.com/office/drawing/2014/main" id="{B9548699-7D12-4BF3-B5BF-9C587733B643}"/>
              </a:ext>
            </a:extLst>
          </p:cNvPr>
          <p:cNvSpPr>
            <a:spLocks xmlns:a="http://schemas.openxmlformats.org/drawingml/2006/main" noGrp="1"/>
          </p:cNvSpPr>
          <p:nvPr/>
        </p:nvSpPr>
        <p:spPr>
          <a:xfrm xmlns:a="http://schemas.openxmlformats.org/drawingml/2006/main">
            <a:off x="6019800" y="1562100"/>
            <a:ext cx="0" cy="451485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Tree>
    <p:extLst>
      <p:ext uri="{BB962C8B-B14F-4D97-AF65-F5344CB8AC3E}">
        <p14:creationId xmlns:p14="http://schemas.microsoft.com/office/powerpoint/2010/main" val="1093070779"/>
      </p:ext>
    </p:extLst>
  </p:cSld>
</p:sld>
</file>

<file path=ppt/slides/slide33.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19395FEB-A3FF-434B-AEFA-C1FF6A75306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51AF58A2-54AC-4E82-8650-5ACC0BA35A8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BE424CD9-7892-47FD-B542-F0A5873AC92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REFERENCES</a:t>
            </a:r>
          </a:p>
        </p:txBody>
      </p:sp>
      <p:sp>
        <p:nvSpPr>
          <p:cNvPr id="4" name="Rectangle 3">
            <a:extLst xmlns:a="http://schemas.openxmlformats.org/drawingml/2006/main">
              <a:ext uri="{FF2B5EF4-FFF2-40B4-BE49-F238E27FC236}">
                <a16:creationId xmlns:a16="http://schemas.microsoft.com/office/drawing/2014/main" id="{823A14F4-D77B-4A52-B347-1124D501461D}"/>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Exact source releases, access dates, licences, and checksums belong in the reproducibility supplement</a:t>
            </a:r>
          </a:p>
        </p:txBody>
      </p:sp>
      <p:sp>
        <p:nvSpPr>
          <p:cNvPr id="5" name="Rectangle 4">
            <a:extLst xmlns:a="http://schemas.openxmlformats.org/drawingml/2006/main">
              <a:ext uri="{FF2B5EF4-FFF2-40B4-BE49-F238E27FC236}">
                <a16:creationId xmlns:a16="http://schemas.microsoft.com/office/drawing/2014/main" id="{87C8FF70-4888-44B0-BEB8-B0D660DADA5F}"/>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33</a:t>
            </a:r>
          </a:p>
        </p:txBody>
      </p:sp>
      <p:sp>
        <p:nvSpPr>
          <p:cNvPr id="6" name="Rectangle 5">
            <a:extLst xmlns:a="http://schemas.openxmlformats.org/drawingml/2006/main">
              <a:ext uri="{FF2B5EF4-FFF2-40B4-BE49-F238E27FC236}">
                <a16:creationId xmlns:a16="http://schemas.microsoft.com/office/drawing/2014/main" id="{89B5B173-AD4F-4488-99D7-D26EC2884B2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References: data, validation, and provenance</a:t>
            </a:r>
          </a:p>
        </p:txBody>
      </p:sp>
      <p:sp>
        <p:nvSpPr>
          <p:cNvPr id="7" name="Rectangle 6">
            <a:extLst xmlns:a="http://schemas.openxmlformats.org/drawingml/2006/main">
              <a:ext uri="{FF2B5EF4-FFF2-40B4-BE49-F238E27FC236}">
                <a16:creationId xmlns:a16="http://schemas.microsoft.com/office/drawing/2014/main" id="{D0A13E9B-0FDB-4A24-96BF-6F7B65A15439}"/>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Authorities used to establish sequence identity, domain boundaries, structure evidence, and reproducibility</a:t>
            </a:r>
          </a:p>
        </p:txBody>
      </p:sp>
      <p:sp>
        <p:nvSpPr>
          <p:cNvPr id="8" name="Rectangle 7">
            <a:extLst xmlns:a="http://schemas.openxmlformats.org/drawingml/2006/main">
              <a:ext uri="{FF2B5EF4-FFF2-40B4-BE49-F238E27FC236}">
                <a16:creationId xmlns:a16="http://schemas.microsoft.com/office/drawing/2014/main" id="{4F17B5AE-B2C0-451B-883D-F79B47D94097}"/>
              </a:ext>
            </a:extLst>
          </p:cNvPr>
          <p:cNvSpPr>
            <a:spLocks xmlns:a="http://schemas.openxmlformats.org/drawingml/2006/main" noGrp="1"/>
          </p:cNvSpPr>
          <p:nvPr/>
        </p:nvSpPr>
        <p:spPr>
          <a:xfrm xmlns:a="http://schemas.openxmlformats.org/drawingml/2006/main">
            <a:off x="552450" y="15716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13. Burley SK et al. RCSB Protein Data Bank: celebrating 50 years of the PDB. Protein Sci. 2022;31:187–208. doi:10.1002/pro.4213</a:t>
            </a:r>
          </a:p>
        </p:txBody>
      </p:sp>
      <p:sp>
        <p:nvSpPr>
          <p:cNvPr id="9" name="Rectangle 8">
            <a:extLst xmlns:a="http://schemas.openxmlformats.org/drawingml/2006/main">
              <a:ext uri="{FF2B5EF4-FFF2-40B4-BE49-F238E27FC236}">
                <a16:creationId xmlns:a16="http://schemas.microsoft.com/office/drawing/2014/main" id="{FE8271D3-D8A2-4F6B-8DE0-BF772DE46B5D}"/>
              </a:ext>
            </a:extLst>
          </p:cNvPr>
          <p:cNvSpPr>
            <a:spLocks xmlns:a="http://schemas.openxmlformats.org/drawingml/2006/main" noGrp="1"/>
          </p:cNvSpPr>
          <p:nvPr/>
        </p:nvSpPr>
        <p:spPr>
          <a:xfrm xmlns:a="http://schemas.openxmlformats.org/drawingml/2006/main">
            <a:off x="552450" y="23145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14. Dana JM et al. SIFTS: structure integration with function, taxonomy and sequences. Nucleic Acids Res. 2019;47:D482–D489. doi:10.1093/nar/gky1114</a:t>
            </a:r>
          </a:p>
        </p:txBody>
      </p:sp>
      <p:sp>
        <p:nvSpPr>
          <p:cNvPr id="10" name="Rectangle 9">
            <a:extLst xmlns:a="http://schemas.openxmlformats.org/drawingml/2006/main">
              <a:ext uri="{FF2B5EF4-FFF2-40B4-BE49-F238E27FC236}">
                <a16:creationId xmlns:a16="http://schemas.microsoft.com/office/drawing/2014/main" id="{6278BBBD-CC72-4B01-ACF9-C7F36DB8FCCA}"/>
              </a:ext>
            </a:extLst>
          </p:cNvPr>
          <p:cNvSpPr>
            <a:spLocks xmlns:a="http://schemas.openxmlformats.org/drawingml/2006/main" noGrp="1"/>
          </p:cNvSpPr>
          <p:nvPr/>
        </p:nvSpPr>
        <p:spPr>
          <a:xfrm xmlns:a="http://schemas.openxmlformats.org/drawingml/2006/main">
            <a:off x="552450" y="30575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15. UniProt Consortium. UniProt in 2025. Nucleic Acids Res. 2025;53:D609–D617. doi:10.1093/nar/gkae1010</a:t>
            </a:r>
          </a:p>
        </p:txBody>
      </p:sp>
      <p:sp>
        <p:nvSpPr>
          <p:cNvPr id="11" name="Rectangle 10">
            <a:extLst xmlns:a="http://schemas.openxmlformats.org/drawingml/2006/main">
              <a:ext uri="{FF2B5EF4-FFF2-40B4-BE49-F238E27FC236}">
                <a16:creationId xmlns:a16="http://schemas.microsoft.com/office/drawing/2014/main" id="{F8B75AAD-AA34-4318-8C23-18F6A89AD154}"/>
              </a:ext>
            </a:extLst>
          </p:cNvPr>
          <p:cNvSpPr>
            <a:spLocks xmlns:a="http://schemas.openxmlformats.org/drawingml/2006/main" noGrp="1"/>
          </p:cNvSpPr>
          <p:nvPr/>
        </p:nvSpPr>
        <p:spPr>
          <a:xfrm xmlns:a="http://schemas.openxmlformats.org/drawingml/2006/main">
            <a:off x="552450" y="38004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16. Waman VP et al. CATH v4.4. Nucleic Acids Res. 2025;53:D348–D355. doi:10.1093/nar/gkae1087</a:t>
            </a:r>
          </a:p>
        </p:txBody>
      </p:sp>
      <p:sp>
        <p:nvSpPr>
          <p:cNvPr id="12" name="Rectangle 11">
            <a:extLst xmlns:a="http://schemas.openxmlformats.org/drawingml/2006/main">
              <a:ext uri="{FF2B5EF4-FFF2-40B4-BE49-F238E27FC236}">
                <a16:creationId xmlns:a16="http://schemas.microsoft.com/office/drawing/2014/main" id="{D267FD50-8A31-459F-831A-1EFE0F7B630C}"/>
              </a:ext>
            </a:extLst>
          </p:cNvPr>
          <p:cNvSpPr>
            <a:spLocks xmlns:a="http://schemas.openxmlformats.org/drawingml/2006/main" noGrp="1"/>
          </p:cNvSpPr>
          <p:nvPr/>
        </p:nvSpPr>
        <p:spPr>
          <a:xfrm xmlns:a="http://schemas.openxmlformats.org/drawingml/2006/main">
            <a:off x="552450" y="45434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17. Blum M et al. InterPro in 2025. Nucleic Acids Res. 2025;53:D444–D456. doi:10.1093/nar/gkae1082</a:t>
            </a:r>
          </a:p>
        </p:txBody>
      </p:sp>
      <p:sp>
        <p:nvSpPr>
          <p:cNvPr id="13" name="Rectangle 12">
            <a:extLst xmlns:a="http://schemas.openxmlformats.org/drawingml/2006/main">
              <a:ext uri="{FF2B5EF4-FFF2-40B4-BE49-F238E27FC236}">
                <a16:creationId xmlns:a16="http://schemas.microsoft.com/office/drawing/2014/main" id="{24566125-A88C-4AD4-A850-D1798E47B27B}"/>
              </a:ext>
            </a:extLst>
          </p:cNvPr>
          <p:cNvSpPr>
            <a:spLocks xmlns:a="http://schemas.openxmlformats.org/drawingml/2006/main" noGrp="1"/>
          </p:cNvSpPr>
          <p:nvPr/>
        </p:nvSpPr>
        <p:spPr>
          <a:xfrm xmlns:a="http://schemas.openxmlformats.org/drawingml/2006/main">
            <a:off x="552450" y="52863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18. DisProt 2026_06. Curated intrinsic-disorder annotations. disprot.org. CC BY 4.0.</a:t>
            </a:r>
          </a:p>
        </p:txBody>
      </p:sp>
      <p:sp>
        <p:nvSpPr>
          <p:cNvPr id="14" name="Rectangle 13">
            <a:extLst xmlns:a="http://schemas.openxmlformats.org/drawingml/2006/main">
              <a:ext uri="{FF2B5EF4-FFF2-40B4-BE49-F238E27FC236}">
                <a16:creationId xmlns:a16="http://schemas.microsoft.com/office/drawing/2014/main" id="{AC46B1A3-8D39-430A-A10D-2CE07BE03EB2}"/>
              </a:ext>
            </a:extLst>
          </p:cNvPr>
          <p:cNvSpPr>
            <a:spLocks xmlns:a="http://schemas.openxmlformats.org/drawingml/2006/main" noGrp="1"/>
          </p:cNvSpPr>
          <p:nvPr/>
        </p:nvSpPr>
        <p:spPr>
          <a:xfrm xmlns:a="http://schemas.openxmlformats.org/drawingml/2006/main">
            <a:off x="6267450" y="15716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19. Steinegger M, Söding J. MMseqs2 enables sensitive protein sequence searching. Nat Biotechnol. 2017;35:1026–1028. doi:10.1038/nbt.3988</a:t>
            </a:r>
          </a:p>
        </p:txBody>
      </p:sp>
      <p:sp>
        <p:nvSpPr>
          <p:cNvPr id="15" name="Rectangle 14">
            <a:extLst xmlns:a="http://schemas.openxmlformats.org/drawingml/2006/main">
              <a:ext uri="{FF2B5EF4-FFF2-40B4-BE49-F238E27FC236}">
                <a16:creationId xmlns:a16="http://schemas.microsoft.com/office/drawing/2014/main" id="{79FB2DB9-E2A1-469E-9F15-9B8AB72EC374}"/>
              </a:ext>
            </a:extLst>
          </p:cNvPr>
          <p:cNvSpPr>
            <a:spLocks xmlns:a="http://schemas.openxmlformats.org/drawingml/2006/main" noGrp="1"/>
          </p:cNvSpPr>
          <p:nvPr/>
        </p:nvSpPr>
        <p:spPr>
          <a:xfrm xmlns:a="http://schemas.openxmlformats.org/drawingml/2006/main">
            <a:off x="6267450" y="23145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20. Stein A, Kortemme T. Robotics-inspired conformational sampling in Rosetta. PLoS ONE. 2013;8:e63090. doi:10.1371/journal.pone.0063090</a:t>
            </a:r>
          </a:p>
        </p:txBody>
      </p:sp>
      <p:sp>
        <p:nvSpPr>
          <p:cNvPr id="16" name="Rectangle 15">
            <a:extLst xmlns:a="http://schemas.openxmlformats.org/drawingml/2006/main">
              <a:ext uri="{FF2B5EF4-FFF2-40B4-BE49-F238E27FC236}">
                <a16:creationId xmlns:a16="http://schemas.microsoft.com/office/drawing/2014/main" id="{44C1D9BE-1FA0-4CD4-8210-5AE5A9BFFD5B}"/>
              </a:ext>
            </a:extLst>
          </p:cNvPr>
          <p:cNvSpPr>
            <a:spLocks xmlns:a="http://schemas.openxmlformats.org/drawingml/2006/main" noGrp="1"/>
          </p:cNvSpPr>
          <p:nvPr/>
        </p:nvSpPr>
        <p:spPr>
          <a:xfrm xmlns:a="http://schemas.openxmlformats.org/drawingml/2006/main">
            <a:off x="6267450" y="30575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21. Eastman P et al. OpenMM 8. J Phys Chem B. 2024;128:109–116. doi:10.1021/acs.jpcb.3c06662</a:t>
            </a:r>
          </a:p>
        </p:txBody>
      </p:sp>
      <p:sp>
        <p:nvSpPr>
          <p:cNvPr id="17" name="Rectangle 16">
            <a:extLst xmlns:a="http://schemas.openxmlformats.org/drawingml/2006/main">
              <a:ext uri="{FF2B5EF4-FFF2-40B4-BE49-F238E27FC236}">
                <a16:creationId xmlns:a16="http://schemas.microsoft.com/office/drawing/2014/main" id="{BF7AFBF4-3FBF-4B26-A121-A2CF75D51271}"/>
              </a:ext>
            </a:extLst>
          </p:cNvPr>
          <p:cNvSpPr>
            <a:spLocks xmlns:a="http://schemas.openxmlformats.org/drawingml/2006/main" noGrp="1"/>
          </p:cNvSpPr>
          <p:nvPr/>
        </p:nvSpPr>
        <p:spPr>
          <a:xfrm xmlns:a="http://schemas.openxmlformats.org/drawingml/2006/main">
            <a:off x="6267450" y="38004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22. Sehnal D et al. Mol* Viewer. Nucleic Acids Res. 2021;49:W431–W437. doi:10.1093/nar/gkab314</a:t>
            </a:r>
          </a:p>
        </p:txBody>
      </p:sp>
      <p:sp>
        <p:nvSpPr>
          <p:cNvPr id="18" name="Rectangle 17">
            <a:extLst xmlns:a="http://schemas.openxmlformats.org/drawingml/2006/main">
              <a:ext uri="{FF2B5EF4-FFF2-40B4-BE49-F238E27FC236}">
                <a16:creationId xmlns:a16="http://schemas.microsoft.com/office/drawing/2014/main" id="{337072CE-B5CB-4A96-9741-992DF8BFFC0F}"/>
              </a:ext>
            </a:extLst>
          </p:cNvPr>
          <p:cNvSpPr>
            <a:spLocks xmlns:a="http://schemas.openxmlformats.org/drawingml/2006/main" noGrp="1"/>
          </p:cNvSpPr>
          <p:nvPr/>
        </p:nvSpPr>
        <p:spPr>
          <a:xfrm xmlns:a="http://schemas.openxmlformats.org/drawingml/2006/main">
            <a:off x="6267450" y="45434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23. LinkerForge mined-and-natural composite v1. 27,766 records; manifest SHA-256 b1b8c5…e3232. See datasets/README.md.</a:t>
            </a:r>
          </a:p>
        </p:txBody>
      </p:sp>
      <p:sp>
        <p:nvSpPr>
          <p:cNvPr id="19" name="Rectangle 18">
            <a:extLst xmlns:a="http://schemas.openxmlformats.org/drawingml/2006/main">
              <a:ext uri="{FF2B5EF4-FFF2-40B4-BE49-F238E27FC236}">
                <a16:creationId xmlns:a16="http://schemas.microsoft.com/office/drawing/2014/main" id="{A87B41F4-3E77-487B-9E6C-F37B5D97E53A}"/>
              </a:ext>
            </a:extLst>
          </p:cNvPr>
          <p:cNvSpPr>
            <a:spLocks xmlns:a="http://schemas.openxmlformats.org/drawingml/2006/main" noGrp="1"/>
          </p:cNvSpPr>
          <p:nvPr/>
        </p:nvSpPr>
        <p:spPr>
          <a:xfrm xmlns:a="http://schemas.openxmlformats.org/drawingml/2006/main">
            <a:off x="6267450" y="52863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24. LinkerForge curation protocol. Frozen 971-record, two-curator packet. See docs/LINKER_CURATION_PROTOCOL_2026-10-21.md.</a:t>
            </a:r>
          </a:p>
        </p:txBody>
      </p:sp>
      <p:sp>
        <p:nvSpPr>
          <p:cNvPr id="20" name="Straight Connector 19">
            <a:extLst xmlns:a="http://schemas.openxmlformats.org/drawingml/2006/main">
              <a:ext uri="{FF2B5EF4-FFF2-40B4-BE49-F238E27FC236}">
                <a16:creationId xmlns:a16="http://schemas.microsoft.com/office/drawing/2014/main" id="{26E951BA-B2DF-42B9-91ED-015AE86C60E8}"/>
              </a:ext>
            </a:extLst>
          </p:cNvPr>
          <p:cNvSpPr>
            <a:spLocks xmlns:a="http://schemas.openxmlformats.org/drawingml/2006/main" noGrp="1"/>
          </p:cNvSpPr>
          <p:nvPr/>
        </p:nvSpPr>
        <p:spPr>
          <a:xfrm xmlns:a="http://schemas.openxmlformats.org/drawingml/2006/main">
            <a:off x="6019800" y="1562100"/>
            <a:ext cx="0" cy="451485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Tree>
    <p:extLst>
      <p:ext uri="{BB962C8B-B14F-4D97-AF65-F5344CB8AC3E}">
        <p14:creationId xmlns:p14="http://schemas.microsoft.com/office/powerpoint/2010/main" val="1458773205"/>
      </p:ext>
    </p:extLst>
  </p:cSld>
</p:sld>
</file>

<file path=ppt/slides/slide34.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F25183B3-A78F-4A48-A92B-DD58CB0DD80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A2724084-5995-40E0-BEC4-19EB5BD151FF}"/>
              </a:ext>
            </a:extLst>
          </p:cNvPr>
          <p:cNvSpPr>
            <a:spLocks xmlns:a="http://schemas.openxmlformats.org/drawingml/2006/main" noGrp="1"/>
          </p:cNvSpPr>
          <p:nvPr/>
        </p:nvSpPr>
        <p:spPr>
          <a:xfrm xmlns:a="http://schemas.openxmlformats.org/drawingml/2006/main">
            <a:off x="590550" y="5715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CONCLUSION</a:t>
            </a:r>
          </a:p>
        </p:txBody>
      </p:sp>
      <p:sp>
        <p:nvSpPr>
          <p:cNvPr id="3" name="Rectangle 2">
            <a:extLst xmlns:a="http://schemas.openxmlformats.org/drawingml/2006/main">
              <a:ext uri="{FF2B5EF4-FFF2-40B4-BE49-F238E27FC236}">
                <a16:creationId xmlns:a16="http://schemas.microsoft.com/office/drawing/2014/main" id="{3AE8D327-80F0-40C0-88FB-8AD8638FF58F}"/>
              </a:ext>
            </a:extLst>
          </p:cNvPr>
          <p:cNvSpPr>
            <a:spLocks xmlns:a="http://schemas.openxmlformats.org/drawingml/2006/main" noGrp="1"/>
          </p:cNvSpPr>
          <p:nvPr/>
        </p:nvSpPr>
        <p:spPr>
          <a:xfrm xmlns:a="http://schemas.openxmlformats.org/drawingml/2006/main">
            <a:off x="590550" y="1143000"/>
            <a:ext cx="885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3000" b="1" i="0">
                <a:solidFill>
                  <a:srgbClr val="FFFFFF"/>
                </a:solidFill>
                <a:latin typeface="Arial"/>
                <a:ea typeface="Arial"/>
                <a:cs typeface="Arial"/>
              </a:defRPr>
            </a:defPPr>
            <a:lvl1pPr algn="l">
              <a:buNone/>
              <a:defRPr sz="3000" b="1" i="0">
                <a:solidFill>
                  <a:srgbClr val="FFFFFF"/>
                </a:solidFill>
                <a:latin typeface="Arial"/>
                <a:ea typeface="Arial"/>
                <a:cs typeface="Arial"/>
              </a:defRPr>
            </a:lvl1pPr>
            <a:lvl2pPr algn="l">
              <a:buNone/>
              <a:defRPr sz="3000" b="1" i="0">
                <a:solidFill>
                  <a:srgbClr val="FFFFFF"/>
                </a:solidFill>
                <a:latin typeface="Arial"/>
                <a:ea typeface="Arial"/>
                <a:cs typeface="Arial"/>
              </a:defRPr>
            </a:lvl2pPr>
            <a:lvl3pPr algn="l">
              <a:buNone/>
              <a:defRPr sz="3000" b="1" i="0">
                <a:solidFill>
                  <a:srgbClr val="FFFFFF"/>
                </a:solidFill>
                <a:latin typeface="Arial"/>
                <a:ea typeface="Arial"/>
                <a:cs typeface="Arial"/>
              </a:defRPr>
            </a:lvl3pPr>
            <a:lvl4pPr algn="l">
              <a:buNone/>
              <a:defRPr sz="3000" b="1" i="0">
                <a:solidFill>
                  <a:srgbClr val="FFFFFF"/>
                </a:solidFill>
                <a:latin typeface="Arial"/>
                <a:ea typeface="Arial"/>
                <a:cs typeface="Arial"/>
              </a:defRPr>
            </a:lvl4pPr>
            <a:lvl5pPr algn="l">
              <a:buNone/>
              <a:defRPr sz="3000" b="1" i="0">
                <a:solidFill>
                  <a:srgbClr val="FFFFFF"/>
                </a:solidFill>
                <a:latin typeface="Arial"/>
                <a:ea typeface="Arial"/>
                <a:cs typeface="Arial"/>
              </a:defRPr>
            </a:lvl5pPr>
            <a:lvl6pPr algn="l">
              <a:buNone/>
              <a:defRPr sz="3000" b="1" i="0">
                <a:solidFill>
                  <a:srgbClr val="FFFFFF"/>
                </a:solidFill>
                <a:latin typeface="Arial"/>
                <a:ea typeface="Arial"/>
                <a:cs typeface="Arial"/>
              </a:defRPr>
            </a:lvl6pPr>
            <a:lvl7pPr algn="l">
              <a:buNone/>
              <a:defRPr sz="3000" b="1" i="0">
                <a:solidFill>
                  <a:srgbClr val="FFFFFF"/>
                </a:solidFill>
                <a:latin typeface="Arial"/>
                <a:ea typeface="Arial"/>
                <a:cs typeface="Arial"/>
              </a:defRPr>
            </a:lvl7pPr>
            <a:lvl8pPr algn="l">
              <a:buNone/>
              <a:defRPr sz="3000" b="1" i="0">
                <a:solidFill>
                  <a:srgbClr val="FFFFFF"/>
                </a:solidFill>
                <a:latin typeface="Arial"/>
                <a:ea typeface="Arial"/>
                <a:cs typeface="Arial"/>
              </a:defRPr>
            </a:lvl8pPr>
            <a:lvl9pPr algn="l">
              <a:buNone/>
              <a:defRPr sz="3000" b="1" i="0">
                <a:solidFill>
                  <a:srgbClr val="FFFFFF"/>
                </a:solidFill>
                <a:latin typeface="Arial"/>
                <a:ea typeface="Arial"/>
                <a:cs typeface="Arial"/>
              </a:defRPr>
            </a:lvl9pPr>
          </a:lstStyle>
          <a:p xmlns:a="http://schemas.openxmlformats.org/drawingml/2006/main">
            <a:pPr algn="l">
              <a:buNone/>
              <a:defRPr sz="3000" b="1" i="0">
                <a:solidFill>
                  <a:srgbClr val="FFFFFF"/>
                </a:solidFill>
                <a:latin typeface="Arial"/>
                <a:ea typeface="Arial"/>
                <a:cs typeface="Arial"/>
              </a:defRPr>
            </a:pPr>
            <a:r>
              <a:rPr sz="3000" b="1" i="0">
                <a:solidFill>
                  <a:srgbClr val="FFFFFF"/>
                </a:solidFill>
                <a:latin typeface="Arial"/>
                <a:ea typeface="Arial"/>
                <a:cs typeface="Arial"/>
              </a:rPr>
              <a:t>Verified scope and next scientific milestone</a:t>
            </a:r>
          </a:p>
        </p:txBody>
      </p:sp>
      <p:sp>
        <p:nvSpPr>
          <p:cNvPr id="4" name="Oval 3">
            <a:extLst xmlns:a="http://schemas.openxmlformats.org/drawingml/2006/main">
              <a:ext uri="{FF2B5EF4-FFF2-40B4-BE49-F238E27FC236}">
                <a16:creationId xmlns:a16="http://schemas.microsoft.com/office/drawing/2014/main" id="{FDD966C8-C918-4457-895A-FFFC6C0C9481}"/>
              </a:ext>
            </a:extLst>
          </p:cNvPr>
          <p:cNvSpPr>
            <a:spLocks xmlns:a="http://schemas.openxmlformats.org/drawingml/2006/main" noGrp="1"/>
          </p:cNvSpPr>
          <p:nvPr/>
        </p:nvSpPr>
        <p:spPr>
          <a:xfrm xmlns:a="http://schemas.openxmlformats.org/drawingml/2006/main">
            <a:off x="619125" y="2286000"/>
            <a:ext cx="381000" cy="38100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5" name="Rectangle 4">
            <a:extLst xmlns:a="http://schemas.openxmlformats.org/drawingml/2006/main">
              <a:ext uri="{FF2B5EF4-FFF2-40B4-BE49-F238E27FC236}">
                <a16:creationId xmlns:a16="http://schemas.microsoft.com/office/drawing/2014/main" id="{6E0DBD00-5E0A-4A56-B8A6-E5BDD33F8E8B}"/>
              </a:ext>
            </a:extLst>
          </p:cNvPr>
          <p:cNvSpPr>
            <a:spLocks xmlns:a="http://schemas.openxmlformats.org/drawingml/2006/main" noGrp="1"/>
          </p:cNvSpPr>
          <p:nvPr/>
        </p:nvSpPr>
        <p:spPr>
          <a:xfrm xmlns:a="http://schemas.openxmlformats.org/drawingml/2006/main">
            <a:off x="619125" y="23622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1</a:t>
            </a:r>
          </a:p>
        </p:txBody>
      </p:sp>
      <p:sp>
        <p:nvSpPr>
          <p:cNvPr id="6" name="Rectangle 5">
            <a:extLst xmlns:a="http://schemas.openxmlformats.org/drawingml/2006/main">
              <a:ext uri="{FF2B5EF4-FFF2-40B4-BE49-F238E27FC236}">
                <a16:creationId xmlns:a16="http://schemas.microsoft.com/office/drawing/2014/main" id="{ED2D08C2-AFF5-40D8-BA1B-18481D06C33E}"/>
              </a:ext>
            </a:extLst>
          </p:cNvPr>
          <p:cNvSpPr>
            <a:spLocks xmlns:a="http://schemas.openxmlformats.org/drawingml/2006/main" noGrp="1"/>
          </p:cNvSpPr>
          <p:nvPr/>
        </p:nvSpPr>
        <p:spPr>
          <a:xfrm xmlns:a="http://schemas.openxmlformats.org/drawingml/2006/main">
            <a:off x="1257300" y="22764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LinkerForge links exact candidate sequences to matched structural evidence and provenance across three public pairs.</a:t>
            </a:r>
          </a:p>
        </p:txBody>
      </p:sp>
      <p:sp>
        <p:nvSpPr>
          <p:cNvPr id="7" name="Oval 6">
            <a:extLst xmlns:a="http://schemas.openxmlformats.org/drawingml/2006/main">
              <a:ext uri="{FF2B5EF4-FFF2-40B4-BE49-F238E27FC236}">
                <a16:creationId xmlns:a16="http://schemas.microsoft.com/office/drawing/2014/main" id="{47EAAF5A-6FD2-463F-90E0-B3ECF48ECE45}"/>
              </a:ext>
            </a:extLst>
          </p:cNvPr>
          <p:cNvSpPr>
            <a:spLocks xmlns:a="http://schemas.openxmlformats.org/drawingml/2006/main" noGrp="1"/>
          </p:cNvSpPr>
          <p:nvPr/>
        </p:nvSpPr>
        <p:spPr>
          <a:xfrm xmlns:a="http://schemas.openxmlformats.org/drawingml/2006/main">
            <a:off x="619125" y="3238500"/>
            <a:ext cx="381000" cy="381000"/>
          </a:xfrm>
          <a:prstGeom xmlns:a="http://schemas.openxmlformats.org/drawingml/2006/main" prst="ellipse">
            <a:avLst/>
          </a:prstGeom>
          <a:solidFill xmlns:a="http://schemas.openxmlformats.org/drawingml/2006/main">
            <a:srgbClr val="F1C84B"/>
          </a:solidFill>
          <a:ln xmlns:a="http://schemas.openxmlformats.org/drawingml/2006/main" w="0">
            <a:noFill/>
            <a:prstDash val="solid"/>
          </a:ln>
        </p:spPr>
      </p:sp>
      <p:sp>
        <p:nvSpPr>
          <p:cNvPr id="8" name="Rectangle 7">
            <a:extLst xmlns:a="http://schemas.openxmlformats.org/drawingml/2006/main">
              <a:ext uri="{FF2B5EF4-FFF2-40B4-BE49-F238E27FC236}">
                <a16:creationId xmlns:a16="http://schemas.microsoft.com/office/drawing/2014/main" id="{7C5FEE80-D5A7-4DFC-A33F-72B28C9375C2}"/>
              </a:ext>
            </a:extLst>
          </p:cNvPr>
          <p:cNvSpPr>
            <a:spLocks xmlns:a="http://schemas.openxmlformats.org/drawingml/2006/main" noGrp="1"/>
          </p:cNvSpPr>
          <p:nvPr/>
        </p:nvSpPr>
        <p:spPr>
          <a:xfrm xmlns:a="http://schemas.openxmlformats.org/drawingml/2006/main">
            <a:off x="619125" y="33147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2</a:t>
            </a:r>
          </a:p>
        </p:txBody>
      </p:sp>
      <p:sp>
        <p:nvSpPr>
          <p:cNvPr id="9" name="Rectangle 8">
            <a:extLst xmlns:a="http://schemas.openxmlformats.org/drawingml/2006/main">
              <a:ext uri="{FF2B5EF4-FFF2-40B4-BE49-F238E27FC236}">
                <a16:creationId xmlns:a16="http://schemas.microsoft.com/office/drawing/2014/main" id="{4F5F2FBB-4593-40D4-A052-114CC15BC7E5}"/>
              </a:ext>
            </a:extLst>
          </p:cNvPr>
          <p:cNvSpPr>
            <a:spLocks xmlns:a="http://schemas.openxmlformats.org/drawingml/2006/main" noGrp="1"/>
          </p:cNvSpPr>
          <p:nvPr/>
        </p:nvSpPr>
        <p:spPr>
          <a:xfrm xmlns:a="http://schemas.openxmlformats.org/drawingml/2006/main">
            <a:off x="1257300" y="32289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The 18-construct linker panel verifies execution and traceability, not biological success or optimality.</a:t>
            </a:r>
          </a:p>
        </p:txBody>
      </p:sp>
      <p:sp>
        <p:nvSpPr>
          <p:cNvPr id="10" name="Oval 9">
            <a:extLst xmlns:a="http://schemas.openxmlformats.org/drawingml/2006/main">
              <a:ext uri="{FF2B5EF4-FFF2-40B4-BE49-F238E27FC236}">
                <a16:creationId xmlns:a16="http://schemas.microsoft.com/office/drawing/2014/main" id="{6B97DB7C-DB24-43D1-9196-8707024C8046}"/>
              </a:ext>
            </a:extLst>
          </p:cNvPr>
          <p:cNvSpPr>
            <a:spLocks xmlns:a="http://schemas.openxmlformats.org/drawingml/2006/main" noGrp="1"/>
          </p:cNvSpPr>
          <p:nvPr/>
        </p:nvSpPr>
        <p:spPr>
          <a:xfrm xmlns:a="http://schemas.openxmlformats.org/drawingml/2006/main">
            <a:off x="619125" y="4191000"/>
            <a:ext cx="381000" cy="38100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1" name="Rectangle 10">
            <a:extLst xmlns:a="http://schemas.openxmlformats.org/drawingml/2006/main">
              <a:ext uri="{FF2B5EF4-FFF2-40B4-BE49-F238E27FC236}">
                <a16:creationId xmlns:a16="http://schemas.microsoft.com/office/drawing/2014/main" id="{D162ECDB-F72B-4949-8829-9FB4C379A82A}"/>
              </a:ext>
            </a:extLst>
          </p:cNvPr>
          <p:cNvSpPr>
            <a:spLocks xmlns:a="http://schemas.openxmlformats.org/drawingml/2006/main" noGrp="1"/>
          </p:cNvSpPr>
          <p:nvPr/>
        </p:nvSpPr>
        <p:spPr>
          <a:xfrm xmlns:a="http://schemas.openxmlformats.org/drawingml/2006/main">
            <a:off x="619125" y="42672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3</a:t>
            </a:r>
          </a:p>
        </p:txBody>
      </p:sp>
      <p:sp>
        <p:nvSpPr>
          <p:cNvPr id="12" name="Rectangle 11">
            <a:extLst xmlns:a="http://schemas.openxmlformats.org/drawingml/2006/main">
              <a:ext uri="{FF2B5EF4-FFF2-40B4-BE49-F238E27FC236}">
                <a16:creationId xmlns:a16="http://schemas.microsoft.com/office/drawing/2014/main" id="{5ACAAF8C-8ED6-4F48-93C4-C8D2D7A49D71}"/>
              </a:ext>
            </a:extLst>
          </p:cNvPr>
          <p:cNvSpPr>
            <a:spLocks xmlns:a="http://schemas.openxmlformats.org/drawingml/2006/main" noGrp="1"/>
          </p:cNvSpPr>
          <p:nvPr/>
        </p:nvSpPr>
        <p:spPr>
          <a:xfrm xmlns:a="http://schemas.openxmlformats.org/drawingml/2006/main">
            <a:off x="1257300" y="41814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The next scientific milestone is adjudicated data, a calibrated ranker, and an untouched family-disjoint benchmark.</a:t>
            </a:r>
          </a:p>
        </p:txBody>
      </p:sp>
      <p:sp>
        <p:nvSpPr>
          <p:cNvPr id="13" name="Rectangle: Rounded Corners 12">
            <a:extLst xmlns:a="http://schemas.openxmlformats.org/drawingml/2006/main">
              <a:ext uri="{FF2B5EF4-FFF2-40B4-BE49-F238E27FC236}">
                <a16:creationId xmlns:a16="http://schemas.microsoft.com/office/drawing/2014/main" id="{975C89EE-1BA0-4227-93DF-F156E7DF667F}"/>
              </a:ext>
            </a:extLst>
          </p:cNvPr>
          <p:cNvSpPr>
            <a:spLocks xmlns:a="http://schemas.openxmlformats.org/drawingml/2006/main" noGrp="1"/>
          </p:cNvSpPr>
          <p:nvPr/>
        </p:nvSpPr>
        <p:spPr>
          <a:xfrm xmlns:a="http://schemas.openxmlformats.org/drawingml/2006/main">
            <a:off x="590550" y="5334000"/>
            <a:ext cx="10744200" cy="657225"/>
          </a:xfrm>
          <a:prstGeom xmlns:a="http://schemas.openxmlformats.org/drawingml/2006/main" prst="roundRect">
            <a:avLst>
              <a:gd name="adj" fmla="val 17391"/>
            </a:avLst>
          </a:prstGeom>
          <a:solidFill xmlns:a="http://schemas.openxmlformats.org/drawingml/2006/main">
            <a:srgbClr val="102720"/>
          </a:solidFill>
          <a:ln xmlns:a="http://schemas.openxmlformats.org/drawingml/2006/main" w="9525">
            <a:solidFill>
              <a:srgbClr val="3FC6D6"/>
            </a:solidFill>
            <a:prstDash val="solid"/>
          </a:ln>
        </p:spPr>
      </p:sp>
      <p:sp>
        <p:nvSpPr>
          <p:cNvPr id="14" name="Rectangle 13">
            <a:extLst xmlns:a="http://schemas.openxmlformats.org/drawingml/2006/main">
              <a:ext uri="{FF2B5EF4-FFF2-40B4-BE49-F238E27FC236}">
                <a16:creationId xmlns:a16="http://schemas.microsoft.com/office/drawing/2014/main" id="{BF0D0FB5-3902-4307-929B-BFB79E9338CD}"/>
              </a:ext>
            </a:extLst>
          </p:cNvPr>
          <p:cNvSpPr>
            <a:spLocks xmlns:a="http://schemas.openxmlformats.org/drawingml/2006/main" noGrp="1"/>
          </p:cNvSpPr>
          <p:nvPr/>
        </p:nvSpPr>
        <p:spPr>
          <a:xfrm xmlns:a="http://schemas.openxmlformats.org/drawingml/2006/main">
            <a:off x="866775" y="5495925"/>
            <a:ext cx="1019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575" b="1" i="0">
                <a:solidFill>
                  <a:srgbClr val="3FC6D6"/>
                </a:solidFill>
                <a:latin typeface="Arial"/>
                <a:ea typeface="Arial"/>
                <a:cs typeface="Arial"/>
              </a:defRPr>
            </a:defPPr>
            <a:lvl1pPr algn="ctr">
              <a:buNone/>
              <a:defRPr sz="1575" b="1" i="0">
                <a:solidFill>
                  <a:srgbClr val="3FC6D6"/>
                </a:solidFill>
                <a:latin typeface="Arial"/>
                <a:ea typeface="Arial"/>
                <a:cs typeface="Arial"/>
              </a:defRPr>
            </a:lvl1pPr>
            <a:lvl2pPr algn="ctr">
              <a:buNone/>
              <a:defRPr sz="1575" b="1" i="0">
                <a:solidFill>
                  <a:srgbClr val="3FC6D6"/>
                </a:solidFill>
                <a:latin typeface="Arial"/>
                <a:ea typeface="Arial"/>
                <a:cs typeface="Arial"/>
              </a:defRPr>
            </a:lvl2pPr>
            <a:lvl3pPr algn="ctr">
              <a:buNone/>
              <a:defRPr sz="1575" b="1" i="0">
                <a:solidFill>
                  <a:srgbClr val="3FC6D6"/>
                </a:solidFill>
                <a:latin typeface="Arial"/>
                <a:ea typeface="Arial"/>
                <a:cs typeface="Arial"/>
              </a:defRPr>
            </a:lvl3pPr>
            <a:lvl4pPr algn="ctr">
              <a:buNone/>
              <a:defRPr sz="1575" b="1" i="0">
                <a:solidFill>
                  <a:srgbClr val="3FC6D6"/>
                </a:solidFill>
                <a:latin typeface="Arial"/>
                <a:ea typeface="Arial"/>
                <a:cs typeface="Arial"/>
              </a:defRPr>
            </a:lvl4pPr>
            <a:lvl5pPr algn="ctr">
              <a:buNone/>
              <a:defRPr sz="1575" b="1" i="0">
                <a:solidFill>
                  <a:srgbClr val="3FC6D6"/>
                </a:solidFill>
                <a:latin typeface="Arial"/>
                <a:ea typeface="Arial"/>
                <a:cs typeface="Arial"/>
              </a:defRPr>
            </a:lvl5pPr>
            <a:lvl6pPr algn="ctr">
              <a:buNone/>
              <a:defRPr sz="1575" b="1" i="0">
                <a:solidFill>
                  <a:srgbClr val="3FC6D6"/>
                </a:solidFill>
                <a:latin typeface="Arial"/>
                <a:ea typeface="Arial"/>
                <a:cs typeface="Arial"/>
              </a:defRPr>
            </a:lvl6pPr>
            <a:lvl7pPr algn="ctr">
              <a:buNone/>
              <a:defRPr sz="1575" b="1" i="0">
                <a:solidFill>
                  <a:srgbClr val="3FC6D6"/>
                </a:solidFill>
                <a:latin typeface="Arial"/>
                <a:ea typeface="Arial"/>
                <a:cs typeface="Arial"/>
              </a:defRPr>
            </a:lvl7pPr>
            <a:lvl8pPr algn="ctr">
              <a:buNone/>
              <a:defRPr sz="1575" b="1" i="0">
                <a:solidFill>
                  <a:srgbClr val="3FC6D6"/>
                </a:solidFill>
                <a:latin typeface="Arial"/>
                <a:ea typeface="Arial"/>
                <a:cs typeface="Arial"/>
              </a:defRPr>
            </a:lvl8pPr>
            <a:lvl9pPr algn="ctr">
              <a:buNone/>
              <a:defRPr sz="1575" b="1" i="0">
                <a:solidFill>
                  <a:srgbClr val="3FC6D6"/>
                </a:solidFill>
                <a:latin typeface="Arial"/>
                <a:ea typeface="Arial"/>
                <a:cs typeface="Arial"/>
              </a:defRPr>
            </a:lvl9pPr>
          </a:lstStyle>
          <a:p xmlns:a="http://schemas.openxmlformats.org/drawingml/2006/main">
            <a:pPr algn="ctr">
              <a:buNone/>
              <a:defRPr sz="1575" b="1" i="0">
                <a:solidFill>
                  <a:srgbClr val="3FC6D6"/>
                </a:solidFill>
                <a:latin typeface="Arial"/>
                <a:ea typeface="Arial"/>
                <a:cs typeface="Arial"/>
              </a:defRPr>
            </a:pPr>
            <a:r>
              <a:rPr sz="1575" b="1" i="0">
                <a:solidFill>
                  <a:srgbClr val="3FC6D6"/>
                </a:solidFill>
                <a:latin typeface="Arial"/>
                <a:ea typeface="Arial"/>
                <a:cs typeface="Arial"/>
              </a:rPr>
              <a:t>Computational candidate with matched structural evidence; no experimental or optimality claim.</a:t>
            </a:r>
          </a:p>
        </p:txBody>
      </p:sp>
      <p:sp>
        <p:nvSpPr>
          <p:cNvPr id="15" name="Rectangle 14">
            <a:extLst xmlns:a="http://schemas.openxmlformats.org/drawingml/2006/main">
              <a:ext uri="{FF2B5EF4-FFF2-40B4-BE49-F238E27FC236}">
                <a16:creationId xmlns:a16="http://schemas.microsoft.com/office/drawing/2014/main" id="{63C2703D-EEDF-4E0F-9207-E66CE8B71533}"/>
              </a:ext>
            </a:extLst>
          </p:cNvPr>
          <p:cNvSpPr>
            <a:spLocks xmlns:a="http://schemas.openxmlformats.org/drawingml/2006/main" noGrp="1"/>
          </p:cNvSpPr>
          <p:nvPr/>
        </p:nvSpPr>
        <p:spPr>
          <a:xfrm xmlns:a="http://schemas.openxmlformats.org/drawingml/2006/main">
            <a:off x="9563100" y="62769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defPPr algn="r">
              <a:defRPr sz="1350" b="1" i="0">
                <a:solidFill>
                  <a:srgbClr val="FFFFFF"/>
                </a:solidFill>
                <a:latin typeface="Arial"/>
                <a:ea typeface="Arial"/>
                <a:cs typeface="Arial"/>
              </a:defRPr>
            </a:defPPr>
            <a:lvl1pPr algn="r">
              <a:buNone/>
              <a:defRPr sz="1350" b="1" i="0">
                <a:solidFill>
                  <a:srgbClr val="FFFFFF"/>
                </a:solidFill>
                <a:latin typeface="Arial"/>
                <a:ea typeface="Arial"/>
                <a:cs typeface="Arial"/>
              </a:defRPr>
            </a:lvl1pPr>
            <a:lvl2pPr algn="r">
              <a:buNone/>
              <a:defRPr sz="1350" b="1" i="0">
                <a:solidFill>
                  <a:srgbClr val="FFFFFF"/>
                </a:solidFill>
                <a:latin typeface="Arial"/>
                <a:ea typeface="Arial"/>
                <a:cs typeface="Arial"/>
              </a:defRPr>
            </a:lvl2pPr>
            <a:lvl3pPr algn="r">
              <a:buNone/>
              <a:defRPr sz="1350" b="1" i="0">
                <a:solidFill>
                  <a:srgbClr val="FFFFFF"/>
                </a:solidFill>
                <a:latin typeface="Arial"/>
                <a:ea typeface="Arial"/>
                <a:cs typeface="Arial"/>
              </a:defRPr>
            </a:lvl3pPr>
            <a:lvl4pPr algn="r">
              <a:buNone/>
              <a:defRPr sz="1350" b="1" i="0">
                <a:solidFill>
                  <a:srgbClr val="FFFFFF"/>
                </a:solidFill>
                <a:latin typeface="Arial"/>
                <a:ea typeface="Arial"/>
                <a:cs typeface="Arial"/>
              </a:defRPr>
            </a:lvl4pPr>
            <a:lvl5pPr algn="r">
              <a:buNone/>
              <a:defRPr sz="1350" b="1" i="0">
                <a:solidFill>
                  <a:srgbClr val="FFFFFF"/>
                </a:solidFill>
                <a:latin typeface="Arial"/>
                <a:ea typeface="Arial"/>
                <a:cs typeface="Arial"/>
              </a:defRPr>
            </a:lvl5pPr>
            <a:lvl6pPr algn="r">
              <a:buNone/>
              <a:defRPr sz="1350" b="1" i="0">
                <a:solidFill>
                  <a:srgbClr val="FFFFFF"/>
                </a:solidFill>
                <a:latin typeface="Arial"/>
                <a:ea typeface="Arial"/>
                <a:cs typeface="Arial"/>
              </a:defRPr>
            </a:lvl6pPr>
            <a:lvl7pPr algn="r">
              <a:buNone/>
              <a:defRPr sz="1350" b="1" i="0">
                <a:solidFill>
                  <a:srgbClr val="FFFFFF"/>
                </a:solidFill>
                <a:latin typeface="Arial"/>
                <a:ea typeface="Arial"/>
                <a:cs typeface="Arial"/>
              </a:defRPr>
            </a:lvl7pPr>
            <a:lvl8pPr algn="r">
              <a:buNone/>
              <a:defRPr sz="1350" b="1" i="0">
                <a:solidFill>
                  <a:srgbClr val="FFFFFF"/>
                </a:solidFill>
                <a:latin typeface="Arial"/>
                <a:ea typeface="Arial"/>
                <a:cs typeface="Arial"/>
              </a:defRPr>
            </a:lvl8pPr>
            <a:lvl9pPr algn="r">
              <a:buNone/>
              <a:defRPr sz="1350" b="1" i="0">
                <a:solidFill>
                  <a:srgbClr val="FFFFFF"/>
                </a:solidFill>
                <a:latin typeface="Arial"/>
                <a:ea typeface="Arial"/>
                <a:cs typeface="Arial"/>
              </a:defRPr>
            </a:lvl9pPr>
          </a:lstStyle>
          <a:p xmlns:a="http://schemas.openxmlformats.org/drawingml/2006/main">
            <a:pPr algn="r">
              <a:buNone/>
              <a:defRPr sz="1350" b="1" i="0">
                <a:solidFill>
                  <a:srgbClr val="FFFFFF"/>
                </a:solidFill>
                <a:latin typeface="Arial"/>
                <a:ea typeface="Arial"/>
                <a:cs typeface="Arial"/>
              </a:defRPr>
            </a:pPr>
            <a:r>
              <a:rPr sz="1350" b="1" i="0">
                <a:solidFill>
                  <a:srgbClr val="FFFFFF"/>
                </a:solidFill>
                <a:latin typeface="Arial"/>
                <a:ea typeface="Arial"/>
                <a:cs typeface="Arial"/>
              </a:rPr>
              <a:t>Questions</a:t>
            </a:r>
          </a:p>
        </p:txBody>
      </p:sp>
      <p:sp>
        <p:nvSpPr>
          <p:cNvPr id="16" name="Rectangle 15">
            <a:extLst xmlns:a="http://schemas.openxmlformats.org/drawingml/2006/main">
              <a:ext uri="{FF2B5EF4-FFF2-40B4-BE49-F238E27FC236}">
                <a16:creationId xmlns:a16="http://schemas.microsoft.com/office/drawing/2014/main" id="{297E044F-AD40-430B-BDCC-5ABB66A1E20A}"/>
              </a:ext>
            </a:extLst>
          </p:cNvPr>
          <p:cNvSpPr>
            <a:spLocks xmlns:a="http://schemas.openxmlformats.org/drawingml/2006/main" noGrp="1"/>
          </p:cNvSpPr>
          <p:nvPr/>
        </p:nvSpPr>
        <p:spPr>
          <a:xfrm xmlns:a="http://schemas.openxmlformats.org/drawingml/2006/main">
            <a:off x="10287000" y="6572250"/>
            <a:ext cx="1428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333"/>
          </a:bodyPr>
          <a:lstStyle xmlns:a="http://schemas.openxmlformats.org/drawingml/2006/main">
            <a:defPPr algn="r">
              <a:defRPr sz="750" b="1" i="0">
                <a:solidFill>
                  <a:srgbClr val="91AAA0"/>
                </a:solidFill>
                <a:latin typeface="Arial"/>
                <a:ea typeface="Arial"/>
                <a:cs typeface="Arial"/>
              </a:defRPr>
            </a:defPPr>
            <a:lvl1pPr algn="r">
              <a:buNone/>
              <a:defRPr sz="750" b="1" i="0">
                <a:solidFill>
                  <a:srgbClr val="91AAA0"/>
                </a:solidFill>
                <a:latin typeface="Arial"/>
                <a:ea typeface="Arial"/>
                <a:cs typeface="Arial"/>
              </a:defRPr>
            </a:lvl1pPr>
            <a:lvl2pPr algn="r">
              <a:buNone/>
              <a:defRPr sz="750" b="1" i="0">
                <a:solidFill>
                  <a:srgbClr val="91AAA0"/>
                </a:solidFill>
                <a:latin typeface="Arial"/>
                <a:ea typeface="Arial"/>
                <a:cs typeface="Arial"/>
              </a:defRPr>
            </a:lvl2pPr>
            <a:lvl3pPr algn="r">
              <a:buNone/>
              <a:defRPr sz="750" b="1" i="0">
                <a:solidFill>
                  <a:srgbClr val="91AAA0"/>
                </a:solidFill>
                <a:latin typeface="Arial"/>
                <a:ea typeface="Arial"/>
                <a:cs typeface="Arial"/>
              </a:defRPr>
            </a:lvl3pPr>
            <a:lvl4pPr algn="r">
              <a:buNone/>
              <a:defRPr sz="750" b="1" i="0">
                <a:solidFill>
                  <a:srgbClr val="91AAA0"/>
                </a:solidFill>
                <a:latin typeface="Arial"/>
                <a:ea typeface="Arial"/>
                <a:cs typeface="Arial"/>
              </a:defRPr>
            </a:lvl4pPr>
            <a:lvl5pPr algn="r">
              <a:buNone/>
              <a:defRPr sz="750" b="1" i="0">
                <a:solidFill>
                  <a:srgbClr val="91AAA0"/>
                </a:solidFill>
                <a:latin typeface="Arial"/>
                <a:ea typeface="Arial"/>
                <a:cs typeface="Arial"/>
              </a:defRPr>
            </a:lvl5pPr>
            <a:lvl6pPr algn="r">
              <a:buNone/>
              <a:defRPr sz="750" b="1" i="0">
                <a:solidFill>
                  <a:srgbClr val="91AAA0"/>
                </a:solidFill>
                <a:latin typeface="Arial"/>
                <a:ea typeface="Arial"/>
                <a:cs typeface="Arial"/>
              </a:defRPr>
            </a:lvl6pPr>
            <a:lvl7pPr algn="r">
              <a:buNone/>
              <a:defRPr sz="750" b="1" i="0">
                <a:solidFill>
                  <a:srgbClr val="91AAA0"/>
                </a:solidFill>
                <a:latin typeface="Arial"/>
                <a:ea typeface="Arial"/>
                <a:cs typeface="Arial"/>
              </a:defRPr>
            </a:lvl7pPr>
            <a:lvl8pPr algn="r">
              <a:buNone/>
              <a:defRPr sz="750" b="1" i="0">
                <a:solidFill>
                  <a:srgbClr val="91AAA0"/>
                </a:solidFill>
                <a:latin typeface="Arial"/>
                <a:ea typeface="Arial"/>
                <a:cs typeface="Arial"/>
              </a:defRPr>
            </a:lvl8pPr>
            <a:lvl9pPr algn="r">
              <a:buNone/>
              <a:defRPr sz="750" b="1" i="0">
                <a:solidFill>
                  <a:srgbClr val="91AAA0"/>
                </a:solidFill>
                <a:latin typeface="Arial"/>
                <a:ea typeface="Arial"/>
                <a:cs typeface="Arial"/>
              </a:defRPr>
            </a:lvl9pPr>
          </a:lstStyle>
          <a:p xmlns:a="http://schemas.openxmlformats.org/drawingml/2006/main">
            <a:pPr algn="r">
              <a:buNone/>
              <a:defRPr sz="750" b="1" i="0">
                <a:solidFill>
                  <a:srgbClr val="91AAA0"/>
                </a:solidFill>
                <a:latin typeface="Arial"/>
                <a:ea typeface="Arial"/>
                <a:cs typeface="Arial"/>
              </a:defRPr>
            </a:pPr>
            <a:r>
              <a:rPr sz="750" b="1" i="0">
                <a:solidFill>
                  <a:srgbClr val="91AAA0"/>
                </a:solidFill>
                <a:latin typeface="Arial"/>
                <a:ea typeface="Arial"/>
                <a:cs typeface="Arial"/>
              </a:rPr>
              <a:t>Presenter 4  ·  34</a:t>
            </a:r>
          </a:p>
        </p:txBody>
      </p:sp>
    </p:spTree>
    <p:extLst>
      <p:ext uri="{BB962C8B-B14F-4D97-AF65-F5344CB8AC3E}">
        <p14:creationId xmlns:p14="http://schemas.microsoft.com/office/powerpoint/2010/main" val="20124771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2026-10-22T06:20:16.6010000Z</dcterms:created>
  <dcterms:modified xsi:type="dcterms:W3CDTF">2026-10-22T06:20:16.6020000Z</dcterms:modified>
</coreProperties>
</file>