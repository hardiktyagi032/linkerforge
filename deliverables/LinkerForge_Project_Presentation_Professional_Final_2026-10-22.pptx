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21581b112f4868" /><Relationship Type="http://schemas.openxmlformats.org/officeDocument/2006/relationships/extended-properties" Target="/docProps/app.xml" Id="R9cb275edda114efa" /><Relationship Type="http://schemas.openxmlformats.org/officeDocument/2006/relationships/officeDocument" Target="/ppt/presentation.xml" Id="R39f97b43047a442c" /></Relationships>
</file>

<file path=ppt/presentation.xml><?xml version="1.0" encoding="utf-8"?>
<p:presentation xmlns:p="http://schemas.openxmlformats.org/presentationml/2006/main">
  <p:sldMasterIdLst>
    <p:sldMasterId xmlns:r="http://schemas.openxmlformats.org/officeDocument/2006/relationships" id="2147483648" r:id="R14a585747e66431f"/>
  </p:sldMasterIdLst>
  <p:notesMasterIdLst>
    <p:notesMasterId xmlns:r="http://schemas.openxmlformats.org/officeDocument/2006/relationships" r:id="R837d4971a6a948df"/>
  </p:notesMasterIdLst>
  <p:sldIdLst>
    <p:sldId xmlns:r="http://schemas.openxmlformats.org/officeDocument/2006/relationships" id="256" r:id="R48a7c854fb3e4fe4"/>
    <p:sldId xmlns:r="http://schemas.openxmlformats.org/officeDocument/2006/relationships" id="257" r:id="Re41ec169bdec4b26"/>
    <p:sldId xmlns:r="http://schemas.openxmlformats.org/officeDocument/2006/relationships" id="258" r:id="R37a6705e48aa4dbb"/>
    <p:sldId xmlns:r="http://schemas.openxmlformats.org/officeDocument/2006/relationships" id="259" r:id="Rc3413acd2acb48e8"/>
    <p:sldId xmlns:r="http://schemas.openxmlformats.org/officeDocument/2006/relationships" id="260" r:id="R3187f9f1a773434d"/>
    <p:sldId xmlns:r="http://schemas.openxmlformats.org/officeDocument/2006/relationships" id="261" r:id="R005fd1d1b7ed480a"/>
    <p:sldId xmlns:r="http://schemas.openxmlformats.org/officeDocument/2006/relationships" id="262" r:id="R2babf5d648124776"/>
    <p:sldId xmlns:r="http://schemas.openxmlformats.org/officeDocument/2006/relationships" id="263" r:id="R2767b5ae395047c0"/>
    <p:sldId xmlns:r="http://schemas.openxmlformats.org/officeDocument/2006/relationships" id="264" r:id="Rc8735932dff5425a"/>
    <p:sldId xmlns:r="http://schemas.openxmlformats.org/officeDocument/2006/relationships" id="265" r:id="Radba56311132418a"/>
    <p:sldId xmlns:r="http://schemas.openxmlformats.org/officeDocument/2006/relationships" id="266" r:id="R16b5137795ca420e"/>
    <p:sldId xmlns:r="http://schemas.openxmlformats.org/officeDocument/2006/relationships" id="267" r:id="R71c3ffc13d39414b"/>
    <p:sldId xmlns:r="http://schemas.openxmlformats.org/officeDocument/2006/relationships" id="268" r:id="R649cbcaa28724187"/>
    <p:sldId xmlns:r="http://schemas.openxmlformats.org/officeDocument/2006/relationships" id="269" r:id="Rba5e2b4ba1bc4a7b"/>
    <p:sldId xmlns:r="http://schemas.openxmlformats.org/officeDocument/2006/relationships" id="270" r:id="Rb73cd98b49054a95"/>
    <p:sldId xmlns:r="http://schemas.openxmlformats.org/officeDocument/2006/relationships" id="271" r:id="Red70c3fd17454940"/>
    <p:sldId xmlns:r="http://schemas.openxmlformats.org/officeDocument/2006/relationships" id="272" r:id="Raa58c390d7054377"/>
    <p:sldId xmlns:r="http://schemas.openxmlformats.org/officeDocument/2006/relationships" id="273" r:id="Re6755815c80648f0"/>
    <p:sldId xmlns:r="http://schemas.openxmlformats.org/officeDocument/2006/relationships" id="274" r:id="R945376a2737e4f42"/>
    <p:sldId xmlns:r="http://schemas.openxmlformats.org/officeDocument/2006/relationships" id="275" r:id="Rbd6d0d5abe024f20"/>
    <p:sldId xmlns:r="http://schemas.openxmlformats.org/officeDocument/2006/relationships" id="276" r:id="R8812ae8975a94298"/>
    <p:sldId xmlns:r="http://schemas.openxmlformats.org/officeDocument/2006/relationships" id="277" r:id="Rdd89340b95d54dc2"/>
    <p:sldId xmlns:r="http://schemas.openxmlformats.org/officeDocument/2006/relationships" id="278" r:id="R292c08705e3b48de"/>
    <p:sldId xmlns:r="http://schemas.openxmlformats.org/officeDocument/2006/relationships" id="279" r:id="Rff982df5fb5b45a1"/>
    <p:sldId xmlns:r="http://schemas.openxmlformats.org/officeDocument/2006/relationships" id="280" r:id="R33d1b413870d4d62"/>
    <p:sldId xmlns:r="http://schemas.openxmlformats.org/officeDocument/2006/relationships" id="281" r:id="R6aa80ed2fded461e"/>
    <p:sldId xmlns:r="http://schemas.openxmlformats.org/officeDocument/2006/relationships" id="282" r:id="Rd55cb86e12024ccd"/>
    <p:sldId xmlns:r="http://schemas.openxmlformats.org/officeDocument/2006/relationships" id="283" r:id="R4e031120ec534ea6"/>
    <p:sldId xmlns:r="http://schemas.openxmlformats.org/officeDocument/2006/relationships" id="284" r:id="R6a80ba95d0934306"/>
    <p:sldId xmlns:r="http://schemas.openxmlformats.org/officeDocument/2006/relationships" id="285" r:id="Rc8d0963495d241b6"/>
    <p:sldId xmlns:r="http://schemas.openxmlformats.org/officeDocument/2006/relationships" id="286" r:id="R057376aeaa82456e"/>
    <p:sldId xmlns:r="http://schemas.openxmlformats.org/officeDocument/2006/relationships" id="287" r:id="R82eb7bebc0bc4382"/>
    <p:sldId xmlns:r="http://schemas.openxmlformats.org/officeDocument/2006/relationships" id="288" r:id="R467e934524a3428d"/>
    <p:sldId xmlns:r="http://schemas.openxmlformats.org/officeDocument/2006/relationships" id="289" r:id="Rdb109a61cbd64d5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0d65efb0c9e4838" /><Relationship Type="http://schemas.openxmlformats.org/officeDocument/2006/relationships/slideMaster" Target="/ppt/slideMasters/slideMaster1.xml" Id="R14a585747e66431f" /><Relationship Type="http://schemas.openxmlformats.org/officeDocument/2006/relationships/notesMaster" Target="/ppt/notesMasters/notesMaster1.xml" Id="R837d4971a6a948df" /><Relationship Type="http://schemas.openxmlformats.org/officeDocument/2006/relationships/presProps" Target="/ppt/presProps.xml" Id="Readebda8d4b44f30" /><Relationship Type="http://schemas.openxmlformats.org/officeDocument/2006/relationships/viewProps" Target="/ppt/viewProps.xml" Id="R4c2493b31a804d3c" /><Relationship Type="http://schemas.openxmlformats.org/officeDocument/2006/relationships/tableStyles" Target="/ppt/tableStyles.xml" Id="R7ee191ae49084b9e" /><Relationship Type="http://schemas.openxmlformats.org/officeDocument/2006/relationships/slide" Target="/ppt/slides/slide1.xml" Id="R48a7c854fb3e4fe4" /><Relationship Type="http://schemas.openxmlformats.org/officeDocument/2006/relationships/slide" Target="/ppt/slides/slide2.xml" Id="Re41ec169bdec4b26" /><Relationship Type="http://schemas.openxmlformats.org/officeDocument/2006/relationships/slide" Target="/ppt/slides/slide3.xml" Id="R37a6705e48aa4dbb" /><Relationship Type="http://schemas.openxmlformats.org/officeDocument/2006/relationships/slide" Target="/ppt/slides/slide4.xml" Id="Rc3413acd2acb48e8" /><Relationship Type="http://schemas.openxmlformats.org/officeDocument/2006/relationships/slide" Target="/ppt/slides/slide5.xml" Id="R3187f9f1a773434d" /><Relationship Type="http://schemas.openxmlformats.org/officeDocument/2006/relationships/slide" Target="/ppt/slides/slide6.xml" Id="R005fd1d1b7ed480a" /><Relationship Type="http://schemas.openxmlformats.org/officeDocument/2006/relationships/slide" Target="/ppt/slides/slide7.xml" Id="R2babf5d648124776" /><Relationship Type="http://schemas.openxmlformats.org/officeDocument/2006/relationships/slide" Target="/ppt/slides/slide8.xml" Id="R2767b5ae395047c0" /><Relationship Type="http://schemas.openxmlformats.org/officeDocument/2006/relationships/slide" Target="/ppt/slides/slide9.xml" Id="Rc8735932dff5425a" /><Relationship Type="http://schemas.openxmlformats.org/officeDocument/2006/relationships/slide" Target="/ppt/slides/slide10.xml" Id="Radba56311132418a" /><Relationship Type="http://schemas.openxmlformats.org/officeDocument/2006/relationships/slide" Target="/ppt/slides/slide11.xml" Id="R16b5137795ca420e" /><Relationship Type="http://schemas.openxmlformats.org/officeDocument/2006/relationships/slide" Target="/ppt/slides/slide12.xml" Id="R71c3ffc13d39414b" /><Relationship Type="http://schemas.openxmlformats.org/officeDocument/2006/relationships/slide" Target="/ppt/slides/slide13.xml" Id="R649cbcaa28724187" /><Relationship Type="http://schemas.openxmlformats.org/officeDocument/2006/relationships/slide" Target="/ppt/slides/slide14.xml" Id="Rba5e2b4ba1bc4a7b" /><Relationship Type="http://schemas.openxmlformats.org/officeDocument/2006/relationships/slide" Target="/ppt/slides/slide15.xml" Id="Rb73cd98b49054a95" /><Relationship Type="http://schemas.openxmlformats.org/officeDocument/2006/relationships/slide" Target="/ppt/slides/slide16.xml" Id="Red70c3fd17454940" /><Relationship Type="http://schemas.openxmlformats.org/officeDocument/2006/relationships/slide" Target="/ppt/slides/slide17.xml" Id="Raa58c390d7054377" /><Relationship Type="http://schemas.openxmlformats.org/officeDocument/2006/relationships/slide" Target="/ppt/slides/slide18.xml" Id="Re6755815c80648f0" /><Relationship Type="http://schemas.openxmlformats.org/officeDocument/2006/relationships/slide" Target="/ppt/slides/slide19.xml" Id="R945376a2737e4f42" /><Relationship Type="http://schemas.openxmlformats.org/officeDocument/2006/relationships/slide" Target="/ppt/slides/slide20.xml" Id="Rbd6d0d5abe024f20" /><Relationship Type="http://schemas.openxmlformats.org/officeDocument/2006/relationships/slide" Target="/ppt/slides/slide21.xml" Id="R8812ae8975a94298" /><Relationship Type="http://schemas.openxmlformats.org/officeDocument/2006/relationships/slide" Target="/ppt/slides/slide22.xml" Id="Rdd89340b95d54dc2" /><Relationship Type="http://schemas.openxmlformats.org/officeDocument/2006/relationships/slide" Target="/ppt/slides/slide23.xml" Id="R292c08705e3b48de" /><Relationship Type="http://schemas.openxmlformats.org/officeDocument/2006/relationships/slide" Target="/ppt/slides/slide24.xml" Id="Rff982df5fb5b45a1" /><Relationship Type="http://schemas.openxmlformats.org/officeDocument/2006/relationships/slide" Target="/ppt/slides/slide25.xml" Id="R33d1b413870d4d62" /><Relationship Type="http://schemas.openxmlformats.org/officeDocument/2006/relationships/slide" Target="/ppt/slides/slide26.xml" Id="R6aa80ed2fded461e" /><Relationship Type="http://schemas.openxmlformats.org/officeDocument/2006/relationships/slide" Target="/ppt/slides/slide27.xml" Id="Rd55cb86e12024ccd" /><Relationship Type="http://schemas.openxmlformats.org/officeDocument/2006/relationships/slide" Target="/ppt/slides/slide28.xml" Id="R4e031120ec534ea6" /><Relationship Type="http://schemas.openxmlformats.org/officeDocument/2006/relationships/slide" Target="/ppt/slides/slide29.xml" Id="R6a80ba95d0934306" /><Relationship Type="http://schemas.openxmlformats.org/officeDocument/2006/relationships/slide" Target="/ppt/slides/slide30.xml" Id="Rc8d0963495d241b6" /><Relationship Type="http://schemas.openxmlformats.org/officeDocument/2006/relationships/slide" Target="/ppt/slides/slide31.xml" Id="R057376aeaa82456e" /><Relationship Type="http://schemas.openxmlformats.org/officeDocument/2006/relationships/slide" Target="/ppt/slides/slide32.xml" Id="R82eb7bebc0bc4382" /><Relationship Type="http://schemas.openxmlformats.org/officeDocument/2006/relationships/slide" Target="/ppt/slides/slide33.xml" Id="R467e934524a3428d" /><Relationship Type="http://schemas.openxmlformats.org/officeDocument/2006/relationships/slide" Target="/ppt/slides/slide34.xml" Id="Rdb109a61cbd64d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8a5fe3cb0640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e94fa9a0534db9" /><Relationship Type="http://schemas.openxmlformats.org/officeDocument/2006/relationships/notesMaster" Target="/ppt/notesMasters/notesMaster1.xml" Id="R75aca75fb67848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c8bccd4c1e4be4" /><Relationship Type="http://schemas.openxmlformats.org/officeDocument/2006/relationships/notesMaster" Target="/ppt/notesMasters/notesMaster1.xml" Id="Rb1469516929745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60dd45e6d4419b" /><Relationship Type="http://schemas.openxmlformats.org/officeDocument/2006/relationships/notesMaster" Target="/ppt/notesMasters/notesMaster1.xml" Id="Red106141abb649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01d5067ed4cc2" /><Relationship Type="http://schemas.openxmlformats.org/officeDocument/2006/relationships/notesMaster" Target="/ppt/notesMasters/notesMaster1.xml" Id="R40e56723cdcd49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62970d36ea4d43" /><Relationship Type="http://schemas.openxmlformats.org/officeDocument/2006/relationships/notesMaster" Target="/ppt/notesMasters/notesMaster1.xml" Id="Rc6f0db42895246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547485694c4ad5" /><Relationship Type="http://schemas.openxmlformats.org/officeDocument/2006/relationships/notesMaster" Target="/ppt/notesMasters/notesMaster1.xml" Id="Rd797e4cf515345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6a33a910ae4656" /><Relationship Type="http://schemas.openxmlformats.org/officeDocument/2006/relationships/notesMaster" Target="/ppt/notesMasters/notesMaster1.xml" Id="Rf87b215f80f440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ff596987d24fa3" /><Relationship Type="http://schemas.openxmlformats.org/officeDocument/2006/relationships/notesMaster" Target="/ppt/notesMasters/notesMaster1.xml" Id="Radae3d34c82c42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aead1b144b421f" /><Relationship Type="http://schemas.openxmlformats.org/officeDocument/2006/relationships/notesMaster" Target="/ppt/notesMasters/notesMaster1.xml" Id="R9a58635357384a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c5e8cfcecf40c3" /><Relationship Type="http://schemas.openxmlformats.org/officeDocument/2006/relationships/notesMaster" Target="/ppt/notesMasters/notesMaster1.xml" Id="Rf5aed130f5f64d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4b8872705e4a1f" /><Relationship Type="http://schemas.openxmlformats.org/officeDocument/2006/relationships/notesMaster" Target="/ppt/notesMasters/notesMaster1.xml" Id="Ra6b765fc8bb24c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96379042ae4b79" /><Relationship Type="http://schemas.openxmlformats.org/officeDocument/2006/relationships/notesMaster" Target="/ppt/notesMasters/notesMaster1.xml" Id="R588b380d034240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d1bf1e149d4b31" /><Relationship Type="http://schemas.openxmlformats.org/officeDocument/2006/relationships/notesMaster" Target="/ppt/notesMasters/notesMaster1.xml" Id="R5ff082f5ac9d44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e44491a4fb4394" /><Relationship Type="http://schemas.openxmlformats.org/officeDocument/2006/relationships/notesMaster" Target="/ppt/notesMasters/notesMaster1.xml" Id="Ra39a0234848945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674d8756bc40f1" /><Relationship Type="http://schemas.openxmlformats.org/officeDocument/2006/relationships/notesMaster" Target="/ppt/notesMasters/notesMaster1.xml" Id="R8b321353340847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7cfc282c0c4f99" /><Relationship Type="http://schemas.openxmlformats.org/officeDocument/2006/relationships/notesMaster" Target="/ppt/notesMasters/notesMaster1.xml" Id="Rec31330b7de442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2d087c5934081" /><Relationship Type="http://schemas.openxmlformats.org/officeDocument/2006/relationships/notesMaster" Target="/ppt/notesMasters/notesMaster1.xml" Id="R17b445a8056247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38888753a54970" /><Relationship Type="http://schemas.openxmlformats.org/officeDocument/2006/relationships/notesMaster" Target="/ppt/notesMasters/notesMaster1.xml" Id="R0eb8c9dd0b3e42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b98352448d4347" /><Relationship Type="http://schemas.openxmlformats.org/officeDocument/2006/relationships/notesMaster" Target="/ppt/notesMasters/notesMaster1.xml" Id="Rbd311f8d0de14c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3f8b4306bf447d" /><Relationship Type="http://schemas.openxmlformats.org/officeDocument/2006/relationships/notesMaster" Target="/ppt/notesMasters/notesMaster1.xml" Id="Rb3618db6852348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139380112b4a10" /><Relationship Type="http://schemas.openxmlformats.org/officeDocument/2006/relationships/notesMaster" Target="/ppt/notesMasters/notesMaster1.xml" Id="R7d54bfffca9248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618227e0c44bdf" /><Relationship Type="http://schemas.openxmlformats.org/officeDocument/2006/relationships/notesMaster" Target="/ppt/notesMasters/notesMaster1.xml" Id="R59720c6781dd40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d1c6fb658f41b6" /><Relationship Type="http://schemas.openxmlformats.org/officeDocument/2006/relationships/notesMaster" Target="/ppt/notesMasters/notesMaster1.xml" Id="R67962a5f98674ea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e8926647ac472d" /><Relationship Type="http://schemas.openxmlformats.org/officeDocument/2006/relationships/notesMaster" Target="/ppt/notesMasters/notesMaster1.xml" Id="R753173fe8fe9415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7530e6cb8340cb" /><Relationship Type="http://schemas.openxmlformats.org/officeDocument/2006/relationships/notesMaster" Target="/ppt/notesMasters/notesMaster1.xml" Id="R924ae21c97c245b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7ebd8f0b4b4943" /><Relationship Type="http://schemas.openxmlformats.org/officeDocument/2006/relationships/notesMaster" Target="/ppt/notesMasters/notesMaster1.xml" Id="R63b10b7705bc43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aaa023f9e74e68" /><Relationship Type="http://schemas.openxmlformats.org/officeDocument/2006/relationships/notesMaster" Target="/ppt/notesMasters/notesMaster1.xml" Id="R31d220bd1ed9417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0b09a125584dcc" /><Relationship Type="http://schemas.openxmlformats.org/officeDocument/2006/relationships/notesMaster" Target="/ppt/notesMasters/notesMaster1.xml" Id="R3fc3b4b607c041e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87577a9bb644cd" /><Relationship Type="http://schemas.openxmlformats.org/officeDocument/2006/relationships/notesMaster" Target="/ppt/notesMasters/notesMaster1.xml" Id="R82104fa569dd4f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0a8fb1b20da4fd7" /><Relationship Type="http://schemas.openxmlformats.org/officeDocument/2006/relationships/notesMaster" Target="/ppt/notesMasters/notesMaster1.xml" Id="Rc695ffdd99924b4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d14edfb95eb42a3" /><Relationship Type="http://schemas.openxmlformats.org/officeDocument/2006/relationships/notesMaster" Target="/ppt/notesMasters/notesMaster1.xml" Id="Rb71079fc917649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abe6996aad44e0e" /><Relationship Type="http://schemas.openxmlformats.org/officeDocument/2006/relationships/notesMaster" Target="/ppt/notesMasters/notesMaster1.xml" Id="R5eda96f3e1a347d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1d817aa195c4bdc" /><Relationship Type="http://schemas.openxmlformats.org/officeDocument/2006/relationships/notesMaster" Target="/ppt/notesMasters/notesMaster1.xml" Id="R4c83d40fec4a418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7071ca2f6a5424f" /><Relationship Type="http://schemas.openxmlformats.org/officeDocument/2006/relationships/notesMaster" Target="/ppt/notesMasters/notesMaster1.xml" Id="Re834b2d2e22847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This slide defines the scientific problem rather than repeating the linker anatomy from slide 2. At design time we know the partner sequences, intended attachment sites, candidate linker, and residues that should remain accessible. We do not directly know the full conformational ensemble, junction clashes, or relative domain orientation. Structure prediction supplies computational evidence, while expression and activity require experiments. The main research question is therefore conditional: which linker is most compatible with this specific pair and this intended use?</a:t>
            </a:r>
          </a:p>
          <a:p xmlns:a="http://schemas.openxmlformats.org/drawingml/2006/main">
            <a:r>
              <a:t/>
            </a:r>
            <a:endParaRPr/>
          </a:p>
          <a:p xmlns:a="http://schemas.openxmlformats.org/drawingml/2006/main">
            <a:r>
              <a:t>Sources and evidence:</a:t>
            </a:r>
          </a:p>
          <a:p xmlns:a="http://schemas.openxmlformats.org/drawingml/2006/main">
            <a:r>
              <a:t>- Chen X, Zaro JL, Shen WC. Fusion protein linkers: property, design and functionality. Adv Drug Deliv Rev. 2013;65(10):1357–1369. doi:10.1016/j.addr.2012.09.039.</a:t>
            </a:r>
          </a:p>
          <a:p xmlns:a="http://schemas.openxmlformats.org/drawingml/2006/main">
            <a:r>
              <a:t>- McBride AC et al. Predicting Pose Distribution of Protein Domains Connected by Flexible Linkers Is an Unsolved Problem. Proteins. 2026;94(1):362–380. 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Explain the CASP16 quotation carefully. McBride and colleagues assessed 35 population-weighted conformational ensembles from 25 predictor groups for two Staphylococcal protein A domain-linker-domain constructs. One used the conserved six-residue linker KADNKF and the other used Gly6. The team back-calculated SAXS curves and NMR residual dipolar couplings from each submitted ensemble. SAXS reports global distance and shape information, while NMR RDCs provide residue-specific orientational information between domains. No ensemble matched both types of experimental evidence closely, and none reproduced the experimentally observed difference between the two linker sequences. The result concerns distributions of relative domain poses in solution. It does not show that every individual domain was incorrectly folded.</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 doi:10.1093/bioinformatics/btv447.</a:t>
            </a:r>
          </a:p>
          <a:p xmlns:a="http://schemas.openxmlformats.org/drawingml/2006/main">
            <a:r>
              <a:t>- Li et al. Multimodal deep learning-assisted rapid linker engineering for synthetic multidomain protein. Synthetic Biology. 2026. doi:10.1016/j.synbio.2026.02.003.</a:t>
            </a:r>
          </a:p>
          <a:p xmlns:a="http://schemas.openxmlformats.org/drawingml/2006/main">
            <a:r>
              <a:t>- McBride AC et al. Predicting Pose Distribution of Protein Domains Connected by Flexible Linkers Is an Unsolved Problem. Proteins. 2026;94(1):362–380. doi:10.1002/prot.70062. https://onlinelibrary.wiley.com/doi/10.1002/prot.70062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CASP16 introduced a blind challenge focused on continuous interdomain pose distributions. The assessors used two versions of a Staphylococcal protein A domain-linker-domain construct: the conserved KADNKF linker and Gly6. Twenty-five groups supplied 35 population-weighted ensembles. SAXS was available for both variants and reports overall shape and distance information. NMR residual dipolar couplings were available for the WT construct and report domain orientation through residue-specific measurements. The assessors back-calculated these observables from every submitted ensemble. No ensemble agreed closely with both evidence types, and no method reproduced the experimentally observed WT-versus-Gly6 SAXS difference. This separates local folding confidence from ensemble-level validation of linker-controlled motion.</a:t>
            </a:r>
          </a:p>
          <a:p xmlns:a="http://schemas.openxmlformats.org/drawingml/2006/main">
            <a:r>
              <a:t/>
            </a:r>
            <a:endParaRPr/>
          </a:p>
          <a:p xmlns:a="http://schemas.openxmlformats.org/drawingml/2006/main">
            <a:r>
              <a:t>Sources and evidence:</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https://onlinelibrary.wiley.com/doi/10.1002/prot.70062</a:t>
            </a:r>
          </a:p>
          <a:p xmlns:a="http://schemas.openxmlformats.org/drawingml/2006/main">
            <a:r>
              <a:t>- CASP16 prediction and SAXS data: https://pinot3.genomecenter.ucdavis.edu/casp16/UPLOAD_fromPC/UPLOADS_ENSMBL/cleaned/</a:t>
            </a:r>
          </a:p>
          <a:p xmlns:a="http://schemas.openxmlformats.org/drawingml/2006/main">
            <a:r>
              <a:t>- NMR RDC data: BMRB accession 53002.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Frame the comparison around evidence rather than superiority. LINKER and SynLinker provide generation or retrieval evidence. DFLpred and TransDFL provide residue-classification benchmarks for another task. Li et al. reports measured fluorescence for 370 linker variants in one sfGFP–nanobody system, which gives strong system-specific experimental evidence. The CASP16 ensemble assessment shows that computational methods still struggle to reproduce flexible interdomain pose distributions measured jointly by NMR RDC and SAXS. LinkerForge currently provides a three-pair computational acceptance panel and provenance, without equivalent functional, NMR, or SAXS evidence.</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LinkerForge three-pair public acceptance comparison: the current panel verifies execution and traceability, not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2\runs\folds\public-multipair-af2ptm-20261021\verified_public_acceptance_run_professional_final_2026-10-22.md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93cd4b21aa41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a6f472290346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641795778841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7703ebd1ce47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09710f199149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1863b739844b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d06052479147db" /><Relationship Type="http://schemas.openxmlformats.org/officeDocument/2006/relationships/slideLayout" Target="/ppt/slideLayouts/slideLayout1.xml" Id="Rfee4f2db1a644bd6" /><Relationship Type="http://schemas.openxmlformats.org/officeDocument/2006/relationships/slideLayout" Target="/ppt/slideLayouts/slideLayout2.xml" Id="Rba5cbbda1ce04eb7" /><Relationship Type="http://schemas.openxmlformats.org/officeDocument/2006/relationships/slideLayout" Target="/ppt/slideLayouts/slideLayout3.xml" Id="Rb94f30df48f64da9" /><Relationship Type="http://schemas.openxmlformats.org/officeDocument/2006/relationships/slideLayout" Target="/ppt/slideLayouts/slideLayout4.xml" Id="Rea6180b626594886" /><Relationship Type="http://schemas.openxmlformats.org/officeDocument/2006/relationships/slideLayout" Target="/ppt/slideLayouts/slideLayout5.xml" Id="R432ad5130c7349f1" /><Relationship Type="http://schemas.openxmlformats.org/officeDocument/2006/relationships/slideLayout" Target="/ppt/slideLayouts/slideLayout6.xml" Id="R25aff2f016dc41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e4f2db1a644bd6"/>
    <p:sldLayoutId xmlns:r="http://schemas.openxmlformats.org/officeDocument/2006/relationships" id="2147483650" r:id="Rba5cbbda1ce04eb7"/>
    <p:sldLayoutId xmlns:r="http://schemas.openxmlformats.org/officeDocument/2006/relationships" id="2147483651" r:id="Rb94f30df48f64da9"/>
    <p:sldLayoutId xmlns:r="http://schemas.openxmlformats.org/officeDocument/2006/relationships" id="2147483652" r:id="Rea6180b626594886"/>
    <p:sldLayoutId xmlns:r="http://schemas.openxmlformats.org/officeDocument/2006/relationships" id="2147483653" r:id="R432ad5130c7349f1"/>
    <p:sldLayoutId xmlns:r="http://schemas.openxmlformats.org/officeDocument/2006/relationships" id="2147483654" r:id="R25aff2f016dc41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32b9fcb6a14e88" /><Relationship Type="http://schemas.openxmlformats.org/officeDocument/2006/relationships/image" Target="/ppt/media/image.png" Id="R137a6c6a83c84caf" /><Relationship Type="http://schemas.openxmlformats.org/officeDocument/2006/relationships/notesSlide" Target="/ppt/notesSlides/notesSlide1.xml" Id="R28d671c5db684b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a469e9c29b439d" /><Relationship Type="http://schemas.openxmlformats.org/officeDocument/2006/relationships/notesSlide" Target="/ppt/notesSlides/notesSlide2.xml" Id="Rdb64e8dd738e48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a04091eb40491c" /><Relationship Type="http://schemas.openxmlformats.org/officeDocument/2006/relationships/notesSlide" Target="/ppt/notesSlides/notesSlide3.xml" Id="R87d3889c04e44f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50b11096fb4bc5" /><Relationship Type="http://schemas.openxmlformats.org/officeDocument/2006/relationships/notesSlide" Target="/ppt/notesSlides/notesSlide4.xml" Id="R97108959dfb944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edc6b4264b4242" /><Relationship Type="http://schemas.openxmlformats.org/officeDocument/2006/relationships/notesSlide" Target="/ppt/notesSlides/notesSlide5.xml" Id="R279a10bf77d148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a32f0872d94da8" /><Relationship Type="http://schemas.openxmlformats.org/officeDocument/2006/relationships/notesSlide" Target="/ppt/notesSlides/notesSlide6.xml" Id="R2441080be03846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ceb158692749d7" /><Relationship Type="http://schemas.openxmlformats.org/officeDocument/2006/relationships/notesSlide" Target="/ppt/notesSlides/notesSlide7.xml" Id="R80ee611cb15048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8ee473f5244350" /><Relationship Type="http://schemas.openxmlformats.org/officeDocument/2006/relationships/notesSlide" Target="/ppt/notesSlides/notesSlide8.xml" Id="Rdf964e9825224c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97a422d8974420" /><Relationship Type="http://schemas.openxmlformats.org/officeDocument/2006/relationships/notesSlide" Target="/ppt/notesSlides/notesSlide9.xml" Id="R8a5b80917bfd4e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dc751979a34cef" /><Relationship Type="http://schemas.openxmlformats.org/officeDocument/2006/relationships/notesSlide" Target="/ppt/notesSlides/notesSlide10.xml" Id="Rb1de517c679947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830fda65104691" /><Relationship Type="http://schemas.openxmlformats.org/officeDocument/2006/relationships/notesSlide" Target="/ppt/notesSlides/notesSlide11.xml" Id="R09c90cbc573f4e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7bc36f6af14f71" /><Relationship Type="http://schemas.openxmlformats.org/officeDocument/2006/relationships/notesSlide" Target="/ppt/notesSlides/notesSlide12.xml" Id="R5db68e15922943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f40d2fdf5c34616" /><Relationship Type="http://schemas.openxmlformats.org/officeDocument/2006/relationships/notesSlide" Target="/ppt/notesSlides/notesSlide13.xml" Id="Rd35e308c363042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9968eaf98a4269" /><Relationship Type="http://schemas.openxmlformats.org/officeDocument/2006/relationships/notesSlide" Target="/ppt/notesSlides/notesSlide14.xml" Id="R90b2eedfd0864b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e4f585f9a794186" /><Relationship Type="http://schemas.openxmlformats.org/officeDocument/2006/relationships/notesSlide" Target="/ppt/notesSlides/notesSlide15.xml" Id="Re854f2cafc214b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bcd6a9f0c3e4db4" /><Relationship Type="http://schemas.openxmlformats.org/officeDocument/2006/relationships/notesSlide" Target="/ppt/notesSlides/notesSlide16.xml" Id="Rcc8d5d43e5ec4e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bb06ae8ca9447c" /><Relationship Type="http://schemas.openxmlformats.org/officeDocument/2006/relationships/notesSlide" Target="/ppt/notesSlides/notesSlide17.xml" Id="R70c166c0369249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4d64b2fe5143bf" /><Relationship Type="http://schemas.openxmlformats.org/officeDocument/2006/relationships/image" Target="/ppt/media/image.png" Id="R629a1fee9efc4372" /><Relationship Type="http://schemas.openxmlformats.org/officeDocument/2006/relationships/chart" Target="/ppt/slides/charts/chart1.xml" Id="R08cc88d9ae0a48d7" /><Relationship Type="http://schemas.openxmlformats.org/officeDocument/2006/relationships/notesSlide" Target="/ppt/notesSlides/notesSlide18.xml" Id="R25a9c582c0c743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1cd863f44054bb0" /><Relationship Type="http://schemas.openxmlformats.org/officeDocument/2006/relationships/chart" Target="/ppt/slides/charts/chart2.xml" Id="R43b1a26945da4035" /><Relationship Type="http://schemas.openxmlformats.org/officeDocument/2006/relationships/notesSlide" Target="/ppt/notesSlides/notesSlide19.xml" Id="Ra2ea122b7ade4b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4d5b1bd600b4893" /><Relationship Type="http://schemas.openxmlformats.org/officeDocument/2006/relationships/notesSlide" Target="/ppt/notesSlides/notesSlide20.xml" Id="R96d7561262a74d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828dac8601b436d" /><Relationship Type="http://schemas.openxmlformats.org/officeDocument/2006/relationships/image" Target="/ppt/media/image2.png" Id="R6795adec6b184dc7" /><Relationship Type="http://schemas.openxmlformats.org/officeDocument/2006/relationships/notesSlide" Target="/ppt/notesSlides/notesSlide21.xml" Id="Rbcc77e35852241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2685eed006044ab" /><Relationship Type="http://schemas.openxmlformats.org/officeDocument/2006/relationships/notesSlide" Target="/ppt/notesSlides/notesSlide22.xml" Id="R12918b522ccb47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965234227614fad" /><Relationship Type="http://schemas.openxmlformats.org/officeDocument/2006/relationships/notesSlide" Target="/ppt/notesSlides/notesSlide23.xml" Id="Rcfc2f342276843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ed103688f9a483e" /><Relationship Type="http://schemas.openxmlformats.org/officeDocument/2006/relationships/image" Target="/ppt/media/image3.png" Id="Reccc0ac26f8a48f6" /><Relationship Type="http://schemas.openxmlformats.org/officeDocument/2006/relationships/notesSlide" Target="/ppt/notesSlides/notesSlide24.xml" Id="Rd42d3c845daf41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e74550de1954ade" /><Relationship Type="http://schemas.openxmlformats.org/officeDocument/2006/relationships/chart" Target="/ppt/slides/charts/chart3.xml" Id="Rdf0479fe892a4d92" /><Relationship Type="http://schemas.openxmlformats.org/officeDocument/2006/relationships/notesSlide" Target="/ppt/notesSlides/notesSlide25.xml" Id="R5a17ba6ffc374c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3af2cbb3af649d7" /><Relationship Type="http://schemas.openxmlformats.org/officeDocument/2006/relationships/notesSlide" Target="/ppt/notesSlides/notesSlide26.xml" Id="R7583ce4814d4442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2263a01ff4a4a22" /><Relationship Type="http://schemas.openxmlformats.org/officeDocument/2006/relationships/notesSlide" Target="/ppt/notesSlides/notesSlide27.xml" Id="R59966be2013d42b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6307c77018941db" /><Relationship Type="http://schemas.openxmlformats.org/officeDocument/2006/relationships/notesSlide" Target="/ppt/notesSlides/notesSlide28.xml" Id="R071d5acefad841b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d8e60a6a7734b53" /><Relationship Type="http://schemas.openxmlformats.org/officeDocument/2006/relationships/notesSlide" Target="/ppt/notesSlides/notesSlide29.xml" Id="Rd31971c20cf2450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c3d7de876854cb4" /><Relationship Type="http://schemas.openxmlformats.org/officeDocument/2006/relationships/notesSlide" Target="/ppt/notesSlides/notesSlide30.xml" Id="Rbf151331813942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4364fe580084849" /><Relationship Type="http://schemas.openxmlformats.org/officeDocument/2006/relationships/notesSlide" Target="/ppt/notesSlides/notesSlide31.xml" Id="R1ce607ffa3914d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b783bad6cdd4293" /><Relationship Type="http://schemas.openxmlformats.org/officeDocument/2006/relationships/notesSlide" Target="/ppt/notesSlides/notesSlide32.xml" Id="R52b1e2a8c8ac4a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7eb2d815d8b488d" /><Relationship Type="http://schemas.openxmlformats.org/officeDocument/2006/relationships/notesSlide" Target="/ppt/notesSlides/notesSlide33.xml" Id="R9cdc42c87d9a488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20058779ad340e6" /><Relationship Type="http://schemas.openxmlformats.org/officeDocument/2006/relationships/notesSlide" Target="/ppt/notesSlides/notesSlide34.xml" Id="Raa95e3c33d5b4e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389255C3-9263-4550-BF3A-A2C86F8D0FD2}"/>
              </a:ext>
            </a:extLst>
          </p:cNvPr>
          <p:cNvPicPr>
            <a:picLocks xmlns:a="http://schemas.openxmlformats.org/drawingml/2006/main" noChangeAspect="1"/>
          </p:cNvPicPr>
          <p:nvPr/>
        </p:nvPicPr>
        <p:blipFill>
          <a:blip xmlns:r="http://schemas.openxmlformats.org/officeDocument/2006/relationships" xmlns:a="http://schemas.openxmlformats.org/drawingml/2006/main" r:embed="R137a6c6a83c84caf"/>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research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Srivastava · Hardik Tyagi</a:t>
            </a:r>
          </a:p>
          <a:p xmlns:a="http://schemas.openxmlformats.org/drawingml/2006/main">
            <a:pPr algn="l">
              <a:buNone/>
              <a:defRPr sz="1275" b="0" i="0">
                <a:solidFill>
                  <a:srgbClr val="C8D6D0"/>
                </a:solidFill>
                <a:latin typeface="Arial"/>
                <a:ea typeface="Arial"/>
                <a:cs typeface="Arial"/>
              </a:defRPr>
            </a:pPr>
            <a:r>
              <a:t>Ram · Kritharith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DD3695F-3261-4B17-85C1-85E0EEF138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399A13-56F1-446D-B716-07A8592E225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69E2D8D-AFA7-4B0B-897A-6FE16EF52EE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5A61BBB0-9E8A-4807-A91A-C5EA9739DFE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74767F52-72B3-4CF6-A2D6-B0E43DC7407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7ADE02F8-DDDB-40F7-B5D5-6F4ECBB094A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linkers in multidomain constructs</a:t>
            </a:r>
          </a:p>
        </p:txBody>
      </p:sp>
      <p:sp>
        <p:nvSpPr>
          <p:cNvPr id="7" name="">
            <a:extLst xmlns:a="http://schemas.openxmlformats.org/drawingml/2006/main">
              <a:ext uri="{FF2B5EF4-FFF2-40B4-BE49-F238E27FC236}">
                <a16:creationId xmlns:a16="http://schemas.microsoft.com/office/drawing/2014/main" id="{8B1DD0C7-7A8F-4DFD-853B-20CE4D9E8DB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can separate domains, permit motion, or constrain their relative arrangement</a:t>
            </a:r>
          </a:p>
        </p:txBody>
      </p:sp>
      <p:sp>
        <p:nvSpPr>
          <p:cNvPr id="8" name="">
            <a:extLst xmlns:a="http://schemas.openxmlformats.org/drawingml/2006/main">
              <a:ext uri="{FF2B5EF4-FFF2-40B4-BE49-F238E27FC236}">
                <a16:creationId xmlns:a16="http://schemas.microsoft.com/office/drawing/2014/main" id="{E971B467-3B6B-456C-9A17-013BBA54F5A8}"/>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B17797B-3AAB-45C2-900E-B09C83CE44C0}"/>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AC3B1AF1-0E06-4D0C-AC06-9C2954FAAB19}"/>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24633783-F651-44D8-B979-970BAB21BAB5}"/>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227C2BBC-5403-47B0-9ADF-38FB7AF71AC0}"/>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F268394A-DF17-43B0-99DF-12B2A4BE9EDA}"/>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676453F7-5680-46E0-BF76-EDF2CFBA8FD6}"/>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5360CC56-8246-4643-A01D-7688A955E3BE}"/>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C73B0C30-424A-4917-8359-53D9965D67CA}"/>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6833F902-26D9-40DB-8DC4-AF1A4115EA2D}"/>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1C66BC8C-401C-4D4A-9396-378E0A4FBEA7}"/>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70334202-423F-4EEC-96AB-AF85438F3E2C}"/>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74C5A74B-0F1F-4103-97BC-5D3A76D2C210}"/>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5B32BF9F-BC7E-436A-909A-54E1BDAE91CF}"/>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82B6365C-8E9B-47B6-8500-0BF30E307D5D}"/>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66898133-FE98-4523-8F3F-7574BD68BFDB}"/>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CB429478-8D89-4EA3-87AF-3781ECF6687D}"/>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456A2959-C2A3-4A82-BC62-4B5A15B5D23E}"/>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AC589F26-5A0F-4BD3-B0F7-A7E4881FDF94}"/>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336958EC-F522-4079-A854-50916652477E}"/>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31468BEC-07E1-4FD1-8041-39F60EE8B93B}"/>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DAC405-0F9B-43AA-899A-68A444DD35E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B16FA7-DD3A-42A4-BCE4-13B64145927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3206638-6614-454E-B69D-6E6265F9934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SCIENTIFIC PROBLEM</a:t>
            </a:r>
          </a:p>
        </p:txBody>
      </p:sp>
      <p:sp>
        <p:nvSpPr>
          <p:cNvPr id="4" name="">
            <a:extLst xmlns:a="http://schemas.openxmlformats.org/drawingml/2006/main">
              <a:ext uri="{FF2B5EF4-FFF2-40B4-BE49-F238E27FC236}">
                <a16:creationId xmlns:a16="http://schemas.microsoft.com/office/drawing/2014/main" id="{3251255C-4A95-4F4B-8869-9FC7E41066F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Chen, Zaro &amp; Shen · Advanced Drug Delivery Reviews 65 (2013) 1357–1369 · McBride et al. · Proteins 94 (2026) 362–380</a:t>
            </a:r>
          </a:p>
        </p:txBody>
      </p:sp>
      <p:sp>
        <p:nvSpPr>
          <p:cNvPr id="5" name="">
            <a:extLst xmlns:a="http://schemas.openxmlformats.org/drawingml/2006/main">
              <a:ext uri="{FF2B5EF4-FFF2-40B4-BE49-F238E27FC236}">
                <a16:creationId xmlns:a16="http://schemas.microsoft.com/office/drawing/2014/main" id="{823E6308-B157-49B7-B67C-B9B9657E056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
            <a:extLst xmlns:a="http://schemas.openxmlformats.org/drawingml/2006/main">
              <a:ext uri="{FF2B5EF4-FFF2-40B4-BE49-F238E27FC236}">
                <a16:creationId xmlns:a16="http://schemas.microsoft.com/office/drawing/2014/main" id="{2BF03C36-BB6C-4952-9607-5945EFBA814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Linker performance depends on the complete fusion context</a:t>
            </a:r>
          </a:p>
        </p:txBody>
      </p:sp>
      <p:sp>
        <p:nvSpPr>
          <p:cNvPr id="7" name="">
            <a:extLst xmlns:a="http://schemas.openxmlformats.org/drawingml/2006/main">
              <a:ext uri="{FF2B5EF4-FFF2-40B4-BE49-F238E27FC236}">
                <a16:creationId xmlns:a16="http://schemas.microsoft.com/office/drawing/2014/main" id="{52C61F51-6AA1-4989-90C8-D98C91B7821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same sequence can produce different outcomes when the partner domains, attachment sites, or required geometry change</a:t>
            </a:r>
          </a:p>
        </p:txBody>
      </p:sp>
      <p:sp>
        <p:nvSpPr>
          <p:cNvPr id="8" name="">
            <a:extLst xmlns:a="http://schemas.openxmlformats.org/drawingml/2006/main">
              <a:ext uri="{FF2B5EF4-FFF2-40B4-BE49-F238E27FC236}">
                <a16:creationId xmlns:a16="http://schemas.microsoft.com/office/drawing/2014/main" id="{4BD27BFC-2C98-432D-8968-D22AE12E2744}"/>
              </a:ext>
            </a:extLst>
          </p:cNvPr>
          <p:cNvSpPr>
            <a:spLocks xmlns:a="http://schemas.openxmlformats.org/drawingml/2006/main" noGrp="1"/>
          </p:cNvSpPr>
          <p:nvPr/>
        </p:nvSpPr>
        <p:spPr>
          <a:xfrm xmlns:a="http://schemas.openxmlformats.org/drawingml/2006/main">
            <a:off x="666750" y="1752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4E9BEC"/>
                </a:solidFill>
                <a:latin typeface="Arial"/>
                <a:ea typeface="Arial"/>
                <a:cs typeface="Arial"/>
              </a:defRPr>
            </a:defPPr>
            <a:lvl1pPr algn="l">
              <a:defRPr sz="975" b="1" i="0">
                <a:solidFill>
                  <a:srgbClr val="4E9BEC"/>
                </a:solidFill>
                <a:latin typeface="Arial"/>
                <a:ea typeface="Arial"/>
                <a:cs typeface="Arial"/>
              </a:defRPr>
            </a:lvl1pPr>
            <a:lvl2pPr algn="l">
              <a:defRPr sz="975" b="1" i="0">
                <a:solidFill>
                  <a:srgbClr val="4E9BEC"/>
                </a:solidFill>
                <a:latin typeface="Arial"/>
                <a:ea typeface="Arial"/>
                <a:cs typeface="Arial"/>
              </a:defRPr>
            </a:lvl2pPr>
            <a:lvl3pPr algn="l">
              <a:defRPr sz="975" b="1" i="0">
                <a:solidFill>
                  <a:srgbClr val="4E9BEC"/>
                </a:solidFill>
                <a:latin typeface="Arial"/>
                <a:ea typeface="Arial"/>
                <a:cs typeface="Arial"/>
              </a:defRPr>
            </a:lvl3pPr>
            <a:lvl4pPr algn="l">
              <a:defRPr sz="975" b="1" i="0">
                <a:solidFill>
                  <a:srgbClr val="4E9BEC"/>
                </a:solidFill>
                <a:latin typeface="Arial"/>
                <a:ea typeface="Arial"/>
                <a:cs typeface="Arial"/>
              </a:defRPr>
            </a:lvl4pPr>
            <a:lvl5pPr algn="l">
              <a:defRPr sz="975" b="1" i="0">
                <a:solidFill>
                  <a:srgbClr val="4E9BEC"/>
                </a:solidFill>
                <a:latin typeface="Arial"/>
                <a:ea typeface="Arial"/>
                <a:cs typeface="Arial"/>
              </a:defRPr>
            </a:lvl5pPr>
            <a:lvl6pPr algn="l">
              <a:defRPr sz="975" b="1" i="0">
                <a:solidFill>
                  <a:srgbClr val="4E9BEC"/>
                </a:solidFill>
                <a:latin typeface="Arial"/>
                <a:ea typeface="Arial"/>
                <a:cs typeface="Arial"/>
              </a:defRPr>
            </a:lvl6pPr>
            <a:lvl7pPr algn="l">
              <a:defRPr sz="975" b="1" i="0">
                <a:solidFill>
                  <a:srgbClr val="4E9BEC"/>
                </a:solidFill>
                <a:latin typeface="Arial"/>
                <a:ea typeface="Arial"/>
                <a:cs typeface="Arial"/>
              </a:defRPr>
            </a:lvl7pPr>
            <a:lvl8pPr algn="l">
              <a:defRPr sz="975" b="1" i="0">
                <a:solidFill>
                  <a:srgbClr val="4E9BEC"/>
                </a:solidFill>
                <a:latin typeface="Arial"/>
                <a:ea typeface="Arial"/>
                <a:cs typeface="Arial"/>
              </a:defRPr>
            </a:lvl8pPr>
            <a:lvl9pPr algn="l">
              <a:defRPr sz="975" b="1" i="0">
                <a:solidFill>
                  <a:srgbClr val="4E9BEC"/>
                </a:solidFill>
                <a:latin typeface="Arial"/>
                <a:ea typeface="Arial"/>
                <a:cs typeface="Arial"/>
              </a:defRPr>
            </a:lvl9pPr>
          </a:lstStyle>
          <a:p xmlns:a="http://schemas.openxmlformats.org/drawingml/2006/main">
            <a:pPr algn="l">
              <a:defRPr sz="975" b="1" i="0">
                <a:solidFill>
                  <a:srgbClr val="4E9BEC"/>
                </a:solidFill>
                <a:latin typeface="Arial"/>
                <a:ea typeface="Arial"/>
                <a:cs typeface="Arial"/>
              </a:defRPr>
            </a:pPr>
            <a:r>
              <a:rPr sz="975" b="1" i="0">
                <a:solidFill>
                  <a:srgbClr val="4E9BEC"/>
                </a:solidFill>
                <a:latin typeface="Arial"/>
                <a:ea typeface="Arial"/>
                <a:cs typeface="Arial"/>
              </a:rPr>
              <a:t>KNOWN AT DESIGN TIME</a:t>
            </a:r>
          </a:p>
        </p:txBody>
      </p:sp>
      <p:sp>
        <p:nvSpPr>
          <p:cNvPr id="9" name="">
            <a:extLst xmlns:a="http://schemas.openxmlformats.org/drawingml/2006/main">
              <a:ext uri="{FF2B5EF4-FFF2-40B4-BE49-F238E27FC236}">
                <a16:creationId xmlns:a16="http://schemas.microsoft.com/office/drawing/2014/main" id="{A6EAE5AD-4FCF-4E32-BC41-1218A01070DF}"/>
              </a:ext>
            </a:extLst>
          </p:cNvPr>
          <p:cNvSpPr>
            <a:spLocks xmlns:a="http://schemas.openxmlformats.org/drawingml/2006/main" noGrp="1"/>
          </p:cNvSpPr>
          <p:nvPr/>
        </p:nvSpPr>
        <p:spPr>
          <a:xfrm xmlns:a="http://schemas.openxmlformats.org/drawingml/2006/main">
            <a:off x="666750" y="2152650"/>
            <a:ext cx="28765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Domain sequences</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Attachment residues</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Candidate sequence and length</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Protected functional sites</a:t>
            </a:r>
          </a:p>
        </p:txBody>
      </p:sp>
      <p:sp>
        <p:nvSpPr>
          <p:cNvPr id="10" name="">
            <a:extLst xmlns:a="http://schemas.openxmlformats.org/drawingml/2006/main">
              <a:ext uri="{FF2B5EF4-FFF2-40B4-BE49-F238E27FC236}">
                <a16:creationId xmlns:a16="http://schemas.microsoft.com/office/drawing/2014/main" id="{DF0B526A-F86A-4702-A869-9A7A962F786F}"/>
              </a:ext>
            </a:extLst>
          </p:cNvPr>
          <p:cNvSpPr>
            <a:spLocks xmlns:a="http://schemas.openxmlformats.org/drawingml/2006/main" noGrp="1"/>
          </p:cNvSpPr>
          <p:nvPr/>
        </p:nvSpPr>
        <p:spPr>
          <a:xfrm xmlns:a="http://schemas.openxmlformats.org/drawingml/2006/main">
            <a:off x="3905250" y="1790700"/>
            <a:ext cx="0" cy="23336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1" name="">
            <a:extLst xmlns:a="http://schemas.openxmlformats.org/drawingml/2006/main">
              <a:ext uri="{FF2B5EF4-FFF2-40B4-BE49-F238E27FC236}">
                <a16:creationId xmlns:a16="http://schemas.microsoft.com/office/drawing/2014/main" id="{8C6EB2F1-53E3-4CDB-8509-B81457CFA16C}"/>
              </a:ext>
            </a:extLst>
          </p:cNvPr>
          <p:cNvSpPr>
            <a:spLocks xmlns:a="http://schemas.openxmlformats.org/drawingml/2006/main" noGrp="1"/>
          </p:cNvSpPr>
          <p:nvPr/>
        </p:nvSpPr>
        <p:spPr>
          <a:xfrm xmlns:a="http://schemas.openxmlformats.org/drawingml/2006/main">
            <a:off x="4362450" y="17526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UNOBSERVED STRUCTURAL STATE</a:t>
            </a:r>
          </a:p>
        </p:txBody>
      </p:sp>
      <p:sp>
        <p:nvSpPr>
          <p:cNvPr id="12" name="">
            <a:extLst xmlns:a="http://schemas.openxmlformats.org/drawingml/2006/main">
              <a:ext uri="{FF2B5EF4-FFF2-40B4-BE49-F238E27FC236}">
                <a16:creationId xmlns:a16="http://schemas.microsoft.com/office/drawing/2014/main" id="{FC345A85-0CA5-4401-A392-8A0B9374CA12}"/>
              </a:ext>
            </a:extLst>
          </p:cNvPr>
          <p:cNvSpPr>
            <a:spLocks xmlns:a="http://schemas.openxmlformats.org/drawingml/2006/main" noGrp="1"/>
          </p:cNvSpPr>
          <p:nvPr/>
        </p:nvSpPr>
        <p:spPr>
          <a:xfrm xmlns:a="http://schemas.openxmlformats.org/drawingml/2006/main">
            <a:off x="4362450" y="2152650"/>
            <a:ext cx="3190875"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Conformational ensemble</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Steric contacts at each junction</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Relative domain orientation</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Solvent exposure and accessibility</a:t>
            </a:r>
          </a:p>
        </p:txBody>
      </p:sp>
      <p:sp>
        <p:nvSpPr>
          <p:cNvPr id="13" name="">
            <a:extLst xmlns:a="http://schemas.openxmlformats.org/drawingml/2006/main">
              <a:ext uri="{FF2B5EF4-FFF2-40B4-BE49-F238E27FC236}">
                <a16:creationId xmlns:a16="http://schemas.microsoft.com/office/drawing/2014/main" id="{521ACD0E-422C-4FCF-A161-AE9E7F5D2D42}"/>
              </a:ext>
            </a:extLst>
          </p:cNvPr>
          <p:cNvSpPr>
            <a:spLocks xmlns:a="http://schemas.openxmlformats.org/drawingml/2006/main" noGrp="1"/>
          </p:cNvSpPr>
          <p:nvPr/>
        </p:nvSpPr>
        <p:spPr>
          <a:xfrm xmlns:a="http://schemas.openxmlformats.org/drawingml/2006/main">
            <a:off x="8001000" y="1790700"/>
            <a:ext cx="0" cy="23336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4" name="">
            <a:extLst xmlns:a="http://schemas.openxmlformats.org/drawingml/2006/main">
              <a:ext uri="{FF2B5EF4-FFF2-40B4-BE49-F238E27FC236}">
                <a16:creationId xmlns:a16="http://schemas.microsoft.com/office/drawing/2014/main" id="{97F901C1-919B-4EA5-8DBE-29B8457CC96B}"/>
              </a:ext>
            </a:extLst>
          </p:cNvPr>
          <p:cNvSpPr>
            <a:spLocks xmlns:a="http://schemas.openxmlformats.org/drawingml/2006/main" noGrp="1"/>
          </p:cNvSpPr>
          <p:nvPr/>
        </p:nvSpPr>
        <p:spPr>
          <a:xfrm xmlns:a="http://schemas.openxmlformats.org/drawingml/2006/main">
            <a:off x="8439150" y="1752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xmlns:a="http://schemas.openxmlformats.org/drawingml/2006/main">
            <a:pPr algn="l">
              <a:defRPr sz="975" b="1" i="0">
                <a:solidFill>
                  <a:srgbClr val="3FC6D6"/>
                </a:solidFill>
                <a:latin typeface="Arial"/>
                <a:ea typeface="Arial"/>
                <a:cs typeface="Arial"/>
              </a:defRPr>
            </a:pPr>
            <a:r>
              <a:rPr sz="975" b="1" i="0">
                <a:solidFill>
                  <a:srgbClr val="3FC6D6"/>
                </a:solidFill>
                <a:latin typeface="Arial"/>
                <a:ea typeface="Arial"/>
                <a:cs typeface="Arial"/>
              </a:rPr>
              <a:t>EVIDENCE THAT CAN BE MEASURED</a:t>
            </a:r>
          </a:p>
        </p:txBody>
      </p:sp>
      <p:sp>
        <p:nvSpPr>
          <p:cNvPr id="15" name="">
            <a:extLst xmlns:a="http://schemas.openxmlformats.org/drawingml/2006/main">
              <a:ext uri="{FF2B5EF4-FFF2-40B4-BE49-F238E27FC236}">
                <a16:creationId xmlns:a16="http://schemas.microsoft.com/office/drawing/2014/main" id="{D56BA629-849C-4EF9-BE91-FF34638C5B2A}"/>
              </a:ext>
            </a:extLst>
          </p:cNvPr>
          <p:cNvSpPr>
            <a:spLocks xmlns:a="http://schemas.openxmlformats.org/drawingml/2006/main" noGrp="1"/>
          </p:cNvSpPr>
          <p:nvPr/>
        </p:nvSpPr>
        <p:spPr>
          <a:xfrm xmlns:a="http://schemas.openxmlformats.org/drawingml/2006/main">
            <a:off x="8439150" y="2152650"/>
            <a:ext cx="31432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Model confidence and PAE</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Closure and steric clashes</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Domain preservation</a:t>
            </a:r>
          </a:p>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Expression and activity outcomes</a:t>
            </a:r>
          </a:p>
        </p:txBody>
      </p:sp>
      <p:sp>
        <p:nvSpPr>
          <p:cNvPr id="16" name="">
            <a:extLst xmlns:a="http://schemas.openxmlformats.org/drawingml/2006/main">
              <a:ext uri="{FF2B5EF4-FFF2-40B4-BE49-F238E27FC236}">
                <a16:creationId xmlns:a16="http://schemas.microsoft.com/office/drawing/2014/main" id="{5D2DAFE2-7C2D-4942-BB61-E73F71DC3092}"/>
              </a:ext>
            </a:extLst>
          </p:cNvPr>
          <p:cNvSpPr>
            <a:spLocks xmlns:a="http://schemas.openxmlformats.org/drawingml/2006/main" noGrp="1"/>
          </p:cNvSpPr>
          <p:nvPr/>
        </p:nvSpPr>
        <p:spPr>
          <a:xfrm xmlns:a="http://schemas.openxmlformats.org/drawingml/2006/main">
            <a:off x="666750" y="4305300"/>
            <a:ext cx="108585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17" name="">
            <a:extLst xmlns:a="http://schemas.openxmlformats.org/drawingml/2006/main">
              <a:ext uri="{FF2B5EF4-FFF2-40B4-BE49-F238E27FC236}">
                <a16:creationId xmlns:a16="http://schemas.microsoft.com/office/drawing/2014/main" id="{9A18908F-72AE-432C-83A3-589B75B08251}"/>
              </a:ext>
            </a:extLst>
          </p:cNvPr>
          <p:cNvSpPr>
            <a:spLocks xmlns:a="http://schemas.openxmlformats.org/drawingml/2006/main" noGrp="1"/>
          </p:cNvSpPr>
          <p:nvPr/>
        </p:nvSpPr>
        <p:spPr>
          <a:xfrm xmlns:a="http://schemas.openxmlformats.org/drawingml/2006/main">
            <a:off x="666750" y="45434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xmlns:a="http://schemas.openxmlformats.org/drawingml/2006/main">
            <a:pPr algn="l">
              <a:defRPr sz="975" b="1" i="0">
                <a:solidFill>
                  <a:srgbClr val="3FC6D6"/>
                </a:solidFill>
                <a:latin typeface="Arial"/>
                <a:ea typeface="Arial"/>
                <a:cs typeface="Arial"/>
              </a:defRPr>
            </a:pPr>
            <a:r>
              <a:rPr sz="975" b="1" i="0">
                <a:solidFill>
                  <a:srgbClr val="3FC6D6"/>
                </a:solidFill>
                <a:latin typeface="Arial"/>
                <a:ea typeface="Arial"/>
                <a:cs typeface="Arial"/>
              </a:rPr>
              <a:t>CENTRAL INFERENCE PROBLEM</a:t>
            </a:r>
          </a:p>
        </p:txBody>
      </p:sp>
      <p:sp>
        <p:nvSpPr>
          <p:cNvPr id="18" name="">
            <a:extLst xmlns:a="http://schemas.openxmlformats.org/drawingml/2006/main">
              <a:ext uri="{FF2B5EF4-FFF2-40B4-BE49-F238E27FC236}">
                <a16:creationId xmlns:a16="http://schemas.microsoft.com/office/drawing/2014/main" id="{4A4CFE1B-23BA-447B-87BF-988E4F9EA36D}"/>
              </a:ext>
            </a:extLst>
          </p:cNvPr>
          <p:cNvSpPr>
            <a:spLocks xmlns:a="http://schemas.openxmlformats.org/drawingml/2006/main" noGrp="1"/>
          </p:cNvSpPr>
          <p:nvPr/>
        </p:nvSpPr>
        <p:spPr>
          <a:xfrm xmlns:a="http://schemas.openxmlformats.org/drawingml/2006/main">
            <a:off x="666750" y="4905375"/>
            <a:ext cx="10668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00"/>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A linker class alone cannot establish compatibility. The design must be evaluated with both partner proteins and with evidence appropriate to the intended claim.</a:t>
            </a:r>
          </a:p>
        </p:txBody>
      </p:sp>
      <p:sp>
        <p:nvSpPr>
          <p:cNvPr id="19" name="">
            <a:extLst xmlns:a="http://schemas.openxmlformats.org/drawingml/2006/main">
              <a:ext uri="{FF2B5EF4-FFF2-40B4-BE49-F238E27FC236}">
                <a16:creationId xmlns:a16="http://schemas.microsoft.com/office/drawing/2014/main" id="{44CA9955-F759-4B9B-AEDA-3D2E58BAA78C}"/>
              </a:ext>
            </a:extLst>
          </p:cNvPr>
          <p:cNvSpPr>
            <a:spLocks xmlns:a="http://schemas.openxmlformats.org/drawingml/2006/main" noGrp="1"/>
          </p:cNvSpPr>
          <p:nvPr/>
        </p:nvSpPr>
        <p:spPr>
          <a:xfrm xmlns:a="http://schemas.openxmlformats.org/drawingml/2006/main">
            <a:off x="666750" y="57912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441"/>
          </a:bodyPr>
          <a:lstStyle xmlns:a="http://schemas.openxmlformats.org/drawingml/2006/main">
            <a:defPPr algn="l">
              <a:defRPr sz="1200" b="0" i="0">
                <a:solidFill>
                  <a:srgbClr val="AFC0B8"/>
                </a:solidFill>
                <a:latin typeface="Arial"/>
                <a:ea typeface="Arial"/>
                <a:cs typeface="Arial"/>
              </a:defRPr>
            </a:defPPr>
            <a:lvl1pPr algn="l">
              <a:defRPr sz="1200" b="0" i="0">
                <a:solidFill>
                  <a:srgbClr val="AFC0B8"/>
                </a:solidFill>
                <a:latin typeface="Arial"/>
                <a:ea typeface="Arial"/>
                <a:cs typeface="Arial"/>
              </a:defRPr>
            </a:lvl1pPr>
            <a:lvl2pPr algn="l">
              <a:defRPr sz="1200" b="0" i="0">
                <a:solidFill>
                  <a:srgbClr val="AFC0B8"/>
                </a:solidFill>
                <a:latin typeface="Arial"/>
                <a:ea typeface="Arial"/>
                <a:cs typeface="Arial"/>
              </a:defRPr>
            </a:lvl2pPr>
            <a:lvl3pPr algn="l">
              <a:defRPr sz="1200" b="0" i="0">
                <a:solidFill>
                  <a:srgbClr val="AFC0B8"/>
                </a:solidFill>
                <a:latin typeface="Arial"/>
                <a:ea typeface="Arial"/>
                <a:cs typeface="Arial"/>
              </a:defRPr>
            </a:lvl3pPr>
            <a:lvl4pPr algn="l">
              <a:defRPr sz="1200" b="0" i="0">
                <a:solidFill>
                  <a:srgbClr val="AFC0B8"/>
                </a:solidFill>
                <a:latin typeface="Arial"/>
                <a:ea typeface="Arial"/>
                <a:cs typeface="Arial"/>
              </a:defRPr>
            </a:lvl4pPr>
            <a:lvl5pPr algn="l">
              <a:defRPr sz="1200" b="0" i="0">
                <a:solidFill>
                  <a:srgbClr val="AFC0B8"/>
                </a:solidFill>
                <a:latin typeface="Arial"/>
                <a:ea typeface="Arial"/>
                <a:cs typeface="Arial"/>
              </a:defRPr>
            </a:lvl5pPr>
            <a:lvl6pPr algn="l">
              <a:defRPr sz="1200" b="0" i="0">
                <a:solidFill>
                  <a:srgbClr val="AFC0B8"/>
                </a:solidFill>
                <a:latin typeface="Arial"/>
                <a:ea typeface="Arial"/>
                <a:cs typeface="Arial"/>
              </a:defRPr>
            </a:lvl6pPr>
            <a:lvl7pPr algn="l">
              <a:defRPr sz="1200" b="0" i="0">
                <a:solidFill>
                  <a:srgbClr val="AFC0B8"/>
                </a:solidFill>
                <a:latin typeface="Arial"/>
                <a:ea typeface="Arial"/>
                <a:cs typeface="Arial"/>
              </a:defRPr>
            </a:lvl7pPr>
            <a:lvl8pPr algn="l">
              <a:defRPr sz="1200" b="0" i="0">
                <a:solidFill>
                  <a:srgbClr val="AFC0B8"/>
                </a:solidFill>
                <a:latin typeface="Arial"/>
                <a:ea typeface="Arial"/>
                <a:cs typeface="Arial"/>
              </a:defRPr>
            </a:lvl8pPr>
            <a:lvl9pPr algn="l">
              <a:defRPr sz="1200" b="0" i="0">
                <a:solidFill>
                  <a:srgbClr val="AFC0B8"/>
                </a:solidFill>
                <a:latin typeface="Arial"/>
                <a:ea typeface="Arial"/>
                <a:cs typeface="Arial"/>
              </a:defRPr>
            </a:lvl9pPr>
          </a:lstStyle>
          <a:p xmlns:a="http://schemas.openxmlformats.org/drawingml/2006/main">
            <a:pPr algn="l">
              <a:defRPr sz="1200" b="0" i="0">
                <a:solidFill>
                  <a:srgbClr val="AFC0B8"/>
                </a:solidFill>
                <a:latin typeface="Arial"/>
                <a:ea typeface="Arial"/>
                <a:cs typeface="Arial"/>
              </a:defRPr>
            </a:pPr>
            <a:r>
              <a:rPr sz="1200" b="0" i="0">
                <a:solidFill>
                  <a:srgbClr val="AFC0B8"/>
                </a:solidFill>
                <a:latin typeface="Arial"/>
                <a:ea typeface="Arial"/>
                <a:cs typeface="Arial"/>
              </a:rPr>
              <a:t>This distinction motivates LinkerForge: candidate ranking, matched structural prediction, and provenance are connected, while biological success remains an experimental question.</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38D19F-E1FF-4C00-BE75-FF76565466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E9052B-36D2-49B7-A335-F7F2C7A7F77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00BF7AA-5B85-4C0D-A9C9-E2F4B82C5D5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D39FE05E-F64E-4B12-8366-11A91439092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A762A014-0B58-4056-8728-E892891A82E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EAD62E2A-A081-4087-8DB3-632AD8BDC47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solve different linker problems</a:t>
            </a:r>
          </a:p>
        </p:txBody>
      </p:sp>
      <p:sp>
        <p:nvSpPr>
          <p:cNvPr id="7" name="">
            <a:extLst xmlns:a="http://schemas.openxmlformats.org/drawingml/2006/main">
              <a:ext uri="{FF2B5EF4-FFF2-40B4-BE49-F238E27FC236}">
                <a16:creationId xmlns:a16="http://schemas.microsoft.com/office/drawing/2014/main" id="{BE8D678A-B9BD-4AC3-86E8-884771DB7C0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Only DFLpred and TransDFL are general per-residue domain-linker classifiers</a:t>
            </a:r>
          </a:p>
        </p:txBody>
      </p:sp>
      <p:graphicFrame>
        <p:nvGraphicFramePr>
          <p:cNvPr id="8" name="">
            <a:extLst xmlns:a="http://schemas.openxmlformats.org/drawingml/2006/main">
              <a:ext uri="{FF2B5EF4-FFF2-40B4-BE49-F238E27FC236}">
                <a16:creationId xmlns:a16="http://schemas.microsoft.com/office/drawing/2014/main" id="{3336BE86-2A6C-4665-9C9D-33DCA4AC454D}"/>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7A9057C5-FA4B-4235-A5F7-2D138E118B87}"/>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9EAE2C5E-0D7C-4808-A297-74EF3594F1E4}"/>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D83CA3EF-4F33-4048-ACD5-D91E204A1A7E}"/>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9737EE-8B5D-44EA-8392-1FCEDC2A20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63CC3A-EF63-4044-B525-A7715286B43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3E775534-02C4-4588-B12B-11DA37A1E27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
            <a:extLst xmlns:a="http://schemas.openxmlformats.org/drawingml/2006/main">
              <a:ext uri="{FF2B5EF4-FFF2-40B4-BE49-F238E27FC236}">
                <a16:creationId xmlns:a16="http://schemas.microsoft.com/office/drawing/2014/main" id="{7C3C440E-D1B4-43D7-9BD4-99F963D7378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Li et al. (2026), and the CASP16 flexible-domain ensemble assessment</a:t>
            </a:r>
          </a:p>
        </p:txBody>
      </p:sp>
      <p:sp>
        <p:nvSpPr>
          <p:cNvPr id="5" name="">
            <a:extLst xmlns:a="http://schemas.openxmlformats.org/drawingml/2006/main">
              <a:ext uri="{FF2B5EF4-FFF2-40B4-BE49-F238E27FC236}">
                <a16:creationId xmlns:a16="http://schemas.microsoft.com/office/drawing/2014/main" id="{B6A93C9A-D258-4506-9CDB-C6189BE94C0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
            <a:extLst xmlns:a="http://schemas.openxmlformats.org/drawingml/2006/main">
              <a:ext uri="{FF2B5EF4-FFF2-40B4-BE49-F238E27FC236}">
                <a16:creationId xmlns:a16="http://schemas.microsoft.com/office/drawing/2014/main" id="{0456B507-F9F6-410E-BD6B-C370FBA5F4D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published evidence actually shows</a:t>
            </a:r>
          </a:p>
        </p:txBody>
      </p:sp>
      <p:sp>
        <p:nvSpPr>
          <p:cNvPr id="7" name="">
            <a:extLst xmlns:a="http://schemas.openxmlformats.org/drawingml/2006/main">
              <a:ext uri="{FF2B5EF4-FFF2-40B4-BE49-F238E27FC236}">
                <a16:creationId xmlns:a16="http://schemas.microsoft.com/office/drawing/2014/main" id="{65CD95E5-CFED-4633-8667-2C24EBAB90A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studies use different evidence. CASP16 tested flexible pose distributions in solution rather than one best structure</a:t>
            </a:r>
          </a:p>
        </p:txBody>
      </p:sp>
      <p:graphicFrame>
        <p:nvGraphicFramePr>
          <p:cNvPr id="8" name="">
            <a:extLst xmlns:a="http://schemas.openxmlformats.org/drawingml/2006/main">
              <a:ext uri="{FF2B5EF4-FFF2-40B4-BE49-F238E27FC236}">
                <a16:creationId xmlns:a16="http://schemas.microsoft.com/office/drawing/2014/main" id="{466A83CE-425F-4BB7-B816-AA1A135F6580}"/>
              </a:ext>
            </a:extLst>
          </p:cNvPr>
          <p:cNvGraphicFramePr/>
          <p:nvPr/>
        </p:nvGraphicFramePr>
        <p:xfrm>
          <a:off xmlns:a="http://schemas.openxmlformats.org/drawingml/2006/main" x="514350" y="1581150"/>
          <a:ext xmlns:a="http://schemas.openxmlformats.org/drawingml/2006/main" cx="11163300" cy="3810000"/>
        </p:xfrm>
        <a:graphic xmlns:a="http://schemas.openxmlformats.org/drawingml/2006/main">
          <a:graphicData uri="http://schemas.openxmlformats.org/drawingml/2006/table">
            <a:tbl>
              <a:tblPr/>
              <a:tblGrid>
                <a:gridCol w="2381250"/>
                <a:gridCol w="4953000"/>
                <a:gridCol w="3829050"/>
              </a:tblGrid>
              <a:tr h="762000">
                <a:tc>
                  <a:txBody>
                    <a:bodyPr/>
                    <a:lstStyle/>
                    <a:p>
                      <a:r>
                        <a:rPr sz="900" b="1">
                          <a:solidFill>
                            <a:srgbClr val="FFFFFF"/>
                          </a:solidFill>
                          <a:latin typeface="Arial"/>
                          <a:ea typeface="Arial"/>
                          <a:cs typeface="Arial"/>
                        </a:rPr>
                        <a:t>Study</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Published finding</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establishes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762000">
                <a:tc>
                  <a:txBody>
                    <a:bodyPr/>
                    <a:lstStyle/>
                    <a:p>
                      <a:r>
                        <a:rPr sz="938">
                          <a:solidFill>
                            <a:srgbClr val="F4F7F5"/>
                          </a:solidFill>
                          <a:latin typeface="Arial"/>
                          <a:ea typeface="Arial"/>
                          <a:cs typeface="Arial"/>
                        </a:rPr>
                        <a:t>2000 · 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sequences are generally selected based on intuition.”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The generator addressed heuristic sequence selection</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2015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linker selection is done mostly ad hoc and still based on random test in experiments.”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resource organized linker retrieval and fusion construction</a:t>
                      </a:r>
                    </a:p>
                  </a:txBody>
                  <a:tcPr marL="91440" marR="91440" marT="45720" marB="45720">
                    <a:lnR w="9525">
                      <a:solidFill>
                        <a:srgbClr val="29433A"/>
                      </a:solidFill>
                      <a:prstDash val="solid"/>
                    </a:lnR>
                    <a:lnB w="9525">
                      <a:solidFill>
                        <a:srgbClr val="29433A"/>
                      </a:solidFill>
                      <a:prstDash val="solid"/>
                    </a:lnB>
                    <a:solidFill>
                      <a:srgbClr val="143128"/>
                    </a:solidFill>
                  </a:tcPr>
                </a:tc>
              </a:tr>
              <a:tr h="762000">
                <a:tc>
                  <a:txBody>
                    <a:bodyPr/>
                    <a:lstStyle/>
                    <a:p>
                      <a:r>
                        <a:rPr sz="938">
                          <a:solidFill>
                            <a:srgbClr val="F4F7F5"/>
                          </a:solidFill>
                          <a:latin typeface="Arial"/>
                          <a:ea typeface="Arial"/>
                          <a:cs typeface="Arial"/>
                        </a:rPr>
                        <a:t>2026 · Li et al.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performance was context dependent in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Measured fluorescence provides strong system-specific experimental evidence</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2026 · CASP16 ensemble assessment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“None were close fits to the combined NMR and SAXS data.”</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 submitted ensemble reproduced both distance and orientation evidence. This does not imply that each domain misfolded</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CFE18E3C-0911-4EE8-8312-39219CE68764}"/>
              </a:ext>
            </a:extLst>
          </p:cNvPr>
          <p:cNvSpPr>
            <a:spLocks xmlns:a="http://schemas.openxmlformats.org/drawingml/2006/main" noGrp="1"/>
          </p:cNvSpPr>
          <p:nvPr/>
        </p:nvSpPr>
        <p:spPr>
          <a:xfrm xmlns:a="http://schemas.openxmlformats.org/drawingml/2006/main">
            <a:off x="628650" y="5619750"/>
            <a:ext cx="109347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10" name="">
            <a:extLst xmlns:a="http://schemas.openxmlformats.org/drawingml/2006/main">
              <a:ext uri="{FF2B5EF4-FFF2-40B4-BE49-F238E27FC236}">
                <a16:creationId xmlns:a16="http://schemas.microsoft.com/office/drawing/2014/main" id="{FC566E65-6818-45E5-9025-87EEA577EED4}"/>
              </a:ext>
            </a:extLst>
          </p:cNvPr>
          <p:cNvSpPr>
            <a:spLocks xmlns:a="http://schemas.openxmlformats.org/drawingml/2006/main" noGrp="1"/>
          </p:cNvSpPr>
          <p:nvPr/>
        </p:nvSpPr>
        <p:spPr>
          <a:xfrm xmlns:a="http://schemas.openxmlformats.org/drawingml/2006/main">
            <a:off x="733425" y="57721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RESEARCH GAP</a:t>
            </a:r>
          </a:p>
        </p:txBody>
      </p:sp>
      <p:sp>
        <p:nvSpPr>
          <p:cNvPr id="11" name="">
            <a:extLst xmlns:a="http://schemas.openxmlformats.org/drawingml/2006/main">
              <a:ext uri="{FF2B5EF4-FFF2-40B4-BE49-F238E27FC236}">
                <a16:creationId xmlns:a16="http://schemas.microsoft.com/office/drawing/2014/main" id="{61154900-CF89-472C-83BA-6A0CDCBDA7A9}"/>
              </a:ext>
            </a:extLst>
          </p:cNvPr>
          <p:cNvSpPr>
            <a:spLocks xmlns:a="http://schemas.openxmlformats.org/drawingml/2006/main" noGrp="1"/>
          </p:cNvSpPr>
          <p:nvPr/>
        </p:nvSpPr>
        <p:spPr>
          <a:xfrm xmlns:a="http://schemas.openxmlformats.org/drawingml/2006/main">
            <a:off x="2181225" y="5705475"/>
            <a:ext cx="925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Choosing a sequence and predicting one static structure cannot establish the solution ensemble or biological outcome. Pair-specific measurements and ensemble-sensitive validation remain necessary.</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5838D5-85AB-46A8-9525-8F5C2477DD7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DB1559-B1E5-4C1E-B55A-880B4699ADC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B7D976C-A197-4EB4-91F7-A5E4772EAAB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CASP16 EVIDENCE CONTEXT</a:t>
            </a:r>
          </a:p>
        </p:txBody>
      </p:sp>
      <p:sp>
        <p:nvSpPr>
          <p:cNvPr id="4" name="">
            <a:extLst xmlns:a="http://schemas.openxmlformats.org/drawingml/2006/main">
              <a:ext uri="{FF2B5EF4-FFF2-40B4-BE49-F238E27FC236}">
                <a16:creationId xmlns:a16="http://schemas.microsoft.com/office/drawing/2014/main" id="{B22D42F8-9672-48E1-83C2-FAE781B0988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McBride et al. · Proteins 94 (2026) 362–380 · doi:10.1002/prot.70062</a:t>
            </a:r>
          </a:p>
        </p:txBody>
      </p:sp>
      <p:sp>
        <p:nvSpPr>
          <p:cNvPr id="5" name="">
            <a:extLst xmlns:a="http://schemas.openxmlformats.org/drawingml/2006/main">
              <a:ext uri="{FF2B5EF4-FFF2-40B4-BE49-F238E27FC236}">
                <a16:creationId xmlns:a16="http://schemas.microsoft.com/office/drawing/2014/main" id="{FD50541D-C04E-497C-AAA5-4106CA5159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
            <a:extLst xmlns:a="http://schemas.openxmlformats.org/drawingml/2006/main">
              <a:ext uri="{FF2B5EF4-FFF2-40B4-BE49-F238E27FC236}">
                <a16:creationId xmlns:a16="http://schemas.microsoft.com/office/drawing/2014/main" id="{D7C8B012-40D3-4DDA-B02E-43AEA9A581A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How CASP16 tested flexible linker ensembles</a:t>
            </a:r>
          </a:p>
        </p:txBody>
      </p:sp>
      <p:sp>
        <p:nvSpPr>
          <p:cNvPr id="7" name="">
            <a:extLst xmlns:a="http://schemas.openxmlformats.org/drawingml/2006/main">
              <a:ext uri="{FF2B5EF4-FFF2-40B4-BE49-F238E27FC236}">
                <a16:creationId xmlns:a16="http://schemas.microsoft.com/office/drawing/2014/main" id="{645A8A98-6C09-4F2F-BE8D-723279E7F10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blind community assessment compared WT KADNKF and Gly6 pose distributions with solution measurements</a:t>
            </a:r>
          </a:p>
        </p:txBody>
      </p:sp>
      <p:graphicFrame>
        <p:nvGraphicFramePr>
          <p:cNvPr id="8" name="">
            <a:extLst xmlns:a="http://schemas.openxmlformats.org/drawingml/2006/main">
              <a:ext uri="{FF2B5EF4-FFF2-40B4-BE49-F238E27FC236}">
                <a16:creationId xmlns:a16="http://schemas.microsoft.com/office/drawing/2014/main" id="{B1EEFBE1-CE60-452D-8A1A-5FF2A879CEC1}"/>
              </a:ext>
            </a:extLst>
          </p:cNvPr>
          <p:cNvGraphicFramePr/>
          <p:nvPr/>
        </p:nvGraphicFramePr>
        <p:xfrm>
          <a:off xmlns:a="http://schemas.openxmlformats.org/drawingml/2006/main" x="514350" y="1581150"/>
          <a:ext xmlns:a="http://schemas.openxmlformats.org/drawingml/2006/main" cx="11163300" cy="3829050"/>
        </p:xfrm>
        <a:graphic xmlns:a="http://schemas.openxmlformats.org/drawingml/2006/main">
          <a:graphicData uri="http://schemas.openxmlformats.org/drawingml/2006/table">
            <a:tbl>
              <a:tblPr/>
              <a:tblGrid>
                <a:gridCol w="2095500"/>
                <a:gridCol w="5000625"/>
                <a:gridCol w="4067175"/>
              </a:tblGrid>
              <a:tr h="638175">
                <a:tc>
                  <a:txBody>
                    <a:bodyPr/>
                    <a:lstStyle/>
                    <a:p>
                      <a:r>
                        <a:rPr sz="900" b="1">
                          <a:solidFill>
                            <a:srgbClr val="FFFFFF"/>
                          </a:solidFill>
                          <a:latin typeface="Arial"/>
                          <a:ea typeface="Arial"/>
                          <a:cs typeface="Arial"/>
                        </a:rPr>
                        <a:t>Assessment component</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the investigators did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matters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38175">
                <a:tc>
                  <a:txBody>
                    <a:bodyPr/>
                    <a:lstStyle/>
                    <a:p>
                      <a:r>
                        <a:rPr sz="878">
                          <a:solidFill>
                            <a:srgbClr val="F4F7F5"/>
                          </a:solidFill>
                          <a:latin typeface="Arial"/>
                          <a:ea typeface="Arial"/>
                          <a:cs typeface="Arial"/>
                        </a:rPr>
                        <a:t>Targets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Two Staphylococcal protein A domain-linker-domain constructs used KADNKF or GGGGGG</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Changing only the six-residue linker tested whether predictors captured linker-dependent behaviour</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Predictions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Twenty-five groups submitted 35 population-weighted ensembles of discrete structures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The target was a distribution of poses rather than one best PDB model</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SAXS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Solution scattering data were measured for both linker variants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SAXS reports global shape and interdomain distance distributions</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NMR RDC</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Residual dipolar couplings were measured for the WT KADNKF construct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RDCs provide residue-specific information about relative domain orientation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Evaluation and result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The team back-calculated SAXS and RDC observables from each ensemble. None fit both closely or reproduced the WT–Gly6 SAXS difference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A plausible domain fold can still have an incorrect interdomain pose distribution</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7A235F32-10C5-4B18-8DFB-76B22643AE0D}"/>
              </a:ext>
            </a:extLst>
          </p:cNvPr>
          <p:cNvSpPr>
            <a:spLocks xmlns:a="http://schemas.openxmlformats.org/drawingml/2006/main" noGrp="1"/>
          </p:cNvSpPr>
          <p:nvPr/>
        </p:nvSpPr>
        <p:spPr>
          <a:xfrm xmlns:a="http://schemas.openxmlformats.org/drawingml/2006/main">
            <a:off x="628650" y="563880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104071CF-2F57-4241-84B0-F0C3B002AA26}"/>
              </a:ext>
            </a:extLst>
          </p:cNvPr>
          <p:cNvSpPr>
            <a:spLocks xmlns:a="http://schemas.openxmlformats.org/drawingml/2006/main" noGrp="1"/>
          </p:cNvSpPr>
          <p:nvPr/>
        </p:nvSpPr>
        <p:spPr>
          <a:xfrm xmlns:a="http://schemas.openxmlformats.org/drawingml/2006/main">
            <a:off x="733425" y="58007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LINKERFORGE IMPLICATION</a:t>
            </a:r>
          </a:p>
        </p:txBody>
      </p:sp>
      <p:sp>
        <p:nvSpPr>
          <p:cNvPr id="11" name="">
            <a:extLst xmlns:a="http://schemas.openxmlformats.org/drawingml/2006/main">
              <a:ext uri="{FF2B5EF4-FFF2-40B4-BE49-F238E27FC236}">
                <a16:creationId xmlns:a16="http://schemas.microsoft.com/office/drawing/2014/main" id="{2E63004C-FC68-4EE0-B0FD-FCA4100C1E4D}"/>
              </a:ext>
            </a:extLst>
          </p:cNvPr>
          <p:cNvSpPr>
            <a:spLocks xmlns:a="http://schemas.openxmlformats.org/drawingml/2006/main" noGrp="1"/>
          </p:cNvSpPr>
          <p:nvPr/>
        </p:nvSpPr>
        <p:spPr>
          <a:xfrm xmlns:a="http://schemas.openxmlformats.org/drawingml/2006/main">
            <a:off x="2714625" y="5715000"/>
            <a:ext cx="872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Static structure confidence cannot validate flexible interdomain motion. A future dynamics claim requires ensemble sampling followed by experimental restraints such as SAXS, NMR RDC or FRET.</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D59A82-C0B1-4B3F-9A6F-9C0D12BC9D9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23CBFB-89CA-4F4F-9E4B-00F5E5142AF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3AA472D7-DBC6-4AAF-8235-E93E95E321D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
            <a:extLst xmlns:a="http://schemas.openxmlformats.org/drawingml/2006/main">
              <a:ext uri="{FF2B5EF4-FFF2-40B4-BE49-F238E27FC236}">
                <a16:creationId xmlns:a16="http://schemas.microsoft.com/office/drawing/2014/main" id="{F9A12FFB-ECD0-4069-A3DC-C3B71A786E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
            <a:extLst xmlns:a="http://schemas.openxmlformats.org/drawingml/2006/main">
              <a:ext uri="{FF2B5EF4-FFF2-40B4-BE49-F238E27FC236}">
                <a16:creationId xmlns:a16="http://schemas.microsoft.com/office/drawing/2014/main" id="{8C898910-2116-47D4-9E4B-C5F49B2810B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
            <a:extLst xmlns:a="http://schemas.openxmlformats.org/drawingml/2006/main">
              <a:ext uri="{FF2B5EF4-FFF2-40B4-BE49-F238E27FC236}">
                <a16:creationId xmlns:a16="http://schemas.microsoft.com/office/drawing/2014/main" id="{BCF20D29-3207-4F76-9B9A-839D2E841A6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
            <a:extLst xmlns:a="http://schemas.openxmlformats.org/drawingml/2006/main">
              <a:ext uri="{FF2B5EF4-FFF2-40B4-BE49-F238E27FC236}">
                <a16:creationId xmlns:a16="http://schemas.microsoft.com/office/drawing/2014/main" id="{74BC8B3E-17E0-4A17-AAA8-EEB24D9E474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Comparison in progress. Current differences concern evidence scope rather than method superiority</a:t>
            </a:r>
          </a:p>
        </p:txBody>
      </p:sp>
      <p:graphicFrame>
        <p:nvGraphicFramePr>
          <p:cNvPr id="8" name="">
            <a:extLst xmlns:a="http://schemas.openxmlformats.org/drawingml/2006/main">
              <a:ext uri="{FF2B5EF4-FFF2-40B4-BE49-F238E27FC236}">
                <a16:creationId xmlns:a16="http://schemas.microsoft.com/office/drawing/2014/main" id="{2D5AA192-A94C-437A-AE74-C3748127CA96}"/>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Primary output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Context represented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Evidence currently available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57225">
                <a:tc>
                  <a:txBody>
                    <a:bodyPr/>
                    <a:lstStyle/>
                    <a:p>
                      <a:r>
                        <a:rPr sz="863">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Generated or retrieved linker candidates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Linker properties and curated templates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Generation and retrieval evidence. No matched experimental outcome benchmark</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Per-residue DFL score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One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Residue-level classification benchmarks for a different scientific task</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Fluorescence prediction and linker customization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370 linkers in one sfGFP–nanobody system plus AF2 features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Strong system-specific experimental evidence from measured fluorescence</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Structure model and confidence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Complete supplied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Computational confidence without functional or ensemble validation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Pair-conditioned ranking with a matched evidence bundle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Both domains, attachment context, candidate, and full fusion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Three-pair computational acceptance panel. External and experimental evidence remain incomplete</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C2440382-204C-47EB-9535-6CE54A5BF43D}"/>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BCF3DD34-5598-4064-8F23-7768BA599226}"/>
              </a:ext>
            </a:extLst>
          </p:cNvPr>
          <p:cNvSpPr>
            <a:spLocks xmlns:a="http://schemas.openxmlformats.org/drawingml/2006/main" noGrp="1"/>
          </p:cNvSpPr>
          <p:nvPr/>
        </p:nvSpPr>
        <p:spPr>
          <a:xfrm xmlns:a="http://schemas.openxmlformats.org/drawingml/2006/main">
            <a:off x="733425" y="5962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EVIDENCE INTERPRETATION</a:t>
            </a:r>
          </a:p>
        </p:txBody>
      </p:sp>
      <p:sp>
        <p:nvSpPr>
          <p:cNvPr id="11" name="">
            <a:extLst xmlns:a="http://schemas.openxmlformats.org/drawingml/2006/main">
              <a:ext uri="{FF2B5EF4-FFF2-40B4-BE49-F238E27FC236}">
                <a16:creationId xmlns:a16="http://schemas.microsoft.com/office/drawing/2014/main" id="{3CD59903-944C-4CD3-8C85-36E60CA6F80C}"/>
              </a:ext>
            </a:extLst>
          </p:cNvPr>
          <p:cNvSpPr>
            <a:spLocks xmlns:a="http://schemas.openxmlformats.org/drawingml/2006/main" noGrp="1"/>
          </p:cNvSpPr>
          <p:nvPr/>
        </p:nvSpPr>
        <p:spPr>
          <a:xfrm xmlns:a="http://schemas.openxmlformats.org/drawingml/2006/main">
            <a:off x="2628900" y="5895975"/>
            <a:ext cx="881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05"/>
          </a:bodyPr>
          <a:lstStyle xmlns:a="http://schemas.openxmlformats.org/drawingml/2006/main">
            <a:defPPr algn="l">
              <a:defRPr sz="1050" b="1" i="0">
                <a:solidFill>
                  <a:srgbClr val="F4F7F5"/>
                </a:solidFill>
                <a:latin typeface="Arial"/>
                <a:ea typeface="Arial"/>
                <a:cs typeface="Arial"/>
              </a:defRPr>
            </a:defPPr>
            <a:lvl1pPr algn="l">
              <a:defRPr sz="1050" b="1" i="0">
                <a:solidFill>
                  <a:srgbClr val="F4F7F5"/>
                </a:solidFill>
                <a:latin typeface="Arial"/>
                <a:ea typeface="Arial"/>
                <a:cs typeface="Arial"/>
              </a:defRPr>
            </a:lvl1pPr>
            <a:lvl2pPr algn="l">
              <a:defRPr sz="1050" b="1" i="0">
                <a:solidFill>
                  <a:srgbClr val="F4F7F5"/>
                </a:solidFill>
                <a:latin typeface="Arial"/>
                <a:ea typeface="Arial"/>
                <a:cs typeface="Arial"/>
              </a:defRPr>
            </a:lvl2pPr>
            <a:lvl3pPr algn="l">
              <a:defRPr sz="1050" b="1" i="0">
                <a:solidFill>
                  <a:srgbClr val="F4F7F5"/>
                </a:solidFill>
                <a:latin typeface="Arial"/>
                <a:ea typeface="Arial"/>
                <a:cs typeface="Arial"/>
              </a:defRPr>
            </a:lvl3pPr>
            <a:lvl4pPr algn="l">
              <a:defRPr sz="1050" b="1" i="0">
                <a:solidFill>
                  <a:srgbClr val="F4F7F5"/>
                </a:solidFill>
                <a:latin typeface="Arial"/>
                <a:ea typeface="Arial"/>
                <a:cs typeface="Arial"/>
              </a:defRPr>
            </a:lvl4pPr>
            <a:lvl5pPr algn="l">
              <a:defRPr sz="1050" b="1" i="0">
                <a:solidFill>
                  <a:srgbClr val="F4F7F5"/>
                </a:solidFill>
                <a:latin typeface="Arial"/>
                <a:ea typeface="Arial"/>
                <a:cs typeface="Arial"/>
              </a:defRPr>
            </a:lvl5pPr>
            <a:lvl6pPr algn="l">
              <a:defRPr sz="1050" b="1" i="0">
                <a:solidFill>
                  <a:srgbClr val="F4F7F5"/>
                </a:solidFill>
                <a:latin typeface="Arial"/>
                <a:ea typeface="Arial"/>
                <a:cs typeface="Arial"/>
              </a:defRPr>
            </a:lvl6pPr>
            <a:lvl7pPr algn="l">
              <a:defRPr sz="1050" b="1" i="0">
                <a:solidFill>
                  <a:srgbClr val="F4F7F5"/>
                </a:solidFill>
                <a:latin typeface="Arial"/>
                <a:ea typeface="Arial"/>
                <a:cs typeface="Arial"/>
              </a:defRPr>
            </a:lvl7pPr>
            <a:lvl8pPr algn="l">
              <a:defRPr sz="1050" b="1" i="0">
                <a:solidFill>
                  <a:srgbClr val="F4F7F5"/>
                </a:solidFill>
                <a:latin typeface="Arial"/>
                <a:ea typeface="Arial"/>
                <a:cs typeface="Arial"/>
              </a:defRPr>
            </a:lvl8pPr>
            <a:lvl9pPr algn="l">
              <a:defRPr sz="1050" b="1" i="0">
                <a:solidFill>
                  <a:srgbClr val="F4F7F5"/>
                </a:solidFill>
                <a:latin typeface="Arial"/>
                <a:ea typeface="Arial"/>
                <a:cs typeface="Arial"/>
              </a:defRPr>
            </a:lvl9pPr>
          </a:lstStyle>
          <a:p xmlns:a="http://schemas.openxmlformats.org/drawingml/2006/main">
            <a:pPr algn="l">
              <a:defRPr sz="1050" b="1" i="0">
                <a:solidFill>
                  <a:srgbClr val="F4F7F5"/>
                </a:solidFill>
                <a:latin typeface="Arial"/>
                <a:ea typeface="Arial"/>
                <a:cs typeface="Arial"/>
              </a:defRPr>
            </a:pPr>
            <a:r>
              <a:rPr sz="1050" b="1" i="0">
                <a:solidFill>
                  <a:srgbClr val="F4F7F5"/>
                </a:solidFill>
                <a:latin typeface="Arial"/>
                <a:ea typeface="Arial"/>
                <a:cs typeface="Arial"/>
              </a:rPr>
              <a:t>Li et al. provides stronger system-specific experimental evidence. CASP16 shows why a confident single structure cannot validate flexible interdomain pose distributions. LinkerForge currently supplies computational evidence only.</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current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questions and evidence</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Compatibility ranking logic</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F137AEAD-BC1C-441A-9D3D-5254BB955F32}"/>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4B3F3264-5BEE-4EBD-BBBE-16AAC6CF11B7}"/>
              </a:ext>
            </a:extLst>
          </p:cNvPr>
          <p:cNvPicPr>
            <a:picLocks xmlns:a="http://schemas.openxmlformats.org/drawingml/2006/main" noChangeAspect="1"/>
          </p:cNvPicPr>
          <p:nvPr/>
        </p:nvPicPr>
        <p:blipFill>
          <a:blip xmlns:r="http://schemas.openxmlformats.org/officeDocument/2006/relationships" xmlns:a="http://schemas.openxmlformats.org/drawingml/2006/main" r:embed="R629a1fee9efc4372"/>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FC00CDDC-E3C8-4363-BF06-B920CF12BB87}"/>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08cc88d9ae0a48d7"/>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9D73F450-D54B-43C1-9BCD-BB7927002E65}"/>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43b1a26945da4035"/>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5F04D714-CC8D-4851-A13F-F7584458338F}"/>
              </a:ext>
            </a:extLst>
          </p:cNvPr>
          <p:cNvPicPr>
            <a:picLocks xmlns:a="http://schemas.openxmlformats.org/drawingml/2006/main" noChangeAspect="1"/>
          </p:cNvPicPr>
          <p:nvPr/>
        </p:nvPicPr>
        <p:blipFill>
          <a:blip xmlns:r="http://schemas.openxmlformats.org/officeDocument/2006/relationships" xmlns:a="http://schemas.openxmlformats.org/drawingml/2006/main" r:embed="R6795adec6b184dc7"/>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 and unresolved evidence</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3F977A87-856A-41F1-A686-9ED97FB0C1E8}"/>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2427B8-78D6-496A-A195-F611460828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231DCB-F815-4420-9E5B-DEFFA1C1F3E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4CCFDCA-AC59-437F-9349-96535FFB8C8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DF7E2994-48A2-4557-BF91-67673950BC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CECEDE35-EDA2-4A17-AC75-EA0184C3E4F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162C8087-E3AD-4508-874B-46207BFBBEB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E66C9B01-4BA9-40C3-A570-789E27A6BA8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3B86C055-9981-43EB-B0A8-AED33CD8845F}"/>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C0DE16BE-FE99-42BA-BE99-8D0A49558958}"/>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4AB32AC-32DA-4F4D-8608-7596FA766CD8}"/>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9BAC811E-8898-46FB-8227-C50A69CB8D0A}"/>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DEE7E38E-3B29-43FC-A64C-C098F9370872}"/>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79321D95-0BE0-4ACB-AEF4-D0508BC05CD4}"/>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4B675B7F-75D4-44DB-8B25-DFDEEAEAEBA7}"/>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462F0CD-D99E-4A7B-AD7A-818EBAE9B795}"/>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870EEB40-A812-43DD-90A0-D96080C6C124}"/>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14414CDD-8BE7-4AF4-BB98-069E3447D8CE}"/>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7B8E4FB0-2EB7-4A66-8AFD-B8FDC4DE7519}"/>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5481657A-9139-4137-80AA-806791A90C41}"/>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1A5794-F013-435D-8A0E-92909B44A462}"/>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3DC6B02C-02C9-4EB3-BFAF-7638B0F37D56}"/>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F31E760C-D7ED-4642-87CA-1675D38A2620}"/>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1BC2380B-D55A-4808-B900-465C0E5816A7}"/>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3F8619AF-27A2-4E31-9DA5-4B253A0DFE98}"/>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DDFC06A-4C0A-4FE5-8B8F-78DB7B612D0B}"/>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DB81826E-0D5E-4155-A60B-5DEC2D4F110F}"/>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D23A16BC-1085-460C-A6A1-EAA185D3BE49}"/>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D069AAA3-D88D-4366-A250-58A86C6D5CDB}"/>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38433237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98BF1DA-D284-45CE-A8BB-005092121F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84FE29-9449-41B7-9F06-607FE964097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7A8FF84-2A73-4438-881D-BDECB569DD37}"/>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6E5B3E5-273D-4BBB-A4FD-56D7DA59E7D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21FD5DE5-0114-4128-B5ED-DD44E26AA9F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C78B707C-1D48-4A2E-B2DB-832180439D1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00C459A9-C5C4-4C0D-985D-E37E5CE1593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725206DA-1FB1-4BA0-8712-ACB849858C3C}"/>
              </a:ext>
            </a:extLst>
          </p:cNvPr>
          <p:cNvPicPr>
            <a:picLocks xmlns:a="http://schemas.openxmlformats.org/drawingml/2006/main" noChangeAspect="1"/>
          </p:cNvPicPr>
          <p:nvPr/>
        </p:nvPicPr>
        <p:blipFill>
          <a:blip xmlns:r="http://schemas.openxmlformats.org/officeDocument/2006/relationships" xmlns:a="http://schemas.openxmlformats.org/drawingml/2006/main" r:embed="Reccc0ac26f8a48f6"/>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60E5CC-EF70-462A-A5BA-C4C3060A3DA0}"/>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A63B0D32-278B-47D1-B639-C2236A12B786}"/>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763F9538-E0E1-4E37-AE30-2024DF5D7065}"/>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19A1A8AB-8DD3-4B8A-87B0-54D3B3E69982}"/>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C2B3EACB-AC6A-4047-959A-EC9F1DE20EC1}"/>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9180C2E5-3DB7-4213-B2D5-AFEE071BC787}"/>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5BFB2058-5054-4CDF-BC15-84A7A4504F90}"/>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4546D48C-EE4B-466B-A2FA-B16EBE49A3C6}"/>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6946B6D4-A09F-4AEB-ABB5-3EB4A5B2A734}"/>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3AAC30F7-A282-454F-BB1B-E4B126E1349F}"/>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43E6C4E9-0489-4819-BEF2-2ECAA180D79F}"/>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162AC8C1-CF51-43E8-B58D-DDC5E5CDAC24}"/>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344541927"/>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F33ADE-5A11-4DBB-B006-D623537E83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4D244F-9867-4912-A222-BCF3DE7F924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3B763B8-9945-4C4F-A3D1-0AF3C39F331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CE973209-E758-4FC3-A7E7-8B165299492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0ECBB5E9-A3AA-4EF0-BA13-1BC672B8801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B195A292-8172-4A4B-B3E8-C6A7B8B0FF9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2B6DCACC-A736-4E71-8BE3-4825BC166D3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6CAD3348-ED62-4233-BAAE-EDFD997DAF1A}"/>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df0479fe892a4d92"/>
          </a:graphicData>
        </a:graphic>
      </p:graphicFrame>
      <p:sp>
        <p:nvSpPr>
          <p:cNvPr id="9" name="">
            <a:extLst xmlns:a="http://schemas.openxmlformats.org/drawingml/2006/main">
              <a:ext uri="{FF2B5EF4-FFF2-40B4-BE49-F238E27FC236}">
                <a16:creationId xmlns:a16="http://schemas.microsoft.com/office/drawing/2014/main" id="{96F99841-8A65-4E46-B852-7E83A36C0E8B}"/>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A465C276-FE42-4EB1-8829-8DC644718737}"/>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C432BE78-FD4C-485E-B057-A4057597B993}"/>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250199411"/>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7D79EA-6C95-47A4-8C0F-62D334603E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79A1B4-01FD-412C-829A-1E9A49E3557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FB4E275-0887-429B-9440-0FE9E0039173}"/>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C5F45CEB-8DBA-451C-B894-053FC139489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3B60CA7B-9959-4480-A7DE-E16CDD6239F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5688EBCE-E156-4153-B7A7-145CDD42AF3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0BA05A60-3B7A-4FC9-B1C9-D0B816FEA642}"/>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8ABEFAB-02A0-401B-A15C-834B88A53F09}"/>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A2D331D9-9C92-4A08-845E-BB6C6A081A8C}"/>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C30D1BC0-1EA6-47C8-8142-CE2C37C5BBBC}"/>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EDDDC435-9E47-4999-BE94-4BB7862B07E8}"/>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436030501"/>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B67063-B543-456E-B813-544C49C4B9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73101A-C184-4EBB-8762-1BDF7C0A26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802711A-9C96-47EF-9E25-11561C720A5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1128B44-9C17-4D14-A84D-C1DF0B6E846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43938CE9-8556-4C47-AE44-729415CC2DF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6197F3F2-F6DD-41FB-8630-EFF4CFBD3D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CC5D0686-91C3-482E-9F74-0E4E680DB4A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2838C3F4-7A14-4A07-BC79-44F452766E44}"/>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07EB51C8-A1BF-47AD-AB9E-E8F38C6E5EF8}"/>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23CD36E2-4378-4BBA-A85F-8A9985E12ED0}"/>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9FFE9413-81CE-420B-B858-FC9AC9CC576F}"/>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700862296"/>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7C082C-ADE3-46E9-A523-CD289DA45D8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0E5A2A-B4CB-4C76-956D-9AE0512C28A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F88139F-EC94-46E9-B58C-B85169D233D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0039AEC-FAB3-4454-AD2D-076E48302D2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86FDEBED-FCE7-4633-BB55-1021A11E16B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FA37C0E8-52F1-4CDE-9279-96B4A53713F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E3D14972-2C47-4079-B31B-99830F54298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9B0E8A26-856B-4ED6-8E92-F64B7CB20CC6}"/>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B662F7F2-9C88-4EEA-9301-C352969F52AB}"/>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ED845C28-37E5-40C2-9BC2-1E91FEA2443D}"/>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BA72A514-FDF2-4784-B61D-62DDFC9039A2}"/>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517678276"/>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658CA75-FFFC-4070-B567-A6C1DF687CF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8FCCC6-25CB-442B-A412-8ABDEF69F68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2481D0F-30A4-49CF-BBC2-9EE925DA4CCE}"/>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9FC5D78B-80FD-49F7-8ED6-5D0A4C24B95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A3185748-4452-4350-813B-841950C6E1D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0901969B-7176-4BF0-BB46-C5653C2AD35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Interpreting structure confidence</a:t>
            </a:r>
          </a:p>
        </p:txBody>
      </p:sp>
      <p:sp>
        <p:nvSpPr>
          <p:cNvPr id="7" name="">
            <a:extLst xmlns:a="http://schemas.openxmlformats.org/drawingml/2006/main">
              <a:ext uri="{FF2B5EF4-FFF2-40B4-BE49-F238E27FC236}">
                <a16:creationId xmlns:a16="http://schemas.microsoft.com/office/drawing/2014/main" id="{0DD973ED-AEB9-4609-B1DE-F1C2BA05817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F4DB2E97-93D1-483B-BDE4-C812D8CC29F0}"/>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F4CF402C-3248-4883-890B-7AAC7B47E532}"/>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EB9AA4-6427-49A0-A861-2AE6B1BD010D}"/>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41122DE2-A4AE-4D4F-9DF6-E03BAA214159}"/>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5760C95E-A982-4936-83C9-20898605F694}"/>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DC1EA6EA-BC8B-4CBB-A675-BC9C4C9DFB3E}"/>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506DF010-4D86-4FAC-9A17-D990BABD5112}"/>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06CF99A-D077-4160-9ACE-823ABFA25F75}"/>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BA95AF30-D2D9-4FA6-913D-B844A05F6A82}"/>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32BF4678-EC32-406F-911D-7BC1BA6734A2}"/>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DC127D90-7AA0-4362-889F-7CEFC6AEB575}"/>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A89C3362-9041-4581-8192-6C3E59922C75}"/>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88C3574-7888-4640-8354-8C07B5676C4A}"/>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8AFBEC3B-DE37-4979-858A-5BECCD67266F}"/>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DC59BBF0-3A82-4BB8-BDC4-5881286ECAC9}"/>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DEDFB977-BC8C-4CFB-8DB9-02FBF87D4BA2}"/>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580D4828-1061-4EC2-AB5F-BF2A40ED8BF3}"/>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2D297D2-0536-4F70-9F5A-BB05A2D5D9DE}"/>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FEB580ED-2B31-43EA-8DBB-B2511AB86DF5}"/>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4E769F51-5D6C-4B28-979B-43D3FFA4097C}"/>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28F3A82B-33A8-495C-AE1E-D5B50E9C7A75}"/>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8D142F03-ADB2-4174-9951-C3E4A34ABD36}"/>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A4D24FF3-19BE-418E-A5B5-727FED39A0A4}"/>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1874240510"/>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01E799B-011A-46AA-9B7B-12BB43A447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E00294-5EF6-414F-8C41-3BF10AC366E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B54460F-0BDA-4CE5-953E-78CCAA6AD5C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17B17AA1-1653-407A-BB10-43391AB651B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261FF3F3-2976-409E-8932-943747DAE7D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4AFF493E-70D8-4059-A6DA-8EA98D5299C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to every file</a:t>
            </a:r>
          </a:p>
        </p:txBody>
      </p:sp>
      <p:sp>
        <p:nvSpPr>
          <p:cNvPr id="7" name="">
            <a:extLst xmlns:a="http://schemas.openxmlformats.org/drawingml/2006/main">
              <a:ext uri="{FF2B5EF4-FFF2-40B4-BE49-F238E27FC236}">
                <a16:creationId xmlns:a16="http://schemas.microsoft.com/office/drawing/2014/main" id="{9F975B28-FEC4-489F-BC64-30315BFAE0FE}"/>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run artifacts remain the scientific record; this deck presents a selected view</a:t>
            </a:r>
          </a:p>
        </p:txBody>
      </p:sp>
      <p:sp>
        <p:nvSpPr>
          <p:cNvPr id="8" name="">
            <a:extLst xmlns:a="http://schemas.openxmlformats.org/drawingml/2006/main">
              <a:ext uri="{FF2B5EF4-FFF2-40B4-BE49-F238E27FC236}">
                <a16:creationId xmlns:a16="http://schemas.microsoft.com/office/drawing/2014/main" id="{4D9164E5-FA4D-442F-8847-1037BE4E033D}"/>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3863160F-B853-4F04-8200-1B350C158271}"/>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F0A7C1-66DB-4BD7-99F3-24F4314BEC0E}"/>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BC481DEA-5356-4AAB-A878-97C1F361BA27}"/>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85FC5DA9-D08F-4DE3-A573-57499973EF6D}"/>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C989EF59-7754-45CF-88F6-389EE82E12CF}"/>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FF61F404-E8BB-431B-85AD-DB136AE78B27}"/>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14F874A0-CE73-4A15-A5BE-416748096B26}"/>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FAAE98-DCD2-466C-A0D2-BD6930838E9E}"/>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0EA1E2A5-41A7-4904-9531-C3180B76945C}"/>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04D3B04B-BA75-48C9-8355-2E572170177D}"/>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E1EEC838-DC12-4E55-8728-7551E4A8634E}"/>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C926F283-D84C-4F0D-A3DE-4CB525BF9751}"/>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A88B9DED-2EBA-48A3-A901-F029DCDC45F0}"/>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322E229-DFF0-4809-9A61-400F8EA8D0EE}"/>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CE102BE7-9E9A-47CD-A9E1-8DB84BE626B3}"/>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695BE249-4792-40D1-AF9A-DA656B066574}"/>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4F65D117-036A-4DC9-9979-2ADC9515B807}"/>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5680D070-C3C2-48FB-BF4B-44A405D624C2}"/>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BC857E2D-B05B-410A-AA5E-6CBC24E7B893}"/>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DE0420-78CA-4D6A-9087-6C4DEF13D118}"/>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E41C6118-6B7D-4E79-B4A8-7013414998C0}"/>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6E764842-86BA-403F-BBDD-B7C4B1BFEE14}"/>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D18E90D0-F06F-4E33-9D21-1F9EFE1A0B2D}"/>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1DA8AEA5-F2EB-4875-88D3-3182009CD448}"/>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F10DED2E-F1E1-45BB-B687-BFA4EAF52AFC}"/>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5C4671B-0E59-4CD9-AF0D-385B8ECC4DA8}"/>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54698B2A-9B83-47FD-84E0-73832EBA4452}"/>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81269F61-696C-41A3-9BEC-15D370209F40}"/>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20AAD271-29FE-491E-AF3D-766CCCF3B651}"/>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267403605"/>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0C7529-DABC-4846-8087-9F3B5D7C337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A1E298-5A74-4066-81B4-4C2CA478615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10A4D2C-C578-4537-90A4-B0B45A014E7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A5D325A4-5A8C-41E7-895C-6E8AE3C6539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63860473-7F5D-45F1-8A93-2661649609B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64F3947D-C59A-4F5C-9ACE-4947F0A4323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structural analyses</a:t>
            </a:r>
          </a:p>
        </p:txBody>
      </p:sp>
      <p:sp>
        <p:nvSpPr>
          <p:cNvPr id="7" name="">
            <a:extLst xmlns:a="http://schemas.openxmlformats.org/drawingml/2006/main">
              <a:ext uri="{FF2B5EF4-FFF2-40B4-BE49-F238E27FC236}">
                <a16:creationId xmlns:a16="http://schemas.microsoft.com/office/drawing/2014/main" id="{C02933EE-0053-4455-AD98-A6FA47FC590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6DF133D8-5337-4CC6-A9BC-E7D5B3B40EA7}"/>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CF5B1E3D-DF54-4F2D-9C84-E7C904FF55B7}"/>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7EA19E08-B590-4E3D-941D-80540CB16F6A}"/>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248145237"/>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2026-10-22T10:18:04.9710000Z</dcterms:created>
  <dcterms:modified xsi:type="dcterms:W3CDTF">2026-10-22T10:18:04.9710000Z</dcterms:modified>
</coreProperties>
</file>