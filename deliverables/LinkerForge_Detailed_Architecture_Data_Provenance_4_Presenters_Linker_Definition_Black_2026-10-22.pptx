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14f77d45864320" /><Relationship Type="http://schemas.openxmlformats.org/officeDocument/2006/relationships/extended-properties" Target="/docProps/app.xml" Id="Rf68961e01c0c43b4" /><Relationship Type="http://schemas.openxmlformats.org/officeDocument/2006/relationships/officeDocument" Target="/ppt/presentation.xml" Id="R0ed2c64d67434052" /></Relationships>
</file>

<file path=ppt/presentation.xml><?xml version="1.0" encoding="utf-8"?>
<p:presentation xmlns:p="http://schemas.openxmlformats.org/presentationml/2006/main">
  <p:sldMasterIdLst>
    <p:sldMasterId xmlns:r="http://schemas.openxmlformats.org/officeDocument/2006/relationships" id="2147483648" r:id="Ref42361f1484436d"/>
  </p:sldMasterIdLst>
  <p:notesMasterIdLst>
    <p:notesMasterId xmlns:r="http://schemas.openxmlformats.org/officeDocument/2006/relationships" r:id="R874569dcf7e649be"/>
  </p:notesMasterIdLst>
  <p:sldIdLst>
    <p:sldId xmlns:r="http://schemas.openxmlformats.org/officeDocument/2006/relationships" id="256" r:id="Rbba907c24d4b48a8"/>
    <p:sldId xmlns:r="http://schemas.openxmlformats.org/officeDocument/2006/relationships" id="257" r:id="R6d123bc6a89d4932"/>
    <p:sldId xmlns:r="http://schemas.openxmlformats.org/officeDocument/2006/relationships" id="258" r:id="Rfa3dd77265c34cbf"/>
    <p:sldId xmlns:r="http://schemas.openxmlformats.org/officeDocument/2006/relationships" id="259" r:id="Rcf271a119ef044b2"/>
    <p:sldId xmlns:r="http://schemas.openxmlformats.org/officeDocument/2006/relationships" id="260" r:id="R33184c084ffc461d"/>
    <p:sldId xmlns:r="http://schemas.openxmlformats.org/officeDocument/2006/relationships" id="261" r:id="Rf3a9e2de4bf744e2"/>
    <p:sldId xmlns:r="http://schemas.openxmlformats.org/officeDocument/2006/relationships" id="262" r:id="R7d84e8d995514ae2"/>
    <p:sldId xmlns:r="http://schemas.openxmlformats.org/officeDocument/2006/relationships" id="263" r:id="R2dafac06a122425a"/>
    <p:sldId xmlns:r="http://schemas.openxmlformats.org/officeDocument/2006/relationships" id="264" r:id="R1a92de09c0924c88"/>
    <p:sldId xmlns:r="http://schemas.openxmlformats.org/officeDocument/2006/relationships" id="265" r:id="R9e76fda0d2be4215"/>
    <p:sldId xmlns:r="http://schemas.openxmlformats.org/officeDocument/2006/relationships" id="266" r:id="R6fa0fa6a6f58478b"/>
    <p:sldId xmlns:r="http://schemas.openxmlformats.org/officeDocument/2006/relationships" id="267" r:id="Re591bebc366e4fba"/>
    <p:sldId xmlns:r="http://schemas.openxmlformats.org/officeDocument/2006/relationships" id="268" r:id="R45568e98fe8e440f"/>
    <p:sldId xmlns:r="http://schemas.openxmlformats.org/officeDocument/2006/relationships" id="269" r:id="R32fe4cb8d27c446d"/>
    <p:sldId xmlns:r="http://schemas.openxmlformats.org/officeDocument/2006/relationships" id="270" r:id="Rf7f34a318a9b4bdb"/>
    <p:sldId xmlns:r="http://schemas.openxmlformats.org/officeDocument/2006/relationships" id="271" r:id="R8bf52b9c0b244e4c"/>
    <p:sldId xmlns:r="http://schemas.openxmlformats.org/officeDocument/2006/relationships" id="272" r:id="R518ff1e14434470e"/>
    <p:sldId xmlns:r="http://schemas.openxmlformats.org/officeDocument/2006/relationships" id="273" r:id="R9bc9ff9bc0e54c98"/>
    <p:sldId xmlns:r="http://schemas.openxmlformats.org/officeDocument/2006/relationships" id="274" r:id="R49535c06899e4dc1"/>
    <p:sldId xmlns:r="http://schemas.openxmlformats.org/officeDocument/2006/relationships" id="275" r:id="R187f20e50d354f2d"/>
    <p:sldId xmlns:r="http://schemas.openxmlformats.org/officeDocument/2006/relationships" id="276" r:id="R9f726e49029b4321"/>
    <p:sldId xmlns:r="http://schemas.openxmlformats.org/officeDocument/2006/relationships" id="277" r:id="R13a755581778458c"/>
    <p:sldId xmlns:r="http://schemas.openxmlformats.org/officeDocument/2006/relationships" id="278" r:id="R2cf446511a7d4cc2"/>
    <p:sldId xmlns:r="http://schemas.openxmlformats.org/officeDocument/2006/relationships" id="279" r:id="Rfcd6771a2cc74891"/>
    <p:sldId xmlns:r="http://schemas.openxmlformats.org/officeDocument/2006/relationships" id="280" r:id="R1de8582db12c4fd6"/>
    <p:sldId xmlns:r="http://schemas.openxmlformats.org/officeDocument/2006/relationships" id="281" r:id="Rfe9bb6e0886b44fc"/>
    <p:sldId xmlns:r="http://schemas.openxmlformats.org/officeDocument/2006/relationships" id="282" r:id="R17978f0fadc7438d"/>
    <p:sldId xmlns:r="http://schemas.openxmlformats.org/officeDocument/2006/relationships" id="283" r:id="R420e9078a759427e"/>
    <p:sldId xmlns:r="http://schemas.openxmlformats.org/officeDocument/2006/relationships" id="284" r:id="Rb04ea6ee9a0644f1"/>
    <p:sldId xmlns:r="http://schemas.openxmlformats.org/officeDocument/2006/relationships" id="285" r:id="R26da1b74829b44b7"/>
    <p:sldId xmlns:r="http://schemas.openxmlformats.org/officeDocument/2006/relationships" id="286" r:id="Rb440b1a2d1a94206"/>
    <p:sldId xmlns:r="http://schemas.openxmlformats.org/officeDocument/2006/relationships" id="287" r:id="R675a23b57ee6456a"/>
    <p:sldId xmlns:r="http://schemas.openxmlformats.org/officeDocument/2006/relationships" id="288" r:id="R19cc607af050416d"/>
    <p:sldId xmlns:r="http://schemas.openxmlformats.org/officeDocument/2006/relationships" id="289" r:id="Rdb8ecf9dc6cd48e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4b852dc7b584ec1" /><Relationship Type="http://schemas.openxmlformats.org/officeDocument/2006/relationships/slideMaster" Target="/ppt/slideMasters/slideMaster1.xml" Id="Ref42361f1484436d" /><Relationship Type="http://schemas.openxmlformats.org/officeDocument/2006/relationships/notesMaster" Target="/ppt/notesMasters/notesMaster1.xml" Id="R874569dcf7e649be" /><Relationship Type="http://schemas.openxmlformats.org/officeDocument/2006/relationships/presProps" Target="/ppt/presProps.xml" Id="Raeedfd4929ca4c74" /><Relationship Type="http://schemas.openxmlformats.org/officeDocument/2006/relationships/viewProps" Target="/ppt/viewProps.xml" Id="R1a407c7e75f4407e" /><Relationship Type="http://schemas.openxmlformats.org/officeDocument/2006/relationships/tableStyles" Target="/ppt/tableStyles.xml" Id="Rf6dad96a56464567" /><Relationship Type="http://schemas.openxmlformats.org/officeDocument/2006/relationships/slide" Target="/ppt/slides/slide1.xml" Id="Rbba907c24d4b48a8" /><Relationship Type="http://schemas.openxmlformats.org/officeDocument/2006/relationships/slide" Target="/ppt/slides/slide2.xml" Id="R6d123bc6a89d4932" /><Relationship Type="http://schemas.openxmlformats.org/officeDocument/2006/relationships/slide" Target="/ppt/slides/slide3.xml" Id="Rfa3dd77265c34cbf" /><Relationship Type="http://schemas.openxmlformats.org/officeDocument/2006/relationships/slide" Target="/ppt/slides/slide4.xml" Id="Rcf271a119ef044b2" /><Relationship Type="http://schemas.openxmlformats.org/officeDocument/2006/relationships/slide" Target="/ppt/slides/slide5.xml" Id="R33184c084ffc461d" /><Relationship Type="http://schemas.openxmlformats.org/officeDocument/2006/relationships/slide" Target="/ppt/slides/slide6.xml" Id="Rf3a9e2de4bf744e2" /><Relationship Type="http://schemas.openxmlformats.org/officeDocument/2006/relationships/slide" Target="/ppt/slides/slide7.xml" Id="R7d84e8d995514ae2" /><Relationship Type="http://schemas.openxmlformats.org/officeDocument/2006/relationships/slide" Target="/ppt/slides/slide8.xml" Id="R2dafac06a122425a" /><Relationship Type="http://schemas.openxmlformats.org/officeDocument/2006/relationships/slide" Target="/ppt/slides/slide9.xml" Id="R1a92de09c0924c88" /><Relationship Type="http://schemas.openxmlformats.org/officeDocument/2006/relationships/slide" Target="/ppt/slides/slide10.xml" Id="R9e76fda0d2be4215" /><Relationship Type="http://schemas.openxmlformats.org/officeDocument/2006/relationships/slide" Target="/ppt/slides/slide11.xml" Id="R6fa0fa6a6f58478b" /><Relationship Type="http://schemas.openxmlformats.org/officeDocument/2006/relationships/slide" Target="/ppt/slides/slide12.xml" Id="Re591bebc366e4fba" /><Relationship Type="http://schemas.openxmlformats.org/officeDocument/2006/relationships/slide" Target="/ppt/slides/slide13.xml" Id="R45568e98fe8e440f" /><Relationship Type="http://schemas.openxmlformats.org/officeDocument/2006/relationships/slide" Target="/ppt/slides/slide14.xml" Id="R32fe4cb8d27c446d" /><Relationship Type="http://schemas.openxmlformats.org/officeDocument/2006/relationships/slide" Target="/ppt/slides/slide15.xml" Id="Rf7f34a318a9b4bdb" /><Relationship Type="http://schemas.openxmlformats.org/officeDocument/2006/relationships/slide" Target="/ppt/slides/slide16.xml" Id="R8bf52b9c0b244e4c" /><Relationship Type="http://schemas.openxmlformats.org/officeDocument/2006/relationships/slide" Target="/ppt/slides/slide17.xml" Id="R518ff1e14434470e" /><Relationship Type="http://schemas.openxmlformats.org/officeDocument/2006/relationships/slide" Target="/ppt/slides/slide18.xml" Id="R9bc9ff9bc0e54c98" /><Relationship Type="http://schemas.openxmlformats.org/officeDocument/2006/relationships/slide" Target="/ppt/slides/slide19.xml" Id="R49535c06899e4dc1" /><Relationship Type="http://schemas.openxmlformats.org/officeDocument/2006/relationships/slide" Target="/ppt/slides/slide20.xml" Id="R187f20e50d354f2d" /><Relationship Type="http://schemas.openxmlformats.org/officeDocument/2006/relationships/slide" Target="/ppt/slides/slide21.xml" Id="R9f726e49029b4321" /><Relationship Type="http://schemas.openxmlformats.org/officeDocument/2006/relationships/slide" Target="/ppt/slides/slide22.xml" Id="R13a755581778458c" /><Relationship Type="http://schemas.openxmlformats.org/officeDocument/2006/relationships/slide" Target="/ppt/slides/slide23.xml" Id="R2cf446511a7d4cc2" /><Relationship Type="http://schemas.openxmlformats.org/officeDocument/2006/relationships/slide" Target="/ppt/slides/slide24.xml" Id="Rfcd6771a2cc74891" /><Relationship Type="http://schemas.openxmlformats.org/officeDocument/2006/relationships/slide" Target="/ppt/slides/slide25.xml" Id="R1de8582db12c4fd6" /><Relationship Type="http://schemas.openxmlformats.org/officeDocument/2006/relationships/slide" Target="/ppt/slides/slide26.xml" Id="Rfe9bb6e0886b44fc" /><Relationship Type="http://schemas.openxmlformats.org/officeDocument/2006/relationships/slide" Target="/ppt/slides/slide27.xml" Id="R17978f0fadc7438d" /><Relationship Type="http://schemas.openxmlformats.org/officeDocument/2006/relationships/slide" Target="/ppt/slides/slide28.xml" Id="R420e9078a759427e" /><Relationship Type="http://schemas.openxmlformats.org/officeDocument/2006/relationships/slide" Target="/ppt/slides/slide29.xml" Id="Rb04ea6ee9a0644f1" /><Relationship Type="http://schemas.openxmlformats.org/officeDocument/2006/relationships/slide" Target="/ppt/slides/slide30.xml" Id="R26da1b74829b44b7" /><Relationship Type="http://schemas.openxmlformats.org/officeDocument/2006/relationships/slide" Target="/ppt/slides/slide31.xml" Id="Rb440b1a2d1a94206" /><Relationship Type="http://schemas.openxmlformats.org/officeDocument/2006/relationships/slide" Target="/ppt/slides/slide32.xml" Id="R675a23b57ee6456a" /><Relationship Type="http://schemas.openxmlformats.org/officeDocument/2006/relationships/slide" Target="/ppt/slides/slide33.xml" Id="R19cc607af050416d" /><Relationship Type="http://schemas.openxmlformats.org/officeDocument/2006/relationships/slide" Target="/ppt/slides/slide34.xml" Id="Rdb8ecf9dc6cd48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07e37d5b5d45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3e3b8af89c46e4" /><Relationship Type="http://schemas.openxmlformats.org/officeDocument/2006/relationships/notesMaster" Target="/ppt/notesMasters/notesMaster1.xml" Id="Redd2e116aaa043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ea3f91259043f2" /><Relationship Type="http://schemas.openxmlformats.org/officeDocument/2006/relationships/notesMaster" Target="/ppt/notesMasters/notesMaster1.xml" Id="R8341cabb986b45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ec376743f14c26" /><Relationship Type="http://schemas.openxmlformats.org/officeDocument/2006/relationships/notesMaster" Target="/ppt/notesMasters/notesMaster1.xml" Id="Rc0081fc110ca40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bc0dbb77ca48bd" /><Relationship Type="http://schemas.openxmlformats.org/officeDocument/2006/relationships/notesMaster" Target="/ppt/notesMasters/notesMaster1.xml" Id="Rfd9294cb59ca43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6b1235479440e0" /><Relationship Type="http://schemas.openxmlformats.org/officeDocument/2006/relationships/notesMaster" Target="/ppt/notesMasters/notesMaster1.xml" Id="R36ed17da9b3749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fbe02a61204820" /><Relationship Type="http://schemas.openxmlformats.org/officeDocument/2006/relationships/notesMaster" Target="/ppt/notesMasters/notesMaster1.xml" Id="Rc23a44bca3554b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f035329d774701" /><Relationship Type="http://schemas.openxmlformats.org/officeDocument/2006/relationships/notesMaster" Target="/ppt/notesMasters/notesMaster1.xml" Id="R4573712ae2934b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4804aa15134048" /><Relationship Type="http://schemas.openxmlformats.org/officeDocument/2006/relationships/notesMaster" Target="/ppt/notesMasters/notesMaster1.xml" Id="R5c0ce0818b2443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e54a92788f4208" /><Relationship Type="http://schemas.openxmlformats.org/officeDocument/2006/relationships/notesMaster" Target="/ppt/notesMasters/notesMaster1.xml" Id="R8df7d174868c4f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3ff3bd62414e21" /><Relationship Type="http://schemas.openxmlformats.org/officeDocument/2006/relationships/notesMaster" Target="/ppt/notesMasters/notesMaster1.xml" Id="R5acbb9e1c33148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30c711acde4973" /><Relationship Type="http://schemas.openxmlformats.org/officeDocument/2006/relationships/notesMaster" Target="/ppt/notesMasters/notesMaster1.xml" Id="R99c26862c9354d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fa978acdef4365" /><Relationship Type="http://schemas.openxmlformats.org/officeDocument/2006/relationships/notesMaster" Target="/ppt/notesMasters/notesMaster1.xml" Id="R4505049594024d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b22f99c1f44df2" /><Relationship Type="http://schemas.openxmlformats.org/officeDocument/2006/relationships/notesMaster" Target="/ppt/notesMasters/notesMaster1.xml" Id="R53314632919a47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9698baf0574889" /><Relationship Type="http://schemas.openxmlformats.org/officeDocument/2006/relationships/notesMaster" Target="/ppt/notesMasters/notesMaster1.xml" Id="R0ef776e84fa640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4a86b159b84cd2" /><Relationship Type="http://schemas.openxmlformats.org/officeDocument/2006/relationships/notesMaster" Target="/ppt/notesMasters/notesMaster1.xml" Id="R5cb9e168f47540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09671dee8344b7" /><Relationship Type="http://schemas.openxmlformats.org/officeDocument/2006/relationships/notesMaster" Target="/ppt/notesMasters/notesMaster1.xml" Id="Rb8a69965961c45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56c416f8f74429" /><Relationship Type="http://schemas.openxmlformats.org/officeDocument/2006/relationships/notesMaster" Target="/ppt/notesMasters/notesMaster1.xml" Id="R795e7202e7114c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1b2db16c2f4687" /><Relationship Type="http://schemas.openxmlformats.org/officeDocument/2006/relationships/notesMaster" Target="/ppt/notesMasters/notesMaster1.xml" Id="R2d2feacb89ae44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03653be5054283" /><Relationship Type="http://schemas.openxmlformats.org/officeDocument/2006/relationships/notesMaster" Target="/ppt/notesMasters/notesMaster1.xml" Id="Rff85157b0ad540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c2f33f3786041fc" /><Relationship Type="http://schemas.openxmlformats.org/officeDocument/2006/relationships/notesMaster" Target="/ppt/notesMasters/notesMaster1.xml" Id="R513dcdd99eb245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ad8d48bada4fce" /><Relationship Type="http://schemas.openxmlformats.org/officeDocument/2006/relationships/notesMaster" Target="/ppt/notesMasters/notesMaster1.xml" Id="Rf95cd3e1d7b648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fa052b7efd94829" /><Relationship Type="http://schemas.openxmlformats.org/officeDocument/2006/relationships/notesMaster" Target="/ppt/notesMasters/notesMaster1.xml" Id="R8368f12b640f4f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f7308b2acc47d6" /><Relationship Type="http://schemas.openxmlformats.org/officeDocument/2006/relationships/notesMaster" Target="/ppt/notesMasters/notesMaster1.xml" Id="Rb9016a129d4c40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70d121d7454f84" /><Relationship Type="http://schemas.openxmlformats.org/officeDocument/2006/relationships/notesMaster" Target="/ppt/notesMasters/notesMaster1.xml" Id="Rc7c4fee9a6484c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2da6da4e054c5c" /><Relationship Type="http://schemas.openxmlformats.org/officeDocument/2006/relationships/notesMaster" Target="/ppt/notesMasters/notesMaster1.xml" Id="R01f452f1984b4d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f102a21b91b46e5" /><Relationship Type="http://schemas.openxmlformats.org/officeDocument/2006/relationships/notesMaster" Target="/ppt/notesMasters/notesMaster1.xml" Id="R7ea76c6c669241d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87a447f7bc3494e" /><Relationship Type="http://schemas.openxmlformats.org/officeDocument/2006/relationships/notesMaster" Target="/ppt/notesMasters/notesMaster1.xml" Id="Ra36c13f5e202454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d62bb983ad54701" /><Relationship Type="http://schemas.openxmlformats.org/officeDocument/2006/relationships/notesMaster" Target="/ppt/notesMasters/notesMaster1.xml" Id="R21dd9db14f944a0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5f289b5bec649fa" /><Relationship Type="http://schemas.openxmlformats.org/officeDocument/2006/relationships/notesMaster" Target="/ppt/notesMasters/notesMaster1.xml" Id="Rc8984670d4e24d1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2b38dde2d9348ea" /><Relationship Type="http://schemas.openxmlformats.org/officeDocument/2006/relationships/notesMaster" Target="/ppt/notesMasters/notesMaster1.xml" Id="Ra0d6755b8485452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666f6e99e654537" /><Relationship Type="http://schemas.openxmlformats.org/officeDocument/2006/relationships/notesMaster" Target="/ppt/notesMasters/notesMaster1.xml" Id="R1ca3c527f783463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159ad3a21c048ff" /><Relationship Type="http://schemas.openxmlformats.org/officeDocument/2006/relationships/notesMaster" Target="/ppt/notesMasters/notesMaster1.xml" Id="Rf1377f38806541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5066939dac6477a" /><Relationship Type="http://schemas.openxmlformats.org/officeDocument/2006/relationships/notesMaster" Target="/ppt/notesMasters/notesMaster1.xml" Id="R0f0401ae719c487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22c752643484567" /><Relationship Type="http://schemas.openxmlformats.org/officeDocument/2006/relationships/notesMaster" Target="/ppt/notesMasters/notesMaster1.xml" Id="R2f59b5c148c14a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Use the timeline to distinguish tasks. LINKER and SynLinker support generation or retrieval. DFLpred and TransDFL detect domain-linker residues. Li and colleagues provide the strongest adjacent functional model, trained on 370 experimentally measured 18-residue linkers for one sfGFP-nanobody construct. That study strengthens the case for context-specific modelling but does not establish cross-pair generalization.</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https://doi.org/10.1016/j.gpb.2022.10.004</a:t>
            </a:r>
          </a:p>
          <a:p xmlns:a="http://schemas.openxmlformats.org/drawingml/2006/main">
            <a:r>
              <a:t>- https://doi.org/10.1016/j.synbio.2026.02.003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literature shows a progression. Early tools acknowledged intuition-driven selection. SynLinker organized candidates but still described experimental selection as ad hoc. Li and colleagues then trained a multimodal functional predictor with experimental fluorescence data, but only for one fusion architecture. The CASP16 study showed that current structure ensembles can still miss experimentally observed linker-sequence effects. These are important advances, but they do not yet provide a family-disjoint benchmark for ranking linkers across unrelated domain pairs.</a:t>
            </a:r>
          </a:p>
          <a:p xmlns:a="http://schemas.openxmlformats.org/drawingml/2006/main">
            <a:endParaRPr/>
          </a:p>
          <a:p xmlns:a="http://schemas.openxmlformats.org/drawingml/2006/main">
            <a:r>
              <a:t>Sources and evidence:</a:t>
            </a:r>
          </a:p>
          <a:p xmlns:a="http://schemas.openxmlformats.org/drawingml/2006/main">
            <a:r>
              <a:t>- https://academic.oup.com/peds/article-abstract/13/5/309/1505267</a:t>
            </a:r>
          </a:p>
          <a:p xmlns:a="http://schemas.openxmlformats.org/drawingml/2006/main">
            <a:r>
              <a:t>- https://academic.oup.com/bioinformatics/article/31/22/3700/241706</a:t>
            </a:r>
          </a:p>
          <a:p xmlns:a="http://schemas.openxmlformats.org/drawingml/2006/main">
            <a:r>
              <a:t>- https://doi.org/10.1016/j.synbio.2026.02.003</a:t>
            </a:r>
          </a:p>
          <a:p xmlns:a="http://schemas.openxmlformats.org/drawingml/2006/main">
            <a:r>
              <a:t>- https://pmc.ncbi.nlm.nih.gov/articles/PMC12648682/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https://doi.org/10.1016/j.synbio.2026.02.003</a:t>
            </a:r>
          </a:p>
          <a:p xmlns:a="http://schemas.openxmlformats.org/drawingml/2006/main">
            <a:r>
              <a:t>- https://doi.org/10.1002/prot.70062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Compare methods only within their stated tasks. The 2026 multimodal study is the closest functional comparator because it uses experimental outcomes and AlphaFold-derived features. Its evidence comes from one sfGFP-nanobody architecture. LinkerForge aims to condition ranking on both domains and attachment context, then apply one matched structural and provenance contract. That broader scope could become an advantage, but the compatibility ranker has not yet been scientifically trained or shown to outperform any published model.</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https://doi.org/10.1093/bioinformatics/btaa808</a:t>
            </a:r>
          </a:p>
          <a:p xmlns:a="http://schemas.openxmlformats.org/drawingml/2006/main">
            <a:r>
              <a:t>- https://doi.org/10.1016/j.gpb.2022.10.004</a:t>
            </a:r>
          </a:p>
          <a:p xmlns:a="http://schemas.openxmlformats.org/drawingml/2006/main">
            <a:r>
              <a:t>- https://doi.org/10.1016/j.synbio.2026.02.003</a:t>
            </a:r>
          </a:p>
          <a:p xmlns:a="http://schemas.openxmlformats.org/drawingml/2006/main">
            <a:r>
              <a:t>- https://www.nature.com/articles/s41592-022-01488-1</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2\runs\folds\public-multipair-af2ptm-20261021\verified_public_acceptance_run_linker_definition_black_2026-10-22.md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23715875c345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54d69c33cf41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e06a0f190e4e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9feff686a84c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8404cfd3ea4c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ba7306313df4a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3ebd56fbc14a35" /><Relationship Type="http://schemas.openxmlformats.org/officeDocument/2006/relationships/slideLayout" Target="/ppt/slideLayouts/slideLayout1.xml" Id="R2ac5ec8ac32747ca" /><Relationship Type="http://schemas.openxmlformats.org/officeDocument/2006/relationships/slideLayout" Target="/ppt/slideLayouts/slideLayout2.xml" Id="R16229ec513474fe1" /><Relationship Type="http://schemas.openxmlformats.org/officeDocument/2006/relationships/slideLayout" Target="/ppt/slideLayouts/slideLayout3.xml" Id="R98075dce8d594682" /><Relationship Type="http://schemas.openxmlformats.org/officeDocument/2006/relationships/slideLayout" Target="/ppt/slideLayouts/slideLayout4.xml" Id="R0003825b290f4e7c" /><Relationship Type="http://schemas.openxmlformats.org/officeDocument/2006/relationships/slideLayout" Target="/ppt/slideLayouts/slideLayout5.xml" Id="R6829a2746ab8400c" /><Relationship Type="http://schemas.openxmlformats.org/officeDocument/2006/relationships/slideLayout" Target="/ppt/slideLayouts/slideLayout6.xml" Id="R46af084cb5724b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c5ec8ac32747ca"/>
    <p:sldLayoutId xmlns:r="http://schemas.openxmlformats.org/officeDocument/2006/relationships" id="2147483650" r:id="R16229ec513474fe1"/>
    <p:sldLayoutId xmlns:r="http://schemas.openxmlformats.org/officeDocument/2006/relationships" id="2147483651" r:id="R98075dce8d594682"/>
    <p:sldLayoutId xmlns:r="http://schemas.openxmlformats.org/officeDocument/2006/relationships" id="2147483652" r:id="R0003825b290f4e7c"/>
    <p:sldLayoutId xmlns:r="http://schemas.openxmlformats.org/officeDocument/2006/relationships" id="2147483653" r:id="R6829a2746ab8400c"/>
    <p:sldLayoutId xmlns:r="http://schemas.openxmlformats.org/officeDocument/2006/relationships" id="2147483654" r:id="R46af084cb5724b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57ffaf268e445b" /><Relationship Type="http://schemas.openxmlformats.org/officeDocument/2006/relationships/image" Target="/ppt/media/image.png" Id="R99664d9820c74f4f" /><Relationship Type="http://schemas.openxmlformats.org/officeDocument/2006/relationships/notesSlide" Target="/ppt/notesSlides/notesSlide1.xml" Id="Re62470ea112d48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006385f14242a7" /><Relationship Type="http://schemas.openxmlformats.org/officeDocument/2006/relationships/notesSlide" Target="/ppt/notesSlides/notesSlide2.xml" Id="R3595584896c94a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8bf2f669de409c" /><Relationship Type="http://schemas.openxmlformats.org/officeDocument/2006/relationships/notesSlide" Target="/ppt/notesSlides/notesSlide3.xml" Id="Rcbba44d69e2b45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fc8cb785db4798" /><Relationship Type="http://schemas.openxmlformats.org/officeDocument/2006/relationships/notesSlide" Target="/ppt/notesSlides/notesSlide4.xml" Id="R4780d0b581374c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f226fcb9ea4e2c" /><Relationship Type="http://schemas.openxmlformats.org/officeDocument/2006/relationships/notesSlide" Target="/ppt/notesSlides/notesSlide5.xml" Id="R9ec4aec38a2043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5e98254e3df496f" /><Relationship Type="http://schemas.openxmlformats.org/officeDocument/2006/relationships/notesSlide" Target="/ppt/notesSlides/notesSlide6.xml" Id="R2b06dd31c42543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460cd94adb44aa" /><Relationship Type="http://schemas.openxmlformats.org/officeDocument/2006/relationships/notesSlide" Target="/ppt/notesSlides/notesSlide7.xml" Id="R00d7bedc716246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2d0823dc994e4c" /><Relationship Type="http://schemas.openxmlformats.org/officeDocument/2006/relationships/notesSlide" Target="/ppt/notesSlides/notesSlide8.xml" Id="Rb4526806369a4d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a3576b61a5f4bc8" /><Relationship Type="http://schemas.openxmlformats.org/officeDocument/2006/relationships/notesSlide" Target="/ppt/notesSlides/notesSlide9.xml" Id="R89600a00fd214a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5da8686056046dc" /><Relationship Type="http://schemas.openxmlformats.org/officeDocument/2006/relationships/notesSlide" Target="/ppt/notesSlides/notesSlide10.xml" Id="R75fbcf393c3442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2e10491696e4428" /><Relationship Type="http://schemas.openxmlformats.org/officeDocument/2006/relationships/notesSlide" Target="/ppt/notesSlides/notesSlide11.xml" Id="R2fca099ad2a740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18c7543d897474b" /><Relationship Type="http://schemas.openxmlformats.org/officeDocument/2006/relationships/notesSlide" Target="/ppt/notesSlides/notesSlide12.xml" Id="R859011b3b5ae48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3e342838094ee9" /><Relationship Type="http://schemas.openxmlformats.org/officeDocument/2006/relationships/notesSlide" Target="/ppt/notesSlides/notesSlide13.xml" Id="R448b305b38404b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1365282f03548e2" /><Relationship Type="http://schemas.openxmlformats.org/officeDocument/2006/relationships/notesSlide" Target="/ppt/notesSlides/notesSlide14.xml" Id="Rfa373ca072d34f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f3186f39b6b4e00" /><Relationship Type="http://schemas.openxmlformats.org/officeDocument/2006/relationships/notesSlide" Target="/ppt/notesSlides/notesSlide15.xml" Id="R2bf929d19c5c40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75006a3ebae4a56" /><Relationship Type="http://schemas.openxmlformats.org/officeDocument/2006/relationships/notesSlide" Target="/ppt/notesSlides/notesSlide16.xml" Id="R3f9046a9925347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fab28f640584fb5" /><Relationship Type="http://schemas.openxmlformats.org/officeDocument/2006/relationships/notesSlide" Target="/ppt/notesSlides/notesSlide17.xml" Id="R24d6b2bf449b490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a568969c5604b2b" /><Relationship Type="http://schemas.openxmlformats.org/officeDocument/2006/relationships/image" Target="/ppt/media/image.png" Id="Rf2530ca5de9c4754" /><Relationship Type="http://schemas.openxmlformats.org/officeDocument/2006/relationships/chart" Target="/ppt/slides/charts/chart1.xml" Id="R923e88ee83154151" /><Relationship Type="http://schemas.openxmlformats.org/officeDocument/2006/relationships/notesSlide" Target="/ppt/notesSlides/notesSlide18.xml" Id="Ra2670a6f94ec40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a58930c20b44b1c" /><Relationship Type="http://schemas.openxmlformats.org/officeDocument/2006/relationships/chart" Target="/ppt/slides/charts/chart2.xml" Id="R263fd58445d544ea" /><Relationship Type="http://schemas.openxmlformats.org/officeDocument/2006/relationships/notesSlide" Target="/ppt/notesSlides/notesSlide19.xml" Id="Rdfaa2eaad4ca46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d0ccf538aa146bb" /><Relationship Type="http://schemas.openxmlformats.org/officeDocument/2006/relationships/notesSlide" Target="/ppt/notesSlides/notesSlide20.xml" Id="R3aae53707f3c4c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7adee725347485c" /><Relationship Type="http://schemas.openxmlformats.org/officeDocument/2006/relationships/image" Target="/ppt/media/image2.png" Id="R2f1492a170ef41ee" /><Relationship Type="http://schemas.openxmlformats.org/officeDocument/2006/relationships/notesSlide" Target="/ppt/notesSlides/notesSlide21.xml" Id="R42bee2c4bbb24b3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4595679292c44cb" /><Relationship Type="http://schemas.openxmlformats.org/officeDocument/2006/relationships/notesSlide" Target="/ppt/notesSlides/notesSlide22.xml" Id="R804314c1aec548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8fcfbb6a0b84241" /><Relationship Type="http://schemas.openxmlformats.org/officeDocument/2006/relationships/notesSlide" Target="/ppt/notesSlides/notesSlide23.xml" Id="R6042a2e5502048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dbf66a6ec724805" /><Relationship Type="http://schemas.openxmlformats.org/officeDocument/2006/relationships/image" Target="/ppt/media/image3.png" Id="Rf27f3625fec84c21" /><Relationship Type="http://schemas.openxmlformats.org/officeDocument/2006/relationships/notesSlide" Target="/ppt/notesSlides/notesSlide24.xml" Id="R85a58d712ffd42a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5a6f7abb1d74562" /><Relationship Type="http://schemas.openxmlformats.org/officeDocument/2006/relationships/chart" Target="/ppt/slides/charts/chart3.xml" Id="Rc68e38104b624271" /><Relationship Type="http://schemas.openxmlformats.org/officeDocument/2006/relationships/notesSlide" Target="/ppt/notesSlides/notesSlide25.xml" Id="Re14f115925b94aa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f4660b0f45d4808" /><Relationship Type="http://schemas.openxmlformats.org/officeDocument/2006/relationships/notesSlide" Target="/ppt/notesSlides/notesSlide26.xml" Id="R610785bafe9d47a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82679f3cb8b4fd3" /><Relationship Type="http://schemas.openxmlformats.org/officeDocument/2006/relationships/notesSlide" Target="/ppt/notesSlides/notesSlide27.xml" Id="Rb09279f3cbc24d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7422695321a44ee" /><Relationship Type="http://schemas.openxmlformats.org/officeDocument/2006/relationships/notesSlide" Target="/ppt/notesSlides/notesSlide28.xml" Id="R38f69c3e10154f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e62cf8a21fd4683" /><Relationship Type="http://schemas.openxmlformats.org/officeDocument/2006/relationships/notesSlide" Target="/ppt/notesSlides/notesSlide29.xml" Id="R2eccf5d380ee45a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cb47945eb82401f" /><Relationship Type="http://schemas.openxmlformats.org/officeDocument/2006/relationships/notesSlide" Target="/ppt/notesSlides/notesSlide30.xml" Id="R1116161a4e5f469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674da972b7545c2" /><Relationship Type="http://schemas.openxmlformats.org/officeDocument/2006/relationships/notesSlide" Target="/ppt/notesSlides/notesSlide31.xml" Id="Rd6626c58be984d4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f9e1d5f12ea42c1" /><Relationship Type="http://schemas.openxmlformats.org/officeDocument/2006/relationships/notesSlide" Target="/ppt/notesSlides/notesSlide32.xml" Id="R608f54c8fbe4415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3902e81c7ec4a87" /><Relationship Type="http://schemas.openxmlformats.org/officeDocument/2006/relationships/notesSlide" Target="/ppt/notesSlides/notesSlide33.xml" Id="R0f8ffc27cf284f1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c9b6d700c404266" /><Relationship Type="http://schemas.openxmlformats.org/officeDocument/2006/relationships/notesSlide" Target="/ppt/notesSlides/notesSlide34.xml" Id="R85a0d8e6e6ee4a7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1EBADBA0-CC6A-4AF9-A75B-70D3155C49BC}"/>
              </a:ext>
            </a:extLst>
          </p:cNvPr>
          <p:cNvPicPr>
            <a:picLocks xmlns:a="http://schemas.openxmlformats.org/drawingml/2006/main" noChangeAspect="1"/>
          </p:cNvPicPr>
          <p:nvPr/>
        </p:nvPicPr>
        <p:blipFill>
          <a:blip xmlns:r="http://schemas.openxmlformats.org/officeDocument/2006/relationships" xmlns:a="http://schemas.openxmlformats.org/drawingml/2006/main" r:embed="R99664d9820c74f4f"/>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4BE41DA-BD6C-4265-9D5E-041B03D995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E0E56F-B771-4CC1-B1EB-A6F4A301EBD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FA6830F2-E39F-480B-9B1A-7B1EA37887CD}"/>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FFAF9C11-7463-47FD-B87C-8706B0FE734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C830B3C5-BAAA-41D0-8166-40104090AB0B}"/>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67989AA9-6092-4BE7-AF23-F41DB4EA92A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is a protein linker?</a:t>
            </a:r>
          </a:p>
        </p:txBody>
      </p:sp>
      <p:sp>
        <p:nvSpPr>
          <p:cNvPr id="7" name="">
            <a:extLst xmlns:a="http://schemas.openxmlformats.org/drawingml/2006/main">
              <a:ext uri="{FF2B5EF4-FFF2-40B4-BE49-F238E27FC236}">
                <a16:creationId xmlns:a16="http://schemas.microsoft.com/office/drawing/2014/main" id="{7DC04C14-BA5F-4809-ADB6-2787C382D2F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between domains that influences their separation, relative motion, and opportunity to interact</a:t>
            </a:r>
          </a:p>
        </p:txBody>
      </p:sp>
      <p:sp>
        <p:nvSpPr>
          <p:cNvPr id="8" name="">
            <a:extLst xmlns:a="http://schemas.openxmlformats.org/drawingml/2006/main">
              <a:ext uri="{FF2B5EF4-FFF2-40B4-BE49-F238E27FC236}">
                <a16:creationId xmlns:a16="http://schemas.microsoft.com/office/drawing/2014/main" id="{42F4D3E0-E718-429A-BD01-1D077E27BCD4}"/>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A3EF341B-DA7B-4901-8428-399B77BE2661}"/>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0E6A3926-D7C0-4A52-9790-59516EDEBCF1}"/>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35217675-794B-41BB-AC4D-5CF63A000C8D}"/>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4F80A761-64F1-4E82-9483-C9763A1EB1CD}"/>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4D014219-9FCD-4A21-B8E1-D7CA961B76AB}"/>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99A2487A-6752-4646-8204-374DE061F3BB}"/>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1DA3ECB1-E8B5-4CEA-B6F7-98A726B06589}"/>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52ADF4E5-1964-4501-BB2D-B36A20559B72}"/>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40C63498-90E3-46E0-9B03-9C8D1A5E0428}"/>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E32DA3CB-A80B-450D-8BA9-F18F61446DB6}"/>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7162A2ED-AFEE-44C1-8FFA-DB7BFF7B1DE0}"/>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0F517950-9967-4C19-B753-1AEF3949D103}"/>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5489C065-D93C-4640-BDB3-1F8278075204}"/>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D32669C5-B536-41E3-BCFE-8EB799D9DD71}"/>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C6BBE216-C34C-4B14-B34E-BA17949D9050}"/>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3DFD6D8B-7789-49D7-9CED-82F6329ADA5A}"/>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4C489858-B39C-4F71-93D8-19B8E2453DB5}"/>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ED6B71BD-432B-4C62-8BFC-2061375FE81A}"/>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B819F738-3BE1-4A42-99D0-89A8F9D77999}"/>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A2DE1BF6-6BCA-419D-82A8-39251AC4E0E9}"/>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A4DFBF35-37E8-47FF-85BE-8B7D2FBA9F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008FCED-DCF3-4AB3-A718-B6C0B8D27AE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2509935-4CDA-4ECC-89CE-F51E17AD74CB}"/>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LITERATURE</a:t>
            </a:r>
          </a:p>
        </p:txBody>
      </p:sp>
      <p:sp>
        <p:nvSpPr>
          <p:cNvPr id="4" name="Rectangle 3">
            <a:extLst xmlns:a="http://schemas.openxmlformats.org/drawingml/2006/main">
              <a:ext uri="{FF2B5EF4-FFF2-40B4-BE49-F238E27FC236}">
                <a16:creationId xmlns:a16="http://schemas.microsoft.com/office/drawing/2014/main" id="{436202E4-0BA8-48EB-89F8-CEE08B85AAA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literature: LINKER (2000), SynLinker (2015), DFLpred (2016), TransDFL (2023), Li et al. (2026)</a:t>
            </a:r>
          </a:p>
        </p:txBody>
      </p:sp>
      <p:sp>
        <p:nvSpPr>
          <p:cNvPr id="5" name="Rectangle 4">
            <a:extLst xmlns:a="http://schemas.openxmlformats.org/drawingml/2006/main">
              <a:ext uri="{FF2B5EF4-FFF2-40B4-BE49-F238E27FC236}">
                <a16:creationId xmlns:a16="http://schemas.microsoft.com/office/drawing/2014/main" id="{675AD153-EE02-4B63-817B-EB027871D7C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Rectangle 5">
            <a:extLst xmlns:a="http://schemas.openxmlformats.org/drawingml/2006/main">
              <a:ext uri="{FF2B5EF4-FFF2-40B4-BE49-F238E27FC236}">
                <a16:creationId xmlns:a16="http://schemas.microsoft.com/office/drawing/2014/main" id="{B34F0E24-FB36-4307-B721-AD966D6F89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Published methods span several linker tasks</a:t>
            </a:r>
          </a:p>
        </p:txBody>
      </p:sp>
      <p:sp>
        <p:nvSpPr>
          <p:cNvPr id="7" name="Rectangle 6">
            <a:extLst xmlns:a="http://schemas.openxmlformats.org/drawingml/2006/main">
              <a:ext uri="{FF2B5EF4-FFF2-40B4-BE49-F238E27FC236}">
                <a16:creationId xmlns:a16="http://schemas.microsoft.com/office/drawing/2014/main" id="{F3AACC7A-E7E2-486F-B915-2ABA076FEEA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Generation, retrieval, residue detection, and one-system functional modelling solve different problems</a:t>
            </a:r>
          </a:p>
        </p:txBody>
      </p:sp>
      <p:sp>
        <p:nvSpPr>
          <p:cNvPr id="8" name="Straight Connector 7">
            <a:extLst xmlns:a="http://schemas.openxmlformats.org/drawingml/2006/main">
              <a:ext uri="{FF2B5EF4-FFF2-40B4-BE49-F238E27FC236}">
                <a16:creationId xmlns:a16="http://schemas.microsoft.com/office/drawing/2014/main" id="{6A1C0DCD-EE92-4AB8-856C-A6E0771E80C6}"/>
              </a:ext>
            </a:extLst>
          </p:cNvPr>
          <p:cNvSpPr>
            <a:spLocks xmlns:a="http://schemas.openxmlformats.org/drawingml/2006/main" noGrp="1"/>
          </p:cNvSpPr>
          <p:nvPr/>
        </p:nvSpPr>
        <p:spPr>
          <a:xfrm xmlns:a="http://schemas.openxmlformats.org/drawingml/2006/main">
            <a:off x="952500" y="3171825"/>
            <a:ext cx="10191750" cy="0"/>
          </a:xfrm>
          <a:prstGeom xmlns:a="http://schemas.openxmlformats.org/drawingml/2006/main" prst="line">
            <a:avLst/>
          </a:prstGeom>
          <a:noFill xmlns:a="http://schemas.openxmlformats.org/drawingml/2006/main"/>
          <a:ln xmlns:a="http://schemas.openxmlformats.org/drawingml/2006/main" w="38100">
            <a:solidFill>
              <a:srgbClr val="29433A"/>
            </a:solidFill>
            <a:prstDash val="solid"/>
          </a:ln>
        </p:spPr>
      </p:sp>
      <p:sp>
        <p:nvSpPr>
          <p:cNvPr id="9" name="Oval 8">
            <a:extLst xmlns:a="http://schemas.openxmlformats.org/drawingml/2006/main">
              <a:ext uri="{FF2B5EF4-FFF2-40B4-BE49-F238E27FC236}">
                <a16:creationId xmlns:a16="http://schemas.microsoft.com/office/drawing/2014/main" id="{1736DFA6-317A-47B7-AE6D-EA5EC007E39E}"/>
              </a:ext>
            </a:extLst>
          </p:cNvPr>
          <p:cNvSpPr>
            <a:spLocks xmlns:a="http://schemas.openxmlformats.org/drawingml/2006/main" noGrp="1"/>
          </p:cNvSpPr>
          <p:nvPr/>
        </p:nvSpPr>
        <p:spPr>
          <a:xfrm xmlns:a="http://schemas.openxmlformats.org/drawingml/2006/main">
            <a:off x="952500" y="2952750"/>
            <a:ext cx="438150" cy="438150"/>
          </a:xfrm>
          <a:prstGeom xmlns:a="http://schemas.openxmlformats.org/drawingml/2006/main" prst="ellipse">
            <a:avLst/>
          </a:prstGeom>
          <a:solidFill xmlns:a="http://schemas.openxmlformats.org/drawingml/2006/main">
            <a:srgbClr val="4E9BEC"/>
          </a:solidFill>
          <a:ln xmlns:a="http://schemas.openxmlformats.org/drawingml/2006/main" w="19050">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C3BF08C5-DEBE-40E8-A8E5-8105FF5FBA3C}"/>
              </a:ext>
            </a:extLst>
          </p:cNvPr>
          <p:cNvSpPr>
            <a:spLocks xmlns:a="http://schemas.openxmlformats.org/drawingml/2006/main" noGrp="1"/>
          </p:cNvSpPr>
          <p:nvPr/>
        </p:nvSpPr>
        <p:spPr>
          <a:xfrm xmlns:a="http://schemas.openxmlformats.org/drawingml/2006/main">
            <a:off x="8572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4E9BEC"/>
                </a:solidFill>
                <a:latin typeface="Arial"/>
                <a:ea typeface="Arial"/>
                <a:cs typeface="Arial"/>
              </a:defRPr>
            </a:defPPr>
            <a:lvl1pPr algn="ctr">
              <a:buNone/>
              <a:defRPr sz="1275" b="1" i="0">
                <a:solidFill>
                  <a:srgbClr val="4E9BEC"/>
                </a:solidFill>
                <a:latin typeface="Arial"/>
                <a:ea typeface="Arial"/>
                <a:cs typeface="Arial"/>
              </a:defRPr>
            </a:lvl1pPr>
            <a:lvl2pPr algn="ctr">
              <a:buNone/>
              <a:defRPr sz="1275" b="1" i="0">
                <a:solidFill>
                  <a:srgbClr val="4E9BEC"/>
                </a:solidFill>
                <a:latin typeface="Arial"/>
                <a:ea typeface="Arial"/>
                <a:cs typeface="Arial"/>
              </a:defRPr>
            </a:lvl2pPr>
            <a:lvl3pPr algn="ctr">
              <a:buNone/>
              <a:defRPr sz="1275" b="1" i="0">
                <a:solidFill>
                  <a:srgbClr val="4E9BEC"/>
                </a:solidFill>
                <a:latin typeface="Arial"/>
                <a:ea typeface="Arial"/>
                <a:cs typeface="Arial"/>
              </a:defRPr>
            </a:lvl3pPr>
            <a:lvl4pPr algn="ctr">
              <a:buNone/>
              <a:defRPr sz="1275" b="1" i="0">
                <a:solidFill>
                  <a:srgbClr val="4E9BEC"/>
                </a:solidFill>
                <a:latin typeface="Arial"/>
                <a:ea typeface="Arial"/>
                <a:cs typeface="Arial"/>
              </a:defRPr>
            </a:lvl4pPr>
            <a:lvl5pPr algn="ctr">
              <a:buNone/>
              <a:defRPr sz="1275" b="1" i="0">
                <a:solidFill>
                  <a:srgbClr val="4E9BEC"/>
                </a:solidFill>
                <a:latin typeface="Arial"/>
                <a:ea typeface="Arial"/>
                <a:cs typeface="Arial"/>
              </a:defRPr>
            </a:lvl5pPr>
            <a:lvl6pPr algn="ctr">
              <a:buNone/>
              <a:defRPr sz="1275" b="1" i="0">
                <a:solidFill>
                  <a:srgbClr val="4E9BEC"/>
                </a:solidFill>
                <a:latin typeface="Arial"/>
                <a:ea typeface="Arial"/>
                <a:cs typeface="Arial"/>
              </a:defRPr>
            </a:lvl6pPr>
            <a:lvl7pPr algn="ctr">
              <a:buNone/>
              <a:defRPr sz="1275" b="1" i="0">
                <a:solidFill>
                  <a:srgbClr val="4E9BEC"/>
                </a:solidFill>
                <a:latin typeface="Arial"/>
                <a:ea typeface="Arial"/>
                <a:cs typeface="Arial"/>
              </a:defRPr>
            </a:lvl7pPr>
            <a:lvl8pPr algn="ctr">
              <a:buNone/>
              <a:defRPr sz="1275" b="1" i="0">
                <a:solidFill>
                  <a:srgbClr val="4E9BEC"/>
                </a:solidFill>
                <a:latin typeface="Arial"/>
                <a:ea typeface="Arial"/>
                <a:cs typeface="Arial"/>
              </a:defRPr>
            </a:lvl8pPr>
            <a:lvl9pPr algn="ctr">
              <a:buNone/>
              <a:defRPr sz="1275" b="1" i="0">
                <a:solidFill>
                  <a:srgbClr val="4E9BEC"/>
                </a:solidFill>
                <a:latin typeface="Arial"/>
                <a:ea typeface="Arial"/>
                <a:cs typeface="Arial"/>
              </a:defRPr>
            </a:lvl9pPr>
          </a:lstStyle>
          <a:p xmlns:a="http://schemas.openxmlformats.org/drawingml/2006/main">
            <a:pPr algn="ctr">
              <a:buNone/>
              <a:defRPr sz="1275" b="1" i="0">
                <a:solidFill>
                  <a:srgbClr val="4E9BEC"/>
                </a:solidFill>
                <a:latin typeface="Arial"/>
                <a:ea typeface="Arial"/>
                <a:cs typeface="Arial"/>
              </a:defRPr>
            </a:pPr>
            <a:r>
              <a:rPr sz="1275" b="1" i="0">
                <a:solidFill>
                  <a:srgbClr val="4E9BEC"/>
                </a:solidFill>
                <a:latin typeface="Arial"/>
                <a:ea typeface="Arial"/>
                <a:cs typeface="Arial"/>
              </a:rPr>
              <a:t>2000</a:t>
            </a:r>
          </a:p>
        </p:txBody>
      </p:sp>
      <p:sp>
        <p:nvSpPr>
          <p:cNvPr id="11" name="Rectangle 10">
            <a:extLst xmlns:a="http://schemas.openxmlformats.org/drawingml/2006/main">
              <a:ext uri="{FF2B5EF4-FFF2-40B4-BE49-F238E27FC236}">
                <a16:creationId xmlns:a16="http://schemas.microsoft.com/office/drawing/2014/main" id="{EDC276DC-5FA6-44AD-830E-950B1C069057}"/>
              </a:ext>
            </a:extLst>
          </p:cNvPr>
          <p:cNvSpPr>
            <a:spLocks xmlns:a="http://schemas.openxmlformats.org/drawingml/2006/main" noGrp="1"/>
          </p:cNvSpPr>
          <p:nvPr/>
        </p:nvSpPr>
        <p:spPr>
          <a:xfrm xmlns:a="http://schemas.openxmlformats.org/drawingml/2006/main">
            <a:off x="4000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LINKER</a:t>
            </a:r>
          </a:p>
        </p:txBody>
      </p:sp>
      <p:sp>
        <p:nvSpPr>
          <p:cNvPr id="12" name="Rectangle 11">
            <a:extLst xmlns:a="http://schemas.openxmlformats.org/drawingml/2006/main">
              <a:ext uri="{FF2B5EF4-FFF2-40B4-BE49-F238E27FC236}">
                <a16:creationId xmlns:a16="http://schemas.microsoft.com/office/drawing/2014/main" id="{8C036DA3-FB5F-432E-985B-87A32203D8A2}"/>
              </a:ext>
            </a:extLst>
          </p:cNvPr>
          <p:cNvSpPr>
            <a:spLocks xmlns:a="http://schemas.openxmlformats.org/drawingml/2006/main" noGrp="1"/>
          </p:cNvSpPr>
          <p:nvPr/>
        </p:nvSpPr>
        <p:spPr>
          <a:xfrm xmlns:a="http://schemas.openxmlformats.org/drawingml/2006/main">
            <a:off x="2286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PDB loop-derived</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sequence generation</a:t>
            </a:r>
          </a:p>
        </p:txBody>
      </p:sp>
      <p:sp>
        <p:nvSpPr>
          <p:cNvPr id="13" name="Oval 12">
            <a:extLst xmlns:a="http://schemas.openxmlformats.org/drawingml/2006/main">
              <a:ext uri="{FF2B5EF4-FFF2-40B4-BE49-F238E27FC236}">
                <a16:creationId xmlns:a16="http://schemas.microsoft.com/office/drawing/2014/main" id="{7DF6BD63-9C3D-47AF-AEA5-58D167EA5043}"/>
              </a:ext>
            </a:extLst>
          </p:cNvPr>
          <p:cNvSpPr>
            <a:spLocks xmlns:a="http://schemas.openxmlformats.org/drawingml/2006/main" noGrp="1"/>
          </p:cNvSpPr>
          <p:nvPr/>
        </p:nvSpPr>
        <p:spPr>
          <a:xfrm xmlns:a="http://schemas.openxmlformats.org/drawingml/2006/main">
            <a:off x="3457575" y="2952750"/>
            <a:ext cx="438150" cy="438150"/>
          </a:xfrm>
          <a:prstGeom xmlns:a="http://schemas.openxmlformats.org/drawingml/2006/main" prst="ellipse">
            <a:avLst/>
          </a:prstGeom>
          <a:solidFill xmlns:a="http://schemas.openxmlformats.org/drawingml/2006/main">
            <a:srgbClr val="2DBD73"/>
          </a:solidFill>
          <a:ln xmlns:a="http://schemas.openxmlformats.org/drawingml/2006/main" w="19050">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74931553-FA83-483F-8496-07B0D98C9FC3}"/>
              </a:ext>
            </a:extLst>
          </p:cNvPr>
          <p:cNvSpPr>
            <a:spLocks xmlns:a="http://schemas.openxmlformats.org/drawingml/2006/main" noGrp="1"/>
          </p:cNvSpPr>
          <p:nvPr/>
        </p:nvSpPr>
        <p:spPr>
          <a:xfrm xmlns:a="http://schemas.openxmlformats.org/drawingml/2006/main">
            <a:off x="336232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2DBD73"/>
                </a:solidFill>
                <a:latin typeface="Arial"/>
                <a:ea typeface="Arial"/>
                <a:cs typeface="Arial"/>
              </a:defRPr>
            </a:defPPr>
            <a:lvl1pPr algn="ctr">
              <a:buNone/>
              <a:defRPr sz="1275" b="1" i="0">
                <a:solidFill>
                  <a:srgbClr val="2DBD73"/>
                </a:solidFill>
                <a:latin typeface="Arial"/>
                <a:ea typeface="Arial"/>
                <a:cs typeface="Arial"/>
              </a:defRPr>
            </a:lvl1pPr>
            <a:lvl2pPr algn="ctr">
              <a:buNone/>
              <a:defRPr sz="1275" b="1" i="0">
                <a:solidFill>
                  <a:srgbClr val="2DBD73"/>
                </a:solidFill>
                <a:latin typeface="Arial"/>
                <a:ea typeface="Arial"/>
                <a:cs typeface="Arial"/>
              </a:defRPr>
            </a:lvl2pPr>
            <a:lvl3pPr algn="ctr">
              <a:buNone/>
              <a:defRPr sz="1275" b="1" i="0">
                <a:solidFill>
                  <a:srgbClr val="2DBD73"/>
                </a:solidFill>
                <a:latin typeface="Arial"/>
                <a:ea typeface="Arial"/>
                <a:cs typeface="Arial"/>
              </a:defRPr>
            </a:lvl3pPr>
            <a:lvl4pPr algn="ctr">
              <a:buNone/>
              <a:defRPr sz="1275" b="1" i="0">
                <a:solidFill>
                  <a:srgbClr val="2DBD73"/>
                </a:solidFill>
                <a:latin typeface="Arial"/>
                <a:ea typeface="Arial"/>
                <a:cs typeface="Arial"/>
              </a:defRPr>
            </a:lvl4pPr>
            <a:lvl5pPr algn="ctr">
              <a:buNone/>
              <a:defRPr sz="1275" b="1" i="0">
                <a:solidFill>
                  <a:srgbClr val="2DBD73"/>
                </a:solidFill>
                <a:latin typeface="Arial"/>
                <a:ea typeface="Arial"/>
                <a:cs typeface="Arial"/>
              </a:defRPr>
            </a:lvl5pPr>
            <a:lvl6pPr algn="ctr">
              <a:buNone/>
              <a:defRPr sz="1275" b="1" i="0">
                <a:solidFill>
                  <a:srgbClr val="2DBD73"/>
                </a:solidFill>
                <a:latin typeface="Arial"/>
                <a:ea typeface="Arial"/>
                <a:cs typeface="Arial"/>
              </a:defRPr>
            </a:lvl6pPr>
            <a:lvl7pPr algn="ctr">
              <a:buNone/>
              <a:defRPr sz="1275" b="1" i="0">
                <a:solidFill>
                  <a:srgbClr val="2DBD73"/>
                </a:solidFill>
                <a:latin typeface="Arial"/>
                <a:ea typeface="Arial"/>
                <a:cs typeface="Arial"/>
              </a:defRPr>
            </a:lvl7pPr>
            <a:lvl8pPr algn="ctr">
              <a:buNone/>
              <a:defRPr sz="1275" b="1" i="0">
                <a:solidFill>
                  <a:srgbClr val="2DBD73"/>
                </a:solidFill>
                <a:latin typeface="Arial"/>
                <a:ea typeface="Arial"/>
                <a:cs typeface="Arial"/>
              </a:defRPr>
            </a:lvl8pPr>
            <a:lvl9pPr algn="ctr">
              <a:buNone/>
              <a:defRPr sz="1275" b="1" i="0">
                <a:solidFill>
                  <a:srgbClr val="2DBD73"/>
                </a:solidFill>
                <a:latin typeface="Arial"/>
                <a:ea typeface="Arial"/>
                <a:cs typeface="Arial"/>
              </a:defRPr>
            </a:lvl9pPr>
          </a:lstStyle>
          <a:p xmlns:a="http://schemas.openxmlformats.org/drawingml/2006/main">
            <a:pPr algn="ctr">
              <a:buNone/>
              <a:defRPr sz="1275" b="1" i="0">
                <a:solidFill>
                  <a:srgbClr val="2DBD73"/>
                </a:solidFill>
                <a:latin typeface="Arial"/>
                <a:ea typeface="Arial"/>
                <a:cs typeface="Arial"/>
              </a:defRPr>
            </a:pPr>
            <a:r>
              <a:rPr sz="1275" b="1" i="0">
                <a:solidFill>
                  <a:srgbClr val="2DBD73"/>
                </a:solidFill>
                <a:latin typeface="Arial"/>
                <a:ea typeface="Arial"/>
                <a:cs typeface="Arial"/>
              </a:rPr>
              <a:t>2015</a:t>
            </a:r>
          </a:p>
        </p:txBody>
      </p:sp>
      <p:sp>
        <p:nvSpPr>
          <p:cNvPr id="15" name="Rectangle 14">
            <a:extLst xmlns:a="http://schemas.openxmlformats.org/drawingml/2006/main">
              <a:ext uri="{FF2B5EF4-FFF2-40B4-BE49-F238E27FC236}">
                <a16:creationId xmlns:a16="http://schemas.microsoft.com/office/drawing/2014/main" id="{B9AB239F-668A-48CD-933C-0DAD1D6C970C}"/>
              </a:ext>
            </a:extLst>
          </p:cNvPr>
          <p:cNvSpPr>
            <a:spLocks xmlns:a="http://schemas.openxmlformats.org/drawingml/2006/main" noGrp="1"/>
          </p:cNvSpPr>
          <p:nvPr/>
        </p:nvSpPr>
        <p:spPr>
          <a:xfrm xmlns:a="http://schemas.openxmlformats.org/drawingml/2006/main">
            <a:off x="290512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SynLinker</a:t>
            </a:r>
          </a:p>
        </p:txBody>
      </p:sp>
      <p:sp>
        <p:nvSpPr>
          <p:cNvPr id="16" name="Rectangle 15">
            <a:extLst xmlns:a="http://schemas.openxmlformats.org/drawingml/2006/main">
              <a:ext uri="{FF2B5EF4-FFF2-40B4-BE49-F238E27FC236}">
                <a16:creationId xmlns:a16="http://schemas.microsoft.com/office/drawing/2014/main" id="{37BEDD6A-4214-432F-87DD-F05A2E1C9112}"/>
              </a:ext>
            </a:extLst>
          </p:cNvPr>
          <p:cNvSpPr>
            <a:spLocks xmlns:a="http://schemas.openxmlformats.org/drawingml/2006/main" noGrp="1"/>
          </p:cNvSpPr>
          <p:nvPr/>
        </p:nvSpPr>
        <p:spPr>
          <a:xfrm xmlns:a="http://schemas.openxmlformats.org/drawingml/2006/main">
            <a:off x="273367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2,260 linkers +</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fusion construction</a:t>
            </a:r>
          </a:p>
        </p:txBody>
      </p:sp>
      <p:sp>
        <p:nvSpPr>
          <p:cNvPr id="17" name="Oval 16">
            <a:extLst xmlns:a="http://schemas.openxmlformats.org/drawingml/2006/main">
              <a:ext uri="{FF2B5EF4-FFF2-40B4-BE49-F238E27FC236}">
                <a16:creationId xmlns:a16="http://schemas.microsoft.com/office/drawing/2014/main" id="{D294CAE0-CEC1-4DBD-8C1C-1135F039D852}"/>
              </a:ext>
            </a:extLst>
          </p:cNvPr>
          <p:cNvSpPr>
            <a:spLocks xmlns:a="http://schemas.openxmlformats.org/drawingml/2006/main" noGrp="1"/>
          </p:cNvSpPr>
          <p:nvPr/>
        </p:nvSpPr>
        <p:spPr>
          <a:xfrm xmlns:a="http://schemas.openxmlformats.org/drawingml/2006/main">
            <a:off x="5962650" y="2952750"/>
            <a:ext cx="438150" cy="438150"/>
          </a:xfrm>
          <a:prstGeom xmlns:a="http://schemas.openxmlformats.org/drawingml/2006/main" prst="ellipse">
            <a:avLst/>
          </a:prstGeom>
          <a:solidFill xmlns:a="http://schemas.openxmlformats.org/drawingml/2006/main">
            <a:srgbClr val="E84AAB"/>
          </a:solidFill>
          <a:ln xmlns:a="http://schemas.openxmlformats.org/drawingml/2006/main" w="19050">
            <a:solidFill>
              <a:srgbClr val="FFFFFF"/>
            </a:solidFill>
            <a:prstDash val="solid"/>
          </a:ln>
        </p:spPr>
      </p:sp>
      <p:sp>
        <p:nvSpPr>
          <p:cNvPr id="18" name="Rectangle 17">
            <a:extLst xmlns:a="http://schemas.openxmlformats.org/drawingml/2006/main">
              <a:ext uri="{FF2B5EF4-FFF2-40B4-BE49-F238E27FC236}">
                <a16:creationId xmlns:a16="http://schemas.microsoft.com/office/drawing/2014/main" id="{491D1317-B88F-4EA1-8BA4-B001CD35FBB2}"/>
              </a:ext>
            </a:extLst>
          </p:cNvPr>
          <p:cNvSpPr>
            <a:spLocks xmlns:a="http://schemas.openxmlformats.org/drawingml/2006/main" noGrp="1"/>
          </p:cNvSpPr>
          <p:nvPr/>
        </p:nvSpPr>
        <p:spPr>
          <a:xfrm xmlns:a="http://schemas.openxmlformats.org/drawingml/2006/main">
            <a:off x="586740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2016</a:t>
            </a:r>
          </a:p>
        </p:txBody>
      </p:sp>
      <p:sp>
        <p:nvSpPr>
          <p:cNvPr id="19" name="Rectangle 18">
            <a:extLst xmlns:a="http://schemas.openxmlformats.org/drawingml/2006/main">
              <a:ext uri="{FF2B5EF4-FFF2-40B4-BE49-F238E27FC236}">
                <a16:creationId xmlns:a16="http://schemas.microsoft.com/office/drawing/2014/main" id="{3C9E48FE-E859-49DF-A32C-ED851161EA9F}"/>
              </a:ext>
            </a:extLst>
          </p:cNvPr>
          <p:cNvSpPr>
            <a:spLocks xmlns:a="http://schemas.openxmlformats.org/drawingml/2006/main" noGrp="1"/>
          </p:cNvSpPr>
          <p:nvPr/>
        </p:nvSpPr>
        <p:spPr>
          <a:xfrm xmlns:a="http://schemas.openxmlformats.org/drawingml/2006/main">
            <a:off x="541020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DFLpred</a:t>
            </a:r>
          </a:p>
        </p:txBody>
      </p:sp>
      <p:sp>
        <p:nvSpPr>
          <p:cNvPr id="20" name="Rectangle 19">
            <a:extLst xmlns:a="http://schemas.openxmlformats.org/drawingml/2006/main">
              <a:ext uri="{FF2B5EF4-FFF2-40B4-BE49-F238E27FC236}">
                <a16:creationId xmlns:a16="http://schemas.microsoft.com/office/drawing/2014/main" id="{52BBA912-8A55-409F-8AF7-C4D0C0EEFD0F}"/>
              </a:ext>
            </a:extLst>
          </p:cNvPr>
          <p:cNvSpPr>
            <a:spLocks xmlns:a="http://schemas.openxmlformats.org/drawingml/2006/main" noGrp="1"/>
          </p:cNvSpPr>
          <p:nvPr/>
        </p:nvSpPr>
        <p:spPr>
          <a:xfrm xmlns:a="http://schemas.openxmlformats.org/drawingml/2006/main">
            <a:off x="523875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Per-residue</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propensity</a:t>
            </a:r>
          </a:p>
        </p:txBody>
      </p:sp>
      <p:sp>
        <p:nvSpPr>
          <p:cNvPr id="21" name="Oval 20">
            <a:extLst xmlns:a="http://schemas.openxmlformats.org/drawingml/2006/main">
              <a:ext uri="{FF2B5EF4-FFF2-40B4-BE49-F238E27FC236}">
                <a16:creationId xmlns:a16="http://schemas.microsoft.com/office/drawing/2014/main" id="{B534BC54-6ADC-4ED1-8E82-00DFBFF20ABA}"/>
              </a:ext>
            </a:extLst>
          </p:cNvPr>
          <p:cNvSpPr>
            <a:spLocks xmlns:a="http://schemas.openxmlformats.org/drawingml/2006/main" noGrp="1"/>
          </p:cNvSpPr>
          <p:nvPr/>
        </p:nvSpPr>
        <p:spPr>
          <a:xfrm xmlns:a="http://schemas.openxmlformats.org/drawingml/2006/main">
            <a:off x="8467725" y="2952750"/>
            <a:ext cx="438150" cy="438150"/>
          </a:xfrm>
          <a:prstGeom xmlns:a="http://schemas.openxmlformats.org/drawingml/2006/main" prst="ellipse">
            <a:avLst/>
          </a:prstGeom>
          <a:solidFill xmlns:a="http://schemas.openxmlformats.org/drawingml/2006/main">
            <a:srgbClr val="3FC6D6"/>
          </a:solidFill>
          <a:ln xmlns:a="http://schemas.openxmlformats.org/drawingml/2006/main" w="19050">
            <a:solidFill>
              <a:srgbClr val="FFFFFF"/>
            </a:solidFill>
            <a:prstDash val="solid"/>
          </a:ln>
        </p:spPr>
      </p:sp>
      <p:sp>
        <p:nvSpPr>
          <p:cNvPr id="22" name="Rectangle 21">
            <a:extLst xmlns:a="http://schemas.openxmlformats.org/drawingml/2006/main">
              <a:ext uri="{FF2B5EF4-FFF2-40B4-BE49-F238E27FC236}">
                <a16:creationId xmlns:a16="http://schemas.microsoft.com/office/drawing/2014/main" id="{5F1CED1E-E250-4943-9FD6-3C0875B438CE}"/>
              </a:ext>
            </a:extLst>
          </p:cNvPr>
          <p:cNvSpPr>
            <a:spLocks xmlns:a="http://schemas.openxmlformats.org/drawingml/2006/main" noGrp="1"/>
          </p:cNvSpPr>
          <p:nvPr/>
        </p:nvSpPr>
        <p:spPr>
          <a:xfrm xmlns:a="http://schemas.openxmlformats.org/drawingml/2006/main">
            <a:off x="837247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3FC6D6"/>
                </a:solidFill>
                <a:latin typeface="Arial"/>
                <a:ea typeface="Arial"/>
                <a:cs typeface="Arial"/>
              </a:defRPr>
            </a:defPPr>
            <a:lvl1pPr algn="ctr">
              <a:buNone/>
              <a:defRPr sz="1275" b="1" i="0">
                <a:solidFill>
                  <a:srgbClr val="3FC6D6"/>
                </a:solidFill>
                <a:latin typeface="Arial"/>
                <a:ea typeface="Arial"/>
                <a:cs typeface="Arial"/>
              </a:defRPr>
            </a:lvl1pPr>
            <a:lvl2pPr algn="ctr">
              <a:buNone/>
              <a:defRPr sz="1275" b="1" i="0">
                <a:solidFill>
                  <a:srgbClr val="3FC6D6"/>
                </a:solidFill>
                <a:latin typeface="Arial"/>
                <a:ea typeface="Arial"/>
                <a:cs typeface="Arial"/>
              </a:defRPr>
            </a:lvl2pPr>
            <a:lvl3pPr algn="ctr">
              <a:buNone/>
              <a:defRPr sz="1275" b="1" i="0">
                <a:solidFill>
                  <a:srgbClr val="3FC6D6"/>
                </a:solidFill>
                <a:latin typeface="Arial"/>
                <a:ea typeface="Arial"/>
                <a:cs typeface="Arial"/>
              </a:defRPr>
            </a:lvl3pPr>
            <a:lvl4pPr algn="ctr">
              <a:buNone/>
              <a:defRPr sz="1275" b="1" i="0">
                <a:solidFill>
                  <a:srgbClr val="3FC6D6"/>
                </a:solidFill>
                <a:latin typeface="Arial"/>
                <a:ea typeface="Arial"/>
                <a:cs typeface="Arial"/>
              </a:defRPr>
            </a:lvl4pPr>
            <a:lvl5pPr algn="ctr">
              <a:buNone/>
              <a:defRPr sz="1275" b="1" i="0">
                <a:solidFill>
                  <a:srgbClr val="3FC6D6"/>
                </a:solidFill>
                <a:latin typeface="Arial"/>
                <a:ea typeface="Arial"/>
                <a:cs typeface="Arial"/>
              </a:defRPr>
            </a:lvl5pPr>
            <a:lvl6pPr algn="ctr">
              <a:buNone/>
              <a:defRPr sz="1275" b="1" i="0">
                <a:solidFill>
                  <a:srgbClr val="3FC6D6"/>
                </a:solidFill>
                <a:latin typeface="Arial"/>
                <a:ea typeface="Arial"/>
                <a:cs typeface="Arial"/>
              </a:defRPr>
            </a:lvl6pPr>
            <a:lvl7pPr algn="ctr">
              <a:buNone/>
              <a:defRPr sz="1275" b="1" i="0">
                <a:solidFill>
                  <a:srgbClr val="3FC6D6"/>
                </a:solidFill>
                <a:latin typeface="Arial"/>
                <a:ea typeface="Arial"/>
                <a:cs typeface="Arial"/>
              </a:defRPr>
            </a:lvl7pPr>
            <a:lvl8pPr algn="ctr">
              <a:buNone/>
              <a:defRPr sz="1275" b="1" i="0">
                <a:solidFill>
                  <a:srgbClr val="3FC6D6"/>
                </a:solidFill>
                <a:latin typeface="Arial"/>
                <a:ea typeface="Arial"/>
                <a:cs typeface="Arial"/>
              </a:defRPr>
            </a:lvl8pPr>
            <a:lvl9pPr algn="ctr">
              <a:buNone/>
              <a:defRPr sz="1275" b="1" i="0">
                <a:solidFill>
                  <a:srgbClr val="3FC6D6"/>
                </a:solidFill>
                <a:latin typeface="Arial"/>
                <a:ea typeface="Arial"/>
                <a:cs typeface="Arial"/>
              </a:defRPr>
            </a:lvl9pPr>
          </a:lstStyle>
          <a:p xmlns:a="http://schemas.openxmlformats.org/drawingml/2006/main">
            <a:pPr algn="ctr">
              <a:buNone/>
              <a:defRPr sz="1275" b="1" i="0">
                <a:solidFill>
                  <a:srgbClr val="3FC6D6"/>
                </a:solidFill>
                <a:latin typeface="Arial"/>
                <a:ea typeface="Arial"/>
                <a:cs typeface="Arial"/>
              </a:defRPr>
            </a:pPr>
            <a:r>
              <a:rPr sz="1275" b="1" i="0">
                <a:solidFill>
                  <a:srgbClr val="3FC6D6"/>
                </a:solidFill>
                <a:latin typeface="Arial"/>
                <a:ea typeface="Arial"/>
                <a:cs typeface="Arial"/>
              </a:rPr>
              <a:t>2023</a:t>
            </a:r>
          </a:p>
        </p:txBody>
      </p:sp>
      <p:sp>
        <p:nvSpPr>
          <p:cNvPr id="23" name="Rectangle 22">
            <a:extLst xmlns:a="http://schemas.openxmlformats.org/drawingml/2006/main">
              <a:ext uri="{FF2B5EF4-FFF2-40B4-BE49-F238E27FC236}">
                <a16:creationId xmlns:a16="http://schemas.microsoft.com/office/drawing/2014/main" id="{5B855996-02DA-4CDB-8D38-E473CB4570EC}"/>
              </a:ext>
            </a:extLst>
          </p:cNvPr>
          <p:cNvSpPr>
            <a:spLocks xmlns:a="http://schemas.openxmlformats.org/drawingml/2006/main" noGrp="1"/>
          </p:cNvSpPr>
          <p:nvPr/>
        </p:nvSpPr>
        <p:spPr>
          <a:xfrm xmlns:a="http://schemas.openxmlformats.org/drawingml/2006/main">
            <a:off x="791527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TransDFL</a:t>
            </a:r>
          </a:p>
        </p:txBody>
      </p:sp>
      <p:sp>
        <p:nvSpPr>
          <p:cNvPr id="24" name="Rectangle 23">
            <a:extLst xmlns:a="http://schemas.openxmlformats.org/drawingml/2006/main">
              <a:ext uri="{FF2B5EF4-FFF2-40B4-BE49-F238E27FC236}">
                <a16:creationId xmlns:a16="http://schemas.microsoft.com/office/drawing/2014/main" id="{E420E45D-3C5F-4DF0-873B-2D1ADC0D39B4}"/>
              </a:ext>
            </a:extLst>
          </p:cNvPr>
          <p:cNvSpPr>
            <a:spLocks xmlns:a="http://schemas.openxmlformats.org/drawingml/2006/main" noGrp="1"/>
          </p:cNvSpPr>
          <p:nvPr/>
        </p:nvSpPr>
        <p:spPr>
          <a:xfrm xmlns:a="http://schemas.openxmlformats.org/drawingml/2006/main">
            <a:off x="774382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Transfer-learning</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identification</a:t>
            </a:r>
          </a:p>
        </p:txBody>
      </p:sp>
      <p:sp>
        <p:nvSpPr>
          <p:cNvPr id="25" name="Oval 24">
            <a:extLst xmlns:a="http://schemas.openxmlformats.org/drawingml/2006/main">
              <a:ext uri="{FF2B5EF4-FFF2-40B4-BE49-F238E27FC236}">
                <a16:creationId xmlns:a16="http://schemas.microsoft.com/office/drawing/2014/main" id="{83765B29-E2FB-4A49-9AE4-31FB14D84798}"/>
              </a:ext>
            </a:extLst>
          </p:cNvPr>
          <p:cNvSpPr>
            <a:spLocks xmlns:a="http://schemas.openxmlformats.org/drawingml/2006/main" noGrp="1"/>
          </p:cNvSpPr>
          <p:nvPr/>
        </p:nvSpPr>
        <p:spPr>
          <a:xfrm xmlns:a="http://schemas.openxmlformats.org/drawingml/2006/main">
            <a:off x="10972800" y="2952750"/>
            <a:ext cx="438150" cy="438150"/>
          </a:xfrm>
          <a:prstGeom xmlns:a="http://schemas.openxmlformats.org/drawingml/2006/main" prst="ellipse">
            <a:avLst/>
          </a:prstGeom>
          <a:solidFill xmlns:a="http://schemas.openxmlformats.org/drawingml/2006/main">
            <a:srgbClr val="E46760"/>
          </a:solidFill>
          <a:ln xmlns:a="http://schemas.openxmlformats.org/drawingml/2006/main" w="19050">
            <a:solidFill>
              <a:srgbClr val="FFFFFF"/>
            </a:solidFill>
            <a:prstDash val="solid"/>
          </a:ln>
        </p:spPr>
      </p:sp>
      <p:sp>
        <p:nvSpPr>
          <p:cNvPr id="26" name="Rectangle 25">
            <a:extLst xmlns:a="http://schemas.openxmlformats.org/drawingml/2006/main">
              <a:ext uri="{FF2B5EF4-FFF2-40B4-BE49-F238E27FC236}">
                <a16:creationId xmlns:a16="http://schemas.microsoft.com/office/drawing/2014/main" id="{0B2009A1-0503-47E8-B276-777FE4C274D2}"/>
              </a:ext>
            </a:extLst>
          </p:cNvPr>
          <p:cNvSpPr>
            <a:spLocks xmlns:a="http://schemas.openxmlformats.org/drawingml/2006/main" noGrp="1"/>
          </p:cNvSpPr>
          <p:nvPr/>
        </p:nvSpPr>
        <p:spPr>
          <a:xfrm xmlns:a="http://schemas.openxmlformats.org/drawingml/2006/main">
            <a:off x="108775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2026</a:t>
            </a:r>
          </a:p>
        </p:txBody>
      </p:sp>
      <p:sp>
        <p:nvSpPr>
          <p:cNvPr id="27" name="Rectangle 26">
            <a:extLst xmlns:a="http://schemas.openxmlformats.org/drawingml/2006/main">
              <a:ext uri="{FF2B5EF4-FFF2-40B4-BE49-F238E27FC236}">
                <a16:creationId xmlns:a16="http://schemas.microsoft.com/office/drawing/2014/main" id="{83FC075A-A29C-420E-A8FF-E23073E06114}"/>
              </a:ext>
            </a:extLst>
          </p:cNvPr>
          <p:cNvSpPr>
            <a:spLocks xmlns:a="http://schemas.openxmlformats.org/drawingml/2006/main" noGrp="1"/>
          </p:cNvSpPr>
          <p:nvPr/>
        </p:nvSpPr>
        <p:spPr>
          <a:xfrm xmlns:a="http://schemas.openxmlformats.org/drawingml/2006/main">
            <a:off x="104203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 et al.</a:t>
            </a:r>
          </a:p>
        </p:txBody>
      </p:sp>
      <p:sp>
        <p:nvSpPr>
          <p:cNvPr id="28" name="Rectangle 27">
            <a:extLst xmlns:a="http://schemas.openxmlformats.org/drawingml/2006/main">
              <a:ext uri="{FF2B5EF4-FFF2-40B4-BE49-F238E27FC236}">
                <a16:creationId xmlns:a16="http://schemas.microsoft.com/office/drawing/2014/main" id="{E7F2A9D7-C32C-42C6-8830-0BCE22BAB52C}"/>
              </a:ext>
            </a:extLst>
          </p:cNvPr>
          <p:cNvSpPr>
            <a:spLocks xmlns:a="http://schemas.openxmlformats.org/drawingml/2006/main" noGrp="1"/>
          </p:cNvSpPr>
          <p:nvPr/>
        </p:nvSpPr>
        <p:spPr>
          <a:xfrm xmlns:a="http://schemas.openxmlformats.org/drawingml/2006/main">
            <a:off x="102489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370-linker functional</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model for one fusion</a:t>
            </a:r>
          </a:p>
        </p:txBody>
      </p:sp>
      <p:sp>
        <p:nvSpPr>
          <p:cNvPr id="29" name="Straight Connector 28">
            <a:extLst xmlns:a="http://schemas.openxmlformats.org/drawingml/2006/main">
              <a:ext uri="{FF2B5EF4-FFF2-40B4-BE49-F238E27FC236}">
                <a16:creationId xmlns:a16="http://schemas.microsoft.com/office/drawing/2014/main" id="{0C0F1DC8-F415-4F52-BD0F-0059638BCE4A}"/>
              </a:ext>
            </a:extLst>
          </p:cNvPr>
          <p:cNvSpPr>
            <a:spLocks xmlns:a="http://schemas.openxmlformats.org/drawingml/2006/main" noGrp="1"/>
          </p:cNvSpPr>
          <p:nvPr/>
        </p:nvSpPr>
        <p:spPr>
          <a:xfrm xmlns:a="http://schemas.openxmlformats.org/drawingml/2006/main">
            <a:off x="1352550" y="5391150"/>
            <a:ext cx="94869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30" name="Rectangle 29">
            <a:extLst xmlns:a="http://schemas.openxmlformats.org/drawingml/2006/main">
              <a:ext uri="{FF2B5EF4-FFF2-40B4-BE49-F238E27FC236}">
                <a16:creationId xmlns:a16="http://schemas.microsoft.com/office/drawing/2014/main" id="{73E317F2-7DEB-452F-B39C-C9D175589C5A}"/>
              </a:ext>
            </a:extLst>
          </p:cNvPr>
          <p:cNvSpPr>
            <a:spLocks xmlns:a="http://schemas.openxmlformats.org/drawingml/2006/main" noGrp="1"/>
          </p:cNvSpPr>
          <p:nvPr/>
        </p:nvSpPr>
        <p:spPr>
          <a:xfrm xmlns:a="http://schemas.openxmlformats.org/drawingml/2006/main">
            <a:off x="1685925" y="5524500"/>
            <a:ext cx="882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13"/>
          </a:bodyPr>
          <a:lstStyle xmlns:a="http://schemas.openxmlformats.org/drawingml/2006/main">
            <a:defPPr algn="ctr">
              <a:defRPr sz="1425" b="1" i="0">
                <a:solidFill>
                  <a:srgbClr val="3FC6D6"/>
                </a:solidFill>
                <a:latin typeface="Arial"/>
                <a:ea typeface="Arial"/>
                <a:cs typeface="Arial"/>
              </a:defRPr>
            </a:defPPr>
            <a:lvl1pPr algn="ctr">
              <a:buNone/>
              <a:defRPr sz="1425" b="1" i="0">
                <a:solidFill>
                  <a:srgbClr val="3FC6D6"/>
                </a:solidFill>
                <a:latin typeface="Arial"/>
                <a:ea typeface="Arial"/>
                <a:cs typeface="Arial"/>
              </a:defRPr>
            </a:lvl1pPr>
            <a:lvl2pPr algn="ctr">
              <a:buNone/>
              <a:defRPr sz="1425" b="1" i="0">
                <a:solidFill>
                  <a:srgbClr val="3FC6D6"/>
                </a:solidFill>
                <a:latin typeface="Arial"/>
                <a:ea typeface="Arial"/>
                <a:cs typeface="Arial"/>
              </a:defRPr>
            </a:lvl2pPr>
            <a:lvl3pPr algn="ctr">
              <a:buNone/>
              <a:defRPr sz="1425" b="1" i="0">
                <a:solidFill>
                  <a:srgbClr val="3FC6D6"/>
                </a:solidFill>
                <a:latin typeface="Arial"/>
                <a:ea typeface="Arial"/>
                <a:cs typeface="Arial"/>
              </a:defRPr>
            </a:lvl3pPr>
            <a:lvl4pPr algn="ctr">
              <a:buNone/>
              <a:defRPr sz="1425" b="1" i="0">
                <a:solidFill>
                  <a:srgbClr val="3FC6D6"/>
                </a:solidFill>
                <a:latin typeface="Arial"/>
                <a:ea typeface="Arial"/>
                <a:cs typeface="Arial"/>
              </a:defRPr>
            </a:lvl4pPr>
            <a:lvl5pPr algn="ctr">
              <a:buNone/>
              <a:defRPr sz="1425" b="1" i="0">
                <a:solidFill>
                  <a:srgbClr val="3FC6D6"/>
                </a:solidFill>
                <a:latin typeface="Arial"/>
                <a:ea typeface="Arial"/>
                <a:cs typeface="Arial"/>
              </a:defRPr>
            </a:lvl5pPr>
            <a:lvl6pPr algn="ctr">
              <a:buNone/>
              <a:defRPr sz="1425" b="1" i="0">
                <a:solidFill>
                  <a:srgbClr val="3FC6D6"/>
                </a:solidFill>
                <a:latin typeface="Arial"/>
                <a:ea typeface="Arial"/>
                <a:cs typeface="Arial"/>
              </a:defRPr>
            </a:lvl6pPr>
            <a:lvl7pPr algn="ctr">
              <a:buNone/>
              <a:defRPr sz="1425" b="1" i="0">
                <a:solidFill>
                  <a:srgbClr val="3FC6D6"/>
                </a:solidFill>
                <a:latin typeface="Arial"/>
                <a:ea typeface="Arial"/>
                <a:cs typeface="Arial"/>
              </a:defRPr>
            </a:lvl7pPr>
            <a:lvl8pPr algn="ctr">
              <a:buNone/>
              <a:defRPr sz="1425" b="1" i="0">
                <a:solidFill>
                  <a:srgbClr val="3FC6D6"/>
                </a:solidFill>
                <a:latin typeface="Arial"/>
                <a:ea typeface="Arial"/>
                <a:cs typeface="Arial"/>
              </a:defRPr>
            </a:lvl8pPr>
            <a:lvl9pPr algn="ctr">
              <a:buNone/>
              <a:defRPr sz="1425" b="1" i="0">
                <a:solidFill>
                  <a:srgbClr val="3FC6D6"/>
                </a:solidFill>
                <a:latin typeface="Arial"/>
                <a:ea typeface="Arial"/>
                <a:cs typeface="Arial"/>
              </a:defRPr>
            </a:lvl9pPr>
          </a:lstStyle>
          <a:p xmlns:a="http://schemas.openxmlformats.org/drawingml/2006/main">
            <a:pPr algn="ctr">
              <a:buNone/>
              <a:defRPr sz="1425" b="1" i="0">
                <a:solidFill>
                  <a:srgbClr val="3FC6D6"/>
                </a:solidFill>
                <a:latin typeface="Arial"/>
                <a:ea typeface="Arial"/>
                <a:cs typeface="Arial"/>
              </a:defRPr>
            </a:pPr>
            <a:r>
              <a:rPr sz="1425" b="1" i="0">
                <a:solidFill>
                  <a:srgbClr val="3FC6D6"/>
                </a:solidFill>
                <a:latin typeface="Arial"/>
                <a:ea typeface="Arial"/>
                <a:cs typeface="Arial"/>
              </a:rPr>
              <a:t>Residue detection, candidate generation, functional prediction, and pair-specific ranking require different evidence.</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5FEE9711-AC3C-4E94-954B-CAFF2C7DAE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CA1771B-DFDD-464C-8F3C-78FCCB5CA6A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31E89887-D14D-4ADE-9B09-2B9FEFC7437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Rectangle 3">
            <a:extLst xmlns:a="http://schemas.openxmlformats.org/drawingml/2006/main">
              <a:ext uri="{FF2B5EF4-FFF2-40B4-BE49-F238E27FC236}">
                <a16:creationId xmlns:a16="http://schemas.microsoft.com/office/drawing/2014/main" id="{3F550257-3A33-498B-B854-09D2A2F7923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Short quotations from LINKER (2000), SynLinker (2015), Li et al. (2026), and McBride et al. (2026)</a:t>
            </a:r>
          </a:p>
        </p:txBody>
      </p:sp>
      <p:sp>
        <p:nvSpPr>
          <p:cNvPr id="5" name="Rectangle 4">
            <a:extLst xmlns:a="http://schemas.openxmlformats.org/drawingml/2006/main">
              <a:ext uri="{FF2B5EF4-FFF2-40B4-BE49-F238E27FC236}">
                <a16:creationId xmlns:a16="http://schemas.microsoft.com/office/drawing/2014/main" id="{1056FB5D-99A2-4175-B8F3-EB06B801A9F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Rectangle 5">
            <a:extLst xmlns:a="http://schemas.openxmlformats.org/drawingml/2006/main">
              <a:ext uri="{FF2B5EF4-FFF2-40B4-BE49-F238E27FC236}">
                <a16:creationId xmlns:a16="http://schemas.microsoft.com/office/drawing/2014/main" id="{E3BC7343-6965-4A04-884A-0D8F0DE3B13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The literature defines the remaining problem</a:t>
            </a:r>
          </a:p>
        </p:txBody>
      </p:sp>
      <p:sp>
        <p:nvSpPr>
          <p:cNvPr id="7" name="Rectangle 6">
            <a:extLst xmlns:a="http://schemas.openxmlformats.org/drawingml/2006/main">
              <a:ext uri="{FF2B5EF4-FFF2-40B4-BE49-F238E27FC236}">
                <a16:creationId xmlns:a16="http://schemas.microsoft.com/office/drawing/2014/main" id="{3D467BD1-360C-43A5-BA1F-76E8727887C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Selection moved from intuition toward functional models, while cross-pair evidence remains limited</a:t>
            </a:r>
          </a:p>
        </p:txBody>
      </p:sp>
      <p:sp>
        <p:nvSpPr>
          <p:cNvPr id="8" name="Rectangle 7">
            <a:extLst xmlns:a="http://schemas.openxmlformats.org/drawingml/2006/main">
              <a:ext uri="{FF2B5EF4-FFF2-40B4-BE49-F238E27FC236}">
                <a16:creationId xmlns:a16="http://schemas.microsoft.com/office/drawing/2014/main" id="{D54E5216-0DDF-4D64-B4EE-AD31D6064F30}"/>
              </a:ext>
            </a:extLst>
          </p:cNvPr>
          <p:cNvSpPr>
            <a:spLocks xmlns:a="http://schemas.openxmlformats.org/drawingml/2006/main" noGrp="1"/>
          </p:cNvSpPr>
          <p:nvPr/>
        </p:nvSpPr>
        <p:spPr>
          <a:xfrm xmlns:a="http://schemas.openxmlformats.org/drawingml/2006/main">
            <a:off x="638175" y="16859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4E9BEC"/>
                </a:solidFill>
                <a:latin typeface="Arial"/>
                <a:ea typeface="Arial"/>
                <a:cs typeface="Arial"/>
              </a:defRPr>
            </a:defPPr>
            <a:lvl1pPr algn="l">
              <a:buNone/>
              <a:defRPr sz="1050" b="1" i="0">
                <a:solidFill>
                  <a:srgbClr val="4E9BEC"/>
                </a:solidFill>
                <a:latin typeface="Arial"/>
                <a:ea typeface="Arial"/>
                <a:cs typeface="Arial"/>
              </a:defRPr>
            </a:lvl1pPr>
            <a:lvl2pPr algn="l">
              <a:buNone/>
              <a:defRPr sz="1050" b="1" i="0">
                <a:solidFill>
                  <a:srgbClr val="4E9BEC"/>
                </a:solidFill>
                <a:latin typeface="Arial"/>
                <a:ea typeface="Arial"/>
                <a:cs typeface="Arial"/>
              </a:defRPr>
            </a:lvl2pPr>
            <a:lvl3pPr algn="l">
              <a:buNone/>
              <a:defRPr sz="1050" b="1" i="0">
                <a:solidFill>
                  <a:srgbClr val="4E9BEC"/>
                </a:solidFill>
                <a:latin typeface="Arial"/>
                <a:ea typeface="Arial"/>
                <a:cs typeface="Arial"/>
              </a:defRPr>
            </a:lvl3pPr>
            <a:lvl4pPr algn="l">
              <a:buNone/>
              <a:defRPr sz="1050" b="1" i="0">
                <a:solidFill>
                  <a:srgbClr val="4E9BEC"/>
                </a:solidFill>
                <a:latin typeface="Arial"/>
                <a:ea typeface="Arial"/>
                <a:cs typeface="Arial"/>
              </a:defRPr>
            </a:lvl4pPr>
            <a:lvl5pPr algn="l">
              <a:buNone/>
              <a:defRPr sz="1050" b="1" i="0">
                <a:solidFill>
                  <a:srgbClr val="4E9BEC"/>
                </a:solidFill>
                <a:latin typeface="Arial"/>
                <a:ea typeface="Arial"/>
                <a:cs typeface="Arial"/>
              </a:defRPr>
            </a:lvl5pPr>
            <a:lvl6pPr algn="l">
              <a:buNone/>
              <a:defRPr sz="1050" b="1" i="0">
                <a:solidFill>
                  <a:srgbClr val="4E9BEC"/>
                </a:solidFill>
                <a:latin typeface="Arial"/>
                <a:ea typeface="Arial"/>
                <a:cs typeface="Arial"/>
              </a:defRPr>
            </a:lvl6pPr>
            <a:lvl7pPr algn="l">
              <a:buNone/>
              <a:defRPr sz="1050" b="1" i="0">
                <a:solidFill>
                  <a:srgbClr val="4E9BEC"/>
                </a:solidFill>
                <a:latin typeface="Arial"/>
                <a:ea typeface="Arial"/>
                <a:cs typeface="Arial"/>
              </a:defRPr>
            </a:lvl7pPr>
            <a:lvl8pPr algn="l">
              <a:buNone/>
              <a:defRPr sz="1050" b="1" i="0">
                <a:solidFill>
                  <a:srgbClr val="4E9BEC"/>
                </a:solidFill>
                <a:latin typeface="Arial"/>
                <a:ea typeface="Arial"/>
                <a:cs typeface="Arial"/>
              </a:defRPr>
            </a:lvl8pPr>
            <a:lvl9pPr algn="l">
              <a:buNone/>
              <a:defRPr sz="1050" b="1" i="0">
                <a:solidFill>
                  <a:srgbClr val="4E9BEC"/>
                </a:solidFill>
                <a:latin typeface="Arial"/>
                <a:ea typeface="Arial"/>
                <a:cs typeface="Arial"/>
              </a:defRPr>
            </a:lvl9pPr>
          </a:lstStyle>
          <a:p xmlns:a="http://schemas.openxmlformats.org/drawingml/2006/main">
            <a:pPr algn="l">
              <a:buNone/>
              <a:defRPr sz="1050" b="1" i="0">
                <a:solidFill>
                  <a:srgbClr val="4E9BEC"/>
                </a:solidFill>
                <a:latin typeface="Arial"/>
                <a:ea typeface="Arial"/>
                <a:cs typeface="Arial"/>
              </a:defRPr>
            </a:pPr>
            <a:r>
              <a:rPr sz="1050" b="1" i="0">
                <a:solidFill>
                  <a:srgbClr val="4E9BEC"/>
                </a:solidFill>
                <a:latin typeface="Arial"/>
                <a:ea typeface="Arial"/>
                <a:cs typeface="Arial"/>
              </a:rPr>
              <a:t>2000 · LINKER</a:t>
            </a:r>
          </a:p>
        </p:txBody>
      </p:sp>
      <p:sp>
        <p:nvSpPr>
          <p:cNvPr id="9" name="Rectangle 8">
            <a:extLst xmlns:a="http://schemas.openxmlformats.org/drawingml/2006/main">
              <a:ext uri="{FF2B5EF4-FFF2-40B4-BE49-F238E27FC236}">
                <a16:creationId xmlns:a16="http://schemas.microsoft.com/office/drawing/2014/main" id="{65C98A5B-699F-45EB-99EE-285E99DD55E7}"/>
              </a:ext>
            </a:extLst>
          </p:cNvPr>
          <p:cNvSpPr>
            <a:spLocks xmlns:a="http://schemas.openxmlformats.org/drawingml/2006/main" noGrp="1"/>
          </p:cNvSpPr>
          <p:nvPr/>
        </p:nvSpPr>
        <p:spPr>
          <a:xfrm xmlns:a="http://schemas.openxmlformats.org/drawingml/2006/main">
            <a:off x="2914650" y="16573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“Linker sequences are generally selected based on intuition.”</a:t>
            </a:r>
          </a:p>
        </p:txBody>
      </p:sp>
      <p:sp>
        <p:nvSpPr>
          <p:cNvPr id="10" name="Rectangle 9">
            <a:extLst xmlns:a="http://schemas.openxmlformats.org/drawingml/2006/main">
              <a:ext uri="{FF2B5EF4-FFF2-40B4-BE49-F238E27FC236}">
                <a16:creationId xmlns:a16="http://schemas.microsoft.com/office/drawing/2014/main" id="{461F800F-17B7-40B1-9CE5-7994E8175888}"/>
              </a:ext>
            </a:extLst>
          </p:cNvPr>
          <p:cNvSpPr>
            <a:spLocks xmlns:a="http://schemas.openxmlformats.org/drawingml/2006/main" noGrp="1"/>
          </p:cNvSpPr>
          <p:nvPr/>
        </p:nvSpPr>
        <p:spPr>
          <a:xfrm xmlns:a="http://schemas.openxmlformats.org/drawingml/2006/main">
            <a:off x="2924175" y="22383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Crasto &amp; Feng · DOI 10.1093/protein/13.5.309</a:t>
            </a:r>
          </a:p>
        </p:txBody>
      </p:sp>
      <p:sp>
        <p:nvSpPr>
          <p:cNvPr id="11" name="Straight Connector 10">
            <a:extLst xmlns:a="http://schemas.openxmlformats.org/drawingml/2006/main">
              <a:ext uri="{FF2B5EF4-FFF2-40B4-BE49-F238E27FC236}">
                <a16:creationId xmlns:a16="http://schemas.microsoft.com/office/drawing/2014/main" id="{28E4FA55-C998-4F67-99E5-2EFA9B2CEE15}"/>
              </a:ext>
            </a:extLst>
          </p:cNvPr>
          <p:cNvSpPr>
            <a:spLocks xmlns:a="http://schemas.openxmlformats.org/drawingml/2006/main" noGrp="1"/>
          </p:cNvSpPr>
          <p:nvPr/>
        </p:nvSpPr>
        <p:spPr>
          <a:xfrm xmlns:a="http://schemas.openxmlformats.org/drawingml/2006/main">
            <a:off x="638175" y="25527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ECCC4320-F7F8-44BA-A8C4-751297BFA88A}"/>
              </a:ext>
            </a:extLst>
          </p:cNvPr>
          <p:cNvSpPr>
            <a:spLocks xmlns:a="http://schemas.openxmlformats.org/drawingml/2006/main" noGrp="1"/>
          </p:cNvSpPr>
          <p:nvPr/>
        </p:nvSpPr>
        <p:spPr>
          <a:xfrm xmlns:a="http://schemas.openxmlformats.org/drawingml/2006/main">
            <a:off x="638175" y="27527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2DBD73"/>
                </a:solidFill>
                <a:latin typeface="Arial"/>
                <a:ea typeface="Arial"/>
                <a:cs typeface="Arial"/>
              </a:defRPr>
            </a:defPPr>
            <a:lvl1pPr algn="l">
              <a:buNone/>
              <a:defRPr sz="1050" b="1" i="0">
                <a:solidFill>
                  <a:srgbClr val="2DBD73"/>
                </a:solidFill>
                <a:latin typeface="Arial"/>
                <a:ea typeface="Arial"/>
                <a:cs typeface="Arial"/>
              </a:defRPr>
            </a:lvl1pPr>
            <a:lvl2pPr algn="l">
              <a:buNone/>
              <a:defRPr sz="1050" b="1" i="0">
                <a:solidFill>
                  <a:srgbClr val="2DBD73"/>
                </a:solidFill>
                <a:latin typeface="Arial"/>
                <a:ea typeface="Arial"/>
                <a:cs typeface="Arial"/>
              </a:defRPr>
            </a:lvl2pPr>
            <a:lvl3pPr algn="l">
              <a:buNone/>
              <a:defRPr sz="1050" b="1" i="0">
                <a:solidFill>
                  <a:srgbClr val="2DBD73"/>
                </a:solidFill>
                <a:latin typeface="Arial"/>
                <a:ea typeface="Arial"/>
                <a:cs typeface="Arial"/>
              </a:defRPr>
            </a:lvl3pPr>
            <a:lvl4pPr algn="l">
              <a:buNone/>
              <a:defRPr sz="1050" b="1" i="0">
                <a:solidFill>
                  <a:srgbClr val="2DBD73"/>
                </a:solidFill>
                <a:latin typeface="Arial"/>
                <a:ea typeface="Arial"/>
                <a:cs typeface="Arial"/>
              </a:defRPr>
            </a:lvl4pPr>
            <a:lvl5pPr algn="l">
              <a:buNone/>
              <a:defRPr sz="1050" b="1" i="0">
                <a:solidFill>
                  <a:srgbClr val="2DBD73"/>
                </a:solidFill>
                <a:latin typeface="Arial"/>
                <a:ea typeface="Arial"/>
                <a:cs typeface="Arial"/>
              </a:defRPr>
            </a:lvl5pPr>
            <a:lvl6pPr algn="l">
              <a:buNone/>
              <a:defRPr sz="1050" b="1" i="0">
                <a:solidFill>
                  <a:srgbClr val="2DBD73"/>
                </a:solidFill>
                <a:latin typeface="Arial"/>
                <a:ea typeface="Arial"/>
                <a:cs typeface="Arial"/>
              </a:defRPr>
            </a:lvl6pPr>
            <a:lvl7pPr algn="l">
              <a:buNone/>
              <a:defRPr sz="1050" b="1" i="0">
                <a:solidFill>
                  <a:srgbClr val="2DBD73"/>
                </a:solidFill>
                <a:latin typeface="Arial"/>
                <a:ea typeface="Arial"/>
                <a:cs typeface="Arial"/>
              </a:defRPr>
            </a:lvl7pPr>
            <a:lvl8pPr algn="l">
              <a:buNone/>
              <a:defRPr sz="1050" b="1" i="0">
                <a:solidFill>
                  <a:srgbClr val="2DBD73"/>
                </a:solidFill>
                <a:latin typeface="Arial"/>
                <a:ea typeface="Arial"/>
                <a:cs typeface="Arial"/>
              </a:defRPr>
            </a:lvl8pPr>
            <a:lvl9pPr algn="l">
              <a:buNone/>
              <a:defRPr sz="1050" b="1" i="0">
                <a:solidFill>
                  <a:srgbClr val="2DBD73"/>
                </a:solidFill>
                <a:latin typeface="Arial"/>
                <a:ea typeface="Arial"/>
                <a:cs typeface="Arial"/>
              </a:defRPr>
            </a:lvl9pPr>
          </a:lstStyle>
          <a:p xmlns:a="http://schemas.openxmlformats.org/drawingml/2006/main">
            <a:pPr algn="l">
              <a:buNone/>
              <a:defRPr sz="1050" b="1" i="0">
                <a:solidFill>
                  <a:srgbClr val="2DBD73"/>
                </a:solidFill>
                <a:latin typeface="Arial"/>
                <a:ea typeface="Arial"/>
                <a:cs typeface="Arial"/>
              </a:defRPr>
            </a:pPr>
            <a:r>
              <a:rPr sz="1050" b="1" i="0">
                <a:solidFill>
                  <a:srgbClr val="2DBD73"/>
                </a:solidFill>
                <a:latin typeface="Arial"/>
                <a:ea typeface="Arial"/>
                <a:cs typeface="Arial"/>
              </a:rPr>
              <a:t>2015 · SynLinker</a:t>
            </a:r>
          </a:p>
        </p:txBody>
      </p:sp>
      <p:sp>
        <p:nvSpPr>
          <p:cNvPr id="13" name="Rectangle 12">
            <a:extLst xmlns:a="http://schemas.openxmlformats.org/drawingml/2006/main">
              <a:ext uri="{FF2B5EF4-FFF2-40B4-BE49-F238E27FC236}">
                <a16:creationId xmlns:a16="http://schemas.microsoft.com/office/drawing/2014/main" id="{CFFE5A77-2B2E-495D-951D-7C175102627E}"/>
              </a:ext>
            </a:extLst>
          </p:cNvPr>
          <p:cNvSpPr>
            <a:spLocks xmlns:a="http://schemas.openxmlformats.org/drawingml/2006/main" noGrp="1"/>
          </p:cNvSpPr>
          <p:nvPr/>
        </p:nvSpPr>
        <p:spPr>
          <a:xfrm xmlns:a="http://schemas.openxmlformats.org/drawingml/2006/main">
            <a:off x="2914650" y="27241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linker selection is done mostly ad hoc and still based on random test in experiments.”</a:t>
            </a:r>
          </a:p>
        </p:txBody>
      </p:sp>
      <p:sp>
        <p:nvSpPr>
          <p:cNvPr id="14" name="Rectangle 13">
            <a:extLst xmlns:a="http://schemas.openxmlformats.org/drawingml/2006/main">
              <a:ext uri="{FF2B5EF4-FFF2-40B4-BE49-F238E27FC236}">
                <a16:creationId xmlns:a16="http://schemas.microsoft.com/office/drawing/2014/main" id="{69F185B2-1975-4ABA-936B-D82EB34A332D}"/>
              </a:ext>
            </a:extLst>
          </p:cNvPr>
          <p:cNvSpPr>
            <a:spLocks xmlns:a="http://schemas.openxmlformats.org/drawingml/2006/main" noGrp="1"/>
          </p:cNvSpPr>
          <p:nvPr/>
        </p:nvSpPr>
        <p:spPr>
          <a:xfrm xmlns:a="http://schemas.openxmlformats.org/drawingml/2006/main">
            <a:off x="2924175" y="33051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Liu, Chin &amp; Lee · DOI 10.1093/bioinformatics/btv447</a:t>
            </a:r>
          </a:p>
        </p:txBody>
      </p:sp>
      <p:sp>
        <p:nvSpPr>
          <p:cNvPr id="15" name="Straight Connector 14">
            <a:extLst xmlns:a="http://schemas.openxmlformats.org/drawingml/2006/main">
              <a:ext uri="{FF2B5EF4-FFF2-40B4-BE49-F238E27FC236}">
                <a16:creationId xmlns:a16="http://schemas.microsoft.com/office/drawing/2014/main" id="{D8D9D3D2-B9DE-4174-AFA5-FBCDEE07771D}"/>
              </a:ext>
            </a:extLst>
          </p:cNvPr>
          <p:cNvSpPr>
            <a:spLocks xmlns:a="http://schemas.openxmlformats.org/drawingml/2006/main" noGrp="1"/>
          </p:cNvSpPr>
          <p:nvPr/>
        </p:nvSpPr>
        <p:spPr>
          <a:xfrm xmlns:a="http://schemas.openxmlformats.org/drawingml/2006/main">
            <a:off x="638175" y="36195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D3D596D-EE1D-4C85-B637-391916502F63}"/>
              </a:ext>
            </a:extLst>
          </p:cNvPr>
          <p:cNvSpPr>
            <a:spLocks xmlns:a="http://schemas.openxmlformats.org/drawingml/2006/main" noGrp="1"/>
          </p:cNvSpPr>
          <p:nvPr/>
        </p:nvSpPr>
        <p:spPr>
          <a:xfrm xmlns:a="http://schemas.openxmlformats.org/drawingml/2006/main">
            <a:off x="638175" y="38195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2026 · Li et al.</a:t>
            </a:r>
          </a:p>
        </p:txBody>
      </p:sp>
      <p:sp>
        <p:nvSpPr>
          <p:cNvPr id="17" name="Rectangle 16">
            <a:extLst xmlns:a="http://schemas.openxmlformats.org/drawingml/2006/main">
              <a:ext uri="{FF2B5EF4-FFF2-40B4-BE49-F238E27FC236}">
                <a16:creationId xmlns:a16="http://schemas.microsoft.com/office/drawing/2014/main" id="{5F228B99-D313-4B36-BC4C-20A20478179B}"/>
              </a:ext>
            </a:extLst>
          </p:cNvPr>
          <p:cNvSpPr>
            <a:spLocks xmlns:a="http://schemas.openxmlformats.org/drawingml/2006/main" noGrp="1"/>
          </p:cNvSpPr>
          <p:nvPr/>
        </p:nvSpPr>
        <p:spPr>
          <a:xfrm xmlns:a="http://schemas.openxmlformats.org/drawingml/2006/main">
            <a:off x="2914650" y="37909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context-dependent nature of linker performance ... necessitates customization for each unique protein pair.”</a:t>
            </a:r>
          </a:p>
        </p:txBody>
      </p:sp>
      <p:sp>
        <p:nvSpPr>
          <p:cNvPr id="18" name="Rectangle 17">
            <a:extLst xmlns:a="http://schemas.openxmlformats.org/drawingml/2006/main">
              <a:ext uri="{FF2B5EF4-FFF2-40B4-BE49-F238E27FC236}">
                <a16:creationId xmlns:a16="http://schemas.microsoft.com/office/drawing/2014/main" id="{C23AC476-68BD-48F4-9E29-384A2AACEE51}"/>
              </a:ext>
            </a:extLst>
          </p:cNvPr>
          <p:cNvSpPr>
            <a:spLocks xmlns:a="http://schemas.openxmlformats.org/drawingml/2006/main" noGrp="1"/>
          </p:cNvSpPr>
          <p:nvPr/>
        </p:nvSpPr>
        <p:spPr>
          <a:xfrm xmlns:a="http://schemas.openxmlformats.org/drawingml/2006/main">
            <a:off x="2924175" y="43719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 et al. · DOI 10.1016/j.synbio.2026.02.003</a:t>
            </a:r>
          </a:p>
        </p:txBody>
      </p:sp>
      <p:sp>
        <p:nvSpPr>
          <p:cNvPr id="19" name="Straight Connector 18">
            <a:extLst xmlns:a="http://schemas.openxmlformats.org/drawingml/2006/main">
              <a:ext uri="{FF2B5EF4-FFF2-40B4-BE49-F238E27FC236}">
                <a16:creationId xmlns:a16="http://schemas.microsoft.com/office/drawing/2014/main" id="{A3BABD20-7BBF-4A20-8576-B800C717C958}"/>
              </a:ext>
            </a:extLst>
          </p:cNvPr>
          <p:cNvSpPr>
            <a:spLocks xmlns:a="http://schemas.openxmlformats.org/drawingml/2006/main" noGrp="1"/>
          </p:cNvSpPr>
          <p:nvPr/>
        </p:nvSpPr>
        <p:spPr>
          <a:xfrm xmlns:a="http://schemas.openxmlformats.org/drawingml/2006/main">
            <a:off x="638175" y="46863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0" name="Rectangle 19">
            <a:extLst xmlns:a="http://schemas.openxmlformats.org/drawingml/2006/main">
              <a:ext uri="{FF2B5EF4-FFF2-40B4-BE49-F238E27FC236}">
                <a16:creationId xmlns:a16="http://schemas.microsoft.com/office/drawing/2014/main" id="{7C37EA97-0C77-42CC-A2EA-4E789ED63CE5}"/>
              </a:ext>
            </a:extLst>
          </p:cNvPr>
          <p:cNvSpPr>
            <a:spLocks xmlns:a="http://schemas.openxmlformats.org/drawingml/2006/main" noGrp="1"/>
          </p:cNvSpPr>
          <p:nvPr/>
        </p:nvSpPr>
        <p:spPr>
          <a:xfrm xmlns:a="http://schemas.openxmlformats.org/drawingml/2006/main">
            <a:off x="638175" y="48863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46760"/>
                </a:solidFill>
                <a:latin typeface="Arial"/>
                <a:ea typeface="Arial"/>
                <a:cs typeface="Arial"/>
              </a:defRPr>
            </a:defPPr>
            <a:lvl1pPr algn="l">
              <a:buNone/>
              <a:defRPr sz="1050" b="1" i="0">
                <a:solidFill>
                  <a:srgbClr val="E46760"/>
                </a:solidFill>
                <a:latin typeface="Arial"/>
                <a:ea typeface="Arial"/>
                <a:cs typeface="Arial"/>
              </a:defRPr>
            </a:lvl1pPr>
            <a:lvl2pPr algn="l">
              <a:buNone/>
              <a:defRPr sz="1050" b="1" i="0">
                <a:solidFill>
                  <a:srgbClr val="E46760"/>
                </a:solidFill>
                <a:latin typeface="Arial"/>
                <a:ea typeface="Arial"/>
                <a:cs typeface="Arial"/>
              </a:defRPr>
            </a:lvl2pPr>
            <a:lvl3pPr algn="l">
              <a:buNone/>
              <a:defRPr sz="1050" b="1" i="0">
                <a:solidFill>
                  <a:srgbClr val="E46760"/>
                </a:solidFill>
                <a:latin typeface="Arial"/>
                <a:ea typeface="Arial"/>
                <a:cs typeface="Arial"/>
              </a:defRPr>
            </a:lvl3pPr>
            <a:lvl4pPr algn="l">
              <a:buNone/>
              <a:defRPr sz="1050" b="1" i="0">
                <a:solidFill>
                  <a:srgbClr val="E46760"/>
                </a:solidFill>
                <a:latin typeface="Arial"/>
                <a:ea typeface="Arial"/>
                <a:cs typeface="Arial"/>
              </a:defRPr>
            </a:lvl4pPr>
            <a:lvl5pPr algn="l">
              <a:buNone/>
              <a:defRPr sz="1050" b="1" i="0">
                <a:solidFill>
                  <a:srgbClr val="E46760"/>
                </a:solidFill>
                <a:latin typeface="Arial"/>
                <a:ea typeface="Arial"/>
                <a:cs typeface="Arial"/>
              </a:defRPr>
            </a:lvl5pPr>
            <a:lvl6pPr algn="l">
              <a:buNone/>
              <a:defRPr sz="1050" b="1" i="0">
                <a:solidFill>
                  <a:srgbClr val="E46760"/>
                </a:solidFill>
                <a:latin typeface="Arial"/>
                <a:ea typeface="Arial"/>
                <a:cs typeface="Arial"/>
              </a:defRPr>
            </a:lvl6pPr>
            <a:lvl7pPr algn="l">
              <a:buNone/>
              <a:defRPr sz="1050" b="1" i="0">
                <a:solidFill>
                  <a:srgbClr val="E46760"/>
                </a:solidFill>
                <a:latin typeface="Arial"/>
                <a:ea typeface="Arial"/>
                <a:cs typeface="Arial"/>
              </a:defRPr>
            </a:lvl7pPr>
            <a:lvl8pPr algn="l">
              <a:buNone/>
              <a:defRPr sz="1050" b="1" i="0">
                <a:solidFill>
                  <a:srgbClr val="E46760"/>
                </a:solidFill>
                <a:latin typeface="Arial"/>
                <a:ea typeface="Arial"/>
                <a:cs typeface="Arial"/>
              </a:defRPr>
            </a:lvl8pPr>
            <a:lvl9pPr algn="l">
              <a:buNone/>
              <a:defRPr sz="1050" b="1" i="0">
                <a:solidFill>
                  <a:srgbClr val="E46760"/>
                </a:solidFill>
                <a:latin typeface="Arial"/>
                <a:ea typeface="Arial"/>
                <a:cs typeface="Arial"/>
              </a:defRPr>
            </a:lvl9pPr>
          </a:lstStyle>
          <a:p xmlns:a="http://schemas.openxmlformats.org/drawingml/2006/main">
            <a:pPr algn="l">
              <a:buNone/>
              <a:defRPr sz="1050" b="1" i="0">
                <a:solidFill>
                  <a:srgbClr val="E46760"/>
                </a:solidFill>
                <a:latin typeface="Arial"/>
                <a:ea typeface="Arial"/>
                <a:cs typeface="Arial"/>
              </a:defRPr>
            </a:pPr>
            <a:r>
              <a:rPr sz="1050" b="1" i="0">
                <a:solidFill>
                  <a:srgbClr val="E46760"/>
                </a:solidFill>
                <a:latin typeface="Arial"/>
                <a:ea typeface="Arial"/>
                <a:cs typeface="Arial"/>
              </a:rPr>
              <a:t>2026 · CASP16 pose study</a:t>
            </a:r>
          </a:p>
        </p:txBody>
      </p:sp>
      <p:sp>
        <p:nvSpPr>
          <p:cNvPr id="21" name="Rectangle 20">
            <a:extLst xmlns:a="http://schemas.openxmlformats.org/drawingml/2006/main">
              <a:ext uri="{FF2B5EF4-FFF2-40B4-BE49-F238E27FC236}">
                <a16:creationId xmlns:a16="http://schemas.microsoft.com/office/drawing/2014/main" id="{B1E734EE-8CB4-4CD9-B51C-AE81DE1B81D7}"/>
              </a:ext>
            </a:extLst>
          </p:cNvPr>
          <p:cNvSpPr>
            <a:spLocks xmlns:a="http://schemas.openxmlformats.org/drawingml/2006/main" noGrp="1"/>
          </p:cNvSpPr>
          <p:nvPr/>
        </p:nvSpPr>
        <p:spPr>
          <a:xfrm xmlns:a="http://schemas.openxmlformats.org/drawingml/2006/main">
            <a:off x="2914650" y="48577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“none were close fits to the combined NMR and SAXS data.”</a:t>
            </a:r>
          </a:p>
        </p:txBody>
      </p:sp>
      <p:sp>
        <p:nvSpPr>
          <p:cNvPr id="22" name="Rectangle 21">
            <a:extLst xmlns:a="http://schemas.openxmlformats.org/drawingml/2006/main">
              <a:ext uri="{FF2B5EF4-FFF2-40B4-BE49-F238E27FC236}">
                <a16:creationId xmlns:a16="http://schemas.microsoft.com/office/drawing/2014/main" id="{912C6409-6D55-4F3E-B6BA-14111753B4ED}"/>
              </a:ext>
            </a:extLst>
          </p:cNvPr>
          <p:cNvSpPr>
            <a:spLocks xmlns:a="http://schemas.openxmlformats.org/drawingml/2006/main" noGrp="1"/>
          </p:cNvSpPr>
          <p:nvPr/>
        </p:nvSpPr>
        <p:spPr>
          <a:xfrm xmlns:a="http://schemas.openxmlformats.org/drawingml/2006/main">
            <a:off x="2924175" y="54387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McBride et al. · DOI 10.1002/prot.70062</a:t>
            </a:r>
          </a:p>
        </p:txBody>
      </p:sp>
      <p:sp>
        <p:nvSpPr>
          <p:cNvPr id="23" name="Straight Connector 22">
            <a:extLst xmlns:a="http://schemas.openxmlformats.org/drawingml/2006/main">
              <a:ext uri="{FF2B5EF4-FFF2-40B4-BE49-F238E27FC236}">
                <a16:creationId xmlns:a16="http://schemas.microsoft.com/office/drawing/2014/main" id="{570CAB07-6E3A-43BF-A6E1-FE4ECE72AB24}"/>
              </a:ext>
            </a:extLst>
          </p:cNvPr>
          <p:cNvSpPr>
            <a:spLocks xmlns:a="http://schemas.openxmlformats.org/drawingml/2006/main" noGrp="1"/>
          </p:cNvSpPr>
          <p:nvPr/>
        </p:nvSpPr>
        <p:spPr>
          <a:xfrm xmlns:a="http://schemas.openxmlformats.org/drawingml/2006/main">
            <a:off x="638175" y="5981700"/>
            <a:ext cx="10696575"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0A35D32B-3657-4159-ACBB-B69E88004E78}"/>
              </a:ext>
            </a:extLst>
          </p:cNvPr>
          <p:cNvSpPr>
            <a:spLocks xmlns:a="http://schemas.openxmlformats.org/drawingml/2006/main" noGrp="1"/>
          </p:cNvSpPr>
          <p:nvPr/>
        </p:nvSpPr>
        <p:spPr>
          <a:xfrm xmlns:a="http://schemas.openxmlformats.org/drawingml/2006/main">
            <a:off x="885825" y="6096000"/>
            <a:ext cx="1019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ctr">
              <a:defRPr sz="1125" b="1" i="0">
                <a:solidFill>
                  <a:srgbClr val="3FC6D6"/>
                </a:solidFill>
                <a:latin typeface="Arial"/>
                <a:ea typeface="Arial"/>
                <a:cs typeface="Arial"/>
              </a:defRPr>
            </a:defPPr>
            <a:lvl1pPr algn="ctr">
              <a:buNone/>
              <a:defRPr sz="1125" b="1" i="0">
                <a:solidFill>
                  <a:srgbClr val="3FC6D6"/>
                </a:solidFill>
                <a:latin typeface="Arial"/>
                <a:ea typeface="Arial"/>
                <a:cs typeface="Arial"/>
              </a:defRPr>
            </a:lvl1pPr>
            <a:lvl2pPr algn="ctr">
              <a:buNone/>
              <a:defRPr sz="1125" b="1" i="0">
                <a:solidFill>
                  <a:srgbClr val="3FC6D6"/>
                </a:solidFill>
                <a:latin typeface="Arial"/>
                <a:ea typeface="Arial"/>
                <a:cs typeface="Arial"/>
              </a:defRPr>
            </a:lvl2pPr>
            <a:lvl3pPr algn="ctr">
              <a:buNone/>
              <a:defRPr sz="1125" b="1" i="0">
                <a:solidFill>
                  <a:srgbClr val="3FC6D6"/>
                </a:solidFill>
                <a:latin typeface="Arial"/>
                <a:ea typeface="Arial"/>
                <a:cs typeface="Arial"/>
              </a:defRPr>
            </a:lvl3pPr>
            <a:lvl4pPr algn="ctr">
              <a:buNone/>
              <a:defRPr sz="1125" b="1" i="0">
                <a:solidFill>
                  <a:srgbClr val="3FC6D6"/>
                </a:solidFill>
                <a:latin typeface="Arial"/>
                <a:ea typeface="Arial"/>
                <a:cs typeface="Arial"/>
              </a:defRPr>
            </a:lvl4pPr>
            <a:lvl5pPr algn="ctr">
              <a:buNone/>
              <a:defRPr sz="1125" b="1" i="0">
                <a:solidFill>
                  <a:srgbClr val="3FC6D6"/>
                </a:solidFill>
                <a:latin typeface="Arial"/>
                <a:ea typeface="Arial"/>
                <a:cs typeface="Arial"/>
              </a:defRPr>
            </a:lvl5pPr>
            <a:lvl6pPr algn="ctr">
              <a:buNone/>
              <a:defRPr sz="1125" b="1" i="0">
                <a:solidFill>
                  <a:srgbClr val="3FC6D6"/>
                </a:solidFill>
                <a:latin typeface="Arial"/>
                <a:ea typeface="Arial"/>
                <a:cs typeface="Arial"/>
              </a:defRPr>
            </a:lvl6pPr>
            <a:lvl7pPr algn="ctr">
              <a:buNone/>
              <a:defRPr sz="1125" b="1" i="0">
                <a:solidFill>
                  <a:srgbClr val="3FC6D6"/>
                </a:solidFill>
                <a:latin typeface="Arial"/>
                <a:ea typeface="Arial"/>
                <a:cs typeface="Arial"/>
              </a:defRPr>
            </a:lvl7pPr>
            <a:lvl8pPr algn="ctr">
              <a:buNone/>
              <a:defRPr sz="1125" b="1" i="0">
                <a:solidFill>
                  <a:srgbClr val="3FC6D6"/>
                </a:solidFill>
                <a:latin typeface="Arial"/>
                <a:ea typeface="Arial"/>
                <a:cs typeface="Arial"/>
              </a:defRPr>
            </a:lvl8pPr>
            <a:lvl9pPr algn="ctr">
              <a:buNone/>
              <a:defRPr sz="1125" b="1" i="0">
                <a:solidFill>
                  <a:srgbClr val="3FC6D6"/>
                </a:solidFill>
                <a:latin typeface="Arial"/>
                <a:ea typeface="Arial"/>
                <a:cs typeface="Arial"/>
              </a:defRPr>
            </a:lvl9pPr>
          </a:lstStyle>
          <a:p xmlns:a="http://schemas.openxmlformats.org/drawingml/2006/main">
            <a:pPr algn="ctr">
              <a:buNone/>
              <a:defRPr sz="1125" b="1" i="0">
                <a:solidFill>
                  <a:srgbClr val="3FC6D6"/>
                </a:solidFill>
                <a:latin typeface="Arial"/>
                <a:ea typeface="Arial"/>
                <a:cs typeface="Arial"/>
              </a:defRPr>
            </a:pPr>
            <a:r>
              <a:rPr sz="1125" b="1" i="0">
                <a:solidFill>
                  <a:srgbClr val="3FC6D6"/>
                </a:solidFill>
                <a:latin typeface="Arial"/>
                <a:ea typeface="Arial"/>
                <a:cs typeface="Arial"/>
              </a:rPr>
              <a:t>Implication: a credible general model needs outcome data from multiple domain pairs and a family-disjoint test.</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F8ED68D-0443-4655-9995-BB72711588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FFEB337-947B-4535-9BFC-D75D214529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5A1A0B51-C551-4826-BD2C-15372B5BFF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xmlns:a="http://schemas.openxmlformats.org/drawingml/2006/main">
              <a:ext uri="{FF2B5EF4-FFF2-40B4-BE49-F238E27FC236}">
                <a16:creationId xmlns:a16="http://schemas.microsoft.com/office/drawing/2014/main" id="{C062E347-7199-4B6C-8135-AEB965E9D99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xmlns:a="http://schemas.openxmlformats.org/drawingml/2006/main">
              <a:ext uri="{FF2B5EF4-FFF2-40B4-BE49-F238E27FC236}">
                <a16:creationId xmlns:a16="http://schemas.microsoft.com/office/drawing/2014/main" id="{2F972104-B122-4317-B83F-EB146B0698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xmlns:a="http://schemas.openxmlformats.org/drawingml/2006/main">
              <a:ext uri="{FF2B5EF4-FFF2-40B4-BE49-F238E27FC236}">
                <a16:creationId xmlns:a16="http://schemas.microsoft.com/office/drawing/2014/main" id="{E90F076A-22FF-4373-BE70-3BDB247ABB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xmlns:a="http://schemas.openxmlformats.org/drawingml/2006/main">
              <a:ext uri="{FF2B5EF4-FFF2-40B4-BE49-F238E27FC236}">
                <a16:creationId xmlns:a16="http://schemas.microsoft.com/office/drawing/2014/main" id="{6488562B-691F-42E8-8BFF-20824EAEF0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xmlns:a="http://schemas.openxmlformats.org/drawingml/2006/main">
              <a:ext uri="{FF2B5EF4-FFF2-40B4-BE49-F238E27FC236}">
                <a16:creationId xmlns:a16="http://schemas.microsoft.com/office/drawing/2014/main" id="{5B676A2D-EBBD-4EBE-AEF7-21A1EAF0CAC7}"/>
              </a:ext>
            </a:extLst>
          </p:cNvPr>
          <p:cNvGraphicFramePr/>
          <p:nvPr/>
        </p:nvGraphicFramePr>
        <p:xfrm>
          <a:off xmlns:a="http://schemas.openxmlformats.org/drawingml/2006/main" x="495300" y="1581150"/>
          <a:ext xmlns:a="http://schemas.openxmlformats.org/drawingml/2006/main" cx="11201400" cy="4267200"/>
        </p:xfrm>
        <a:graphic xmlns:a="http://schemas.openxmlformats.org/drawingml/2006/main">
          <a:graphicData uri="http://schemas.openxmlformats.org/drawingml/2006/table">
            <a:tbl>
              <a:tblPr/>
              <a:tblGrid>
                <a:gridCol w="1714500"/>
                <a:gridCol w="3048000"/>
                <a:gridCol w="3219450"/>
                <a:gridCol w="3219450"/>
              </a:tblGrid>
              <a:tr h="853440">
                <a:tc>
                  <a:txBody>
                    <a:bodyPr/>
                    <a:lstStyle/>
                    <a:p>
                      <a:r>
                        <a:rPr sz="975" b="1">
                          <a:solidFill>
                            <a:srgbClr val="3FC6D6"/>
                          </a:solidFill>
                          <a:latin typeface="Arial"/>
                          <a:ea typeface="Arial"/>
                          <a:cs typeface="Arial"/>
                        </a:rPr>
                        <a:t>Source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LINKER (2000)</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SynLinker (2015)</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McBride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8">
            <a:extLst xmlns:a="http://schemas.openxmlformats.org/drawingml/2006/main">
              <a:ext uri="{FF2B5EF4-FFF2-40B4-BE49-F238E27FC236}">
                <a16:creationId xmlns:a16="http://schemas.microsoft.com/office/drawing/2014/main" id="{40D8EE5B-83E7-4AD7-84DE-45054BB12D97}"/>
              </a:ext>
            </a:extLst>
          </p:cNvPr>
          <p:cNvSpPr>
            <a:spLocks xmlns:a="http://schemas.openxmlformats.org/drawingml/2006/main" noGrp="1"/>
          </p:cNvSpPr>
          <p:nvPr/>
        </p:nvSpPr>
        <p:spPr>
          <a:xfrm xmlns:a="http://schemas.openxmlformats.org/drawingml/2006/main">
            <a:off x="638175" y="5991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xmlns:a="http://schemas.openxmlformats.org/drawingml/2006/main">
              <a:ext uri="{FF2B5EF4-FFF2-40B4-BE49-F238E27FC236}">
                <a16:creationId xmlns:a16="http://schemas.microsoft.com/office/drawing/2014/main" id="{BE585CD1-2E4D-4F38-92D0-71D13F37C7E5}"/>
              </a:ext>
            </a:extLst>
          </p:cNvPr>
          <p:cNvSpPr>
            <a:spLocks xmlns:a="http://schemas.openxmlformats.org/drawingml/2006/main" noGrp="1"/>
          </p:cNvSpPr>
          <p:nvPr/>
        </p:nvSpPr>
        <p:spPr>
          <a:xfrm xmlns:a="http://schemas.openxmlformats.org/drawingml/2006/main">
            <a:off x="1847850" y="5962650"/>
            <a:ext cx="960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50"/>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0786E8C6-1020-4821-B712-ED0B0ADB3B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185B87F-2B57-407A-9BDA-86E5DCB7EA6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76349E0C-2FCE-4866-A012-F9B00030FE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Rectangle 3">
            <a:extLst xmlns:a="http://schemas.openxmlformats.org/drawingml/2006/main">
              <a:ext uri="{FF2B5EF4-FFF2-40B4-BE49-F238E27FC236}">
                <a16:creationId xmlns:a16="http://schemas.microsoft.com/office/drawing/2014/main" id="{50A2B6F8-AFFA-4181-AD06-41AEC558A3A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Rectangle 4">
            <a:extLst xmlns:a="http://schemas.openxmlformats.org/drawingml/2006/main">
              <a:ext uri="{FF2B5EF4-FFF2-40B4-BE49-F238E27FC236}">
                <a16:creationId xmlns:a16="http://schemas.microsoft.com/office/drawing/2014/main" id="{B0AE1FDA-B90F-4467-92E0-E1BD60CFCA1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Rectangle 5">
            <a:extLst xmlns:a="http://schemas.openxmlformats.org/drawingml/2006/main">
              <a:ext uri="{FF2B5EF4-FFF2-40B4-BE49-F238E27FC236}">
                <a16:creationId xmlns:a16="http://schemas.microsoft.com/office/drawing/2014/main" id="{88B490BA-E54E-4B03-B945-9A8144C2A5F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Rectangle 6">
            <a:extLst xmlns:a="http://schemas.openxmlformats.org/drawingml/2006/main">
              <a:ext uri="{FF2B5EF4-FFF2-40B4-BE49-F238E27FC236}">
                <a16:creationId xmlns:a16="http://schemas.microsoft.com/office/drawing/2014/main" id="{0D149A23-3780-483A-BF93-4FA42FEFB5D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Broader evidence integration is proposed. Predictive superiority has not been demonstrated</a:t>
            </a:r>
          </a:p>
        </p:txBody>
      </p:sp>
      <p:graphicFrame>
        <p:nvGraphicFramePr>
          <p:cNvPr id="8" name="Table 7">
            <a:extLst xmlns:a="http://schemas.openxmlformats.org/drawingml/2006/main">
              <a:ext uri="{FF2B5EF4-FFF2-40B4-BE49-F238E27FC236}">
                <a16:creationId xmlns:a16="http://schemas.microsoft.com/office/drawing/2014/main" id="{6984D20F-BEC1-4C65-9F2E-914690A224C0}"/>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75" b="1">
                          <a:solidFill>
                            <a:srgbClr val="3FC6D6"/>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Primary output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Context represented</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Evidence boundary</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or retrieved linker candidates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properties and curated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No learned outcome for a selected domain pair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Per-residue DFL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One protein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Detection does not rank engineered fusions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Fluorescence prediction and linker customization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linkers in one sfGFP–nanobody system plus AF2 features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Strong task-specific evidence; cross-pair generalization remains untested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model and confidence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Complete supplied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confidence alone does not establish expression or activity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3FC6D6"/>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Pair-conditioned ranking with a matched evidence bundle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Both domains, attachment context, candidate, and full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Ranker training and family-disjoint validation remain incomplete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r>
            </a:tbl>
          </a:graphicData>
        </a:graphic>
      </p:graphicFrame>
      <p:sp>
        <p:nvSpPr>
          <p:cNvPr id="9" name="Straight Connector 8">
            <a:extLst xmlns:a="http://schemas.openxmlformats.org/drawingml/2006/main">
              <a:ext uri="{FF2B5EF4-FFF2-40B4-BE49-F238E27FC236}">
                <a16:creationId xmlns:a16="http://schemas.microsoft.com/office/drawing/2014/main" id="{C5D9A431-C91C-40AE-A8C2-834E0091C684}"/>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Rectangle 9">
            <a:extLst xmlns:a="http://schemas.openxmlformats.org/drawingml/2006/main">
              <a:ext uri="{FF2B5EF4-FFF2-40B4-BE49-F238E27FC236}">
                <a16:creationId xmlns:a16="http://schemas.microsoft.com/office/drawing/2014/main" id="{5132D014-7B54-4EAA-A0C8-631DE5D1BF99}"/>
              </a:ext>
            </a:extLst>
          </p:cNvPr>
          <p:cNvSpPr>
            <a:spLocks xmlns:a="http://schemas.openxmlformats.org/drawingml/2006/main" noGrp="1"/>
          </p:cNvSpPr>
          <p:nvPr/>
        </p:nvSpPr>
        <p:spPr>
          <a:xfrm xmlns:a="http://schemas.openxmlformats.org/drawingml/2006/main">
            <a:off x="638175" y="5924550"/>
            <a:ext cx="157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Distinctive scope</a:t>
            </a:r>
          </a:p>
        </p:txBody>
      </p:sp>
      <p:sp>
        <p:nvSpPr>
          <p:cNvPr id="11" name="Rectangle 10">
            <a:extLst xmlns:a="http://schemas.openxmlformats.org/drawingml/2006/main">
              <a:ext uri="{FF2B5EF4-FFF2-40B4-BE49-F238E27FC236}">
                <a16:creationId xmlns:a16="http://schemas.microsoft.com/office/drawing/2014/main" id="{6CDB952E-D27E-445E-9C6F-856D199B213E}"/>
              </a:ext>
            </a:extLst>
          </p:cNvPr>
          <p:cNvSpPr>
            <a:spLocks xmlns:a="http://schemas.openxmlformats.org/drawingml/2006/main" noGrp="1"/>
          </p:cNvSpPr>
          <p:nvPr/>
        </p:nvSpPr>
        <p:spPr>
          <a:xfrm xmlns:a="http://schemas.openxmlformats.org/drawingml/2006/main">
            <a:off x="2257425" y="5886450"/>
            <a:ext cx="917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91"/>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One contract links candidate selection, full-fusion checks, rejection rules, and provenance. A performance advantage remains a hypothesis.</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5BC8EC85-8E96-4E4B-A368-AEA895BC391C}"/>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132FEFD0-8F79-4755-B23A-20D7EC010119}"/>
              </a:ext>
            </a:extLst>
          </p:cNvPr>
          <p:cNvPicPr>
            <a:picLocks xmlns:a="http://schemas.openxmlformats.org/drawingml/2006/main" noChangeAspect="1"/>
          </p:cNvPicPr>
          <p:nvPr/>
        </p:nvPicPr>
        <p:blipFill>
          <a:blip xmlns:r="http://schemas.openxmlformats.org/officeDocument/2006/relationships" xmlns:a="http://schemas.openxmlformats.org/drawingml/2006/main" r:embed="Rf2530ca5de9c4754"/>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EF61A1D4-30E9-4F43-A60B-188186A53E31}"/>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923e88ee83154151"/>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6AB04776-6863-422B-AFD0-7D1E410D76C4}"/>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263fd58445d544ea"/>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6517B143-866F-49C3-9304-9D5AF9C6D9FB}"/>
              </a:ext>
            </a:extLst>
          </p:cNvPr>
          <p:cNvPicPr>
            <a:picLocks xmlns:a="http://schemas.openxmlformats.org/drawingml/2006/main" noChangeAspect="1"/>
          </p:cNvPicPr>
          <p:nvPr/>
        </p:nvPicPr>
        <p:blipFill>
          <a:blip xmlns:r="http://schemas.openxmlformats.org/officeDocument/2006/relationships" xmlns:a="http://schemas.openxmlformats.org/drawingml/2006/main" r:embed="R2f1492a170ef41ee"/>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DF70A7B0-D8DA-43A5-A74B-A9A556B42C41}"/>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7038662-3BF8-4B27-8162-5120C0F4B99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3D063B-D974-4B79-8923-9ECB86D3816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8C1969D-C8A9-4B6D-8BC8-399D9C9F44A6}"/>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60C24B7C-7CB1-4D0B-AEEF-33CC334CF56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C4190E27-A6BC-4DAD-9655-3B030FBABC4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FF835EDC-E422-430C-AE47-90D43F5EEC9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639A61DF-A81E-4A83-8C88-54CB98F9EE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60590D48-A243-42F3-979F-EDBF43CA3244}"/>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84AF1392-8690-4FF6-AC90-53104BE2F16A}"/>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AD6412-106E-4EDD-B801-D7A916090029}"/>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03EBA38C-B862-48F4-8E53-B57FD5017788}"/>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A24A2B69-2825-4B3E-A756-9EA28C4CABDB}"/>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6FA41493-ACCF-4173-A82F-FC0E24F308F8}"/>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22129E7E-AB1F-4CC8-AC0C-54ED9CD7D958}"/>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2AE31F6-B796-43A4-9319-5E8BE200CF49}"/>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61AEBDAE-A013-47B7-8933-537CE130CD0C}"/>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C0B2B8E8-0A5C-4764-AA8F-9F197DBF6B13}"/>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802DDE03-B309-48FE-A9F3-498462692B3C}"/>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2045EA18-D557-43B3-BBC5-CE49EE689CE4}"/>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CA18AA-4949-4480-AF8C-7957710F3BA0}"/>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35C74357-4A44-4844-B0BC-0AE7CF9E06D1}"/>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B0CC1337-DB66-4BF3-ADBA-A36F60E69B71}"/>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1945FC5E-B13B-477D-BD98-BBE952321DF5}"/>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A9D92DA8-F7D6-49AA-92DC-5B114B3BC5F3}"/>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6736B11-7F3E-443C-80A9-E7F857AE1D08}"/>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24955EFA-F3E7-4C79-B487-D93028BF58CD}"/>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1A297531-DCBA-4016-876A-58F5FB7D6DEC}"/>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8F70318B-2195-4EFF-AD30-20418D8997F0}"/>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1404979405"/>
      </p:ext>
    </p:extLst>
  </p:cSld>
</p:sld>
</file>

<file path=ppt/slides/slide2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C8901E9-B961-4F3E-9561-96D1ADD5BB7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FC2BC8-EBD8-4C70-A675-9D2FD450609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A0EEFC29-97E0-4120-BE50-F347859BB119}"/>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AD015C48-0D69-4A4B-9D1B-B330158D8D7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7C31A575-616A-4794-AFB1-C85116F3D8C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70E1CA2F-91D5-4BF3-93A0-6CDAC3BC5B1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C13933EA-48DD-492E-AC75-2B45D7190E6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09741AB6-6F2D-4395-8582-DBD79ABF01A9}"/>
              </a:ext>
            </a:extLst>
          </p:cNvPr>
          <p:cNvPicPr>
            <a:picLocks xmlns:a="http://schemas.openxmlformats.org/drawingml/2006/main" noChangeAspect="1"/>
          </p:cNvPicPr>
          <p:nvPr/>
        </p:nvPicPr>
        <p:blipFill>
          <a:blip xmlns:r="http://schemas.openxmlformats.org/officeDocument/2006/relationships" xmlns:a="http://schemas.openxmlformats.org/drawingml/2006/main" r:embed="Rf27f3625fec84c21"/>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E7166A0-B2A5-4803-99A1-1E0D7F472A97}"/>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7767BE96-CCF7-4292-A7F1-5AB8F3C166AB}"/>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013FA412-24C3-46E3-8DBF-C79748021296}"/>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40A83320-78BA-4E9C-BBA8-3B23BF3FEFE0}"/>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F8AA30EA-9FE2-4421-B925-516C06F5565E}"/>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086BC5E2-F217-4425-A4DA-DEFB3FCD740D}"/>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7D450967-B9D2-4B50-9EE9-41C23B9D791A}"/>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3DD98205-50CA-4704-B95A-254D4B479A73}"/>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827BCC6D-3DE6-4EF2-B4BE-0B80A2236247}"/>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9273EB33-F857-43FD-A831-9F28AC446398}"/>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02BE17FC-C410-4BB6-B723-1D00A22AC03F}"/>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FD1C8136-873F-4283-9970-B86CD43F9088}"/>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280400924"/>
      </p:ext>
    </p:extLst>
  </p:cSld>
</p:sld>
</file>

<file path=ppt/slides/slide2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D33D00-0CC4-401C-A3EA-F3D92494BD6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29E18D-F1F6-4F10-BCCB-BBA6D382328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2CAEC68-B286-4DBF-ACA6-E08308240A1D}"/>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6458953E-4173-4E69-978A-03E1B16E99E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E0C43445-D95D-49BF-8822-4A12EF45961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14169E28-67DD-4E0E-902E-1CDBA181C2D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FBD4277B-1115-4114-A642-13BF73694FD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568DEB5B-034D-4551-955A-FB1465874071}"/>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c68e38104b624271"/>
          </a:graphicData>
        </a:graphic>
      </p:graphicFrame>
      <p:sp>
        <p:nvSpPr>
          <p:cNvPr id="9" name="">
            <a:extLst xmlns:a="http://schemas.openxmlformats.org/drawingml/2006/main">
              <a:ext uri="{FF2B5EF4-FFF2-40B4-BE49-F238E27FC236}">
                <a16:creationId xmlns:a16="http://schemas.microsoft.com/office/drawing/2014/main" id="{C5F278FB-AB05-454C-B7FB-D90015A93582}"/>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0E619AD0-6E9B-4E2D-9F2E-4EAB11C03B3D}"/>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3CAD9DCC-C679-4058-9D0C-BB5D344A765B}"/>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2036409188"/>
      </p:ext>
    </p:extLst>
  </p:cSld>
</p:sld>
</file>

<file path=ppt/slides/slide2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9653CF-DC16-4109-95C8-8EE3CEBF6E4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597282-1842-4D8F-916C-34B5CC38942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601D5E9-2D2E-47E4-B2B7-3540C590CAA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2C745589-FDB3-44AF-A1B8-6E44E53C3D0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7109CE90-8CCB-457D-8F11-F847DC1E99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65F0B486-D85F-465E-8311-0F8F19B8208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0D65CB49-C574-4454-9BE2-DA78BDF1826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4B4C3373-B0B9-43A2-B837-5E5C0987CBEB}"/>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1B50F42A-F4DB-496D-874A-7043EB7AD5A6}"/>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4E257338-036E-4ECA-A3D1-67F99DE02B33}"/>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1BCC796C-15B9-40A0-931A-3A738F0C7CBD}"/>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947169645"/>
      </p:ext>
    </p:extLst>
  </p:cSld>
</p:sld>
</file>

<file path=ppt/slides/slide2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A9BFE6-A944-49B5-9AF1-DF4B23B9EE6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74CECF-101A-4A01-9741-1F97D5B3A88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127FBB8-5492-4A84-A17D-FC463940F2C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A08B3E90-1A0F-466F-A38C-71E69F3ACAB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16BAAB90-3F9C-4127-B2BB-D4A5BCD26F7B}"/>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079A4603-20D3-42AE-84BE-B7CE051B94C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2E2E7BD5-7C07-41F7-9F4B-1D11FBA9D862}"/>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C3BDA834-025A-4E81-865B-7CDF3B885666}"/>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04BF6B8C-1306-4D44-AC21-BE4BBA3A9D5F}"/>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6C382CF9-23C3-4FFB-9298-8AA568BE907A}"/>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D9EEB284-7501-4E17-84B8-6EB68F865F7C}"/>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401839213"/>
      </p:ext>
    </p:extLst>
  </p:cSld>
</p:sld>
</file>

<file path=ppt/slides/slide2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F0E7E3-2CE8-4831-B25C-4C205522EA1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622601-D3BE-4FED-8AAC-F1997305FA1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F814B150-EE0C-4FF8-9C16-567D8939E4E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CE1AA9F5-31D6-44C4-A57E-4B321B69914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D4F66913-1457-4ED8-801B-694C180110B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E4BF6112-68C6-4D08-8493-C0E21AF70A8A}"/>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F6FF393E-DA4B-41FD-AECD-0F0FEA773E6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4DA0496F-E9C8-4985-A20A-EF6B3FF6DDC0}"/>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C59CFFD-542F-4489-BF63-66301F287439}"/>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AFE26255-DDCF-4586-A571-40B05429F5B0}"/>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AC951452-BC81-4DDC-8554-88F940FE3445}"/>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403686782"/>
      </p:ext>
    </p:extLst>
  </p:cSld>
</p:sld>
</file>

<file path=ppt/slides/slide2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C47A4EE-FBFF-4AF4-8490-1B4CB89CC9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254BDB-09B4-4382-A3A7-EE2C21CC3A0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EAE634E-6A20-4428-BEA3-BE8D8E7FE26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6110AE70-67B0-4A66-B7FF-A6FC2FD1138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E9121E43-1571-4EB3-AF93-48CE0F7A36D3}"/>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4E06CA10-5B36-4215-AA8D-B19871B5D53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0FDA3143-EA9C-4452-80A4-76506FA8959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F70EB17B-D607-4FBB-97B8-67F4FAAD01E7}"/>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26C36519-5FFC-43BE-9EA6-C7576BA48054}"/>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2A79E4-FBEA-45DA-B015-05E398F11595}"/>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CA6DA14C-B2C1-41DB-A3C4-08DF28DF4F39}"/>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C2611A1E-4F40-446B-9389-46C164AFDD5C}"/>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94BCAD54-FEBE-47BD-BC7F-2182EF2218DC}"/>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7B14153F-6BD7-4C26-8B93-07AF850692AD}"/>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B2816F-DAE4-4E47-8C68-B615A7E26AC7}"/>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ACC08B80-A1E3-4A3C-8312-D3BB55E0B348}"/>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75F24F47-F198-4B6E-8C33-F9A7B99E429A}"/>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7851E7D5-F582-447B-BCD9-43DCD60D70A1}"/>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3B68A417-A717-40B0-AB67-308C442CB325}"/>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02E1425-2E5D-49BA-A4E6-5D34D52F7D68}"/>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DFD8A36C-62C5-4839-98DA-C51589CE1225}"/>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3BEF097E-16BB-4CC1-A880-652B6F057485}"/>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112C036E-510B-49F9-841D-26D7C6643DDD}"/>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B1360D06-717D-467D-B238-1DB6AA969197}"/>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88AACD4-22EC-4878-95D6-ED5711D94D90}"/>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F87C2B85-F0BB-447B-803D-FFD75AFF22D4}"/>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25809C66-930C-42F2-A163-58F7522082A1}"/>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D51499BC-A7FA-4CD2-8FC7-9107F76348D0}"/>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23BF4A7F-DEB7-4503-AD32-C5C191189537}"/>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4C71D7C2-937F-4EC2-92E4-12E52E17B6C3}"/>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2139732028"/>
      </p:ext>
    </p:extLst>
  </p:cSld>
</p:sld>
</file>

<file path=ppt/slides/slide3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F884C8A-186B-41D2-9C08-3F7FC92260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76A988-C9CB-450C-AC60-310AE8DE31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7C6A2D55-36AB-4EFF-8A5A-74C36C8C0A9E}"/>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13E7178D-F47F-4E77-91C3-572772BA3C2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473155AD-271F-4BAE-A12A-FF4E09A58A4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77A94A42-1BE7-4B75-8492-A874854A5A7E}"/>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2489C44A-391A-4B60-A26C-1F2955D6AEC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E8DA2CC2-DE02-4FAC-A72E-D62BE1D98B01}"/>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C53BE2E2-55F7-4788-A075-A3BC8D115100}"/>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39D87A-2AC1-4AED-A2A2-F5BBD5FE750D}"/>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1039FC52-31AA-4351-AFAC-2D818DD0A4F1}"/>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B7AB961B-6743-4D48-A9DA-D1EAF6CF0412}"/>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165C3DF1-DE00-4ADC-8120-CF820ADDCDE2}"/>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A46F3FE4-DEA5-4481-A3DA-CB89277B25BE}"/>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5DF63B0E-C5B6-4467-A84A-F527E2D04FE4}"/>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DBE3AD4-6334-4D45-8AAA-B373BF1FE8AF}"/>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2471A21F-B716-49BA-9DCF-EC420441E6CE}"/>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4CC47BEF-E920-4C80-9D83-2081AFFF8DBD}"/>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A7255F58-7C39-4E23-8B03-1BD325CA276A}"/>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7376B14A-4B14-41DA-BDF9-DC7BC7430BE3}"/>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FF7CA2FE-41F9-438C-A3C6-ACBB4AFF46EF}"/>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798D118-8E61-4DAA-B44A-1C3D639D8E66}"/>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F837CC7C-3344-42CB-B48C-437D52C7BA89}"/>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32F7A23C-130E-4312-82C3-FB5FD65D39F9}"/>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775CD51B-0E90-430D-86BF-FB369885C4EB}"/>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D443B384-7BC6-4549-AA59-115BC9463BF4}"/>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8CEF68A6-C4E1-45A0-8D9E-865F5DE079E9}"/>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225B7CC-0FB1-4261-80DE-B2A7508122F4}"/>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EB49E733-6CD9-4170-A21A-8B6F09EEBDB3}"/>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EEAFC868-0907-4462-99B7-9381535E407F}"/>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7AEE4FE7-BBF8-4BDA-8890-6458263B8AA1}"/>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72A0CE1C-F255-4455-867E-B1ADDC6948CF}"/>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961FA653-619C-4739-9331-E7AE27ED73ED}"/>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38802A6-246D-460E-852C-D9E3C116BDA6}"/>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5A3BFCAF-109D-4145-9AB5-99D94901D30D}"/>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B7C541A6-E18C-4DBF-91F7-089570B188C0}"/>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ED4FC4E5-4025-4251-AB25-BE2EF208F5AD}"/>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1995550943"/>
      </p:ext>
    </p:extLst>
  </p:cSld>
</p:sld>
</file>

<file path=ppt/slides/slide3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4386C5-E7D2-4C33-82D6-C9B98255A36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B7342E-0FF3-4223-A1F7-C65CCB60F883}"/>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27D66247-D72A-4684-A012-6047617F314B}"/>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67F4F2B5-2D7E-435A-A5EA-B946EF22FD8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6A13BC9F-90A5-458A-A7A0-B304DB33DAA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E8C9ADB0-EFCF-4C35-9F96-1AF005E9B72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5CBFFD6E-CBF3-447E-9B07-AFB8DFAA6CD3}"/>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9B51D062-4CCD-4F43-9BBB-AF2C34E7BF41}"/>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D403E4A-3C1F-472C-88EE-A797A4B7A630}"/>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900C6D29-B795-4053-95ED-B226E6929353}"/>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526050092"/>
      </p:ext>
    </p:extLst>
  </p:cSld>
</p:sld>
</file>

<file path=ppt/slides/slide3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2026-10-22T08:38:42.6740000Z</dcterms:created>
  <dcterms:modified xsi:type="dcterms:W3CDTF">2026-10-22T08:38:42.6750000Z</dcterms:modified>
</coreProperties>
</file>